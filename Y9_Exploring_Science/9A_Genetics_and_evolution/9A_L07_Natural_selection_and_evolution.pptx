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lesson of 9A. Everything so far comes together: inherited variation (genes), environmental change, adaptations and survival. Keep the language careful: organisms do not try to adapt; the environment selects.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Inherited variation is caused by genes (genetic information from the gametes). A bird spots the dark moth on a pale tree and the pale moth on a black tree. A species is a group that can breed together to produce offspring that can also breed.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Warn students that the word 'theory' means something stronger in science than in everyday talk; this comes back in My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Factories produced huge amounts of soot that turned buildings and trees black. Birds could easily spot the pale moths on the black trees and ate more of them; the black moths were harder to see, so more survived and reproduced. Keep the full explanation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panels. Ask: did any moth change colour during its life? No. Did the moths decide to turn black? No. The black genes were already there in a few moths; soot made them an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curves left to right. Tilapia from a freshwater lake die if put in Salton Sea water: the Salton Sea population has become better adapted. The shoreline of the Salton Sea is made of the bones of millions of fish that did not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Wallace (1823 to 1913) reached the same idea independently; the two published together in 1858. Microraptor, a dinosaur with feathers and four wings, lived 125 to 120 million years ago. New species: two populations separated for long enough can no longer breed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Darwin's version at Stretch. Test the idea: if a parent trains hard and builds big muscles, are the children born with big muscles? No. Environmental variation is not inherited.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genes; the dark moth; the population over generations; a hypothesis is a testable idea, a theory has been tested many times and is supported by evidence; the same genetic information (DNA).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Oak National Academy's cocktail-stick model. The model leaves out: moths moving, more than one predator, the slow build-up of soot, and the fact that real inheritance is not exact copying. If time is short, describe the model and go straight to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lizard ordering (Core 2) is the clearest check of the four-step logic. Watch for Lamarckian language in the explanations and correct it with the frame on the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it could help us understand how warming affects endangered species; but a cloned mammoth raised by elephants may not behave naturally, so the experiment may not be valid, and its habitat is gone. Dinosaur DNA decomposed long ago (65 million years), so there is nothing to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organisms with inherited characteristics that suit the environment are more likely to survive, reproduce and pass on their genes; a change over time in the characteristics of organisms; soot blackened the trees, birds ate more pale moths, more dark moths survived and reproduced, so each generation had more dark moths.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review: use the exit tickets from all seven lessons to pick the ideas to revisit. The workbook's Recreating animals page (14) revisits species, chromosomes, adaptations and evolution through the mammoth.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9A Genetics and evolution  |  Lesson 7: Natural selection and evolution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9A Genetics and evolution  |  Lesson 7: Natural selection and evolution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9A Genetics and evolution  |  Lesson 7: Natural selection and evolution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9A Genetics and evolution  |  Lesson 7: Natural selection and evolution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9A GENETICS AND EVOLUTION  ·  LESSON 7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Natural selection and evolution</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What is Darwin's theory of evolution?</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18 to 20  ·  Workbook pages 13 to 14</a:t>
            </a:r>
            <a:endParaRPr lang="en-US" sz="1200" dirty="0"/>
          </a:p>
        </p:txBody>
      </p:sp>
      <p:pic>
        <p:nvPicPr>
          <p:cNvPr id="6" name="Image 0" descr="/home/user/lessons/Y9_Exploring_Science/images/peppered_moth_dark.jpg">    </p:cNvPr>
          <p:cNvPicPr>
            <a:picLocks noChangeAspect="1"/>
          </p:cNvPicPr>
          <p:nvPr/>
        </p:nvPicPr>
        <p:blipFill>
          <a:blip r:embed="rId1"/>
          <a:stretch>
            <a:fillRect/>
          </a:stretch>
        </p:blipFill>
        <p:spPr>
          <a:xfrm>
            <a:off x="8777750" y="4572000"/>
            <a:ext cx="274418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pale or dark?</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Peppered moths show inherited variation: most are pale and speckled, but some have genes that make them black.</a:t>
            </a:r>
            <a:endParaRPr lang="en-US" sz="2000" dirty="0"/>
          </a:p>
          <a:p>
            <a:pPr indent="0" marL="0">
              <a:spcAft>
                <a:spcPts val="1000"/>
              </a:spcAft>
              <a:buNone/>
            </a:pPr>
            <a:r>
              <a:rPr lang="en-US" sz="2000" dirty="0">
                <a:solidFill>
                  <a:srgbClr val="141B26"/>
                </a:solidFill>
              </a:rPr>
              <a:t>1. What causes inherited variation?</a:t>
            </a:r>
            <a:endParaRPr lang="en-US" sz="2000" dirty="0"/>
          </a:p>
          <a:p>
            <a:pPr indent="0" marL="0">
              <a:spcAft>
                <a:spcPts val="1000"/>
              </a:spcAft>
              <a:buNone/>
            </a:pPr>
            <a:r>
              <a:rPr lang="en-US" sz="2000" dirty="0">
                <a:solidFill>
                  <a:srgbClr val="141B26"/>
                </a:solidFill>
              </a:rPr>
              <a:t>2. Which form would a bird spot more easily on a pale tree? On a tree blackened by soot?</a:t>
            </a:r>
            <a:endParaRPr lang="en-US" sz="2000" dirty="0"/>
          </a:p>
          <a:p>
            <a:pPr indent="0" marL="0">
              <a:spcAft>
                <a:spcPts val="1000"/>
              </a:spcAft>
              <a:buNone/>
            </a:pPr>
            <a:r>
              <a:rPr lang="en-US" sz="2000" dirty="0">
                <a:solidFill>
                  <a:srgbClr val="141B26"/>
                </a:solidFill>
              </a:rPr>
              <a:t>3. What is a species?</a:t>
            </a:r>
            <a:endParaRPr lang="en-US" sz="2000" dirty="0"/>
          </a:p>
        </p:txBody>
      </p:sp>
      <p:pic>
        <p:nvPicPr>
          <p:cNvPr id="8" name="Image 0" descr="/home/user/lessons/Y9_Exploring_Science/images/peppered_moth_light.jpg">    </p:cNvPr>
          <p:cNvPicPr>
            <a:picLocks noChangeAspect="1"/>
          </p:cNvPicPr>
          <p:nvPr/>
        </p:nvPicPr>
        <p:blipFill>
          <a:blip r:embed="rId1"/>
          <a:stretch>
            <a:fillRect/>
          </a:stretch>
        </p:blipFill>
        <p:spPr>
          <a:xfrm>
            <a:off x="6858000" y="1508046"/>
            <a:ext cx="4754880" cy="3659029"/>
          </a:xfrm>
          <a:prstGeom prst="rect">
            <a:avLst/>
          </a:prstGeom>
        </p:spPr>
      </p:pic>
      <p:sp>
        <p:nvSpPr>
          <p:cNvPr id="9" name="Text 6"/>
          <p:cNvSpPr txBox="1"/>
          <p:nvPr/>
        </p:nvSpPr>
        <p:spPr>
          <a:xfrm>
            <a:off x="6858000" y="5212794"/>
            <a:ext cx="4754880" cy="502920"/>
          </a:xfrm>
          <a:prstGeom prst="rect">
            <a:avLst/>
          </a:prstGeom>
          <a:noFill/>
          <a:ln/>
        </p:spPr>
        <p:txBody>
          <a:bodyPr wrap="square" lIns="0" tIns="0" rIns="0" bIns="0" rtlCol="0" anchor="t"/>
          <a:lstStyle/>
          <a:p>
            <a:pPr algn="l" indent="0" marL="0">
              <a:buNone/>
            </a:pPr>
            <a:r>
              <a:rPr lang="en-US" sz="1100" dirty="0">
                <a:solidFill>
                  <a:srgbClr val="141B26"/>
                </a:solidFill>
              </a:rPr>
              <a:t>A pale peppered moth on a lichen-covered tree</a:t>
            </a:r>
            <a:pPr algn="l" indent="0" marL="0">
              <a:buNone/>
            </a:pPr>
            <a:endParaRPr lang="en-US" sz="1100" dirty="0"/>
          </a:p>
          <a:p>
            <a:pPr algn="l" indent="0" marL="0">
              <a:buNone/>
            </a:pPr>
            <a:r>
              <a:rPr lang="en-US" sz="800" dirty="0">
                <a:solidFill>
                  <a:srgbClr val="5B6574"/>
                </a:solidFill>
              </a:rPr>
              <a:t>Image: Bennyboymothman, CC BY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explain how natural selection works on inherited variation when the environment changes, using the peppered moth and the Salton Sea tilapia.</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describe the theory of evolution by natural selection and explain how natural selection can produce a new species.</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natural selection</a:t>
            </a:r>
            <a:pPr indent="0" marL="0">
              <a:spcAft>
                <a:spcPts val="500"/>
              </a:spcAft>
              <a:buNone/>
            </a:pPr>
            <a:r>
              <a:rPr lang="en-US" sz="1300" dirty="0">
                <a:solidFill>
                  <a:srgbClr val="141B26"/>
                </a:solidFill>
              </a:rPr>
              <a:t>  organisms better adapted to their environment are more likely to survive, reproduce and pass on their genes</a:t>
            </a:r>
            <a:endParaRPr lang="en-US" sz="1300" dirty="0"/>
          </a:p>
          <a:p>
            <a:pPr indent="0" marL="0">
              <a:spcAft>
                <a:spcPts val="500"/>
              </a:spcAft>
              <a:buNone/>
            </a:pPr>
            <a:r>
              <a:rPr lang="en-US" sz="1300" b="1" dirty="0">
                <a:solidFill>
                  <a:srgbClr val="0F2A5F"/>
                </a:solidFill>
              </a:rPr>
              <a:t>evolution</a:t>
            </a:r>
            <a:pPr indent="0" marL="0">
              <a:spcAft>
                <a:spcPts val="500"/>
              </a:spcAft>
              <a:buNone/>
            </a:pPr>
            <a:r>
              <a:rPr lang="en-US" sz="1300" dirty="0">
                <a:solidFill>
                  <a:srgbClr val="141B26"/>
                </a:solidFill>
              </a:rPr>
              <a:t>  a change over time in the characteristics of organisms, sometimes making a new species</a:t>
            </a:r>
            <a:endParaRPr lang="en-US" sz="1300" dirty="0"/>
          </a:p>
          <a:p>
            <a:pPr indent="0" marL="0">
              <a:spcAft>
                <a:spcPts val="500"/>
              </a:spcAft>
              <a:buNone/>
            </a:pPr>
            <a:r>
              <a:rPr lang="en-US" sz="1300" b="1" dirty="0">
                <a:solidFill>
                  <a:srgbClr val="0F2A5F"/>
                </a:solidFill>
              </a:rPr>
              <a:t>inherited variation</a:t>
            </a:r>
            <a:pPr indent="0" marL="0">
              <a:spcAft>
                <a:spcPts val="500"/>
              </a:spcAft>
              <a:buNone/>
            </a:pPr>
            <a:r>
              <a:rPr lang="en-US" sz="1300" dirty="0">
                <a:solidFill>
                  <a:srgbClr val="141B26"/>
                </a:solidFill>
              </a:rPr>
              <a:t>  differences between individuals caused by genes, passed on to offspring</a:t>
            </a:r>
            <a:endParaRPr lang="en-US" sz="1300" dirty="0"/>
          </a:p>
          <a:p>
            <a:pPr indent="0" marL="0">
              <a:spcAft>
                <a:spcPts val="500"/>
              </a:spcAft>
              <a:buNone/>
            </a:pPr>
            <a:r>
              <a:rPr lang="en-US" sz="1300" b="1" dirty="0">
                <a:solidFill>
                  <a:srgbClr val="0F2A5F"/>
                </a:solidFill>
              </a:rPr>
              <a:t>gene</a:t>
            </a:r>
            <a:pPr indent="0" marL="0">
              <a:spcAft>
                <a:spcPts val="500"/>
              </a:spcAft>
              <a:buNone/>
            </a:pPr>
            <a:r>
              <a:rPr lang="en-US" sz="1300" dirty="0">
                <a:solidFill>
                  <a:srgbClr val="141B26"/>
                </a:solidFill>
              </a:rPr>
              <a:t>  a section of DNA that carries the instructions for one characteristic</a:t>
            </a:r>
            <a:endParaRPr lang="en-US" sz="1300" dirty="0"/>
          </a:p>
          <a:p>
            <a:pPr indent="0" marL="0">
              <a:spcAft>
                <a:spcPts val="500"/>
              </a:spcAft>
              <a:buNone/>
            </a:pPr>
            <a:r>
              <a:rPr lang="en-US" sz="1300" b="1" dirty="0">
                <a:solidFill>
                  <a:srgbClr val="0F2A5F"/>
                </a:solidFill>
              </a:rPr>
              <a:t>reproduce</a:t>
            </a:r>
            <a:pPr indent="0" marL="0">
              <a:spcAft>
                <a:spcPts val="500"/>
              </a:spcAft>
              <a:buNone/>
            </a:pPr>
            <a:r>
              <a:rPr lang="en-US" sz="1300" dirty="0">
                <a:solidFill>
                  <a:srgbClr val="141B26"/>
                </a:solidFill>
              </a:rPr>
              <a:t>  to produce offspring</a:t>
            </a:r>
            <a:endParaRPr lang="en-US" sz="1300" dirty="0"/>
          </a:p>
          <a:p>
            <a:pPr indent="0" marL="0">
              <a:spcAft>
                <a:spcPts val="500"/>
              </a:spcAft>
              <a:buNone/>
            </a:pPr>
            <a:r>
              <a:rPr lang="en-US" sz="1300" b="1" dirty="0">
                <a:solidFill>
                  <a:srgbClr val="0F2A5F"/>
                </a:solidFill>
              </a:rPr>
              <a:t>generation</a:t>
            </a:r>
            <a:pPr indent="0" marL="0">
              <a:spcAft>
                <a:spcPts val="500"/>
              </a:spcAft>
              <a:buNone/>
            </a:pPr>
            <a:r>
              <a:rPr lang="en-US" sz="1300" dirty="0">
                <a:solidFill>
                  <a:srgbClr val="141B26"/>
                </a:solidFill>
              </a:rPr>
              <a:t>  all the offspring born at about the same time; parents, children and grandchildren are three generations</a:t>
            </a:r>
            <a:endParaRPr lang="en-US" sz="1300" dirty="0"/>
          </a:p>
          <a:p>
            <a:pPr indent="0" marL="0">
              <a:spcAft>
                <a:spcPts val="500"/>
              </a:spcAft>
              <a:buNone/>
            </a:pPr>
            <a:r>
              <a:rPr lang="en-US" sz="1300" b="1" dirty="0">
                <a:solidFill>
                  <a:srgbClr val="0F2A5F"/>
                </a:solidFill>
              </a:rPr>
              <a:t>hypothesis</a:t>
            </a:r>
            <a:pPr indent="0" marL="0">
              <a:spcAft>
                <a:spcPts val="500"/>
              </a:spcAft>
              <a:buNone/>
            </a:pPr>
            <a:r>
              <a:rPr lang="en-US" sz="1300" dirty="0">
                <a:solidFill>
                  <a:srgbClr val="141B26"/>
                </a:solidFill>
              </a:rPr>
              <a:t>  an idea, based on observations, that can be tested</a:t>
            </a:r>
            <a:endParaRPr lang="en-US" sz="1300" dirty="0"/>
          </a:p>
          <a:p>
            <a:pPr indent="0" marL="0">
              <a:spcAft>
                <a:spcPts val="500"/>
              </a:spcAft>
              <a:buNone/>
            </a:pPr>
            <a:r>
              <a:rPr lang="en-US" sz="1300" b="1" dirty="0">
                <a:solidFill>
                  <a:srgbClr val="0F2A5F"/>
                </a:solidFill>
              </a:rPr>
              <a:t>theory</a:t>
            </a:r>
            <a:pPr indent="0" marL="0">
              <a:spcAft>
                <a:spcPts val="500"/>
              </a:spcAft>
              <a:buNone/>
            </a:pPr>
            <a:r>
              <a:rPr lang="en-US" sz="1300" dirty="0">
                <a:solidFill>
                  <a:srgbClr val="141B26"/>
                </a:solidFill>
              </a:rPr>
              <a:t>  an explanation that has been tested many times and is accepted by scientists</a:t>
            </a:r>
            <a:endParaRPr lang="en-US" sz="1300" dirty="0"/>
          </a:p>
          <a:p>
            <a:pPr indent="0" marL="0">
              <a:spcAft>
                <a:spcPts val="500"/>
              </a:spcAft>
              <a:buNone/>
            </a:pPr>
            <a:r>
              <a:rPr lang="en-US" sz="1300" b="1" dirty="0">
                <a:solidFill>
                  <a:srgbClr val="0F2A5F"/>
                </a:solidFill>
              </a:rPr>
              <a:t>species</a:t>
            </a:r>
            <a:pPr indent="0" marL="0">
              <a:spcAft>
                <a:spcPts val="500"/>
              </a:spcAft>
              <a:buNone/>
            </a:pPr>
            <a:r>
              <a:rPr lang="en-US" sz="1300" dirty="0">
                <a:solidFill>
                  <a:srgbClr val="141B26"/>
                </a:solidFill>
              </a:rPr>
              <a:t>  a group of organisms that can breed together to produce offspring that can also breed</a:t>
            </a:r>
            <a:endParaRPr lang="en-US" sz="1300" dirty="0"/>
          </a:p>
          <a:p>
            <a:pPr indent="0" marL="0">
              <a:spcAft>
                <a:spcPts val="500"/>
              </a:spcAft>
              <a:buNone/>
            </a:pPr>
            <a:r>
              <a:rPr lang="en-US" sz="1300" b="1" dirty="0">
                <a:solidFill>
                  <a:srgbClr val="0F2A5F"/>
                </a:solidFill>
              </a:rPr>
              <a:t>camouflage</a:t>
            </a:r>
            <a:pPr indent="0" marL="0">
              <a:spcAft>
                <a:spcPts val="500"/>
              </a:spcAft>
              <a:buNone/>
            </a:pPr>
            <a:r>
              <a:rPr lang="en-US" sz="1300" dirty="0">
                <a:solidFill>
                  <a:srgbClr val="141B26"/>
                </a:solidFill>
              </a:rPr>
              <a:t>  colours or patterns that make an organism hard to see</a:t>
            </a:r>
            <a:endParaRPr lang="en-US" sz="1300" dirty="0"/>
          </a:p>
          <a:p>
            <a:pPr indent="0" marL="0">
              <a:spcAft>
                <a:spcPts val="500"/>
              </a:spcAft>
              <a:buNone/>
            </a:pPr>
            <a:r>
              <a:rPr lang="en-US" sz="1300" b="1" dirty="0">
                <a:solidFill>
                  <a:srgbClr val="0F2A5F"/>
                </a:solidFill>
              </a:rPr>
              <a:t>cloning</a:t>
            </a:r>
            <a:pPr indent="0" marL="0">
              <a:spcAft>
                <a:spcPts val="500"/>
              </a:spcAft>
              <a:buNone/>
            </a:pPr>
            <a:r>
              <a:rPr lang="en-US" sz="1300" dirty="0">
                <a:solidFill>
                  <a:srgbClr val="141B26"/>
                </a:solidFill>
              </a:rPr>
              <a:t>  making a new organism with exactly the same genetic information as another</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Manchester, 1850 to 1895</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In the 1850s most peppered moths around Manchester were pale. By 1895, 98% of them were black. Many factories had been built in those years. What happened?</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what did the factories change, and who eats moths?</a:t>
            </a:r>
            <a:endParaRPr lang="en-US" sz="1600" dirty="0"/>
          </a:p>
        </p:txBody>
      </p:sp>
      <p:pic>
        <p:nvPicPr>
          <p:cNvPr id="7" name="Image 0" descr="/home/user/lessons/Y9_Exploring_Science/images/peppered_moth_dark.jpg">    </p:cNvPr>
          <p:cNvPicPr>
            <a:picLocks noChangeAspect="1"/>
          </p:cNvPicPr>
          <p:nvPr/>
        </p:nvPicPr>
        <p:blipFill>
          <a:blip r:embed="rId1"/>
          <a:stretch>
            <a:fillRect/>
          </a:stretch>
        </p:blipFill>
        <p:spPr>
          <a:xfrm>
            <a:off x="6309360" y="1616071"/>
            <a:ext cx="5303520" cy="3534417"/>
          </a:xfrm>
          <a:prstGeom prst="rect">
            <a:avLst/>
          </a:prstGeom>
        </p:spPr>
      </p:pic>
      <p:sp>
        <p:nvSpPr>
          <p:cNvPr id="8" name="Text 5"/>
          <p:cNvSpPr txBox="1"/>
          <p:nvPr/>
        </p:nvSpPr>
        <p:spPr>
          <a:xfrm>
            <a:off x="6309360" y="5196209"/>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A dark (carbonaria) peppered moth</a:t>
            </a:r>
            <a:pPr algn="l" indent="0" marL="0">
              <a:buNone/>
            </a:pPr>
            <a:endParaRPr lang="en-US" sz="1100" dirty="0"/>
          </a:p>
          <a:p>
            <a:pPr algn="l" indent="0" marL="0">
              <a:buNone/>
            </a:pPr>
            <a:r>
              <a:rPr lang="en-US" sz="800" dirty="0">
                <a:solidFill>
                  <a:srgbClr val="5B6574"/>
                </a:solidFill>
              </a:rPr>
              <a:t>Image: Thierry Arbault, CC BY 4.0,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Natural selection: the peppered moth</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natural selection   ·   inherited variation   ·   gene   ·   reproduce   ·   generation</a:t>
            </a:r>
            <a:endParaRPr lang="en-US" sz="1200" dirty="0"/>
          </a:p>
        </p:txBody>
      </p:sp>
      <p:sp>
        <p:nvSpPr>
          <p:cNvPr id="6" name="Text 4"/>
          <p:cNvSpPr txBox="1"/>
          <p:nvPr/>
        </p:nvSpPr>
        <p:spPr>
          <a:xfrm>
            <a:off x="548640" y="1325880"/>
            <a:ext cx="429768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600" dirty="0">
                <a:solidFill>
                  <a:srgbClr val="141B26"/>
                </a:solidFill>
              </a:rPr>
              <a:t>Variation: a few moths had genes that made them black.</a:t>
            </a:r>
            <a:endParaRPr lang="en-US" sz="1700" dirty="0"/>
          </a:p>
          <a:p>
            <a:pPr marL="228600" indent="-228600">
              <a:spcAft>
                <a:spcPts val="600"/>
              </a:spcAft>
              <a:buSzPct val="100000"/>
              <a:buChar char="•"/>
            </a:pPr>
            <a:r>
              <a:rPr lang="en-US" sz="1600" dirty="0">
                <a:solidFill>
                  <a:srgbClr val="141B26"/>
                </a:solidFill>
              </a:rPr>
              <a:t>The environment changed: soot made the trees black.</a:t>
            </a:r>
            <a:endParaRPr lang="en-US" sz="1700" dirty="0"/>
          </a:p>
          <a:p>
            <a:pPr marL="228600" indent="-228600">
              <a:spcAft>
                <a:spcPts val="600"/>
              </a:spcAft>
              <a:buSzPct val="100000"/>
              <a:buChar char="•"/>
            </a:pPr>
            <a:r>
              <a:rPr lang="en-US" sz="1600" dirty="0">
                <a:solidFill>
                  <a:srgbClr val="141B26"/>
                </a:solidFill>
              </a:rPr>
              <a:t>Birds spotted and ate more pale moths. More black moths survived and reproduced, passing on their genes.</a:t>
            </a:r>
            <a:endParaRPr lang="en-US" sz="1700" dirty="0"/>
          </a:p>
          <a:p>
            <a:pPr marL="228600" indent="-228600">
              <a:spcAft>
                <a:spcPts val="600"/>
              </a:spcAft>
              <a:buSzPct val="100000"/>
              <a:buChar char="•"/>
            </a:pPr>
            <a:r>
              <a:rPr lang="en-US" sz="1600" dirty="0">
                <a:solidFill>
                  <a:srgbClr val="141B26"/>
                </a:solidFill>
              </a:rPr>
              <a:t>Each generation had more black moths. The environment 'selected' the black variation.</a:t>
            </a:r>
            <a:endParaRPr lang="en-US" sz="1700" dirty="0"/>
          </a:p>
        </p:txBody>
      </p:sp>
      <p:pic>
        <p:nvPicPr>
          <p:cNvPr id="7" name="Image 0" descr="/home/user/lessons/Y9_Exploring_Science/source/diagrams/natural_selection_moths.png">    </p:cNvPr>
          <p:cNvPicPr>
            <a:picLocks noChangeAspect="1"/>
          </p:cNvPicPr>
          <p:nvPr/>
        </p:nvPicPr>
        <p:blipFill>
          <a:blip r:embed="rId1"/>
          <a:stretch>
            <a:fillRect/>
          </a:stretch>
        </p:blipFill>
        <p:spPr>
          <a:xfrm>
            <a:off x="5029200" y="1421892"/>
            <a:ext cx="6583680" cy="3374136"/>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Natural selection: the environment selects the inherited variations that survive and are passed on.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Salty seas: the Salton Sea tilapia</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natural selection   ·   generation   ·   inherited variation</a:t>
            </a:r>
            <a:endParaRPr lang="en-US" sz="1200" dirty="0"/>
          </a:p>
        </p:txBody>
      </p:sp>
      <p:sp>
        <p:nvSpPr>
          <p:cNvPr id="6" name="Text 4"/>
          <p:cNvSpPr txBox="1"/>
          <p:nvPr/>
        </p:nvSpPr>
        <p:spPr>
          <a:xfrm>
            <a:off x="548640" y="1325880"/>
            <a:ext cx="429768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600" dirty="0">
                <a:solidFill>
                  <a:srgbClr val="141B26"/>
                </a:solidFill>
              </a:rPr>
              <a:t>The Salton Sea in California formed in 1905 and slowly became 25% saltier than the Pacific Ocean. Most fish species died out.</a:t>
            </a:r>
            <a:endParaRPr lang="en-US" sz="1700" dirty="0"/>
          </a:p>
          <a:p>
            <a:pPr marL="228600" indent="-228600">
              <a:spcAft>
                <a:spcPts val="600"/>
              </a:spcAft>
              <a:buSzPct val="100000"/>
              <a:buChar char="•"/>
            </a:pPr>
            <a:r>
              <a:rPr lang="en-US" sz="1600" dirty="0">
                <a:solidFill>
                  <a:srgbClr val="141B26"/>
                </a:solidFill>
              </a:rPr>
              <a:t>By chance, some tilapia had genetic variations that helped them cope with salt.</a:t>
            </a:r>
            <a:endParaRPr lang="en-US" sz="1700" dirty="0"/>
          </a:p>
          <a:p>
            <a:pPr marL="228600" indent="-228600">
              <a:spcAft>
                <a:spcPts val="600"/>
              </a:spcAft>
              <a:buSzPct val="100000"/>
              <a:buChar char="•"/>
            </a:pPr>
            <a:r>
              <a:rPr lang="en-US" sz="1600" dirty="0">
                <a:solidFill>
                  <a:srgbClr val="141B26"/>
                </a:solidFill>
              </a:rPr>
              <a:t>More of these fish survived and reproduced, so the next generation had more salt-tolerant fish.</a:t>
            </a:r>
            <a:endParaRPr lang="en-US" sz="1700" dirty="0"/>
          </a:p>
          <a:p>
            <a:pPr marL="228600" indent="-228600">
              <a:spcAft>
                <a:spcPts val="600"/>
              </a:spcAft>
              <a:buSzPct val="100000"/>
              <a:buChar char="•"/>
            </a:pPr>
            <a:r>
              <a:rPr lang="en-US" sz="1600" dirty="0">
                <a:solidFill>
                  <a:srgbClr val="141B26"/>
                </a:solidFill>
              </a:rPr>
              <a:t>This repeated as the sea got saltier. Today all Salton Sea tilapia cope with very salty water.</a:t>
            </a:r>
            <a:endParaRPr lang="en-US" sz="1700" dirty="0"/>
          </a:p>
        </p:txBody>
      </p:sp>
      <p:pic>
        <p:nvPicPr>
          <p:cNvPr id="7" name="Image 0" descr="/home/user/lessons/Y9_Exploring_Science/source/diagrams/tilapia_graph.png">    </p:cNvPr>
          <p:cNvPicPr>
            <a:picLocks noChangeAspect="1"/>
          </p:cNvPicPr>
          <p:nvPr/>
        </p:nvPicPr>
        <p:blipFill>
          <a:blip r:embed="rId1"/>
          <a:stretch>
            <a:fillRect/>
          </a:stretch>
        </p:blipFill>
        <p:spPr>
          <a:xfrm>
            <a:off x="5029200" y="1545336"/>
            <a:ext cx="6583680" cy="3127248"/>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Environmental change happens over and over; natural selection shifts the whole population, generation by generation.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Darwin, Wallace and evolution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evolution   ·   hypothesis   ·   theory   ·   species</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Evolution is a change over time in the characteristics of organisms.</a:t>
            </a:r>
            <a:endParaRPr lang="en-US" sz="1700" dirty="0"/>
          </a:p>
          <a:p>
            <a:pPr marL="228600" indent="-228600">
              <a:spcAft>
                <a:spcPts val="600"/>
              </a:spcAft>
              <a:buSzPct val="100000"/>
              <a:buChar char="•"/>
            </a:pPr>
            <a:r>
              <a:rPr lang="en-US" sz="1700" dirty="0">
                <a:solidFill>
                  <a:srgbClr val="141B26"/>
                </a:solidFill>
              </a:rPr>
              <a:t>Charles Darwin and Alfred Russel Wallace both developed the hypothesis that natural selection causes evolution.</a:t>
            </a:r>
            <a:endParaRPr lang="en-US" sz="1700" dirty="0"/>
          </a:p>
          <a:p>
            <a:pPr marL="228600" indent="-228600">
              <a:spcAft>
                <a:spcPts val="600"/>
              </a:spcAft>
              <a:buSzPct val="100000"/>
              <a:buChar char="•"/>
            </a:pPr>
            <a:r>
              <a:rPr lang="en-US" sz="1700" dirty="0">
                <a:solidFill>
                  <a:srgbClr val="141B26"/>
                </a:solidFill>
              </a:rPr>
              <a:t>Tested many times with evidence, it is now the theory of evolution by natural selection.</a:t>
            </a:r>
            <a:endParaRPr lang="en-US" sz="1700" dirty="0"/>
          </a:p>
          <a:p>
            <a:pPr marL="228600" indent="-228600">
              <a:spcAft>
                <a:spcPts val="600"/>
              </a:spcAft>
              <a:buSzPct val="100000"/>
              <a:buChar char="•"/>
            </a:pPr>
            <a:r>
              <a:rPr lang="en-US" sz="1700" dirty="0">
                <a:solidFill>
                  <a:srgbClr val="141B26"/>
                </a:solidFill>
              </a:rPr>
              <a:t>Darwin's theory says a population can evolve into a new species. Many scientists think some dinosaurs evolved into birds over millions of years.</a:t>
            </a:r>
            <a:endParaRPr lang="en-US" sz="1700" dirty="0"/>
          </a:p>
        </p:txBody>
      </p:sp>
      <p:pic>
        <p:nvPicPr>
          <p:cNvPr id="7" name="Image 0" descr="/home/user/lessons/Y9_Exploring_Science/images/darwin.jpg">    </p:cNvPr>
          <p:cNvPicPr>
            <a:picLocks noChangeAspect="1"/>
          </p:cNvPicPr>
          <p:nvPr/>
        </p:nvPicPr>
        <p:blipFill>
          <a:blip r:embed="rId1"/>
          <a:stretch>
            <a:fillRect/>
          </a:stretch>
        </p:blipFill>
        <p:spPr>
          <a:xfrm>
            <a:off x="7726680" y="1280160"/>
            <a:ext cx="2743200" cy="3657600"/>
          </a:xfrm>
          <a:prstGeom prst="rect">
            <a:avLst/>
          </a:prstGeom>
        </p:spPr>
      </p:pic>
      <p:sp>
        <p:nvSpPr>
          <p:cNvPr id="8" name="Text 5"/>
          <p:cNvSpPr txBox="1"/>
          <p:nvPr/>
        </p:nvSpPr>
        <p:spPr>
          <a:xfrm>
            <a:off x="6583680" y="4983480"/>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 statue of Charles Darwin (1809 to 1882)</a:t>
            </a:r>
            <a:pPr algn="l" indent="0" marL="0">
              <a:buNone/>
            </a:pPr>
            <a:endParaRPr lang="en-US" sz="1100" dirty="0"/>
          </a:p>
          <a:p>
            <a:pPr algn="l" indent="0" marL="0">
              <a:buNone/>
            </a:pPr>
            <a:r>
              <a:rPr lang="en-US" sz="800" dirty="0">
                <a:solidFill>
                  <a:srgbClr val="5B6574"/>
                </a:solidFill>
              </a:rPr>
              <a:t>Image: virtusincertus,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 hypothesis becomes a theory when it has been tested many times and the evidence supports it.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Lamarck or Darwin? Long-legged wading birds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natural selection   ·   inherited variation</a:t>
            </a:r>
            <a:endParaRPr lang="en-US" sz="1200" dirty="0"/>
          </a:p>
        </p:txBody>
      </p:sp>
      <p:sp>
        <p:nvSpPr>
          <p:cNvPr id="6" name="Shape 4"/>
          <p:cNvSpPr/>
          <p:nvPr/>
        </p:nvSpPr>
        <p:spPr>
          <a:xfrm>
            <a:off x="548640" y="1325880"/>
            <a:ext cx="5349240" cy="4023360"/>
          </a:xfrm>
          <a:prstGeom prst="roundRect">
            <a:avLst>
              <a:gd name="adj" fmla="val 2727"/>
            </a:avLst>
          </a:prstGeom>
          <a:solidFill>
            <a:srgbClr val="EEF1F5"/>
          </a:solidFill>
          <a:ln w="12700">
            <a:solidFill>
              <a:srgbClr val="D5DBE3"/>
            </a:solidFill>
            <a:prstDash val="solid"/>
          </a:ln>
        </p:spPr>
      </p:sp>
      <p:sp>
        <p:nvSpPr>
          <p:cNvPr id="7" name="Text 5"/>
          <p:cNvSpPr txBox="1"/>
          <p:nvPr/>
        </p:nvSpPr>
        <p:spPr>
          <a:xfrm>
            <a:off x="822960" y="1463040"/>
            <a:ext cx="4800600" cy="502920"/>
          </a:xfrm>
          <a:prstGeom prst="rect">
            <a:avLst/>
          </a:prstGeom>
          <a:noFill/>
          <a:ln/>
        </p:spPr>
        <p:txBody>
          <a:bodyPr wrap="square" lIns="0" tIns="0" rIns="0" bIns="0" rtlCol="0" anchor="ctr"/>
          <a:lstStyle/>
          <a:p>
            <a:pPr indent="0" marL="0">
              <a:buNone/>
            </a:pPr>
            <a:r>
              <a:rPr lang="en-US" sz="2000" b="1" dirty="0">
                <a:solidFill>
                  <a:srgbClr val="0F2A5F"/>
                </a:solidFill>
              </a:rPr>
              <a:t>Lamarck would say (not accepted)</a:t>
            </a:r>
            <a:endParaRPr lang="en-US" sz="2000" dirty="0"/>
          </a:p>
        </p:txBody>
      </p:sp>
      <p:sp>
        <p:nvSpPr>
          <p:cNvPr id="8" name="Text 6"/>
          <p:cNvSpPr txBox="1"/>
          <p:nvPr/>
        </p:nvSpPr>
        <p:spPr>
          <a:xfrm>
            <a:off x="822960" y="2011680"/>
            <a:ext cx="4800600" cy="31546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Birds that waded deeper got more fish.</a:t>
            </a:r>
            <a:endParaRPr lang="en-US" sz="1500" dirty="0"/>
          </a:p>
          <a:p>
            <a:pPr marL="228600" indent="-228600">
              <a:spcAft>
                <a:spcPts val="600"/>
              </a:spcAft>
              <a:buSzPct val="100000"/>
              <a:buChar char="•"/>
            </a:pPr>
            <a:r>
              <a:rPr lang="en-US" sz="1500" dirty="0">
                <a:solidFill>
                  <a:srgbClr val="141B26"/>
                </a:solidFill>
              </a:rPr>
              <a:t>When fish were scarce, the birds stretched their legs a bit.</a:t>
            </a:r>
            <a:endParaRPr lang="en-US" sz="1500" dirty="0"/>
          </a:p>
          <a:p>
            <a:pPr marL="228600" indent="-228600">
              <a:spcAft>
                <a:spcPts val="600"/>
              </a:spcAft>
              <a:buSzPct val="100000"/>
              <a:buChar char="•"/>
            </a:pPr>
            <a:r>
              <a:rPr lang="en-US" sz="1500" dirty="0">
                <a:solidFill>
                  <a:srgbClr val="141B26"/>
                </a:solidFill>
              </a:rPr>
              <a:t>They passed their stretched legs to their offspring.</a:t>
            </a:r>
            <a:endParaRPr lang="en-US" sz="1500" dirty="0"/>
          </a:p>
          <a:p>
            <a:pPr marL="228600" indent="-228600">
              <a:spcAft>
                <a:spcPts val="600"/>
              </a:spcAft>
              <a:buSzPct val="100000"/>
              <a:buChar char="•"/>
            </a:pPr>
            <a:r>
              <a:rPr lang="en-US" sz="1500" dirty="0">
                <a:solidFill>
                  <a:srgbClr val="141B26"/>
                </a:solidFill>
              </a:rPr>
              <a:t>Over time, legs got longer and longer.</a:t>
            </a:r>
            <a:endParaRPr lang="en-US" sz="1500" dirty="0"/>
          </a:p>
        </p:txBody>
      </p:sp>
      <p:sp>
        <p:nvSpPr>
          <p:cNvPr id="9" name="Shape 7"/>
          <p:cNvSpPr/>
          <p:nvPr/>
        </p:nvSpPr>
        <p:spPr>
          <a:xfrm>
            <a:off x="6263640" y="1325880"/>
            <a:ext cx="5349240" cy="4023360"/>
          </a:xfrm>
          <a:prstGeom prst="roundRect">
            <a:avLst>
              <a:gd name="adj" fmla="val 2727"/>
            </a:avLst>
          </a:prstGeom>
          <a:solidFill>
            <a:srgbClr val="F1E5F4"/>
          </a:solidFill>
          <a:ln w="12700">
            <a:solidFill>
              <a:srgbClr val="D5DBE3"/>
            </a:solidFill>
            <a:prstDash val="solid"/>
          </a:ln>
        </p:spPr>
      </p:sp>
      <p:sp>
        <p:nvSpPr>
          <p:cNvPr id="10" name="Text 8"/>
          <p:cNvSpPr txBox="1"/>
          <p:nvPr/>
        </p:nvSpPr>
        <p:spPr>
          <a:xfrm>
            <a:off x="6537960" y="1463040"/>
            <a:ext cx="4800600" cy="502920"/>
          </a:xfrm>
          <a:prstGeom prst="rect">
            <a:avLst/>
          </a:prstGeom>
          <a:noFill/>
          <a:ln/>
        </p:spPr>
        <p:txBody>
          <a:bodyPr wrap="square" lIns="0" tIns="0" rIns="0" bIns="0" rtlCol="0" anchor="ctr"/>
          <a:lstStyle/>
          <a:p>
            <a:pPr indent="0" marL="0">
              <a:buNone/>
            </a:pPr>
            <a:r>
              <a:rPr lang="en-US" sz="2000" b="1" dirty="0">
                <a:solidFill>
                  <a:srgbClr val="0F2A5F"/>
                </a:solidFill>
              </a:rPr>
              <a:t>Darwin would say</a:t>
            </a:r>
            <a:endParaRPr lang="en-US" sz="2000" dirty="0"/>
          </a:p>
        </p:txBody>
      </p:sp>
      <p:sp>
        <p:nvSpPr>
          <p:cNvPr id="11" name="Text 9"/>
          <p:cNvSpPr txBox="1"/>
          <p:nvPr/>
        </p:nvSpPr>
        <p:spPr>
          <a:xfrm>
            <a:off x="6537960" y="2011680"/>
            <a:ext cx="4800600" cy="31546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Birds varied in leg length because of their genes.</a:t>
            </a:r>
            <a:endParaRPr lang="en-US" sz="1500" dirty="0"/>
          </a:p>
          <a:p>
            <a:pPr marL="228600" indent="-228600">
              <a:spcAft>
                <a:spcPts val="600"/>
              </a:spcAft>
              <a:buSzPct val="100000"/>
              <a:buChar char="•"/>
            </a:pPr>
            <a:r>
              <a:rPr lang="en-US" sz="1500" dirty="0">
                <a:solidFill>
                  <a:srgbClr val="141B26"/>
                </a:solidFill>
              </a:rPr>
              <a:t>When fish were scarce, longer-legged birds waded deeper and got more fish.</a:t>
            </a:r>
            <a:endParaRPr lang="en-US" sz="1500" dirty="0"/>
          </a:p>
          <a:p>
            <a:pPr marL="228600" indent="-228600">
              <a:spcAft>
                <a:spcPts val="600"/>
              </a:spcAft>
              <a:buSzPct val="100000"/>
              <a:buChar char="•"/>
            </a:pPr>
            <a:r>
              <a:rPr lang="en-US" sz="1500" dirty="0">
                <a:solidFill>
                  <a:srgbClr val="141B26"/>
                </a:solidFill>
              </a:rPr>
              <a:t>More of them survived and reproduced, passing on long-leg genes.</a:t>
            </a:r>
            <a:endParaRPr lang="en-US" sz="1500" dirty="0"/>
          </a:p>
          <a:p>
            <a:pPr marL="228600" indent="-228600">
              <a:spcAft>
                <a:spcPts val="600"/>
              </a:spcAft>
              <a:buSzPct val="100000"/>
              <a:buChar char="•"/>
            </a:pPr>
            <a:r>
              <a:rPr lang="en-US" sz="1500" dirty="0">
                <a:solidFill>
                  <a:srgbClr val="141B26"/>
                </a:solidFill>
              </a:rPr>
              <a:t>Each generation had more long-legged birds.</a:t>
            </a:r>
            <a:endParaRPr lang="en-US" sz="1500" dirty="0"/>
          </a:p>
        </p:txBody>
      </p:sp>
      <p:sp>
        <p:nvSpPr>
          <p:cNvPr id="12" name="Shape 10"/>
          <p:cNvSpPr/>
          <p:nvPr/>
        </p:nvSpPr>
        <p:spPr>
          <a:xfrm>
            <a:off x="548640" y="5532120"/>
            <a:ext cx="11094415" cy="566928"/>
          </a:xfrm>
          <a:prstGeom prst="rect">
            <a:avLst/>
          </a:prstGeom>
          <a:solidFill>
            <a:srgbClr val="F1E5F4"/>
          </a:solidFill>
          <a:ln w="12700">
            <a:solidFill>
              <a:srgbClr val="F1E5F4"/>
            </a:solidFill>
            <a:prstDash val="solid"/>
          </a:ln>
        </p:spPr>
      </p:sp>
      <p:sp>
        <p:nvSpPr>
          <p:cNvPr id="13" name="Text 11"/>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Changes made during an organism's life (stretching, training, a scar) are not inherited. Only genes are passed on.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Short answers.</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What causes inherited variation?</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In the 1890s, which moth was better camouflaged on a sooty tree?</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Does natural selection change an individual moth, or the population over generations?</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What is the difference between a hypothesis and a theory?</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A cloned mammoth would have the same what as the original?</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 model of natural selection (5 minutes, optional)</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5</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Scatter 20 white and 20 black paper 'moths' on the black sheet.</a:t>
            </a:r>
            <a:endParaRPr lang="en-US" sz="1700" dirty="0"/>
          </a:p>
        </p:txBody>
      </p:sp>
      <p:sp>
        <p:nvSpPr>
          <p:cNvPr id="10" name="Shape 8"/>
          <p:cNvSpPr/>
          <p:nvPr/>
        </p:nvSpPr>
        <p:spPr>
          <a:xfrm>
            <a:off x="548640" y="2313432"/>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13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67712"/>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One student is the bird: pick up as many moths as you can in 10 seconds.</a:t>
            </a:r>
            <a:endParaRPr lang="en-US" sz="1700" dirty="0"/>
          </a:p>
        </p:txBody>
      </p:sp>
      <p:sp>
        <p:nvSpPr>
          <p:cNvPr id="13" name="Shape 11"/>
          <p:cNvSpPr/>
          <p:nvPr/>
        </p:nvSpPr>
        <p:spPr>
          <a:xfrm>
            <a:off x="548640" y="3209544"/>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09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163824"/>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Count the survivors of each colour. Each survivor 'reproduces': add one moth of the same colour.</a:t>
            </a:r>
            <a:endParaRPr lang="en-US" sz="1700" dirty="0"/>
          </a:p>
        </p:txBody>
      </p:sp>
      <p:sp>
        <p:nvSpPr>
          <p:cNvPr id="16" name="Shape 14"/>
          <p:cNvSpPr/>
          <p:nvPr/>
        </p:nvSpPr>
        <p:spPr>
          <a:xfrm>
            <a:off x="548640" y="4105656"/>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05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059936"/>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Repeat for three generations and record the numbers. Then try the white sheet.</a:t>
            </a:r>
            <a:endParaRPr lang="en-US" sz="1700" dirty="0"/>
          </a:p>
        </p:txBody>
      </p:sp>
      <p:sp>
        <p:nvSpPr>
          <p:cNvPr id="19" name="Shape 17"/>
          <p:cNvSpPr/>
          <p:nvPr/>
        </p:nvSpPr>
        <p:spPr>
          <a:xfrm>
            <a:off x="548640" y="5001768"/>
            <a:ext cx="457200" cy="457200"/>
          </a:xfrm>
          <a:prstGeom prst="ellipse">
            <a:avLst/>
          </a:prstGeom>
          <a:solidFill>
            <a:srgbClr val="7B3A8E"/>
          </a:solidFill>
          <a:ln w="12700">
            <a:solidFill>
              <a:srgbClr val="7B3A8E"/>
            </a:solidFill>
            <a:prstDash val="solid"/>
          </a:ln>
        </p:spPr>
      </p:sp>
      <p:sp>
        <p:nvSpPr>
          <p:cNvPr id="20" name="Text 18"/>
          <p:cNvSpPr txBox="1"/>
          <p:nvPr/>
        </p:nvSpPr>
        <p:spPr>
          <a:xfrm>
            <a:off x="548640" y="5001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1" name="Text 19"/>
          <p:cNvSpPr txBox="1"/>
          <p:nvPr/>
        </p:nvSpPr>
        <p:spPr>
          <a:xfrm>
            <a:off x="1188720" y="4956048"/>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Predict first: which colour will increase on each sheet?</a:t>
            </a:r>
            <a:endParaRPr lang="en-US" sz="1700" dirty="0"/>
          </a:p>
        </p:txBody>
      </p:sp>
      <p:sp>
        <p:nvSpPr>
          <p:cNvPr id="22" name="Text 20"/>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A model is a simpler version of the real thing. What does the model leave out?</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natural selection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8</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Core: what causes inherited variation; put the lizard story in order; explain the peppered moths and predict what has happened since the factories closed.</a:t>
            </a:r>
            <a:endParaRPr lang="en-US" sz="17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Stretch: write Darwin's explanation of the long-legged birds; explain how salt tolerance was selected in the tilapia.</a:t>
            </a:r>
            <a:endParaRPr lang="en-US" sz="17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Challenge: how two separated populations become different species; mammoth chromosomes, thick hair and why dinosaurs cannot be cloned.</a:t>
            </a:r>
            <a:endParaRPr lang="en-US" sz="17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Use the four steps: variation, environment changes, survival and reproduction, next generation.</a:t>
            </a:r>
            <a:endParaRPr lang="en-US" sz="17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Never write 'the moths changed colour to survive'. Write 'more of the moths that were already dark survived'.</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Should we bring back the mammoth?</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58521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Woolly mammoths became extinct about 4000 years ago, probably because of hunting and a warming Earth. DNA survives in frozen mammoth remains, and some scientists think we could clone a mammoth. Should we? Could we clone a dinosaur?</a:t>
            </a:r>
            <a:endParaRPr lang="en-US" sz="2200" dirty="0"/>
          </a:p>
        </p:txBody>
      </p:sp>
      <p:sp>
        <p:nvSpPr>
          <p:cNvPr id="6" name="Shape 4"/>
          <p:cNvSpPr/>
          <p:nvPr/>
        </p:nvSpPr>
        <p:spPr>
          <a:xfrm>
            <a:off x="548640" y="3383280"/>
            <a:ext cx="58521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53949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Cloning a mammoth could help us to ___, but ___.</a:t>
            </a:r>
            <a:endParaRPr lang="en-US" sz="1500" dirty="0"/>
          </a:p>
          <a:p>
            <a:pPr indent="0" marL="0">
              <a:spcAft>
                <a:spcPts val="600"/>
              </a:spcAft>
              <a:buNone/>
            </a:pPr>
            <a:r>
              <a:rPr lang="en-US" sz="1500" dirty="0">
                <a:solidFill>
                  <a:srgbClr val="141B26"/>
                </a:solidFill>
              </a:rPr>
              <a:t>A cloned mammoth might not behave naturally because ___.</a:t>
            </a:r>
            <a:endParaRPr lang="en-US" sz="1500" dirty="0"/>
          </a:p>
          <a:p>
            <a:pPr indent="0" marL="0">
              <a:spcAft>
                <a:spcPts val="600"/>
              </a:spcAft>
              <a:buNone/>
            </a:pPr>
            <a:r>
              <a:rPr lang="en-US" sz="1500" dirty="0">
                <a:solidFill>
                  <a:srgbClr val="141B26"/>
                </a:solidFill>
              </a:rPr>
              <a:t>We could not clone a dinosaur because ___.</a:t>
            </a:r>
            <a:endParaRPr lang="en-US" sz="1500" dirty="0"/>
          </a:p>
        </p:txBody>
      </p:sp>
      <p:pic>
        <p:nvPicPr>
          <p:cNvPr id="8" name="Image 0" descr="/home/user/lessons/Y9_Exploring_Science/images/mammoth.jpg">    </p:cNvPr>
          <p:cNvPicPr>
            <a:picLocks noChangeAspect="1"/>
          </p:cNvPicPr>
          <p:nvPr/>
        </p:nvPicPr>
        <p:blipFill>
          <a:blip r:embed="rId1"/>
          <a:stretch>
            <a:fillRect/>
          </a:stretch>
        </p:blipFill>
        <p:spPr>
          <a:xfrm>
            <a:off x="6766560" y="1812771"/>
            <a:ext cx="4846320" cy="3232458"/>
          </a:xfrm>
          <a:prstGeom prst="rect">
            <a:avLst/>
          </a:prstGeom>
        </p:spPr>
      </p:pic>
      <p:sp>
        <p:nvSpPr>
          <p:cNvPr id="9" name="Text 6"/>
          <p:cNvSpPr txBox="1"/>
          <p:nvPr/>
        </p:nvSpPr>
        <p:spPr>
          <a:xfrm>
            <a:off x="6766560" y="5090949"/>
            <a:ext cx="4846320" cy="502920"/>
          </a:xfrm>
          <a:prstGeom prst="rect">
            <a:avLst/>
          </a:prstGeom>
          <a:noFill/>
          <a:ln/>
        </p:spPr>
        <p:txBody>
          <a:bodyPr wrap="square" lIns="0" tIns="0" rIns="0" bIns="0" rtlCol="0" anchor="t"/>
          <a:lstStyle/>
          <a:p>
            <a:pPr algn="l" indent="0" marL="0">
              <a:buNone/>
            </a:pPr>
            <a:r>
              <a:rPr lang="en-US" sz="1100" dirty="0">
                <a:solidFill>
                  <a:srgbClr val="141B26"/>
                </a:solidFill>
              </a:rPr>
              <a:t>A model of a woolly mammoth</a:t>
            </a:r>
            <a:pPr algn="l" indent="0" marL="0">
              <a:buNone/>
            </a:pPr>
            <a:endParaRPr lang="en-US" sz="1100" dirty="0"/>
          </a:p>
          <a:p>
            <a:pPr algn="l" indent="0" marL="0">
              <a:buNone/>
            </a:pPr>
            <a:r>
              <a:rPr lang="en-US" sz="800" dirty="0">
                <a:solidFill>
                  <a:srgbClr val="5B6574"/>
                </a:solidFill>
              </a:rPr>
              <a:t>Image: jurvetson, CC BY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What is natural selection?</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What is evolution?</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Explain why dark peppered moths became more common near Manchester in the 1800s.</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3</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 in 9A</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Variation is environmental (not inherited) or inherited (genes, from two gametes fusing at fertilisation).</a:t>
            </a:r>
            <a:endParaRPr lang="en-US" sz="1700" dirty="0"/>
          </a:p>
          <a:p>
            <a:pPr marL="342900" indent="-342900">
              <a:spcAft>
                <a:spcPts val="1000"/>
              </a:spcAft>
              <a:buSzPct val="100000"/>
              <a:buChar char="✓"/>
            </a:pPr>
            <a:r>
              <a:rPr lang="en-US" sz="1700" dirty="0">
                <a:solidFill>
                  <a:srgbClr val="141B26"/>
                </a:solidFill>
              </a:rPr>
              <a:t>Genetic information is in genes, on DNA, in chromosomes, in the nucleus: 46 chromosomes in a body cell, 23 in a gamete.</a:t>
            </a:r>
            <a:endParaRPr lang="en-US" sz="1700" dirty="0"/>
          </a:p>
          <a:p>
            <a:pPr marL="342900" indent="-342900">
              <a:spcAft>
                <a:spcPts val="1000"/>
              </a:spcAft>
              <a:buSzPct val="100000"/>
              <a:buChar char="✓"/>
            </a:pPr>
            <a:r>
              <a:rPr lang="en-US" sz="1700" dirty="0">
                <a:solidFill>
                  <a:srgbClr val="141B26"/>
                </a:solidFill>
              </a:rPr>
              <a:t>Adaptations come from genes; when the environment changes a species can become endangered or extinct.</a:t>
            </a:r>
            <a:endParaRPr lang="en-US" sz="1700" dirty="0"/>
          </a:p>
          <a:p>
            <a:pPr marL="342900" indent="-342900">
              <a:spcAft>
                <a:spcPts val="1000"/>
              </a:spcAft>
              <a:buSzPct val="100000"/>
              <a:buChar char="✓"/>
            </a:pPr>
            <a:r>
              <a:rPr lang="en-US" sz="1700" dirty="0">
                <a:solidFill>
                  <a:srgbClr val="141B26"/>
                </a:solidFill>
              </a:rPr>
              <a:t>Natural selection: the environment selects the inherited variations that survive and reproduce; over many generations this is evolution, and it can produce new species.</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End of unit: revise with Workbook page 14 (Recreating animals) and the key words from all seven lessons. Next unit: 9B Plant growth.</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9A Lesson 7: Natural selection and evolution</dc:title>
  <dc:subject>PptxGenJS Presentation</dc:subject>
  <dc:creator>Year 9 Science</dc:creator>
  <cp:lastModifiedBy>Year 9 Science</cp:lastModifiedBy>
  <cp:revision>1</cp:revision>
  <dcterms:created xsi:type="dcterms:W3CDTF">2026-10-28T01:48:24Z</dcterms:created>
  <dcterms:modified xsi:type="dcterms:W3CDTF">2026-10-28T01:48:24Z</dcterms:modified>
</cp:coreProperties>
</file>