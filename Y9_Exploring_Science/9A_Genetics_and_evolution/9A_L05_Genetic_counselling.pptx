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A5F"/>
                </a:solidFill>
                <a:latin typeface="+mj-lt"/>
              </a:defRPr>
            </a:pPr>
            <a:r>
              <a:rPr sz="1400" b="0" i="0" u="none" strike="noStrike">
                <a:solidFill>
                  <a:srgbClr val="0F2A5F"/>
                </a:solidFill>
                <a:latin typeface="+mj-lt"/>
              </a:rPr>
              <a:t>Chance of Alzheimer's disease before age 85</a:t>
            </a:r>
          </a:p>
        </c:rich>
      </c:tx>
      <c:layout/>
      <c:overlay val="0"/>
    </c:title>
    <c:autoTitleDeleted val="0"/>
    <c:plotArea>
      <c:layout/>
      <c:barChart>
        <c:barDir val="col"/>
        <c:grouping val="clustered"/>
        <c:varyColors val="0"/>
        <c:ser>
          <c:idx val="0"/>
          <c:order val="0"/>
          <c:tx>
            <c:strRef>
              <c:f>Sheet1!$B$1</c:f>
              <c:strCache>
                <c:ptCount val="1"/>
                <c:pt idx="0">
                  <c:v>Probability (%)</c:v>
                </c:pt>
              </c:strCache>
            </c:strRef>
          </c:tx>
          <c:spPr>
            <a:solidFill>
              <a:srgbClr val="7B3A8E"/>
            </a:solidFill>
            <a:effectLst/>
          </c:spPr>
          <c:invertIfNegative val="0"/>
          <c:dLbls>
            <c:numFmt formatCode="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cat>
            <c:multiLvlStrRef>
              <c:f>Sheet1!$A$2:$A$3</c:f>
              <c:multiLvlStrCache>
                <c:ptCount val="2"/>
                <c:lvl>
                  <c:pt idx="0">
                    <c:v>General population</c:v>
                  </c:pt>
                  <c:pt idx="1">
                    <c:v>One copy of APOE E4</c:v>
                  </c:pt>
                </c:lvl>
              </c:multiLvlStrCache>
            </c:multiLvlStrRef>
          </c:cat>
          <c:val>
            <c:numRef>
              <c:f>Sheet1!$B$2:$B$3</c:f>
              <c:numCache>
                <c:formatCode>General</c:formatCode>
                <c:ptCount val="2"/>
                <c:pt idx="0">
                  <c:v>13</c:v>
                </c:pt>
                <c:pt idx="1">
                  <c:v>20</c:v>
                </c:pt>
              </c:numCache>
            </c:numRef>
          </c:val>
        </c:ser>
        <c:dLbls>
          <c:numFmt formatCode="0" sourceLinked="0"/>
          <c:txPr>
            <a:bodyPr/>
            <a:lstStyle/>
            <a:p>
              <a:pPr>
                <a:defRPr b="0" i="0" strike="noStrike" sz="1000" u="none">
                  <a:solidFill>
                    <a:srgbClr val="141B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BE3"/>
              </a:solidFill>
              <a:prstDash val="solid"/>
              <a:round/>
            </a:ln>
          </c:spPr>
        </c:majorGridlines>
        <c:title>
          <c:tx>
            <c:rich>
              <a:bodyPr/>
              <a:lstStyle/>
              <a:p>
                <a:pPr>
                  <a:defRPr sz="1100" b="0" i="0" u="none" strike="noStrike">
                    <a:solidFill>
                      <a:srgbClr val="141B26"/>
                    </a:solidFill>
                    <a:latin typeface="+mn-lt"/>
                  </a:defRPr>
                </a:pPr>
                <a:r>
                  <a:rPr sz="1100" b="0" i="0" u="none" strike="noStrike">
                    <a:solidFill>
                      <a:srgbClr val="141B26"/>
                    </a:solidFill>
                    <a:latin typeface="+mn-lt"/>
                  </a:rPr>
                  <a:t>Probability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41B2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STEM lesson applying genes, chromosomes and probability (Lessons 3 and 4). The role is the genetic counsellor: a real job in hospitals that needs biology and the skill of explaining probability simply and kindly.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fifth group differs: CGG in P, CCG in R. A changed sequence can mean the gene makes a protein that does not work properly, which can cause a disorder. A gene is a section of DNA carrying the instructions for a characteristic.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Several key words are the names of conditions; students need to recognise them, not memorise their medical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a disorder early means treatment, diet or medicines can start before damage is done. Some disorders have no symptoms at first. Lead into the worksheet question about finding a faulty gene in a baby rather than a child.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and Y differ from V in the seventh group of letters. Haemoglobin is the protein in red blood cells that carries oxygen; in sickle cell disease the faulty protein makes the cells stiff and sickle-shaped so they block small blood vessels.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a normal human chromosome test shows (23 pairs, 46). Down's syndrome: 47 chromosomes, three copies of chromosome 21; people with Down's syndrome have learning difficulties and some have heart problems, and many live full lives into their 60s.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Cystic fibrosis: thick mucus in the lungs and gut; treated with physiotherapy and medicines. Stress the 25% is for each child separately, like each throw of the dice in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simple explanation: 'Out of 100 people like you, about 20 would develop the disease before 85, compared with about 13 out of 100 people in general. So your chance is higher than average, but most people with this result do not get the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gene's DNA sequence, or the chromosomes; 47; 1/4; no, 80 out of 100 would not develop it; the family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one sentence of counsellor language on the board. Circulate for Core 4: students often say 'exactly one child'; push for 'each child has a 1 in 4 chance, so it could be none or more than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views are valid: knowing can help people plan, change their lifestyle or join research; not knowing avoids worry about something that may never happen and that cannot be prevented. Keep the discussion general; do not ask about students' own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person's DNA (the sequence of a gene) or their chromosomes; 1/4 and 0.25; explains test results, works out and explains probabilities, explains the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 10 (9Ac Genetic counselling).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rtlCol="0"/>
          <a:lstStyle>
            <a:lvl1pPr indent="0" marL="0">
              <a:buNone/>
              <a:defRPr lang="en-US" sz="2000" dirty="0">
                <a:solidFill>
                  <a:srgbClr val="FFFFFF"/>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5: Genetic counselling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5: Genetic counselling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5B6574"/>
                </a:solidFill>
              </a:rPr>
              <a:t>Year 9 Science  |  9A Genetics and evolution  |  Lesson 5: Genetic counselling</a:t>
            </a:r>
            <a:endParaRPr lang="en-US" sz="9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3A2E00"/>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9A Genetics and evolution  |  Lesson 5: Genetic counselling</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300" b="1" spc="200" kern="0" dirty="0">
                <a:solidFill>
                  <a:srgbClr val="F2CE3E"/>
                </a:solidFill>
              </a:rPr>
              <a:t>YEAR 9 SCIENCE  ·  9A GENETICS AND EVOLUTION  ·  LESSON 5 OF 7</a:t>
            </a:r>
            <a:endParaRPr lang="en-US" sz="13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Genetic counselling</a:t>
            </a:r>
            <a:endParaRPr lang="en-US" sz="4400" dirty="0"/>
          </a:p>
        </p:txBody>
      </p:sp>
      <p:sp>
        <p:nvSpPr>
          <p:cNvPr id="4" name="Text 0"/>
          <p:cNvSpPr/>
          <p:nvPr>
            <p:ph idx="102" type="body" hasCustomPrompt="1"/>
          </p:nvPr>
        </p:nvSpPr>
        <p:spPr>
          <a:xfrm>
            <a:off x="548640" y="3657600"/>
            <a:ext cx="10515600" cy="914400"/>
          </a:xfrm>
          <a:prstGeom prst="rect">
            <a:avLst/>
          </a:prstGeom>
          <a:noFill/>
          <a:ln/>
        </p:spPr>
        <p:txBody>
          <a:bodyPr wrap="square" lIns="0" tIns="0" rIns="0" bIns="0" rtlCol="0" anchor="t"/>
          <a:lstStyle/>
          <a:p>
            <a:pPr indent="0" marL="0">
              <a:buNone/>
            </a:pPr>
            <a:r>
              <a:rPr lang="en-US" sz="2000" dirty="0">
                <a:solidFill>
                  <a:srgbClr val="FFFFFF"/>
                </a:solidFill>
              </a:rPr>
              <a:t>What can a genetic test tell a family, and who helps them understand it?</a:t>
            </a:r>
            <a:endParaRPr lang="en-US" sz="20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200" dirty="0">
                <a:solidFill>
                  <a:srgbClr val="C9D3E6"/>
                </a:solidFill>
              </a:rPr>
              <a:t>Exploring Science International 9  ·  Student Book pages 14 to 15  ·  Workbook pages 10</a:t>
            </a:r>
            <a:endParaRPr lang="en-US" sz="1200" dirty="0"/>
          </a:p>
        </p:txBody>
      </p:sp>
      <p:pic>
        <p:nvPicPr>
          <p:cNvPr id="6" name="Image 0" descr="/home/user/lessons/Y9_Exploring_Science/images/karyotype.jpg">    </p:cNvPr>
          <p:cNvPicPr>
            <a:picLocks noChangeAspect="1"/>
          </p:cNvPicPr>
          <p:nvPr/>
        </p:nvPicPr>
        <p:blipFill>
          <a:blip r:embed="rId1"/>
          <a:stretch>
            <a:fillRect/>
          </a:stretch>
        </p:blipFill>
        <p:spPr>
          <a:xfrm>
            <a:off x="8945939" y="4572000"/>
            <a:ext cx="2407802"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spot the difference</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normAutofit/>
          </a:bodyPr>
          <a:lstStyle/>
          <a:p>
            <a:pPr indent="0" marL="0">
              <a:spcAft>
                <a:spcPts val="1000"/>
              </a:spcAft>
              <a:buNone/>
            </a:pPr>
            <a:r>
              <a:rPr lang="en-US" sz="2000" dirty="0">
                <a:solidFill>
                  <a:srgbClr val="141B26"/>
                </a:solidFill>
              </a:rPr>
              <a:t>DNA stores information as a code of four letters: A, T, C and G. Two people had the same gene read:</a:t>
            </a:r>
            <a:endParaRPr lang="en-US" sz="2000" dirty="0"/>
          </a:p>
          <a:p>
            <a:pPr indent="0" marL="0">
              <a:spcAft>
                <a:spcPts val="1000"/>
              </a:spcAft>
              <a:buNone/>
            </a:pPr>
            <a:r>
              <a:rPr lang="en-US" sz="2000" dirty="0">
                <a:solidFill>
                  <a:srgbClr val="141B26"/>
                </a:solidFill>
              </a:rPr>
              <a:t>P:  CTT CTC GGA TCG CGG GAA ATA TTC</a:t>
            </a:r>
            <a:endParaRPr lang="en-US" sz="2000" dirty="0"/>
          </a:p>
          <a:p>
            <a:pPr indent="0" marL="0">
              <a:spcAft>
                <a:spcPts val="1000"/>
              </a:spcAft>
              <a:buNone/>
            </a:pPr>
            <a:r>
              <a:rPr lang="en-US" sz="2000" dirty="0">
                <a:solidFill>
                  <a:srgbClr val="141B26"/>
                </a:solidFill>
              </a:rPr>
              <a:t>R:  CTT CTC GGA TCG CCG GAA ATA TTC</a:t>
            </a:r>
            <a:endParaRPr lang="en-US" sz="2000" dirty="0"/>
          </a:p>
          <a:p>
            <a:pPr indent="0" marL="0">
              <a:spcAft>
                <a:spcPts val="1000"/>
              </a:spcAft>
              <a:buNone/>
            </a:pPr>
            <a:r>
              <a:rPr lang="en-US" sz="2000" dirty="0">
                <a:solidFill>
                  <a:srgbClr val="141B26"/>
                </a:solidFill>
              </a:rPr>
              <a:t>1. Find the difference. 2. What could a change in a gene do to a person? 3. Recap: what is a gene?</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325880"/>
            <a:ext cx="5669280" cy="457200"/>
          </a:xfrm>
          <a:prstGeom prst="rect">
            <a:avLst/>
          </a:prstGeom>
          <a:noFill/>
          <a:ln/>
        </p:spPr>
        <p:txBody>
          <a:bodyPr wrap="square" lIns="0" tIns="0" rIns="0" bIns="0" rtlCol="0" anchor="ctr"/>
          <a:lstStyle/>
          <a:p>
            <a:pPr indent="0" marL="0">
              <a:buNone/>
            </a:pPr>
            <a:r>
              <a:rPr lang="en-US" sz="2000" b="1" dirty="0">
                <a:solidFill>
                  <a:srgbClr val="7B3A8E"/>
                </a:solidFill>
              </a:rPr>
              <a:t>Today I can ...</a:t>
            </a:r>
            <a:endParaRPr lang="en-US" sz="2000" dirty="0"/>
          </a:p>
        </p:txBody>
      </p:sp>
      <p:sp>
        <p:nvSpPr>
          <p:cNvPr id="6" name="Shape 4"/>
          <p:cNvSpPr/>
          <p:nvPr/>
        </p:nvSpPr>
        <p:spPr>
          <a:xfrm>
            <a:off x="594360" y="1947672"/>
            <a:ext cx="292608" cy="292608"/>
          </a:xfrm>
          <a:prstGeom prst="rect">
            <a:avLst/>
          </a:prstGeom>
          <a:solidFill>
            <a:srgbClr val="FFFFFF"/>
          </a:solidFill>
          <a:ln w="19050">
            <a:solidFill>
              <a:srgbClr val="0F2A5F"/>
            </a:solidFill>
            <a:prstDash val="solid"/>
          </a:ln>
        </p:spPr>
      </p:sp>
      <p:sp>
        <p:nvSpPr>
          <p:cNvPr id="7" name="Text 5"/>
          <p:cNvSpPr txBox="1"/>
          <p:nvPr/>
        </p:nvSpPr>
        <p:spPr>
          <a:xfrm>
            <a:off x="1051560" y="187452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describe what a genetic test looks at and why babies and families may be tested.</a:t>
            </a:r>
            <a:endParaRPr lang="en-US" sz="1600" dirty="0"/>
          </a:p>
        </p:txBody>
      </p:sp>
      <p:sp>
        <p:nvSpPr>
          <p:cNvPr id="8" name="Shape 6"/>
          <p:cNvSpPr/>
          <p:nvPr/>
        </p:nvSpPr>
        <p:spPr>
          <a:xfrm>
            <a:off x="594360" y="2907792"/>
            <a:ext cx="292608" cy="292608"/>
          </a:xfrm>
          <a:prstGeom prst="rect">
            <a:avLst/>
          </a:prstGeom>
          <a:solidFill>
            <a:srgbClr val="FFFFFF"/>
          </a:solidFill>
          <a:ln w="19050">
            <a:solidFill>
              <a:srgbClr val="0F2A5F"/>
            </a:solidFill>
            <a:prstDash val="solid"/>
          </a:ln>
        </p:spPr>
      </p:sp>
      <p:sp>
        <p:nvSpPr>
          <p:cNvPr id="9" name="Text 7"/>
          <p:cNvSpPr txBox="1"/>
          <p:nvPr/>
        </p:nvSpPr>
        <p:spPr>
          <a:xfrm>
            <a:off x="1051560" y="2834640"/>
            <a:ext cx="5120640" cy="868680"/>
          </a:xfrm>
          <a:prstGeom prst="rect">
            <a:avLst/>
          </a:prstGeom>
          <a:noFill/>
          <a:ln/>
        </p:spPr>
        <p:txBody>
          <a:bodyPr wrap="square" lIns="0" tIns="0" rIns="0" bIns="0" rtlCol="0" anchor="t">
            <a:normAutofit/>
          </a:bodyPr>
          <a:lstStyle/>
          <a:p>
            <a:pPr indent="0" marL="0">
              <a:buNone/>
            </a:pPr>
            <a:r>
              <a:rPr lang="en-US" sz="1600" dirty="0">
                <a:solidFill>
                  <a:srgbClr val="141B26"/>
                </a:solidFill>
              </a:rPr>
              <a:t>I can use probability and my knowledge of genes and chromosomes to explain a genetic test result simply, as a genetic counsellor would.</a:t>
            </a:r>
            <a:endParaRPr lang="en-US" sz="1600" dirty="0"/>
          </a:p>
        </p:txBody>
      </p:sp>
      <p:sp>
        <p:nvSpPr>
          <p:cNvPr id="10" name="Text 8"/>
          <p:cNvSpPr txBox="1"/>
          <p:nvPr/>
        </p:nvSpPr>
        <p:spPr>
          <a:xfrm>
            <a:off x="6583680" y="1325880"/>
            <a:ext cx="5029200" cy="457200"/>
          </a:xfrm>
          <a:prstGeom prst="rect">
            <a:avLst/>
          </a:prstGeom>
          <a:noFill/>
          <a:ln/>
        </p:spPr>
        <p:txBody>
          <a:bodyPr wrap="square" lIns="0" tIns="0" rIns="0" bIns="0" rtlCol="0" anchor="ctr"/>
          <a:lstStyle/>
          <a:p>
            <a:pPr indent="0" marL="0">
              <a:buNone/>
            </a:pPr>
            <a:r>
              <a:rPr lang="en-US" sz="2000" b="1" dirty="0">
                <a:solidFill>
                  <a:srgbClr val="7B3A8E"/>
                </a:solidFill>
              </a:rPr>
              <a:t>Key words today</a:t>
            </a:r>
            <a:endParaRPr lang="en-US" sz="2000" dirty="0"/>
          </a:p>
        </p:txBody>
      </p:sp>
      <p:sp>
        <p:nvSpPr>
          <p:cNvPr id="11" name="Text 9"/>
          <p:cNvSpPr txBox="1"/>
          <p:nvPr/>
        </p:nvSpPr>
        <p:spPr>
          <a:xfrm>
            <a:off x="6583680" y="1874520"/>
            <a:ext cx="5029200" cy="4023360"/>
          </a:xfrm>
          <a:prstGeom prst="rect">
            <a:avLst/>
          </a:prstGeom>
          <a:noFill/>
          <a:ln/>
        </p:spPr>
        <p:txBody>
          <a:bodyPr wrap="square" lIns="0" tIns="0" rIns="0" bIns="0" rtlCol="0" anchor="t">
            <a:normAutofit/>
          </a:bodyPr>
          <a:lstStyle/>
          <a:p>
            <a:pPr indent="0" marL="0">
              <a:spcAft>
                <a:spcPts val="500"/>
              </a:spcAft>
              <a:buNone/>
            </a:pPr>
            <a:r>
              <a:rPr lang="en-US" sz="1300" b="1" dirty="0">
                <a:solidFill>
                  <a:srgbClr val="0F2A5F"/>
                </a:solidFill>
              </a:rPr>
              <a:t>genetic test</a:t>
            </a:r>
            <a:pPr indent="0" marL="0">
              <a:spcAft>
                <a:spcPts val="500"/>
              </a:spcAft>
              <a:buNone/>
            </a:pPr>
            <a:r>
              <a:rPr lang="en-US" sz="1300" dirty="0">
                <a:solidFill>
                  <a:srgbClr val="141B26"/>
                </a:solidFill>
              </a:rPr>
              <a:t>  a test that looks at a person's DNA sequence or chromosomes</a:t>
            </a:r>
            <a:endParaRPr lang="en-US" sz="1300" dirty="0"/>
          </a:p>
          <a:p>
            <a:pPr indent="0" marL="0">
              <a:spcAft>
                <a:spcPts val="500"/>
              </a:spcAft>
              <a:buNone/>
            </a:pPr>
            <a:r>
              <a:rPr lang="en-US" sz="1300" b="1" dirty="0">
                <a:solidFill>
                  <a:srgbClr val="0F2A5F"/>
                </a:solidFill>
              </a:rPr>
              <a:t>genetic counsellor</a:t>
            </a:r>
            <a:pPr indent="0" marL="0">
              <a:spcAft>
                <a:spcPts val="500"/>
              </a:spcAft>
              <a:buNone/>
            </a:pPr>
            <a:r>
              <a:rPr lang="en-US" sz="1300" dirty="0">
                <a:solidFill>
                  <a:srgbClr val="141B26"/>
                </a:solidFill>
              </a:rPr>
              <a:t>  a person trained to explain genetic test results and the chances of passing on a condition</a:t>
            </a:r>
            <a:endParaRPr lang="en-US" sz="1300" dirty="0"/>
          </a:p>
          <a:p>
            <a:pPr indent="0" marL="0">
              <a:spcAft>
                <a:spcPts val="500"/>
              </a:spcAft>
              <a:buNone/>
            </a:pPr>
            <a:r>
              <a:rPr lang="en-US" sz="1300" b="1" dirty="0">
                <a:solidFill>
                  <a:srgbClr val="0F2A5F"/>
                </a:solidFill>
              </a:rPr>
              <a:t>genetic disorder</a:t>
            </a:r>
            <a:pPr indent="0" marL="0">
              <a:spcAft>
                <a:spcPts val="500"/>
              </a:spcAft>
              <a:buNone/>
            </a:pPr>
            <a:r>
              <a:rPr lang="en-US" sz="1300" dirty="0">
                <a:solidFill>
                  <a:srgbClr val="141B26"/>
                </a:solidFill>
              </a:rPr>
              <a:t>  a condition caused by a faulty gene or an unusual set of chromosomes</a:t>
            </a:r>
            <a:endParaRPr lang="en-US" sz="1300" dirty="0"/>
          </a:p>
          <a:p>
            <a:pPr indent="0" marL="0">
              <a:spcAft>
                <a:spcPts val="500"/>
              </a:spcAft>
              <a:buNone/>
            </a:pPr>
            <a:r>
              <a:rPr lang="en-US" sz="1300" b="1" dirty="0">
                <a:solidFill>
                  <a:srgbClr val="0F2A5F"/>
                </a:solidFill>
              </a:rPr>
              <a:t>DNA sequence</a:t>
            </a:r>
            <a:pPr indent="0" marL="0">
              <a:spcAft>
                <a:spcPts val="500"/>
              </a:spcAft>
              <a:buNone/>
            </a:pPr>
            <a:r>
              <a:rPr lang="en-US" sz="1300" dirty="0">
                <a:solidFill>
                  <a:srgbClr val="141B26"/>
                </a:solidFill>
              </a:rPr>
              <a:t>  the order of the four letters (A, T, C, G) along a DNA molecule</a:t>
            </a:r>
            <a:endParaRPr lang="en-US" sz="1300" dirty="0"/>
          </a:p>
          <a:p>
            <a:pPr indent="0" marL="0">
              <a:spcAft>
                <a:spcPts val="500"/>
              </a:spcAft>
              <a:buNone/>
            </a:pPr>
            <a:r>
              <a:rPr lang="en-US" sz="1300" b="1" dirty="0">
                <a:solidFill>
                  <a:srgbClr val="0F2A5F"/>
                </a:solidFill>
              </a:rPr>
              <a:t>faulty gene</a:t>
            </a:r>
            <a:pPr indent="0" marL="0">
              <a:spcAft>
                <a:spcPts val="500"/>
              </a:spcAft>
              <a:buNone/>
            </a:pPr>
            <a:r>
              <a:rPr lang="en-US" sz="1300" dirty="0">
                <a:solidFill>
                  <a:srgbClr val="141B26"/>
                </a:solidFill>
              </a:rPr>
              <a:t>  a gene whose sequence has changed so that it no longer works properly</a:t>
            </a:r>
            <a:endParaRPr lang="en-US" sz="1300" dirty="0"/>
          </a:p>
          <a:p>
            <a:pPr indent="0" marL="0">
              <a:spcAft>
                <a:spcPts val="500"/>
              </a:spcAft>
              <a:buNone/>
            </a:pPr>
            <a:r>
              <a:rPr lang="en-US" sz="1300" b="1" dirty="0">
                <a:solidFill>
                  <a:srgbClr val="0F2A5F"/>
                </a:solidFill>
              </a:rPr>
              <a:t>haemoglobin</a:t>
            </a:r>
            <a:pPr indent="0" marL="0">
              <a:spcAft>
                <a:spcPts val="500"/>
              </a:spcAft>
              <a:buNone/>
            </a:pPr>
            <a:r>
              <a:rPr lang="en-US" sz="1300" dirty="0">
                <a:solidFill>
                  <a:srgbClr val="141B26"/>
                </a:solidFill>
              </a:rPr>
              <a:t>  the protein in red blood cells that carries oxygen</a:t>
            </a:r>
            <a:endParaRPr lang="en-US" sz="1300" dirty="0"/>
          </a:p>
          <a:p>
            <a:pPr indent="0" marL="0">
              <a:spcAft>
                <a:spcPts val="500"/>
              </a:spcAft>
              <a:buNone/>
            </a:pPr>
            <a:r>
              <a:rPr lang="en-US" sz="1300" b="1" dirty="0">
                <a:solidFill>
                  <a:srgbClr val="0F2A5F"/>
                </a:solidFill>
              </a:rPr>
              <a:t>sickle cell disease</a:t>
            </a:r>
            <a:pPr indent="0" marL="0">
              <a:spcAft>
                <a:spcPts val="500"/>
              </a:spcAft>
              <a:buNone/>
            </a:pPr>
            <a:r>
              <a:rPr lang="en-US" sz="1300" dirty="0">
                <a:solidFill>
                  <a:srgbClr val="141B26"/>
                </a:solidFill>
              </a:rPr>
              <a:t>  a genetic disorder in which faulty haemoglobin makes red blood cells sickle-shaped</a:t>
            </a:r>
            <a:endParaRPr lang="en-US" sz="1300" dirty="0"/>
          </a:p>
          <a:p>
            <a:pPr indent="0" marL="0">
              <a:spcAft>
                <a:spcPts val="500"/>
              </a:spcAft>
              <a:buNone/>
            </a:pPr>
            <a:r>
              <a:rPr lang="en-US" sz="1300" b="1" dirty="0">
                <a:solidFill>
                  <a:srgbClr val="0F2A5F"/>
                </a:solidFill>
              </a:rPr>
              <a:t>cystic fibrosis</a:t>
            </a:r>
            <a:pPr indent="0" marL="0">
              <a:spcAft>
                <a:spcPts val="500"/>
              </a:spcAft>
              <a:buNone/>
            </a:pPr>
            <a:r>
              <a:rPr lang="en-US" sz="1300" dirty="0">
                <a:solidFill>
                  <a:srgbClr val="141B26"/>
                </a:solidFill>
              </a:rPr>
              <a:t>  a genetic disorder in which thick mucus builds up in the lungs and gut</a:t>
            </a:r>
            <a:endParaRPr lang="en-US" sz="1300" dirty="0"/>
          </a:p>
          <a:p>
            <a:pPr indent="0" marL="0">
              <a:spcAft>
                <a:spcPts val="500"/>
              </a:spcAft>
              <a:buNone/>
            </a:pPr>
            <a:r>
              <a:rPr lang="en-US" sz="1300" b="1" dirty="0">
                <a:solidFill>
                  <a:srgbClr val="0F2A5F"/>
                </a:solidFill>
              </a:rPr>
              <a:t>Down's syndrome</a:t>
            </a:r>
            <a:pPr indent="0" marL="0">
              <a:spcAft>
                <a:spcPts val="500"/>
              </a:spcAft>
              <a:buNone/>
            </a:pPr>
            <a:r>
              <a:rPr lang="en-US" sz="1300" dirty="0">
                <a:solidFill>
                  <a:srgbClr val="141B26"/>
                </a:solidFill>
              </a:rPr>
              <a:t>  a condition caused by an extra copy of chromosome 21</a:t>
            </a:r>
            <a:endParaRPr lang="en-US" sz="1300" dirty="0"/>
          </a:p>
          <a:p>
            <a:pPr indent="0" marL="0">
              <a:spcAft>
                <a:spcPts val="500"/>
              </a:spcAft>
              <a:buNone/>
            </a:pPr>
            <a:r>
              <a:rPr lang="en-US" sz="1300" b="1" dirty="0">
                <a:solidFill>
                  <a:srgbClr val="0F2A5F"/>
                </a:solidFill>
              </a:rPr>
              <a:t>probability</a:t>
            </a:r>
            <a:pPr indent="0" marL="0">
              <a:spcAft>
                <a:spcPts val="500"/>
              </a:spcAft>
              <a:buNone/>
            </a:pPr>
            <a:r>
              <a:rPr lang="en-US" sz="1300" dirty="0">
                <a:solidFill>
                  <a:srgbClr val="141B26"/>
                </a:solidFill>
              </a:rPr>
              <a:t>  the chance of something happening, e.g. 25% or 1/4</a:t>
            </a:r>
            <a:endParaRPr lang="en-US" sz="1300" dirty="0"/>
          </a:p>
          <a:p>
            <a:pPr indent="0" marL="0">
              <a:spcAft>
                <a:spcPts val="500"/>
              </a:spcAft>
              <a:buNone/>
            </a:pPr>
            <a:r>
              <a:rPr lang="en-US" sz="1300" b="1" dirty="0">
                <a:solidFill>
                  <a:srgbClr val="0F2A5F"/>
                </a:solidFill>
              </a:rPr>
              <a:t>chromosome</a:t>
            </a:r>
            <a:pPr indent="0" marL="0">
              <a:spcAft>
                <a:spcPts val="500"/>
              </a:spcAft>
              <a:buNone/>
            </a:pPr>
            <a:r>
              <a:rPr lang="en-US" sz="1300" dirty="0">
                <a:solidFill>
                  <a:srgbClr val="141B26"/>
                </a:solidFill>
              </a:rPr>
              <a:t>  a structure in the nucleus made of one long DNA molecule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heel-prick test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377440"/>
          </a:xfrm>
          <a:prstGeom prst="rect">
            <a:avLst/>
          </a:prstGeom>
          <a:noFill/>
          <a:ln/>
        </p:spPr>
        <p:txBody>
          <a:bodyPr wrap="square" lIns="0" tIns="0" rIns="0" bIns="0" rtlCol="0" anchor="t">
            <a:normAutofit/>
          </a:bodyPr>
          <a:lstStyle/>
          <a:p>
            <a:pPr indent="0" marL="0">
              <a:buNone/>
            </a:pPr>
            <a:r>
              <a:rPr lang="en-US" sz="2800" b="1" dirty="0">
                <a:solidFill>
                  <a:srgbClr val="0F2A5F"/>
                </a:solidFill>
              </a:rPr>
              <a:t>In many countries, every newborn baby has a few drops of blood taken from its heel in the first week. The blood is tested for several genetic disorders. Why test a baby who looks healthy?</a:t>
            </a:r>
            <a:endParaRPr lang="en-US" sz="2800" dirty="0"/>
          </a:p>
        </p:txBody>
      </p:sp>
      <p:sp>
        <p:nvSpPr>
          <p:cNvPr id="6" name="Text 4"/>
          <p:cNvSpPr txBox="1"/>
          <p:nvPr/>
        </p:nvSpPr>
        <p:spPr>
          <a:xfrm>
            <a:off x="548640" y="3794760"/>
            <a:ext cx="5394960" cy="2103120"/>
          </a:xfrm>
          <a:prstGeom prst="rect">
            <a:avLst/>
          </a:prstGeom>
          <a:noFill/>
          <a:ln/>
        </p:spPr>
        <p:txBody>
          <a:bodyPr wrap="square" lIns="0" tIns="0" rIns="0" bIns="0" rtlCol="0" anchor="t">
            <a:normAutofit/>
          </a:bodyPr>
          <a:lstStyle/>
          <a:p>
            <a:pPr indent="0" marL="0">
              <a:spcAft>
                <a:spcPts val="800"/>
              </a:spcAft>
              <a:buNone/>
            </a:pPr>
            <a:r>
              <a:rPr lang="en-US" sz="1600" dirty="0">
                <a:solidFill>
                  <a:srgbClr val="141B26"/>
                </a:solidFill>
              </a:rPr>
              <a:t>Talk to a partner: what could doctors do differently if they knew early?</a:t>
            </a:r>
            <a:endParaRPr lang="en-US" sz="1600" dirty="0"/>
          </a:p>
        </p:txBody>
      </p:sp>
      <p:pic>
        <p:nvPicPr>
          <p:cNvPr id="7" name="Image 0" descr="/home/user/lessons/Y9_Exploring_Science/images/dna_helix.jpg">    </p:cNvPr>
          <p:cNvPicPr>
            <a:picLocks noChangeAspect="1"/>
          </p:cNvPicPr>
          <p:nvPr/>
        </p:nvPicPr>
        <p:blipFill>
          <a:blip r:embed="rId1"/>
          <a:stretch>
            <a:fillRect/>
          </a:stretch>
        </p:blipFill>
        <p:spPr>
          <a:xfrm>
            <a:off x="6309360" y="1394460"/>
            <a:ext cx="5303520" cy="3977640"/>
          </a:xfrm>
          <a:prstGeom prst="rect">
            <a:avLst/>
          </a:prstGeom>
        </p:spPr>
      </p:pic>
      <p:sp>
        <p:nvSpPr>
          <p:cNvPr id="8" name="Text 5"/>
          <p:cNvSpPr txBox="1"/>
          <p:nvPr/>
        </p:nvSpPr>
        <p:spPr>
          <a:xfrm>
            <a:off x="6309360" y="5417820"/>
            <a:ext cx="5303520" cy="502920"/>
          </a:xfrm>
          <a:prstGeom prst="rect">
            <a:avLst/>
          </a:prstGeom>
          <a:noFill/>
          <a:ln/>
        </p:spPr>
        <p:txBody>
          <a:bodyPr wrap="square" lIns="0" tIns="0" rIns="0" bIns="0" rtlCol="0" anchor="t"/>
          <a:lstStyle/>
          <a:p>
            <a:pPr algn="l" indent="0" marL="0">
              <a:buNone/>
            </a:pPr>
            <a:r>
              <a:rPr lang="en-US" sz="1100" dirty="0">
                <a:solidFill>
                  <a:srgbClr val="141B26"/>
                </a:solidFill>
              </a:rPr>
              <a:t>Genetic tests read the sequence of a gene</a:t>
            </a:r>
            <a:pPr algn="l" indent="0" marL="0">
              <a:buNone/>
            </a:pPr>
            <a:endParaRPr lang="en-US" sz="1100" dirty="0"/>
          </a:p>
          <a:p>
            <a:pPr algn="l" indent="0" marL="0">
              <a:buNone/>
            </a:pPr>
            <a:r>
              <a:rPr lang="en-US" sz="800" dirty="0">
                <a:solidFill>
                  <a:srgbClr val="5B6574"/>
                </a:solidFill>
              </a:rPr>
              <a:t>Image: National Institutes of Health (NIH), Public domain, via Wikimedia Commons</a:t>
            </a:r>
            <a:endParaRPr lang="en-US" sz="11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Reading a gene: sequences and faulty proteins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DNA sequence   ·   faulty gene   ·   haemoglobin</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949440" cy="914400"/>
        </p:xfrm>
        <a:graphic>
          <a:graphicData uri="http://schemas.openxmlformats.org/drawingml/2006/table">
            <a:tbl>
              <a:tblPr/>
              <a:tblGrid>
                <a:gridCol w="1097280"/>
                <a:gridCol w="4206240"/>
                <a:gridCol w="164592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Person</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Sequence of part of the haemoglobin gene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Protein made</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solidFill>
                      <a:srgbClr val="0F2A5F"/>
                    </a:solidFill>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V (normal)</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TAC CAC GTA GAC TGA GGA CTC CTC</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W</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TAC CAC GTA GAC TGA GGA CTC CTC</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TAC CAC GTA GAC TGA GGA CAC CTC</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faulty</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TAC CAC GTA GAC TGA GGA TTC CTC</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faulty</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r h="384048">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Z</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TAC CAC GTA GAC TGA GGA CTC CTC</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41B26"/>
                          </a:solidFill>
                          <a:latin typeface="Calibri" pitchFamily="34" charset="0"/>
                          <a:ea typeface="Calibri" pitchFamily="34" charset="-122"/>
                          <a:cs typeface="Calibri" pitchFamily="34" charset="-120"/>
                        </a:rPr>
                        <a:t>normal</a:t>
                      </a:r>
                      <a:endParaRPr lang="en-US" sz="1300" dirty="0">
                        <a:latin typeface="Calibri" charset="0"/>
                        <a:ea typeface="Calibri" charset="0"/>
                        <a:cs typeface="Calibri" charset="0"/>
                      </a:endParaRPr>
                    </a:p>
                  </a:txBody>
                  <a:tcPr marL="54864" marR="54864" marT="54864" marB="54864" anchor="ctr">
                    <a:lnL w="12700" cap="flat" cmpd="sng" algn="ctr">
                      <a:solidFill>
                        <a:srgbClr val="D5DBE3"/>
                      </a:solidFill>
                      <a:prstDash val="solid"/>
                      <a:round/>
                      <a:headEnd type="none" w="med" len="med"/>
                      <a:tailEnd type="none" w="med" len="med"/>
                    </a:lnL>
                    <a:lnR w="12700" cap="flat" cmpd="sng" algn="ctr">
                      <a:solidFill>
                        <a:srgbClr val="D5DBE3"/>
                      </a:solidFill>
                      <a:prstDash val="solid"/>
                      <a:round/>
                      <a:headEnd type="none" w="med" len="med"/>
                      <a:tailEnd type="none" w="med" len="med"/>
                    </a:lnR>
                    <a:lnT w="12700" cap="flat" cmpd="sng" algn="ctr">
                      <a:solidFill>
                        <a:srgbClr val="D5DBE3"/>
                      </a:solidFill>
                      <a:prstDash val="solid"/>
                      <a:round/>
                      <a:headEnd type="none" w="med" len="med"/>
                      <a:tailEnd type="none" w="med" len="med"/>
                    </a:lnT>
                    <a:lnB w="1270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7772400" y="1371600"/>
            <a:ext cx="3840480" cy="438912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A gene is a sequence of DNA letters.</a:t>
            </a:r>
            <a:endParaRPr lang="en-US" sz="1500" dirty="0"/>
          </a:p>
          <a:p>
            <a:pPr marL="228600" indent="-228600">
              <a:spcAft>
                <a:spcPts val="600"/>
              </a:spcAft>
              <a:buSzPct val="100000"/>
              <a:buChar char="•"/>
            </a:pPr>
            <a:r>
              <a:rPr lang="en-US" sz="1500" dirty="0">
                <a:solidFill>
                  <a:srgbClr val="141B26"/>
                </a:solidFill>
              </a:rPr>
              <a:t>A changed sequence can make a faulty protein.</a:t>
            </a:r>
            <a:endParaRPr lang="en-US" sz="1500" dirty="0"/>
          </a:p>
          <a:p>
            <a:pPr marL="228600" indent="-228600">
              <a:spcAft>
                <a:spcPts val="600"/>
              </a:spcAft>
              <a:buSzPct val="100000"/>
              <a:buChar char="•"/>
            </a:pPr>
            <a:r>
              <a:rPr lang="en-US" sz="1500" dirty="0">
                <a:solidFill>
                  <a:srgbClr val="141B26"/>
                </a:solidFill>
              </a:rPr>
              <a:t>Faulty haemoglobin causes sickle cell disease.</a:t>
            </a:r>
            <a:endParaRPr lang="en-US" sz="1500" dirty="0"/>
          </a:p>
          <a:p>
            <a:pPr marL="228600" indent="-228600">
              <a:spcAft>
                <a:spcPts val="600"/>
              </a:spcAft>
              <a:buSzPct val="100000"/>
              <a:buChar char="•"/>
            </a:pPr>
            <a:r>
              <a:rPr lang="en-US" sz="1500" dirty="0">
                <a:solidFill>
                  <a:srgbClr val="141B26"/>
                </a:solidFill>
              </a:rPr>
              <a:t>Which sequences differ from V?</a:t>
            </a:r>
            <a:endParaRPr lang="en-US" sz="1500" dirty="0"/>
          </a:p>
        </p:txBody>
      </p:sp>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Change the sequence, change the protein, and a disorder can result.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Genetic tests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genetic test   ·   genetic disorder   ·   chromosome</a:t>
            </a:r>
            <a:endParaRPr lang="en-US" sz="1200" dirty="0"/>
          </a:p>
        </p:txBody>
      </p:sp>
      <p:sp>
        <p:nvSpPr>
          <p:cNvPr id="6" name="Text 4"/>
          <p:cNvSpPr txBox="1"/>
          <p:nvPr/>
        </p:nvSpPr>
        <p:spPr>
          <a:xfrm>
            <a:off x="548640" y="1325880"/>
            <a:ext cx="576072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A genetic test looks at the sequence of a gene, or at a person's chromosomes.</a:t>
            </a:r>
            <a:endParaRPr lang="en-US" sz="1700" dirty="0"/>
          </a:p>
          <a:p>
            <a:pPr marL="228600" indent="-228600">
              <a:spcAft>
                <a:spcPts val="600"/>
              </a:spcAft>
              <a:buSzPct val="100000"/>
              <a:buChar char="•"/>
            </a:pPr>
            <a:r>
              <a:rPr lang="en-US" sz="1700" dirty="0">
                <a:solidFill>
                  <a:srgbClr val="141B26"/>
                </a:solidFill>
              </a:rPr>
              <a:t>Tests are done on newborn babies, on people with symptoms, and on couples who want to start a family.</a:t>
            </a:r>
            <a:endParaRPr lang="en-US" sz="1700" dirty="0"/>
          </a:p>
          <a:p>
            <a:pPr marL="228600" indent="-228600">
              <a:spcAft>
                <a:spcPts val="600"/>
              </a:spcAft>
              <a:buSzPct val="100000"/>
              <a:buChar char="•"/>
            </a:pPr>
            <a:r>
              <a:rPr lang="en-US" sz="1700" dirty="0">
                <a:solidFill>
                  <a:srgbClr val="141B26"/>
                </a:solidFill>
              </a:rPr>
              <a:t>A chromosome test can show an extra chromosome: an extra chromosome 21 causes Down's syndrome.</a:t>
            </a:r>
            <a:endParaRPr lang="en-US" sz="1700" dirty="0"/>
          </a:p>
          <a:p>
            <a:pPr marL="228600" indent="-228600">
              <a:spcAft>
                <a:spcPts val="600"/>
              </a:spcAft>
              <a:buSzPct val="100000"/>
              <a:buChar char="•"/>
            </a:pPr>
            <a:r>
              <a:rPr lang="en-US" sz="1700" dirty="0">
                <a:solidFill>
                  <a:srgbClr val="141B26"/>
                </a:solidFill>
              </a:rPr>
              <a:t>Tests are becoming cheaper and faster, so they are used more and more.</a:t>
            </a:r>
            <a:endParaRPr lang="en-US" sz="1700" dirty="0"/>
          </a:p>
        </p:txBody>
      </p:sp>
      <p:pic>
        <p:nvPicPr>
          <p:cNvPr id="7" name="Image 0" descr="/home/user/lessons/Y9_Exploring_Science/images/karyotype.jpg">    </p:cNvPr>
          <p:cNvPicPr>
            <a:picLocks noChangeAspect="1"/>
          </p:cNvPicPr>
          <p:nvPr/>
        </p:nvPicPr>
        <p:blipFill>
          <a:blip r:embed="rId1"/>
          <a:stretch>
            <a:fillRect/>
          </a:stretch>
        </p:blipFill>
        <p:spPr>
          <a:xfrm>
            <a:off x="6690478" y="1280160"/>
            <a:ext cx="4815605" cy="3657600"/>
          </a:xfrm>
          <a:prstGeom prst="rect">
            <a:avLst/>
          </a:prstGeom>
        </p:spPr>
      </p:pic>
      <p:sp>
        <p:nvSpPr>
          <p:cNvPr id="8" name="Text 5"/>
          <p:cNvSpPr txBox="1"/>
          <p:nvPr/>
        </p:nvSpPr>
        <p:spPr>
          <a:xfrm>
            <a:off x="6583680" y="4983480"/>
            <a:ext cx="5029200" cy="502920"/>
          </a:xfrm>
          <a:prstGeom prst="rect">
            <a:avLst/>
          </a:prstGeom>
          <a:noFill/>
          <a:ln/>
        </p:spPr>
        <p:txBody>
          <a:bodyPr wrap="square" lIns="0" tIns="0" rIns="0" bIns="0" rtlCol="0" anchor="t"/>
          <a:lstStyle/>
          <a:p>
            <a:pPr algn="l" indent="0" marL="0">
              <a:buNone/>
            </a:pPr>
            <a:r>
              <a:rPr lang="en-US" sz="1100" dirty="0">
                <a:solidFill>
                  <a:srgbClr val="141B26"/>
                </a:solidFill>
              </a:rPr>
              <a:t>A chromosome test sorts the chromosomes of one cell into pairs</a:t>
            </a:r>
            <a:pPr algn="l" indent="0" marL="0">
              <a:buNone/>
            </a:pPr>
            <a:endParaRPr lang="en-US" sz="1100" dirty="0"/>
          </a:p>
          <a:p>
            <a:pPr algn="l" indent="0" marL="0">
              <a:buNone/>
            </a:pPr>
            <a:r>
              <a:rPr lang="en-US" sz="800" dirty="0">
                <a:solidFill>
                  <a:srgbClr val="5B6574"/>
                </a:solidFill>
              </a:rPr>
              <a:t>Image: Can H., CC BY 2.0, via Wikimedia Commons</a:t>
            </a:r>
            <a:endParaRPr lang="en-US" sz="11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Genetic tests read DNA sequences or count and check chromosomes.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a genetic counsellor does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genetic counsellor   ·   probability   ·   cystic fibrosis</a:t>
            </a:r>
            <a:endParaRPr lang="en-US" sz="1200" dirty="0"/>
          </a:p>
        </p:txBody>
      </p:sp>
      <p:sp>
        <p:nvSpPr>
          <p:cNvPr id="6" name="Text 4"/>
          <p:cNvSpPr txBox="1"/>
          <p:nvPr/>
        </p:nvSpPr>
        <p:spPr>
          <a:xfrm>
            <a:off x="548640" y="1325880"/>
            <a:ext cx="10881360" cy="406908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700" dirty="0">
                <a:solidFill>
                  <a:srgbClr val="141B26"/>
                </a:solidFill>
              </a:rPr>
              <a:t>Explains test results in simple words.</a:t>
            </a:r>
            <a:endParaRPr lang="en-US" sz="1700" dirty="0"/>
          </a:p>
          <a:p>
            <a:pPr marL="228600" indent="-228600">
              <a:spcAft>
                <a:spcPts val="600"/>
              </a:spcAft>
              <a:buSzPct val="100000"/>
              <a:buChar char="•"/>
            </a:pPr>
            <a:r>
              <a:rPr lang="en-US" sz="1700" dirty="0">
                <a:solidFill>
                  <a:srgbClr val="141B26"/>
                </a:solidFill>
              </a:rPr>
              <a:t>Works out and explains the probability of passing a condition on.</a:t>
            </a:r>
            <a:endParaRPr lang="en-US" sz="1700" dirty="0"/>
          </a:p>
          <a:p>
            <a:pPr marL="228600" indent="-228600">
              <a:spcAft>
                <a:spcPts val="600"/>
              </a:spcAft>
              <a:buSzPct val="100000"/>
              <a:buChar char="•"/>
            </a:pPr>
            <a:r>
              <a:rPr lang="en-US" sz="1700" dirty="0">
                <a:solidFill>
                  <a:srgbClr val="141B26"/>
                </a:solidFill>
              </a:rPr>
              <a:t>Example: both parents carry a faulty CFTR gene. Each child has a 25% (1 in 4) chance of cystic fibrosis.</a:t>
            </a:r>
            <a:endParaRPr lang="en-US" sz="1700" dirty="0"/>
          </a:p>
          <a:p>
            <a:pPr marL="228600" indent="-228600">
              <a:spcAft>
                <a:spcPts val="600"/>
              </a:spcAft>
              <a:buSzPct val="100000"/>
              <a:buChar char="•"/>
            </a:pPr>
            <a:r>
              <a:rPr lang="en-US" sz="1700" dirty="0">
                <a:solidFill>
                  <a:srgbClr val="141B26"/>
                </a:solidFill>
              </a:rPr>
              <a:t>Explains the options. The family decides; the counsellor does not decide for them.</a:t>
            </a:r>
            <a:endParaRPr lang="en-US" sz="17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The counsellor explains the science and the chances; the decision belongs to the family.</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Explaining a probability result</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53328"/>
            <a:ext cx="9601200" cy="292608"/>
          </a:xfrm>
          <a:prstGeom prst="rect">
            <a:avLst/>
          </a:prstGeom>
          <a:noFill/>
          <a:ln/>
        </p:spPr>
        <p:txBody>
          <a:bodyPr wrap="square" lIns="0" tIns="0" rIns="0" bIns="0" rtlCol="0" anchor="ctr"/>
          <a:lstStyle/>
          <a:p>
            <a:pPr indent="0" marL="0">
              <a:buNone/>
            </a:pPr>
            <a:r>
              <a:rPr lang="en-US" sz="1200" b="1" dirty="0">
                <a:solidFill>
                  <a:srgbClr val="7B3A8E"/>
                </a:solidFill>
              </a:rPr>
              <a:t>Key words  </a:t>
            </a:r>
            <a:pPr indent="0" marL="0">
              <a:buNone/>
            </a:pPr>
            <a:r>
              <a:rPr lang="en-US" sz="1200" dirty="0">
                <a:solidFill>
                  <a:srgbClr val="7B3A8E"/>
                </a:solidFill>
              </a:rPr>
              <a:t>probability   ·   genetic test</a:t>
            </a:r>
            <a:endParaRPr lang="en-US" sz="1200" dirty="0"/>
          </a:p>
        </p:txBody>
      </p:sp>
      <p:graphicFrame>
        <p:nvGraphicFramePr>
          <p:cNvPr id="6" name="Chart 0" descr=""/>
          <p:cNvGraphicFramePr/>
          <p:nvPr/>
        </p:nvGraphicFramePr>
        <p:xfrm>
          <a:off x="548640" y="1325880"/>
          <a:ext cx="6400800" cy="448056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223760" y="1371600"/>
            <a:ext cx="4389120" cy="4389120"/>
          </a:xfrm>
          <a:prstGeom prst="rect">
            <a:avLst/>
          </a:prstGeom>
          <a:noFill/>
          <a:ln/>
        </p:spPr>
        <p:txBody>
          <a:bodyPr wrap="square" lIns="0" tIns="0" rIns="0" bIns="0" rtlCol="0" anchor="t">
            <a:normAutofit/>
          </a:bodyPr>
          <a:lstStyle/>
          <a:p>
            <a:pPr marL="228600" indent="-228600">
              <a:spcAft>
                <a:spcPts val="600"/>
              </a:spcAft>
              <a:buSzPct val="100000"/>
              <a:buChar char="•"/>
            </a:pPr>
            <a:r>
              <a:rPr lang="en-US" sz="1500" dirty="0">
                <a:solidFill>
                  <a:srgbClr val="141B26"/>
                </a:solidFill>
              </a:rPr>
              <a:t>A test report says: 'The patient has one copy of the E4 variant of the APOE gene. The probability of Alzheimer's disease before 85 is 20%, compared with 13% for the general population.'</a:t>
            </a:r>
            <a:endParaRPr lang="en-US" sz="1500" dirty="0"/>
          </a:p>
          <a:p>
            <a:pPr marL="228600" indent="-228600">
              <a:spcAft>
                <a:spcPts val="600"/>
              </a:spcAft>
              <a:buSzPct val="100000"/>
              <a:buChar char="•"/>
            </a:pPr>
            <a:r>
              <a:rPr lang="en-US" sz="1500" dirty="0">
                <a:solidFill>
                  <a:srgbClr val="141B26"/>
                </a:solidFill>
              </a:rPr>
              <a:t>How would you explain this simply?</a:t>
            </a:r>
            <a:endParaRPr lang="en-US" sz="1500" dirty="0"/>
          </a:p>
          <a:p>
            <a:pPr marL="228600" indent="-228600">
              <a:spcAft>
                <a:spcPts val="600"/>
              </a:spcAft>
              <a:buSzPct val="100000"/>
              <a:buChar char="•"/>
            </a:pPr>
            <a:r>
              <a:rPr lang="en-US" sz="1500" dirty="0">
                <a:solidFill>
                  <a:srgbClr val="141B26"/>
                </a:solidFill>
              </a:rPr>
              <a:t>Is the patient certain to get the disease?</a:t>
            </a:r>
            <a:endParaRPr lang="en-US" sz="1500" dirty="0"/>
          </a:p>
        </p:txBody>
      </p:sp>
      <p:sp>
        <p:nvSpPr>
          <p:cNvPr id="8" name="Shape 5"/>
          <p:cNvSpPr/>
          <p:nvPr/>
        </p:nvSpPr>
        <p:spPr>
          <a:xfrm>
            <a:off x="548640" y="585216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852160"/>
            <a:ext cx="10820095" cy="566928"/>
          </a:xfrm>
          <a:prstGeom prst="rect">
            <a:avLst/>
          </a:prstGeom>
          <a:noFill/>
          <a:ln/>
        </p:spPr>
        <p:txBody>
          <a:bodyPr wrap="square" lIns="0" tIns="0" rIns="0" bIns="0" rtlCol="0" anchor="ctr">
            <a:normAutofit/>
          </a:bodyPr>
          <a:lstStyle/>
          <a:p>
            <a:pPr indent="0" marL="0">
              <a:buNone/>
            </a:pPr>
            <a:r>
              <a:rPr lang="en-US" sz="1400" b="1" dirty="0">
                <a:solidFill>
                  <a:srgbClr val="7B3A8E"/>
                </a:solidFill>
              </a:rPr>
              <a:t>Key idea  </a:t>
            </a:r>
            <a:pPr indent="0" marL="0">
              <a:buNone/>
            </a:pPr>
            <a:r>
              <a:rPr lang="en-US" sz="1400" dirty="0">
                <a:solidFill>
                  <a:srgbClr val="141B26"/>
                </a:solidFill>
              </a:rPr>
              <a:t>Most test results are probabilities, not certainties: 20% means 80% do not develop the disease.</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Mini whiteboards. Short answers.</a:t>
            </a:r>
            <a:endParaRPr lang="en-US" sz="14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Q1  </a:t>
            </a:r>
            <a:pPr indent="0" marL="0">
              <a:buNone/>
            </a:pPr>
            <a:r>
              <a:rPr lang="en-US" sz="1600" dirty="0">
                <a:solidFill>
                  <a:srgbClr val="141B26"/>
                </a:solidFill>
              </a:rPr>
              <a:t>What two things can a genetic test look at?</a:t>
            </a:r>
            <a:endParaRPr lang="en-US" sz="16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Q2  </a:t>
            </a:r>
            <a:pPr indent="0" marL="0">
              <a:buNone/>
            </a:pPr>
            <a:r>
              <a:rPr lang="en-US" sz="1600" dirty="0">
                <a:solidFill>
                  <a:srgbClr val="141B26"/>
                </a:solidFill>
              </a:rPr>
              <a:t>How many chromosomes does a person with Down's syndrome have in each body cell?</a:t>
            </a:r>
            <a:endParaRPr lang="en-US" sz="16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Q3  </a:t>
            </a:r>
            <a:pPr indent="0" marL="0">
              <a:buNone/>
            </a:pPr>
            <a:r>
              <a:rPr lang="en-US" sz="1600" dirty="0">
                <a:solidFill>
                  <a:srgbClr val="141B26"/>
                </a:solidFill>
              </a:rPr>
              <a:t>Both parents carry a faulty gene; each child has a 25% chance. Write 25% as a fraction.</a:t>
            </a:r>
            <a:endParaRPr lang="en-US" sz="16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Q4  </a:t>
            </a:r>
            <a:pPr indent="0" marL="0">
              <a:buNone/>
            </a:pPr>
            <a:r>
              <a:rPr lang="en-US" sz="1600" dirty="0">
                <a:solidFill>
                  <a:srgbClr val="141B26"/>
                </a:solidFill>
              </a:rPr>
              <a:t>Does a 20% probability mean the disease is certain?</a:t>
            </a:r>
            <a:endParaRPr lang="en-US" sz="16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normAutofit/>
          </a:bodyPr>
          <a:lstStyle/>
          <a:p>
            <a:pPr indent="0" marL="0">
              <a:buNone/>
            </a:pPr>
            <a:r>
              <a:rPr lang="en-US" sz="1600" b="1" dirty="0">
                <a:solidFill>
                  <a:srgbClr val="7B3A8E"/>
                </a:solidFill>
              </a:rPr>
              <a:t>Q5  </a:t>
            </a:r>
            <a:pPr indent="0" marL="0">
              <a:buNone/>
            </a:pPr>
            <a:r>
              <a:rPr lang="en-US" sz="1600" dirty="0">
                <a:solidFill>
                  <a:srgbClr val="141B26"/>
                </a:solidFill>
              </a:rPr>
              <a:t>Who makes the final decision after genetic counselling?</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 be the genetic counsellor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13</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Core: find the changed sequence; match the terms; explain why early testing helps; predict how many of four children have cystic fibrosis.</a:t>
            </a:r>
            <a:endParaRPr lang="en-US" sz="17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Stretch: explain an extra chromosome 21 using gametes; explain the APOE result in simple words.</a:t>
            </a:r>
            <a:endParaRPr lang="en-US" sz="17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Challenge: write what you would say to a person with an unusual chromosome result who wants a family; evaluate testing every baby.</a:t>
            </a:r>
            <a:endParaRPr lang="en-US" sz="17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normAutofit/>
          </a:bodyPr>
          <a:lstStyle/>
          <a:p>
            <a:pPr indent="0" marL="0">
              <a:buNone/>
            </a:pPr>
            <a:r>
              <a:rPr lang="en-US" sz="1700" dirty="0">
                <a:solidFill>
                  <a:srgbClr val="141B26"/>
                </a:solidFill>
              </a:rPr>
              <a:t>Write as a counsellor would: simple words, honest probabilities, kind tone.</a:t>
            </a:r>
            <a:endParaRPr lang="en-US" sz="17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i="1" dirty="0">
                <a:solidFill>
                  <a:srgbClr val="5B6574"/>
                </a:solidFill>
              </a:rPr>
              <a:t>Use 'out of 100' to explain any percentage.</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Would you want to know?</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normAutofit/>
          </a:bodyPr>
          <a:lstStyle/>
          <a:p>
            <a:pPr indent="0" marL="0">
              <a:buNone/>
            </a:pPr>
            <a:r>
              <a:rPr lang="en-US" sz="2200" b="1" dirty="0">
                <a:solidFill>
                  <a:srgbClr val="0F2A5F"/>
                </a:solidFill>
              </a:rPr>
              <a:t>A genetic test can tell you your chance of getting a disease that has no cure. Would you want to know your result? Why might some people choose not to be tested?</a:t>
            </a:r>
            <a:endParaRPr lang="en-US" sz="22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normAutofit/>
          </a:bodyPr>
          <a:lstStyle/>
          <a:p>
            <a:pPr indent="0" marL="0">
              <a:spcAft>
                <a:spcPts val="600"/>
              </a:spcAft>
              <a:buNone/>
            </a:pPr>
            <a:r>
              <a:rPr lang="en-US" sz="1500" b="1" dirty="0">
                <a:solidFill>
                  <a:srgbClr val="7B3A8E"/>
                </a:solidFill>
              </a:rPr>
              <a:t>Sentence frames</a:t>
            </a:r>
            <a:endParaRPr lang="en-US" sz="1500" dirty="0"/>
          </a:p>
          <a:p>
            <a:pPr indent="0" marL="0">
              <a:spcAft>
                <a:spcPts val="600"/>
              </a:spcAft>
              <a:buNone/>
            </a:pPr>
            <a:r>
              <a:rPr lang="en-US" sz="1500" dirty="0">
                <a:solidFill>
                  <a:srgbClr val="141B26"/>
                </a:solidFill>
              </a:rPr>
              <a:t>I would / would not want to know because ___.</a:t>
            </a:r>
            <a:endParaRPr lang="en-US" sz="1500" dirty="0"/>
          </a:p>
          <a:p>
            <a:pPr indent="0" marL="0">
              <a:spcAft>
                <a:spcPts val="600"/>
              </a:spcAft>
              <a:buNone/>
            </a:pPr>
            <a:r>
              <a:rPr lang="en-US" sz="1500" dirty="0">
                <a:solidFill>
                  <a:srgbClr val="141B26"/>
                </a:solidFill>
              </a:rPr>
              <a:t>Knowing the result could help someone to ___.</a:t>
            </a:r>
            <a:endParaRPr lang="en-US" sz="1500" dirty="0"/>
          </a:p>
          <a:p>
            <a:pPr indent="0" marL="0">
              <a:spcAft>
                <a:spcPts val="600"/>
              </a:spcAft>
              <a:buNone/>
            </a:pPr>
            <a:r>
              <a:rPr lang="en-US" sz="1500" dirty="0">
                <a:solidFill>
                  <a:srgbClr val="141B26"/>
                </a:solidFill>
              </a:rPr>
              <a:t>Some people might not want to know because ___.</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400" i="1" dirty="0">
                <a:solidFill>
                  <a:srgbClr val="5B6574"/>
                </a:solidFill>
              </a:rPr>
              <a:t>On your worksheet exit ticket. Work alone. Hand it in as you leave.</a:t>
            </a:r>
            <a:endParaRPr lang="en-US" sz="1400" dirty="0"/>
          </a:p>
        </p:txBody>
      </p:sp>
      <p:sp>
        <p:nvSpPr>
          <p:cNvPr id="6" name="Text 4"/>
          <p:cNvSpPr txBox="1"/>
          <p:nvPr/>
        </p:nvSpPr>
        <p:spPr>
          <a:xfrm>
            <a:off x="548640" y="182880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1.  </a:t>
            </a:r>
            <a:pPr indent="0" marL="0">
              <a:buNone/>
            </a:pPr>
            <a:r>
              <a:rPr lang="en-US" sz="1800" dirty="0">
                <a:solidFill>
                  <a:srgbClr val="141B26"/>
                </a:solidFill>
              </a:rPr>
              <a:t>What does a genetic test look at?</a:t>
            </a:r>
            <a:endParaRPr lang="en-US" sz="1800" dirty="0"/>
          </a:p>
        </p:txBody>
      </p:sp>
      <p:sp>
        <p:nvSpPr>
          <p:cNvPr id="7" name="Text 5"/>
          <p:cNvSpPr txBox="1"/>
          <p:nvPr/>
        </p:nvSpPr>
        <p:spPr>
          <a:xfrm>
            <a:off x="548640" y="301752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2.  </a:t>
            </a:r>
            <a:pPr indent="0" marL="0">
              <a:buNone/>
            </a:pPr>
            <a:r>
              <a:rPr lang="en-US" sz="1800" dirty="0">
                <a:solidFill>
                  <a:srgbClr val="141B26"/>
                </a:solidFill>
              </a:rPr>
              <a:t>Both parents carry a faulty gene and each child has a 25% chance of the disorder. Write 25% as a fraction and as a decimal.</a:t>
            </a:r>
            <a:endParaRPr lang="en-US" sz="1800" dirty="0"/>
          </a:p>
        </p:txBody>
      </p:sp>
      <p:sp>
        <p:nvSpPr>
          <p:cNvPr id="8" name="Text 6"/>
          <p:cNvSpPr txBox="1"/>
          <p:nvPr/>
        </p:nvSpPr>
        <p:spPr>
          <a:xfrm>
            <a:off x="548640" y="4206240"/>
            <a:ext cx="10881360" cy="1188720"/>
          </a:xfrm>
          <a:prstGeom prst="rect">
            <a:avLst/>
          </a:prstGeom>
          <a:noFill/>
          <a:ln/>
        </p:spPr>
        <p:txBody>
          <a:bodyPr wrap="square" lIns="0" tIns="0" rIns="0" bIns="0" rtlCol="0" anchor="t">
            <a:normAutofit/>
          </a:bodyPr>
          <a:lstStyle/>
          <a:p>
            <a:pPr indent="0" marL="0">
              <a:buNone/>
            </a:pPr>
            <a:r>
              <a:rPr lang="en-US" sz="1800" b="1" dirty="0">
                <a:solidFill>
                  <a:srgbClr val="7B3A8E"/>
                </a:solidFill>
              </a:rPr>
              <a:t>3.  </a:t>
            </a:r>
            <a:pPr indent="0" marL="0">
              <a:buNone/>
            </a:pPr>
            <a:r>
              <a:rPr lang="en-US" sz="1800" dirty="0">
                <a:solidFill>
                  <a:srgbClr val="141B26"/>
                </a:solidFill>
              </a:rPr>
              <a:t>Give one thing a genetic counsellor does.</a:t>
            </a:r>
            <a:endParaRPr lang="en-US" sz="18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3</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480560"/>
          </a:xfrm>
          <a:prstGeom prst="rect">
            <a:avLst/>
          </a:prstGeom>
          <a:noFill/>
          <a:ln/>
        </p:spPr>
        <p:txBody>
          <a:bodyPr wrap="square" lIns="0" tIns="0" rIns="0" bIns="0" rtlCol="0" anchor="t">
            <a:normAutofit/>
          </a:bodyPr>
          <a:lstStyle/>
          <a:p>
            <a:pPr marL="342900" indent="-342900">
              <a:spcAft>
                <a:spcPts val="1000"/>
              </a:spcAft>
              <a:buSzPct val="100000"/>
              <a:buChar char="✓"/>
            </a:pPr>
            <a:r>
              <a:rPr lang="en-US" sz="1700" dirty="0">
                <a:solidFill>
                  <a:srgbClr val="141B26"/>
                </a:solidFill>
              </a:rPr>
              <a:t>A gene is a sequence of DNA letters; a changed sequence can make a faulty protein and cause a genetic disorder.</a:t>
            </a:r>
            <a:endParaRPr lang="en-US" sz="1700" dirty="0"/>
          </a:p>
          <a:p>
            <a:pPr marL="342900" indent="-342900">
              <a:spcAft>
                <a:spcPts val="1000"/>
              </a:spcAft>
              <a:buSzPct val="100000"/>
              <a:buChar char="✓"/>
            </a:pPr>
            <a:r>
              <a:rPr lang="en-US" sz="1700" dirty="0">
                <a:solidFill>
                  <a:srgbClr val="141B26"/>
                </a:solidFill>
              </a:rPr>
              <a:t>A genetic test reads a gene's sequence or checks a person's chromosomes; babies, patients and couples are tested.</a:t>
            </a:r>
            <a:endParaRPr lang="en-US" sz="1700" dirty="0"/>
          </a:p>
          <a:p>
            <a:pPr marL="342900" indent="-342900">
              <a:spcAft>
                <a:spcPts val="1000"/>
              </a:spcAft>
              <a:buSzPct val="100000"/>
              <a:buChar char="✓"/>
            </a:pPr>
            <a:r>
              <a:rPr lang="en-US" sz="1700" dirty="0">
                <a:solidFill>
                  <a:srgbClr val="141B26"/>
                </a:solidFill>
              </a:rPr>
              <a:t>Many results are probabilities: 20% means 20 out of 100, not certain.</a:t>
            </a:r>
            <a:endParaRPr lang="en-US" sz="1700" dirty="0"/>
          </a:p>
          <a:p>
            <a:pPr marL="342900" indent="-342900">
              <a:spcAft>
                <a:spcPts val="1000"/>
              </a:spcAft>
              <a:buSzPct val="100000"/>
              <a:buChar char="✓"/>
            </a:pPr>
            <a:r>
              <a:rPr lang="en-US" sz="1700" dirty="0">
                <a:solidFill>
                  <a:srgbClr val="141B26"/>
                </a:solidFill>
              </a:rPr>
              <a:t>A genetic counsellor explains results and probabilities simply; the family makes the decision.</a:t>
            </a:r>
            <a:endParaRPr lang="en-US" sz="17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300" b="1" dirty="0">
                <a:solidFill>
                  <a:srgbClr val="7B3A8E"/>
                </a:solidFill>
              </a:rPr>
              <a:t>Next lesson  </a:t>
            </a:r>
            <a:pPr indent="0" marL="0">
              <a:buNone/>
            </a:pPr>
            <a:r>
              <a:rPr lang="en-US" sz="1300" dirty="0">
                <a:solidFill>
                  <a:srgbClr val="141B26"/>
                </a:solidFill>
              </a:rPr>
              <a:t>Genes and extinction: how changes in the environment can make a species endangered or extinct.</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9A Lesson 5: Genetic counselling</dc:title>
  <dc:subject>PptxGenJS Presentation</dc:subject>
  <dc:creator>Year 9 Science</dc:creator>
  <cp:lastModifiedBy>Year 9 Science</cp:lastModifiedBy>
  <cp:revision>1</cp:revision>
  <dcterms:created xsi:type="dcterms:W3CDTF">2026-10-28T01:48:17Z</dcterms:created>
  <dcterms:modified xsi:type="dcterms:W3CDTF">2026-10-28T01:48:17Z</dcterms:modified>
</cp:coreProperties>
</file>