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9A, Genetics and evolution. This unit asks where variation comes from, how it is passed on, and how it drives evolution. Today: variation caused by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The bones are probably from a whale and a mammoth. Myths often started when people found bones of extinct animals they could not explain. Extinct: no living members of the species are left. Take examples: dinosaurs, dodo, mammoth, thylacine.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Students with the Chinese key words sheet have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extra light, water, warmth, mineral salts (fertiliser), space, no weeds or pests. Everything on the list is part of the plant's environment. Keep the list on the board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pumpkin list: sort it into abiotic (light, water, warmth, mineral salts) and biotic (no weeds competing, no pests, the grower's care). Ask: what abiotic and biotic factors are in this classroom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scar is caused by a physical factor; a hairstyle by other people (a biotic factor). Ask students for two more examples each. Stress: the wind-bent tree's seeds will grow into straight trees in a sheltered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Pumpkin mass can be any value from tiny to enormous: continuous. Whether a plant has a scar on its stem is yes or no: discontinuous. Show the chart shapes on the worksheet when students plot the potato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abiotic; environmental; continuous; discontinuous; biotic. Ask a student to give a reason for Q3 and Q4 using 'any value' or 'limited set of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scientists think the Flores people were our species but did not grow tall because their diet lacked iodine (an environmental factor). Others think they were a separate species, now extinct. Ask: what evidence would help decide? (DNA from the bones, more skeletons, teeth and bone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potato data are on the worksheet. Common errors: leaving gaps between bars for grouped continuous data; forgetting units (g) on the axis label. Circulate and check tallies add up to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the plants are the same species. The differences were environmental variation (wind, soil, light, salt). This makes it difficult to identify species from how plants look in the wild. Link back to the Flores bones.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e.g. temperature or light (abiotic) and predation or competition (biotic); environmental; continuous, because foot length can be any value between two points. Collect the strips: they show who has the continuous/discontinuous idea before Lesson 2 adds inherited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3 and 4 (9Aa). Students with the Chinese key words sheet may answer in either language but should use the English key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1: Environmental variation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1: Environmental variation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1: Environmental variation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9A Genetics and evolution  |  Lesson 1: Environmental variation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9A GENETICS AND EVOLUTION  ·  LESSON 1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Environmental variation</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Why do the same kind of organism come in so many sizes, shapes and colours?</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5 to 7  ·  Workbook pages 3 to 4</a:t>
            </a:r>
            <a:endParaRPr lang="en-US" sz="1400" dirty="0"/>
          </a:p>
        </p:txBody>
      </p:sp>
      <p:pic>
        <p:nvPicPr>
          <p:cNvPr id="6" name="Image 0" descr="/home/user/lessons/Y9_Exploring_Science/images/giant_pumpkin.jpg">    </p:cNvPr>
          <p:cNvPicPr>
            <a:picLocks noChangeAspect="1"/>
          </p:cNvPicPr>
          <p:nvPr/>
        </p:nvPicPr>
        <p:blipFill>
          <a:blip r:embed="rId1"/>
          <a:stretch>
            <a:fillRect/>
          </a:stretch>
        </p:blipFill>
        <p:spPr>
          <a:xfrm>
            <a:off x="9072342" y="4572000"/>
            <a:ext cx="2154996"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the dragon of Krakow</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60350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A story says these bones are from a fire-breathing dragon killed by Krak, a shoemaker's apprentice.</a:t>
            </a:r>
            <a:endParaRPr lang="en-US" sz="2400" dirty="0"/>
          </a:p>
          <a:p>
            <a:pPr indent="0" marL="0">
              <a:spcAft>
                <a:spcPts val="1200"/>
              </a:spcAft>
              <a:buNone/>
            </a:pPr>
            <a:r>
              <a:rPr lang="en-US" sz="2400" dirty="0">
                <a:solidFill>
                  <a:srgbClr val="141B26"/>
                </a:solidFill>
              </a:rPr>
              <a:t>1. What animals could the bones really be from?</a:t>
            </a:r>
            <a:endParaRPr lang="en-US" sz="2400" dirty="0"/>
          </a:p>
          <a:p>
            <a:pPr indent="0" marL="0">
              <a:spcAft>
                <a:spcPts val="1200"/>
              </a:spcAft>
              <a:buNone/>
            </a:pPr>
            <a:r>
              <a:rPr lang="en-US" sz="2400" dirty="0">
                <a:solidFill>
                  <a:srgbClr val="141B26"/>
                </a:solidFill>
              </a:rPr>
              <a:t>2. What does 'extinct' mean?</a:t>
            </a:r>
            <a:endParaRPr lang="en-US" sz="2400" dirty="0"/>
          </a:p>
          <a:p>
            <a:pPr indent="0" marL="0">
              <a:spcAft>
                <a:spcPts val="1200"/>
              </a:spcAft>
              <a:buNone/>
            </a:pPr>
            <a:r>
              <a:rPr lang="en-US" sz="2400" dirty="0">
                <a:solidFill>
                  <a:srgbClr val="141B26"/>
                </a:solidFill>
              </a:rPr>
              <a:t>3. Name one species that is extinct.</a:t>
            </a:r>
            <a:endParaRPr lang="en-US" sz="2400" dirty="0"/>
          </a:p>
        </p:txBody>
      </p:sp>
      <p:pic>
        <p:nvPicPr>
          <p:cNvPr id="8" name="Image 0" descr="/home/user/lessons/Y9_Exploring_Science/images/wawel_dragon_bones.jpg">    </p:cNvPr>
          <p:cNvPicPr>
            <a:picLocks noChangeAspect="1"/>
          </p:cNvPicPr>
          <p:nvPr/>
        </p:nvPicPr>
        <p:blipFill>
          <a:blip r:embed="rId1"/>
          <a:stretch>
            <a:fillRect/>
          </a:stretch>
        </p:blipFill>
        <p:spPr>
          <a:xfrm>
            <a:off x="6858000" y="1554480"/>
            <a:ext cx="4754880" cy="3566160"/>
          </a:xfrm>
          <a:prstGeom prst="rect">
            <a:avLst/>
          </a:prstGeom>
        </p:spPr>
      </p:pic>
      <p:sp>
        <p:nvSpPr>
          <p:cNvPr id="9" name="Text 6"/>
          <p:cNvSpPr txBox="1"/>
          <p:nvPr/>
        </p:nvSpPr>
        <p:spPr>
          <a:xfrm>
            <a:off x="6858000" y="5166360"/>
            <a:ext cx="4754880" cy="548640"/>
          </a:xfrm>
          <a:prstGeom prst="rect">
            <a:avLst/>
          </a:prstGeom>
          <a:noFill/>
          <a:ln/>
        </p:spPr>
        <p:txBody>
          <a:bodyPr wrap="square" lIns="0" tIns="0" rIns="0" bIns="0" rtlCol="0" anchor="t"/>
          <a:lstStyle/>
          <a:p>
            <a:pPr algn="l" indent="0" marL="0">
              <a:buNone/>
            </a:pPr>
            <a:r>
              <a:rPr lang="en-US" sz="1300" dirty="0">
                <a:solidFill>
                  <a:srgbClr val="141B26"/>
                </a:solidFill>
              </a:rPr>
              <a:t>The 'dragon bones' outside Wawel Cathedral, Krakow</a:t>
            </a:r>
            <a:pPr algn="l" indent="0" marL="0">
              <a:buNone/>
            </a:pPr>
            <a:endParaRPr lang="en-US" sz="1300" dirty="0"/>
          </a:p>
          <a:p>
            <a:pPr algn="l" indent="0" marL="0">
              <a:buNone/>
            </a:pPr>
            <a:r>
              <a:rPr lang="en-US" sz="900" dirty="0">
                <a:solidFill>
                  <a:srgbClr val="5B6574"/>
                </a:solidFill>
              </a:rPr>
              <a:t>Image: nedrichards, CC BY-SA 2.0,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describe abiotic and biotic environmental factors and give examples of environmental variation.</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tell continuous variation from discontinuous variation, and explain why environmental variation can make classification difficult.</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species</a:t>
            </a:r>
            <a:endParaRPr lang="en-US" sz="2100" dirty="0"/>
          </a:p>
          <a:p>
            <a:pPr marL="304800" indent="-304800">
              <a:spcAft>
                <a:spcPts val="600"/>
              </a:spcAft>
              <a:buSzPct val="100000"/>
              <a:buChar char="•"/>
            </a:pPr>
            <a:r>
              <a:rPr lang="en-US" sz="2100" b="1" dirty="0">
                <a:solidFill>
                  <a:srgbClr val="0F2A5F"/>
                </a:solidFill>
              </a:rPr>
              <a:t>extinct</a:t>
            </a:r>
            <a:endParaRPr lang="en-US" sz="2100" dirty="0"/>
          </a:p>
          <a:p>
            <a:pPr marL="304800" indent="-304800">
              <a:spcAft>
                <a:spcPts val="600"/>
              </a:spcAft>
              <a:buSzPct val="100000"/>
              <a:buChar char="•"/>
            </a:pPr>
            <a:r>
              <a:rPr lang="en-US" sz="2100" b="1" dirty="0">
                <a:solidFill>
                  <a:srgbClr val="0F2A5F"/>
                </a:solidFill>
              </a:rPr>
              <a:t>environment</a:t>
            </a:r>
            <a:endParaRPr lang="en-US" sz="2100" dirty="0"/>
          </a:p>
          <a:p>
            <a:pPr marL="304800" indent="-304800">
              <a:spcAft>
                <a:spcPts val="600"/>
              </a:spcAft>
              <a:buSzPct val="100000"/>
              <a:buChar char="•"/>
            </a:pPr>
            <a:r>
              <a:rPr lang="en-US" sz="2100" b="1" dirty="0">
                <a:solidFill>
                  <a:srgbClr val="0F2A5F"/>
                </a:solidFill>
              </a:rPr>
              <a:t>abiotic factor</a:t>
            </a:r>
            <a:endParaRPr lang="en-US" sz="21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biotic factor</a:t>
            </a:r>
            <a:endParaRPr lang="en-US" sz="2100" dirty="0"/>
          </a:p>
          <a:p>
            <a:pPr marL="304800" indent="-304800">
              <a:spcAft>
                <a:spcPts val="600"/>
              </a:spcAft>
              <a:buSzPct val="100000"/>
              <a:buChar char="•"/>
            </a:pPr>
            <a:r>
              <a:rPr lang="en-US" sz="2100" b="1" dirty="0">
                <a:solidFill>
                  <a:srgbClr val="0F2A5F"/>
                </a:solidFill>
              </a:rPr>
              <a:t>characteristic</a:t>
            </a:r>
            <a:endParaRPr lang="en-US" sz="2100" dirty="0"/>
          </a:p>
          <a:p>
            <a:pPr marL="304800" indent="-304800">
              <a:spcAft>
                <a:spcPts val="600"/>
              </a:spcAft>
              <a:buSzPct val="100000"/>
              <a:buChar char="•"/>
            </a:pPr>
            <a:r>
              <a:rPr lang="en-US" sz="2100" b="1" dirty="0">
                <a:solidFill>
                  <a:srgbClr val="0F2A5F"/>
                </a:solidFill>
              </a:rPr>
              <a:t>variation</a:t>
            </a:r>
            <a:endParaRPr lang="en-US" sz="2100" dirty="0"/>
          </a:p>
          <a:p>
            <a:pPr marL="304800" indent="-304800">
              <a:spcAft>
                <a:spcPts val="600"/>
              </a:spcAft>
              <a:buSzPct val="100000"/>
              <a:buChar char="•"/>
            </a:pPr>
            <a:r>
              <a:rPr lang="en-US" sz="2100" b="1" dirty="0">
                <a:solidFill>
                  <a:srgbClr val="0F2A5F"/>
                </a:solidFill>
              </a:rPr>
              <a:t>environmental variation</a:t>
            </a:r>
            <a:endParaRPr lang="en-US" sz="21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continuous variation</a:t>
            </a:r>
            <a:endParaRPr lang="en-US" sz="2200" dirty="0"/>
          </a:p>
          <a:p>
            <a:pPr marL="304800" indent="-304800">
              <a:spcAft>
                <a:spcPts val="600"/>
              </a:spcAft>
              <a:buSzPct val="100000"/>
              <a:buChar char="•"/>
            </a:pPr>
            <a:r>
              <a:rPr lang="en-US" sz="2200" b="1" dirty="0">
                <a:solidFill>
                  <a:srgbClr val="0F2A5F"/>
                </a:solidFill>
              </a:rPr>
              <a:t>discontinuous variation</a:t>
            </a:r>
            <a:endParaRPr lang="en-US" sz="2200" dirty="0"/>
          </a:p>
          <a:p>
            <a:pPr marL="304800" indent="-304800">
              <a:spcAft>
                <a:spcPts val="600"/>
              </a:spcAft>
              <a:buSzPct val="100000"/>
              <a:buChar char="•"/>
            </a:pPr>
            <a:r>
              <a:rPr lang="en-US" sz="2200" b="1" dirty="0">
                <a:solidFill>
                  <a:srgbClr val="0F2A5F"/>
                </a:solidFill>
              </a:rPr>
              <a:t>classification</a:t>
            </a:r>
            <a:endParaRPr lang="en-US" sz="22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Monster pumpkins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651760"/>
          </a:xfrm>
          <a:prstGeom prst="rect">
            <a:avLst/>
          </a:prstGeom>
          <a:noFill/>
          <a:ln/>
        </p:spPr>
        <p:txBody>
          <a:bodyPr wrap="square" lIns="0" tIns="0" rIns="0" bIns="0" rtlCol="0" anchor="t"/>
          <a:lstStyle/>
          <a:p>
            <a:pPr indent="0" marL="0">
              <a:buNone/>
            </a:pPr>
            <a:r>
              <a:rPr lang="en-US" sz="3000" b="1" dirty="0">
                <a:solidFill>
                  <a:srgbClr val="0F2A5F"/>
                </a:solidFill>
              </a:rPr>
              <a:t>These pumpkins can have a mass of over 1000 kg. They did not get this big by chance. What did the growers give the plants?</a:t>
            </a:r>
            <a:endParaRPr lang="en-US" sz="3000" dirty="0"/>
          </a:p>
        </p:txBody>
      </p:sp>
      <p:sp>
        <p:nvSpPr>
          <p:cNvPr id="6" name="Text 4"/>
          <p:cNvSpPr txBox="1"/>
          <p:nvPr/>
        </p:nvSpPr>
        <p:spPr>
          <a:xfrm>
            <a:off x="548640" y="4114800"/>
            <a:ext cx="539496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Talk to a partner for one minute. Make a list.</a:t>
            </a:r>
            <a:endParaRPr lang="en-US" sz="2000" dirty="0"/>
          </a:p>
        </p:txBody>
      </p:sp>
      <p:pic>
        <p:nvPicPr>
          <p:cNvPr id="7" name="Image 0" descr="/home/user/lessons/Y9_Exploring_Science/images/giant_pumpkin.jpg">    </p:cNvPr>
          <p:cNvPicPr>
            <a:picLocks noChangeAspect="1"/>
          </p:cNvPicPr>
          <p:nvPr/>
        </p:nvPicPr>
        <p:blipFill>
          <a:blip r:embed="rId1"/>
          <a:stretch>
            <a:fillRect/>
          </a:stretch>
        </p:blipFill>
        <p:spPr>
          <a:xfrm>
            <a:off x="6482875" y="1280160"/>
            <a:ext cx="4956490" cy="4206240"/>
          </a:xfrm>
          <a:prstGeom prst="rect">
            <a:avLst/>
          </a:prstGeom>
        </p:spPr>
      </p:pic>
      <p:sp>
        <p:nvSpPr>
          <p:cNvPr id="8" name="Text 5"/>
          <p:cNvSpPr txBox="1"/>
          <p:nvPr/>
        </p:nvSpPr>
        <p:spPr>
          <a:xfrm>
            <a:off x="6309360" y="5532120"/>
            <a:ext cx="5303520" cy="548640"/>
          </a:xfrm>
          <a:prstGeom prst="rect">
            <a:avLst/>
          </a:prstGeom>
          <a:noFill/>
          <a:ln/>
        </p:spPr>
        <p:txBody>
          <a:bodyPr wrap="square" lIns="0" tIns="0" rIns="0" bIns="0" rtlCol="0" anchor="t"/>
          <a:lstStyle/>
          <a:p>
            <a:pPr algn="l" indent="0" marL="0">
              <a:buNone/>
            </a:pPr>
            <a:r>
              <a:rPr lang="en-US" sz="1300" dirty="0">
                <a:solidFill>
                  <a:srgbClr val="141B26"/>
                </a:solidFill>
              </a:rPr>
              <a:t>A giant pumpkin, painted for a show</a:t>
            </a:r>
            <a:pPr algn="l" indent="0" marL="0">
              <a:buNone/>
            </a:pPr>
            <a:endParaRPr lang="en-US" sz="1300" dirty="0"/>
          </a:p>
          <a:p>
            <a:pPr algn="l" indent="0" marL="0">
              <a:buNone/>
            </a:pPr>
            <a:r>
              <a:rPr lang="en-US" sz="900" dirty="0">
                <a:solidFill>
                  <a:srgbClr val="5B6574"/>
                </a:solidFill>
              </a:rPr>
              <a:t>Image: Me in ME, CC BY 2.0,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Environmental factors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environment   ·   abiotic factor   ·   biotic factor</a:t>
            </a:r>
            <a:endParaRPr lang="en-US" sz="1400" dirty="0"/>
          </a:p>
        </p:txBody>
      </p:sp>
      <p:sp>
        <p:nvSpPr>
          <p:cNvPr id="6" name="Text 4"/>
          <p:cNvSpPr txBox="1"/>
          <p:nvPr/>
        </p:nvSpPr>
        <p:spPr>
          <a:xfrm>
            <a:off x="548640" y="1325880"/>
            <a:ext cx="429768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An organism's surroundings are its environment.</a:t>
            </a:r>
            <a:endParaRPr lang="en-US" sz="2000" dirty="0"/>
          </a:p>
          <a:p>
            <a:pPr marL="304800" indent="-304800">
              <a:spcAft>
                <a:spcPts val="800"/>
              </a:spcAft>
              <a:buSzPct val="100000"/>
              <a:buChar char="•"/>
            </a:pPr>
            <a:r>
              <a:rPr lang="en-US" sz="2000" dirty="0">
                <a:solidFill>
                  <a:srgbClr val="141B26"/>
                </a:solidFill>
              </a:rPr>
              <a:t>Environmental factors can change an organism.</a:t>
            </a:r>
            <a:endParaRPr lang="en-US" sz="2000" dirty="0"/>
          </a:p>
          <a:p>
            <a:pPr marL="304800" indent="-304800">
              <a:spcAft>
                <a:spcPts val="800"/>
              </a:spcAft>
              <a:buSzPct val="100000"/>
              <a:buChar char="•"/>
            </a:pPr>
            <a:r>
              <a:rPr lang="en-US" sz="2000" dirty="0">
                <a:solidFill>
                  <a:srgbClr val="141B26"/>
                </a:solidFill>
              </a:rPr>
              <a:t>Abiotic (physical) factors are non-living: temperature, light, water, mineral salts.</a:t>
            </a:r>
            <a:endParaRPr lang="en-US" sz="2000" dirty="0"/>
          </a:p>
          <a:p>
            <a:pPr marL="304800" indent="-304800">
              <a:spcAft>
                <a:spcPts val="800"/>
              </a:spcAft>
              <a:buSzPct val="100000"/>
              <a:buChar char="•"/>
            </a:pPr>
            <a:r>
              <a:rPr lang="en-US" sz="2000" dirty="0">
                <a:solidFill>
                  <a:srgbClr val="141B26"/>
                </a:solidFill>
              </a:rPr>
              <a:t>Biotic factors are the activities of other organisms: competition, predation, infectious disease.</a:t>
            </a:r>
            <a:endParaRPr lang="en-US" sz="2000" dirty="0"/>
          </a:p>
        </p:txBody>
      </p:sp>
      <p:pic>
        <p:nvPicPr>
          <p:cNvPr id="7" name="Image 0" descr="/home/user/lessons/Y9_Exploring_Science/source/diagrams/env_factors.png">    </p:cNvPr>
          <p:cNvPicPr>
            <a:picLocks noChangeAspect="1"/>
          </p:cNvPicPr>
          <p:nvPr/>
        </p:nvPicPr>
        <p:blipFill>
          <a:blip r:embed="rId1"/>
          <a:stretch>
            <a:fillRect/>
          </a:stretch>
        </p:blipFill>
        <p:spPr>
          <a:xfrm>
            <a:off x="5029200" y="1421892"/>
            <a:ext cx="6583680" cy="3374136"/>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Abiotic = non-living parts of the surroundings. Biotic = caused by other living things.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Environmental variation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characteristic   ·   variation   ·   environmental variation</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The features of an organism are its characteristics.</a:t>
            </a:r>
            <a:endParaRPr lang="en-US" sz="2000" dirty="0"/>
          </a:p>
          <a:p>
            <a:pPr marL="304800" indent="-304800">
              <a:spcAft>
                <a:spcPts val="800"/>
              </a:spcAft>
              <a:buSzPct val="100000"/>
              <a:buChar char="•"/>
            </a:pPr>
            <a:r>
              <a:rPr lang="en-US" sz="2000" dirty="0">
                <a:solidFill>
                  <a:srgbClr val="141B26"/>
                </a:solidFill>
              </a:rPr>
              <a:t>Variation is the difference between the characteristics of organisms.</a:t>
            </a:r>
            <a:endParaRPr lang="en-US" sz="2000" dirty="0"/>
          </a:p>
          <a:p>
            <a:pPr marL="304800" indent="-304800">
              <a:spcAft>
                <a:spcPts val="800"/>
              </a:spcAft>
              <a:buSzPct val="100000"/>
              <a:buChar char="•"/>
            </a:pPr>
            <a:r>
              <a:rPr lang="en-US" sz="2000" dirty="0">
                <a:solidFill>
                  <a:srgbClr val="141B26"/>
                </a:solidFill>
              </a:rPr>
              <a:t>Environmental variation is caused by the environment.</a:t>
            </a:r>
            <a:endParaRPr lang="en-US" sz="2000" dirty="0"/>
          </a:p>
          <a:p>
            <a:pPr marL="304800" indent="-304800">
              <a:spcAft>
                <a:spcPts val="800"/>
              </a:spcAft>
              <a:buSzPct val="100000"/>
              <a:buChar char="•"/>
            </a:pPr>
            <a:r>
              <a:rPr lang="en-US" sz="2000" dirty="0">
                <a:solidFill>
                  <a:srgbClr val="141B26"/>
                </a:solidFill>
              </a:rPr>
              <a:t>Examples: a scar (caused by a sharp object), a hairstyle (fashion), a tree bent by the wind, a pale plant grown in the dark.</a:t>
            </a:r>
            <a:endParaRPr lang="en-US" sz="2000" dirty="0"/>
          </a:p>
        </p:txBody>
      </p:sp>
      <p:pic>
        <p:nvPicPr>
          <p:cNvPr id="7" name="Image 0" descr="/home/user/lessons/Y9_Exploring_Science/images/flag_tree.jpg">    </p:cNvPr>
          <p:cNvPicPr>
            <a:picLocks noChangeAspect="1"/>
          </p:cNvPicPr>
          <p:nvPr/>
        </p:nvPicPr>
        <p:blipFill>
          <a:blip r:embed="rId1"/>
          <a:stretch>
            <a:fillRect/>
          </a:stretch>
        </p:blipFill>
        <p:spPr>
          <a:xfrm>
            <a:off x="6583680" y="1436653"/>
            <a:ext cx="5029200" cy="3344614"/>
          </a:xfrm>
          <a:prstGeom prst="rect">
            <a:avLst/>
          </a:prstGeom>
        </p:spPr>
      </p:pic>
      <p:sp>
        <p:nvSpPr>
          <p:cNvPr id="8" name="Text 5"/>
          <p:cNvSpPr txBox="1"/>
          <p:nvPr/>
        </p:nvSpPr>
        <p:spPr>
          <a:xfrm>
            <a:off x="6583680" y="4826987"/>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A tree bent and stunted by the wind (krummholz)</a:t>
            </a:r>
            <a:pPr algn="l" indent="0" marL="0">
              <a:buNone/>
            </a:pPr>
            <a:endParaRPr lang="en-US" sz="1300" dirty="0"/>
          </a:p>
          <a:p>
            <a:pPr algn="l" indent="0" marL="0">
              <a:buNone/>
            </a:pPr>
            <a:r>
              <a:rPr lang="en-US" sz="900" dirty="0">
                <a:solidFill>
                  <a:srgbClr val="5B6574"/>
                </a:solidFill>
              </a:rPr>
              <a:t>Image: brewbooks, CC BY-SA 2.0,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Environmental variation is not passed on to offspring.</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Continuous or discontinuous?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continuous variation   ·   discontinuous variation</a:t>
            </a:r>
            <a:endParaRPr lang="en-US" sz="1400" dirty="0"/>
          </a:p>
        </p:txBody>
      </p:sp>
      <p:sp>
        <p:nvSpPr>
          <p:cNvPr id="6" name="Shape 4"/>
          <p:cNvSpPr/>
          <p:nvPr/>
        </p:nvSpPr>
        <p:spPr>
          <a:xfrm>
            <a:off x="548640" y="1325880"/>
            <a:ext cx="5349240" cy="4023360"/>
          </a:xfrm>
          <a:prstGeom prst="roundRect">
            <a:avLst>
              <a:gd name="adj" fmla="val 2727"/>
            </a:avLst>
          </a:prstGeom>
          <a:solidFill>
            <a:srgbClr val="EEF1F5"/>
          </a:solidFill>
          <a:ln w="12700">
            <a:solidFill>
              <a:srgbClr val="D5DBE3"/>
            </a:solidFill>
            <a:prstDash val="solid"/>
          </a:ln>
        </p:spPr>
      </p:sp>
      <p:sp>
        <p:nvSpPr>
          <p:cNvPr id="7" name="Text 5"/>
          <p:cNvSpPr txBox="1"/>
          <p:nvPr/>
        </p:nvSpPr>
        <p:spPr>
          <a:xfrm>
            <a:off x="822960" y="1463040"/>
            <a:ext cx="4800600" cy="502920"/>
          </a:xfrm>
          <a:prstGeom prst="rect">
            <a:avLst/>
          </a:prstGeom>
          <a:noFill/>
          <a:ln/>
        </p:spPr>
        <p:txBody>
          <a:bodyPr wrap="square" lIns="0" tIns="0" rIns="0" bIns="0" rtlCol="0" anchor="ctr"/>
          <a:lstStyle/>
          <a:p>
            <a:pPr indent="0" marL="0">
              <a:buNone/>
            </a:pPr>
            <a:r>
              <a:rPr lang="en-US" sz="2200" b="1" dirty="0">
                <a:solidFill>
                  <a:srgbClr val="0F2A5F"/>
                </a:solidFill>
              </a:rPr>
              <a:t>Continuous variation</a:t>
            </a:r>
            <a:endParaRPr lang="en-US" sz="2200" dirty="0"/>
          </a:p>
        </p:txBody>
      </p:sp>
      <p:sp>
        <p:nvSpPr>
          <p:cNvPr id="8" name="Text 6"/>
          <p:cNvSpPr txBox="1"/>
          <p:nvPr/>
        </p:nvSpPr>
        <p:spPr>
          <a:xfrm>
            <a:off x="822960" y="2011680"/>
            <a:ext cx="4800600" cy="315468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Can have any value between two points.</a:t>
            </a:r>
            <a:endParaRPr lang="en-US" sz="1800" dirty="0"/>
          </a:p>
          <a:p>
            <a:pPr marL="304800" indent="-304800">
              <a:spcAft>
                <a:spcPts val="800"/>
              </a:spcAft>
              <a:buSzPct val="100000"/>
              <a:buChar char="•"/>
            </a:pPr>
            <a:r>
              <a:rPr lang="en-US" sz="1800" dirty="0">
                <a:solidFill>
                  <a:srgbClr val="141B26"/>
                </a:solidFill>
              </a:rPr>
              <a:t>Examples: height, mass, leaf length, pumpkin size.</a:t>
            </a:r>
            <a:endParaRPr lang="en-US" sz="1800" dirty="0"/>
          </a:p>
          <a:p>
            <a:pPr marL="304800" indent="-304800">
              <a:spcAft>
                <a:spcPts val="800"/>
              </a:spcAft>
              <a:buSzPct val="100000"/>
              <a:buChar char="•"/>
            </a:pPr>
            <a:r>
              <a:rPr lang="en-US" sz="1800" dirty="0">
                <a:solidFill>
                  <a:srgbClr val="141B26"/>
                </a:solidFill>
              </a:rPr>
              <a:t>Put the measurements into groups.</a:t>
            </a:r>
            <a:endParaRPr lang="en-US" sz="1800" dirty="0"/>
          </a:p>
          <a:p>
            <a:pPr marL="304800" indent="-304800">
              <a:spcAft>
                <a:spcPts val="800"/>
              </a:spcAft>
              <a:buSzPct val="100000"/>
              <a:buChar char="•"/>
            </a:pPr>
            <a:r>
              <a:rPr lang="en-US" sz="1800" dirty="0">
                <a:solidFill>
                  <a:srgbClr val="141B26"/>
                </a:solidFill>
              </a:rPr>
              <a:t>Bar chart with no gaps between the bars.</a:t>
            </a:r>
            <a:endParaRPr lang="en-US" sz="1800" dirty="0"/>
          </a:p>
          <a:p>
            <a:pPr marL="304800" indent="-304800">
              <a:spcAft>
                <a:spcPts val="800"/>
              </a:spcAft>
              <a:buSzPct val="100000"/>
              <a:buChar char="•"/>
            </a:pPr>
            <a:r>
              <a:rPr lang="en-US" sz="1800" dirty="0">
                <a:solidFill>
                  <a:srgbClr val="141B26"/>
                </a:solidFill>
              </a:rPr>
              <a:t>Often gives a bell shape (a normal distribution).</a:t>
            </a:r>
            <a:endParaRPr lang="en-US" sz="1800" dirty="0"/>
          </a:p>
        </p:txBody>
      </p:sp>
      <p:sp>
        <p:nvSpPr>
          <p:cNvPr id="9" name="Shape 7"/>
          <p:cNvSpPr/>
          <p:nvPr/>
        </p:nvSpPr>
        <p:spPr>
          <a:xfrm>
            <a:off x="6263640" y="1325880"/>
            <a:ext cx="5349240" cy="4023360"/>
          </a:xfrm>
          <a:prstGeom prst="roundRect">
            <a:avLst>
              <a:gd name="adj" fmla="val 2727"/>
            </a:avLst>
          </a:prstGeom>
          <a:solidFill>
            <a:srgbClr val="F1E5F4"/>
          </a:solidFill>
          <a:ln w="12700">
            <a:solidFill>
              <a:srgbClr val="D5DBE3"/>
            </a:solidFill>
            <a:prstDash val="solid"/>
          </a:ln>
        </p:spPr>
      </p:sp>
      <p:sp>
        <p:nvSpPr>
          <p:cNvPr id="10" name="Text 8"/>
          <p:cNvSpPr txBox="1"/>
          <p:nvPr/>
        </p:nvSpPr>
        <p:spPr>
          <a:xfrm>
            <a:off x="6537960" y="1463040"/>
            <a:ext cx="4800600" cy="502920"/>
          </a:xfrm>
          <a:prstGeom prst="rect">
            <a:avLst/>
          </a:prstGeom>
          <a:noFill/>
          <a:ln/>
        </p:spPr>
        <p:txBody>
          <a:bodyPr wrap="square" lIns="0" tIns="0" rIns="0" bIns="0" rtlCol="0" anchor="ctr"/>
          <a:lstStyle/>
          <a:p>
            <a:pPr indent="0" marL="0">
              <a:buNone/>
            </a:pPr>
            <a:r>
              <a:rPr lang="en-US" sz="2200" b="1" dirty="0">
                <a:solidFill>
                  <a:srgbClr val="0F2A5F"/>
                </a:solidFill>
              </a:rPr>
              <a:t>Discontinuous variation</a:t>
            </a:r>
            <a:endParaRPr lang="en-US" sz="2200" dirty="0"/>
          </a:p>
        </p:txBody>
      </p:sp>
      <p:sp>
        <p:nvSpPr>
          <p:cNvPr id="11" name="Text 9"/>
          <p:cNvSpPr txBox="1"/>
          <p:nvPr/>
        </p:nvSpPr>
        <p:spPr>
          <a:xfrm>
            <a:off x="6537960" y="2011680"/>
            <a:ext cx="4800600" cy="315468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Only a limited set of values.</a:t>
            </a:r>
            <a:endParaRPr lang="en-US" sz="1800" dirty="0"/>
          </a:p>
          <a:p>
            <a:pPr marL="304800" indent="-304800">
              <a:spcAft>
                <a:spcPts val="800"/>
              </a:spcAft>
              <a:buSzPct val="100000"/>
              <a:buChar char="•"/>
            </a:pPr>
            <a:r>
              <a:rPr lang="en-US" sz="1800" dirty="0">
                <a:solidFill>
                  <a:srgbClr val="141B26"/>
                </a:solidFill>
              </a:rPr>
              <a:t>Examples: blood group, scar or no scar, number of petals.</a:t>
            </a:r>
            <a:endParaRPr lang="en-US" sz="1800" dirty="0"/>
          </a:p>
          <a:p>
            <a:pPr marL="304800" indent="-304800">
              <a:spcAft>
                <a:spcPts val="800"/>
              </a:spcAft>
              <a:buSzPct val="100000"/>
              <a:buChar char="•"/>
            </a:pPr>
            <a:r>
              <a:rPr lang="en-US" sz="1800" dirty="0">
                <a:solidFill>
                  <a:srgbClr val="141B26"/>
                </a:solidFill>
              </a:rPr>
              <a:t>Count how many in each group.</a:t>
            </a:r>
            <a:endParaRPr lang="en-US" sz="1800" dirty="0"/>
          </a:p>
          <a:p>
            <a:pPr marL="304800" indent="-304800">
              <a:spcAft>
                <a:spcPts val="800"/>
              </a:spcAft>
              <a:buSzPct val="100000"/>
              <a:buChar char="•"/>
            </a:pPr>
            <a:r>
              <a:rPr lang="en-US" sz="1800" dirty="0">
                <a:solidFill>
                  <a:srgbClr val="141B26"/>
                </a:solidFill>
              </a:rPr>
              <a:t>Bar chart with gaps between the bars.</a:t>
            </a:r>
            <a:endParaRPr lang="en-US" sz="1800" dirty="0"/>
          </a:p>
        </p:txBody>
      </p:sp>
      <p:sp>
        <p:nvSpPr>
          <p:cNvPr id="12" name="Shape 10"/>
          <p:cNvSpPr/>
          <p:nvPr/>
        </p:nvSpPr>
        <p:spPr>
          <a:xfrm>
            <a:off x="548640" y="5532120"/>
            <a:ext cx="11094415" cy="566928"/>
          </a:xfrm>
          <a:prstGeom prst="rect">
            <a:avLst/>
          </a:prstGeom>
          <a:solidFill>
            <a:srgbClr val="F1E5F4"/>
          </a:solidFill>
          <a:ln w="12700">
            <a:solidFill>
              <a:srgbClr val="F1E5F4"/>
            </a:solidFill>
            <a:prstDash val="solid"/>
          </a:ln>
        </p:spPr>
      </p:sp>
      <p:sp>
        <p:nvSpPr>
          <p:cNvPr id="13" name="Text 11"/>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Ask: could the value be anything in between? If yes, it is continuous.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Mini whiteboards or fingers. One answer each, then we check.</a:t>
            </a:r>
            <a:endParaRPr lang="en-US" sz="16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Q1  </a:t>
            </a:r>
            <a:pPr indent="0" marL="0">
              <a:buNone/>
            </a:pPr>
            <a:r>
              <a:rPr lang="en-US" sz="2000" dirty="0">
                <a:solidFill>
                  <a:srgbClr val="141B26"/>
                </a:solidFill>
              </a:rPr>
              <a:t>Temperature: abiotic or biotic factor?</a:t>
            </a:r>
            <a:endParaRPr lang="en-US" sz="20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Q2  </a:t>
            </a:r>
            <a:pPr indent="0" marL="0">
              <a:buNone/>
            </a:pPr>
            <a:r>
              <a:rPr lang="en-US" sz="2000" dirty="0">
                <a:solidFill>
                  <a:srgbClr val="141B26"/>
                </a:solidFill>
              </a:rPr>
              <a:t>A scar on your hand: environmental or inherited variation?</a:t>
            </a:r>
            <a:endParaRPr lang="en-US" sz="20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Q3  </a:t>
            </a:r>
            <a:pPr indent="0" marL="0">
              <a:buNone/>
            </a:pPr>
            <a:r>
              <a:rPr lang="en-US" sz="2000" dirty="0">
                <a:solidFill>
                  <a:srgbClr val="141B26"/>
                </a:solidFill>
              </a:rPr>
              <a:t>Hand span: continuous or discontinuous variation?</a:t>
            </a:r>
            <a:endParaRPr lang="en-US" sz="20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Q4  </a:t>
            </a:r>
            <a:pPr indent="0" marL="0">
              <a:buNone/>
            </a:pPr>
            <a:r>
              <a:rPr lang="en-US" sz="2000" dirty="0">
                <a:solidFill>
                  <a:srgbClr val="141B26"/>
                </a:solidFill>
              </a:rPr>
              <a:t>Whether a person can roll their tongue: continuous or discontinuous?</a:t>
            </a:r>
            <a:endParaRPr lang="en-US" sz="20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Q5  </a:t>
            </a:r>
            <a:pPr indent="0" marL="0">
              <a:buNone/>
            </a:pPr>
            <a:r>
              <a:rPr lang="en-US" sz="2000" dirty="0">
                <a:solidFill>
                  <a:srgbClr val="141B26"/>
                </a:solidFill>
              </a:rPr>
              <a:t>Predation: abiotic or biotic factor?</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Species and classification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species   ·   classification</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Classification is sorting organisms into groups. The smallest group is the species.</a:t>
            </a:r>
            <a:endParaRPr lang="en-US" sz="2000" dirty="0"/>
          </a:p>
          <a:p>
            <a:pPr marL="304800" indent="-304800">
              <a:spcAft>
                <a:spcPts val="800"/>
              </a:spcAft>
              <a:buSzPct val="100000"/>
              <a:buChar char="•"/>
            </a:pPr>
            <a:r>
              <a:rPr lang="en-US" sz="2000" dirty="0">
                <a:solidFill>
                  <a:srgbClr val="141B26"/>
                </a:solidFill>
              </a:rPr>
              <a:t>Members of a species can reproduce together, and their offspring can also reproduce.</a:t>
            </a:r>
            <a:endParaRPr lang="en-US" sz="2000" dirty="0"/>
          </a:p>
          <a:p>
            <a:pPr marL="304800" indent="-304800">
              <a:spcAft>
                <a:spcPts val="800"/>
              </a:spcAft>
              <a:buSzPct val="100000"/>
              <a:buChar char="•"/>
            </a:pPr>
            <a:r>
              <a:rPr lang="en-US" sz="2000" dirty="0">
                <a:solidFill>
                  <a:srgbClr val="141B26"/>
                </a:solidFill>
              </a:rPr>
              <a:t>Environmental variation can make classification difficult.</a:t>
            </a:r>
            <a:endParaRPr lang="en-US" sz="2000" dirty="0"/>
          </a:p>
          <a:p>
            <a:pPr marL="304800" indent="-304800">
              <a:spcAft>
                <a:spcPts val="800"/>
              </a:spcAft>
              <a:buSzPct val="100000"/>
              <a:buChar char="•"/>
            </a:pPr>
            <a:r>
              <a:rPr lang="en-US" sz="2000" dirty="0">
                <a:solidFill>
                  <a:srgbClr val="141B26"/>
                </a:solidFill>
              </a:rPr>
              <a:t>Flores Island, 2003: adult human bones just over 1 m tall. Our species with a poor diet (no iodine), or a different, extinct species?</a:t>
            </a:r>
            <a:endParaRPr lang="en-US" sz="2000" dirty="0"/>
          </a:p>
        </p:txBody>
      </p:sp>
      <p:pic>
        <p:nvPicPr>
          <p:cNvPr id="7" name="Image 0" descr="/home/user/lessons/Y9_Exploring_Science/images/homo_floresiensis.jpg">    </p:cNvPr>
          <p:cNvPicPr>
            <a:picLocks noChangeAspect="1"/>
          </p:cNvPicPr>
          <p:nvPr/>
        </p:nvPicPr>
        <p:blipFill>
          <a:blip r:embed="rId1"/>
          <a:stretch>
            <a:fillRect/>
          </a:stretch>
        </p:blipFill>
        <p:spPr>
          <a:xfrm>
            <a:off x="6583680" y="1439108"/>
            <a:ext cx="5029200" cy="3339703"/>
          </a:xfrm>
          <a:prstGeom prst="rect">
            <a:avLst/>
          </a:prstGeom>
        </p:spPr>
      </p:pic>
      <p:sp>
        <p:nvSpPr>
          <p:cNvPr id="8" name="Text 5"/>
          <p:cNvSpPr txBox="1"/>
          <p:nvPr/>
        </p:nvSpPr>
        <p:spPr>
          <a:xfrm>
            <a:off x="6583680" y="4824532"/>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A skull from Flores Island, Indonesia</a:t>
            </a:r>
            <a:pPr algn="l" indent="0" marL="0">
              <a:buNone/>
            </a:pPr>
            <a:endParaRPr lang="en-US" sz="1300" dirty="0"/>
          </a:p>
          <a:p>
            <a:pPr algn="l" indent="0" marL="0">
              <a:buNone/>
            </a:pPr>
            <a:r>
              <a:rPr lang="en-US" sz="900" dirty="0">
                <a:solidFill>
                  <a:srgbClr val="5B6574"/>
                </a:solidFill>
              </a:rPr>
              <a:t>Image: Ryan Somma, CC BY-SA 2.0,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Same species = can breed together and the offspring can breed too.</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 the potato data</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14</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896112"/>
          </a:xfrm>
          <a:prstGeom prst="rect">
            <a:avLst/>
          </a:prstGeom>
          <a:noFill/>
          <a:ln/>
        </p:spPr>
        <p:txBody>
          <a:bodyPr wrap="square" lIns="0" tIns="0" rIns="0" bIns="0" rtlCol="0" anchor="t"/>
          <a:lstStyle/>
          <a:p>
            <a:pPr indent="0" marL="0">
              <a:buNone/>
            </a:pPr>
            <a:r>
              <a:rPr lang="en-US" sz="2000" dirty="0">
                <a:solidFill>
                  <a:srgbClr val="141B26"/>
                </a:solidFill>
              </a:rPr>
              <a:t>Core: match the key words, sort the factors, then tally and plot the potato masses on the grid.</a:t>
            </a:r>
            <a:endParaRPr lang="en-US" sz="2000" dirty="0"/>
          </a:p>
        </p:txBody>
      </p:sp>
      <p:sp>
        <p:nvSpPr>
          <p:cNvPr id="10" name="Shape 8"/>
          <p:cNvSpPr/>
          <p:nvPr/>
        </p:nvSpPr>
        <p:spPr>
          <a:xfrm>
            <a:off x="548640" y="2313432"/>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134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67712"/>
            <a:ext cx="9418320" cy="896112"/>
          </a:xfrm>
          <a:prstGeom prst="rect">
            <a:avLst/>
          </a:prstGeom>
          <a:noFill/>
          <a:ln/>
        </p:spPr>
        <p:txBody>
          <a:bodyPr wrap="square" lIns="0" tIns="0" rIns="0" bIns="0" rtlCol="0" anchor="t"/>
          <a:lstStyle/>
          <a:p>
            <a:pPr indent="0" marL="0">
              <a:buNone/>
            </a:pPr>
            <a:r>
              <a:rPr lang="en-US" sz="2000" dirty="0">
                <a:solidFill>
                  <a:srgbClr val="141B26"/>
                </a:solidFill>
              </a:rPr>
              <a:t>Grouped continuous data: the bars touch. Label both axes and give the chart a title.</a:t>
            </a:r>
            <a:endParaRPr lang="en-US" sz="2000" dirty="0"/>
          </a:p>
        </p:txBody>
      </p:sp>
      <p:sp>
        <p:nvSpPr>
          <p:cNvPr id="13" name="Shape 11"/>
          <p:cNvSpPr/>
          <p:nvPr/>
        </p:nvSpPr>
        <p:spPr>
          <a:xfrm>
            <a:off x="548640" y="3209544"/>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09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163824"/>
            <a:ext cx="9418320" cy="896112"/>
          </a:xfrm>
          <a:prstGeom prst="rect">
            <a:avLst/>
          </a:prstGeom>
          <a:noFill/>
          <a:ln/>
        </p:spPr>
        <p:txBody>
          <a:bodyPr wrap="square" lIns="0" tIns="0" rIns="0" bIns="0" rtlCol="0" anchor="t"/>
          <a:lstStyle/>
          <a:p>
            <a:pPr indent="0" marL="0">
              <a:buNone/>
            </a:pPr>
            <a:r>
              <a:rPr lang="en-US" sz="2000" dirty="0">
                <a:solidFill>
                  <a:srgbClr val="141B26"/>
                </a:solidFill>
              </a:rPr>
              <a:t>Stretch: examples of environmental variation; continuous or discontinuous; why do the potatoes vary?</a:t>
            </a:r>
            <a:endParaRPr lang="en-US" sz="2000" dirty="0"/>
          </a:p>
        </p:txBody>
      </p:sp>
      <p:sp>
        <p:nvSpPr>
          <p:cNvPr id="16" name="Shape 14"/>
          <p:cNvSpPr/>
          <p:nvPr/>
        </p:nvSpPr>
        <p:spPr>
          <a:xfrm>
            <a:off x="548640" y="4105656"/>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056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059936"/>
            <a:ext cx="9418320" cy="896112"/>
          </a:xfrm>
          <a:prstGeom prst="rect">
            <a:avLst/>
          </a:prstGeom>
          <a:noFill/>
          <a:ln/>
        </p:spPr>
        <p:txBody>
          <a:bodyPr wrap="square" lIns="0" tIns="0" rIns="0" bIns="0" rtlCol="0" anchor="t"/>
          <a:lstStyle/>
          <a:p>
            <a:pPr indent="0" marL="0">
              <a:buNone/>
            </a:pPr>
            <a:r>
              <a:rPr lang="en-US" sz="2000" dirty="0">
                <a:solidFill>
                  <a:srgbClr val="141B26"/>
                </a:solidFill>
              </a:rPr>
              <a:t>Challenge: the seashore plants and the Flores Island bones.</a:t>
            </a:r>
            <a:endParaRPr lang="en-US" sz="2000" dirty="0"/>
          </a:p>
        </p:txBody>
      </p:sp>
      <p:sp>
        <p:nvSpPr>
          <p:cNvPr id="19" name="Shape 17"/>
          <p:cNvSpPr/>
          <p:nvPr/>
        </p:nvSpPr>
        <p:spPr>
          <a:xfrm>
            <a:off x="548640" y="5001768"/>
            <a:ext cx="457200" cy="457200"/>
          </a:xfrm>
          <a:prstGeom prst="ellipse">
            <a:avLst/>
          </a:prstGeom>
          <a:solidFill>
            <a:srgbClr val="7B3A8E"/>
          </a:solidFill>
          <a:ln w="12700">
            <a:solidFill>
              <a:srgbClr val="7B3A8E"/>
            </a:solidFill>
            <a:prstDash val="solid"/>
          </a:ln>
        </p:spPr>
      </p:sp>
      <p:sp>
        <p:nvSpPr>
          <p:cNvPr id="20" name="Text 18"/>
          <p:cNvSpPr txBox="1"/>
          <p:nvPr/>
        </p:nvSpPr>
        <p:spPr>
          <a:xfrm>
            <a:off x="548640" y="5001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1" name="Text 19"/>
          <p:cNvSpPr txBox="1"/>
          <p:nvPr/>
        </p:nvSpPr>
        <p:spPr>
          <a:xfrm>
            <a:off x="1188720" y="4956048"/>
            <a:ext cx="9418320" cy="896112"/>
          </a:xfrm>
          <a:prstGeom prst="rect">
            <a:avLst/>
          </a:prstGeom>
          <a:noFill/>
          <a:ln/>
        </p:spPr>
        <p:txBody>
          <a:bodyPr wrap="square" lIns="0" tIns="0" rIns="0" bIns="0" rtlCol="0" anchor="t"/>
          <a:lstStyle/>
          <a:p>
            <a:pPr indent="0" marL="0">
              <a:buNone/>
            </a:pPr>
            <a:r>
              <a:rPr lang="en-US" sz="2000" dirty="0">
                <a:solidFill>
                  <a:srgbClr val="141B26"/>
                </a:solidFill>
              </a:rPr>
              <a:t>Finished? Write a question for the class in the My thinking box.</a:t>
            </a:r>
            <a:endParaRPr lang="en-US" sz="2000" dirty="0"/>
          </a:p>
        </p:txBody>
      </p:sp>
      <p:sp>
        <p:nvSpPr>
          <p:cNvPr id="22" name="Text 20"/>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i="1" dirty="0">
                <a:solidFill>
                  <a:srgbClr val="5B6574"/>
                </a:solidFill>
              </a:rPr>
              <a:t>Work alone first. Check your bar chart with a partner before Stretch.</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Same species or not?</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lstStyle/>
          <a:p>
            <a:pPr indent="0" marL="0">
              <a:buNone/>
            </a:pPr>
            <a:r>
              <a:rPr lang="en-US" sz="2600" b="1" dirty="0">
                <a:solidFill>
                  <a:srgbClr val="0F2A5F"/>
                </a:solidFill>
              </a:rPr>
              <a:t>Seashore plants: 10 cm tall with pink flowers. On a nearby island: over 50 cm tall with dark purple flowers. Seeds from both were grown in a laboratory. They all grew to look the same. What does this tell you?</a:t>
            </a:r>
            <a:endParaRPr lang="en-US" sz="26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The plants from the two areas are probably ___ because ___.</a:t>
            </a:r>
            <a:endParaRPr lang="en-US" sz="1800" dirty="0"/>
          </a:p>
          <a:p>
            <a:pPr indent="0" marL="0">
              <a:spcAft>
                <a:spcPts val="600"/>
              </a:spcAft>
              <a:buNone/>
            </a:pPr>
            <a:r>
              <a:rPr lang="en-US" sz="1800" dirty="0">
                <a:solidFill>
                  <a:srgbClr val="141B26"/>
                </a:solidFill>
              </a:rPr>
              <a:t>The differences in height and colour were caused by ___.</a:t>
            </a:r>
            <a:endParaRPr lang="en-US" sz="1800" dirty="0"/>
          </a:p>
          <a:p>
            <a:pPr indent="0" marL="0">
              <a:spcAft>
                <a:spcPts val="600"/>
              </a:spcAft>
              <a:buNone/>
            </a:pPr>
            <a:r>
              <a:rPr lang="en-US" sz="1800" dirty="0">
                <a:solidFill>
                  <a:srgbClr val="141B26"/>
                </a:solidFill>
              </a:rPr>
              <a:t>This makes it difficult to ___ because ___.</a:t>
            </a:r>
            <a:endParaRPr lang="en-US" sz="18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Give one abiotic factor and one biotic factor in a pond.</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Is a scar an example of inherited or environmental variation?</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Is foot length continuous or discontinuous variation? Give a reason.</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Environmental factors are abiotic (non-living) or biotic (other organisms).</a:t>
            </a:r>
            <a:endParaRPr lang="en-US" sz="2000" dirty="0"/>
          </a:p>
          <a:p>
            <a:pPr marL="342900" indent="-342900">
              <a:spcAft>
                <a:spcPts val="1200"/>
              </a:spcAft>
              <a:buSzPct val="100000"/>
              <a:buChar char="✓"/>
            </a:pPr>
            <a:r>
              <a:rPr lang="en-US" sz="2000" dirty="0">
                <a:solidFill>
                  <a:srgbClr val="141B26"/>
                </a:solidFill>
              </a:rPr>
              <a:t>Environmental variation is caused by the surroundings and is not inherited.</a:t>
            </a:r>
            <a:endParaRPr lang="en-US" sz="2000" dirty="0"/>
          </a:p>
          <a:p>
            <a:pPr marL="342900" indent="-342900">
              <a:spcAft>
                <a:spcPts val="1200"/>
              </a:spcAft>
              <a:buSzPct val="100000"/>
              <a:buChar char="✓"/>
            </a:pPr>
            <a:r>
              <a:rPr lang="en-US" sz="2000" dirty="0">
                <a:solidFill>
                  <a:srgbClr val="141B26"/>
                </a:solidFill>
              </a:rPr>
              <a:t>Continuous variation can take any value; discontinuous variation has a limited set of values.</a:t>
            </a:r>
            <a:endParaRPr lang="en-US" sz="2000" dirty="0"/>
          </a:p>
          <a:p>
            <a:pPr marL="342900" indent="-342900">
              <a:spcAft>
                <a:spcPts val="1200"/>
              </a:spcAft>
              <a:buSzPct val="100000"/>
              <a:buChar char="✓"/>
            </a:pPr>
            <a:r>
              <a:rPr lang="en-US" sz="2000" dirty="0">
                <a:solidFill>
                  <a:srgbClr val="141B26"/>
                </a:solidFill>
              </a:rPr>
              <a:t>A species is a group that can breed together; environmental variation can make classifying organisms difficult.</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Inherited variation: why offspring look like their parents, and why brothers and sisters are not identical.</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9A Lesson 1: Environmental variation</dc:title>
  <dc:subject>PptxGenJS Presentation</dc:subject>
  <dc:creator>Year 9 Science</dc:creator>
  <cp:lastModifiedBy>Year 9 Science</cp:lastModifiedBy>
  <cp:revision>1</cp:revision>
  <dcterms:created xsi:type="dcterms:W3CDTF">2026-10-28T09:44:32Z</dcterms:created>
  <dcterms:modified xsi:type="dcterms:W3CDTF">2026-10-28T09:44:32Z</dcterms:modified>
</cp:coreProperties>
</file>