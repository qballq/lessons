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5F"/>
                </a:solidFill>
                <a:latin typeface="+mj-lt"/>
              </a:defRPr>
            </a:pPr>
            <a:r>
              <a:rPr sz="1600" b="0" i="0" u="none" strike="noStrike">
                <a:solidFill>
                  <a:srgbClr val="0F2A5F"/>
                </a:solidFill>
                <a:latin typeface="+mj-lt"/>
              </a:rPr>
              <a:t>Blood groups in a sample of 5000 people in Scotland</a:t>
            </a:r>
          </a:p>
        </c:rich>
      </c:tx>
      <c:layout/>
      <c:overlay val="0"/>
    </c:title>
    <c:autoTitleDeleted val="0"/>
    <c:plotArea>
      <c:layout/>
      <c:barChart>
        <c:barDir val="col"/>
        <c:grouping val="clustered"/>
        <c:varyColors val="0"/>
        <c:ser>
          <c:idx val="0"/>
          <c:order val="0"/>
          <c:tx>
            <c:strRef>
              <c:f>Sheet1!$B$1</c:f>
              <c:strCache>
                <c:ptCount val="1"/>
                <c:pt idx="0">
                  <c:v>Number of people</c:v>
                </c:pt>
              </c:strCache>
            </c:strRef>
          </c:tx>
          <c:spPr>
            <a:solidFill>
              <a:srgbClr val="7B3A8E"/>
            </a:solidFill>
            <a:effectLst/>
          </c:spPr>
          <c:invertIfNegative val="0"/>
          <c:dLbls>
            <c:numFmt formatCode="0" sourceLinked="0"/>
            <c:txPr>
              <a:bodyPr/>
              <a:lstStyle/>
              <a:p>
                <a:pPr>
                  <a:defRPr b="0" i="0" strike="noStrike" sz="1200" u="none">
                    <a:solidFill>
                      <a:srgbClr val="141B26"/>
                    </a:solidFill>
                    <a:latin typeface="+mn-lt"/>
                  </a:defRPr>
                </a:pPr>
              </a:p>
            </c:txPr>
            <c:showLegendKey val="0"/>
            <c:showVal val="1"/>
            <c:showCatName val="0"/>
            <c:showSerName val="0"/>
            <c:showPercent val="0"/>
            <c:showBubbleSize val="0"/>
            <c:showLeaderLines val="0"/>
          </c:dLbls>
          <c:cat>
            <c:multiLvlStrRef>
              <c:f>Sheet1!$A$2:$A$5</c:f>
              <c:multiLvlStrCache>
                <c:ptCount val="4"/>
                <c:lvl>
                  <c:pt idx="0">
                    <c:v>O</c:v>
                  </c:pt>
                  <c:pt idx="1">
                    <c:v>A</c:v>
                  </c:pt>
                  <c:pt idx="2">
                    <c:v>B</c:v>
                  </c:pt>
                  <c:pt idx="3">
                    <c:v>AB</c:v>
                  </c:pt>
                </c:lvl>
              </c:multiLvlStrCache>
            </c:multiLvlStrRef>
          </c:cat>
          <c:val>
            <c:numRef>
              <c:f>Sheet1!$B$2:$B$5</c:f>
              <c:numCache>
                <c:formatCode>General</c:formatCode>
                <c:ptCount val="4"/>
                <c:pt idx="0">
                  <c:v>2550</c:v>
                </c:pt>
                <c:pt idx="1">
                  <c:v>1750</c:v>
                </c:pt>
                <c:pt idx="2">
                  <c:v>550</c:v>
                </c:pt>
                <c:pt idx="3">
                  <c:v>150</c:v>
                </c:pt>
              </c:numCache>
            </c:numRef>
          </c:val>
        </c:ser>
        <c:dLbls>
          <c:numFmt formatCode="0" sourceLinked="0"/>
          <c:txPr>
            <a:bodyPr/>
            <a:lstStyle/>
            <a:p>
              <a:pPr>
                <a:defRPr b="0" i="0" strike="noStrike" sz="1200" u="none">
                  <a:solidFill>
                    <a:srgbClr val="141B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141B26"/>
                    </a:solidFill>
                    <a:latin typeface="+mn-lt"/>
                  </a:defRPr>
                </a:pPr>
                <a:r>
                  <a:rPr sz="1300" b="0" i="0" u="none" strike="noStrike">
                    <a:solidFill>
                      <a:srgbClr val="141B26"/>
                    </a:solidFill>
                    <a:latin typeface="+mn-lt"/>
                  </a:rPr>
                  <a:t>Blood group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B2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BE3"/>
              </a:solidFill>
              <a:prstDash val="solid"/>
              <a:round/>
            </a:ln>
          </c:spPr>
        </c:majorGridlines>
        <c:title>
          <c:tx>
            <c:rich>
              <a:bodyPr/>
              <a:lstStyle/>
              <a:p>
                <a:pPr>
                  <a:defRPr sz="1300" b="0" i="0" u="none" strike="noStrike">
                    <a:solidFill>
                      <a:srgbClr val="141B26"/>
                    </a:solidFill>
                    <a:latin typeface="+mn-lt"/>
                  </a:defRPr>
                </a:pPr>
                <a:r>
                  <a:rPr sz="1300" b="0" i="0" u="none" strike="noStrike">
                    <a:solidFill>
                      <a:srgbClr val="141B26"/>
                    </a:solidFill>
                    <a:latin typeface="+mn-lt"/>
                  </a:rPr>
                  <a:t>Number of people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141B2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2A5F"/>
                </a:solidFill>
                <a:latin typeface="+mj-lt"/>
              </a:defRPr>
            </a:pPr>
            <a:r>
              <a:rPr sz="1600" b="0" i="0" u="none" strike="noStrike">
                <a:solidFill>
                  <a:srgbClr val="0F2A5F"/>
                </a:solidFill>
                <a:latin typeface="+mj-lt"/>
              </a:rPr>
              <a:t>Heights of 200 Year 9 students</a:t>
            </a:r>
          </a:p>
        </c:rich>
      </c:tx>
      <c:layout/>
      <c:overlay val="0"/>
    </c:title>
    <c:autoTitleDeleted val="0"/>
    <c:plotArea>
      <c:layout/>
      <c:barChart>
        <c:barDir val="col"/>
        <c:grouping val="clustered"/>
        <c:varyColors val="0"/>
        <c:ser>
          <c:idx val="0"/>
          <c:order val="0"/>
          <c:tx>
            <c:strRef>
              <c:f>Sheet1!$B$1</c:f>
              <c:strCache>
                <c:ptCount val="1"/>
                <c:pt idx="0">
                  <c:v>Number of students</c:v>
                </c:pt>
              </c:strCache>
            </c:strRef>
          </c:tx>
          <c:spPr>
            <a:solidFill>
              <a:srgbClr val="7B3A8E"/>
            </a:solidFill>
            <a:effectLst/>
          </c:spPr>
          <c:invertIfNegative val="0"/>
          <c:dLbls>
            <c:numFmt formatCode="0" sourceLinked="0"/>
            <c:txPr>
              <a:bodyPr/>
              <a:lstStyle/>
              <a:p>
                <a:pPr>
                  <a:defRPr b="0" i="0" strike="noStrike" sz="1200" u="none">
                    <a:solidFill>
                      <a:srgbClr val="141B26"/>
                    </a:solidFill>
                    <a:latin typeface="+mn-lt"/>
                  </a:defRPr>
                </a:pPr>
              </a:p>
            </c:txPr>
            <c:showLegendKey val="0"/>
            <c:showVal val="1"/>
            <c:showCatName val="0"/>
            <c:showSerName val="0"/>
            <c:showPercent val="0"/>
            <c:showBubbleSize val="0"/>
            <c:showLeaderLines val="0"/>
          </c:dLbls>
          <c:cat>
            <c:multiLvlStrRef>
              <c:f>Sheet1!$A$2:$A$10</c:f>
              <c:multiLvlStrCache>
                <c:ptCount val="9"/>
                <c:lvl>
                  <c:pt idx="0">
                    <c:v>140 to 144</c:v>
                  </c:pt>
                  <c:pt idx="1">
                    <c:v>145 to 149</c:v>
                  </c:pt>
                  <c:pt idx="2">
                    <c:v>150 to 154</c:v>
                  </c:pt>
                  <c:pt idx="3">
                    <c:v>155 to 159</c:v>
                  </c:pt>
                  <c:pt idx="4">
                    <c:v>160 to 164</c:v>
                  </c:pt>
                  <c:pt idx="5">
                    <c:v>165 to 169</c:v>
                  </c:pt>
                  <c:pt idx="6">
                    <c:v>170 to 174</c:v>
                  </c:pt>
                  <c:pt idx="7">
                    <c:v>175 to 179</c:v>
                  </c:pt>
                  <c:pt idx="8">
                    <c:v>180 to 184</c:v>
                  </c:pt>
                </c:lvl>
              </c:multiLvlStrCache>
            </c:multiLvlStrRef>
          </c:cat>
          <c:val>
            <c:numRef>
              <c:f>Sheet1!$B$2:$B$10</c:f>
              <c:numCache>
                <c:formatCode>General</c:formatCode>
                <c:ptCount val="9"/>
                <c:pt idx="0">
                  <c:v>3</c:v>
                </c:pt>
                <c:pt idx="1">
                  <c:v>9</c:v>
                </c:pt>
                <c:pt idx="2">
                  <c:v>22</c:v>
                </c:pt>
                <c:pt idx="3">
                  <c:v>41</c:v>
                </c:pt>
                <c:pt idx="4">
                  <c:v>52</c:v>
                </c:pt>
                <c:pt idx="5">
                  <c:v>38</c:v>
                </c:pt>
                <c:pt idx="6">
                  <c:v>23</c:v>
                </c:pt>
                <c:pt idx="7">
                  <c:v>9</c:v>
                </c:pt>
                <c:pt idx="8">
                  <c:v>3</c:v>
                </c:pt>
              </c:numCache>
            </c:numRef>
          </c:val>
        </c:ser>
        <c:dLbls>
          <c:numFmt formatCode="0" sourceLinked="0"/>
          <c:txPr>
            <a:bodyPr/>
            <a:lstStyle/>
            <a:p>
              <a:pPr>
                <a:defRPr b="0" i="0" strike="noStrike" sz="1200" u="none">
                  <a:solidFill>
                    <a:srgbClr val="141B26"/>
                  </a:solidFill>
                  <a:latin typeface="+mn-lt"/>
                </a:defRPr>
              </a:pPr>
            </a:p>
          </c:txPr>
          <c:showLegendKey val="0"/>
          <c:showVal val="1"/>
          <c:showCatName val="0"/>
          <c:showSerName val="0"/>
          <c:showPercent val="0"/>
          <c:showBubbleSize val="0"/>
          <c:showLeaderLines val="0"/>
        </c:dLbls>
        <c:gapWidth val="0"/>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141B26"/>
                    </a:solidFill>
                    <a:latin typeface="+mn-lt"/>
                  </a:defRPr>
                </a:pPr>
                <a:r>
                  <a:rPr sz="1300" b="0" i="0" u="none" strike="noStrike">
                    <a:solidFill>
                      <a:srgbClr val="141B26"/>
                    </a:solidFill>
                    <a:latin typeface="+mn-lt"/>
                  </a:rPr>
                  <a:t>Height (cm)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1B2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BE3"/>
              </a:solidFill>
              <a:prstDash val="solid"/>
              <a:round/>
            </a:ln>
          </c:spPr>
        </c:majorGridlines>
        <c:title>
          <c:tx>
            <c:rich>
              <a:bodyPr/>
              <a:lstStyle/>
              <a:p>
                <a:pPr>
                  <a:defRPr sz="1300" b="0" i="0" u="none" strike="noStrike">
                    <a:solidFill>
                      <a:srgbClr val="141B26"/>
                    </a:solidFill>
                    <a:latin typeface="+mn-lt"/>
                  </a:defRPr>
                </a:pPr>
                <a:r>
                  <a:rPr sz="1300" b="0" i="0" u="none" strike="noStrike">
                    <a:solidFill>
                      <a:srgbClr val="141B26"/>
                    </a:solidFill>
                    <a:latin typeface="+mn-lt"/>
                  </a:rPr>
                  <a:t>Number of students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141B2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variation caused by the environment. Today: variation that is inherited, where it comes from, and how we plot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coat colour and pattern, size, eye colour. Coat colour and pattern are inherited; size is partly inherited and partly how much they have eaten. A scar is environmental. Four minutes, in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that six of today's key words are about how inherited variation is passed on: genetic information, gene, nucleus, gamete, fertilisation, zygote.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colour (pink or yellow), flesh colour (white, red), seed pattern and shape are inherited. Size and sweetness can be changed by the environment (water, light, warmth), so they are caused by both. Collect answers in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three inherited characteristics of their own. Push on 'both': height, skin colour and body mass are inherited and affected by the environment. A learned skill such as speaking Chinese is environmental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sperm cell, egg cell, fertilisation, zygote, cell division. Ask: why can two children of the same parents have different eye colours? Because each gamete carries a different selection of the parent's genetic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Shoe size is a good trap: feet show continuous variation, but shoes only come in certain sizes, so shoe size is discontinuous. Students meet this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group O; 1750 out of 5000 is 35%; no, blood group has a limited set of values. The Scotland figures are typical of the UK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group holds the most students (160 to 164 cm) and how many students are 175 cm or taller (12). Students draw a curve like this on the worksheet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eye colour: genes, discontinuous; speaking Chinese: environment, discontinuous (learned); dimpled chin: genes, discontinuous; height: both, continuous; blood group: genes, discontinuous.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survey fast: count hands for each category and write the totals on the board. Write the hand spans on the board as students call them out, so the Stretch plot has real class data. If the class is small, use the sample data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each gamete carries a different selection of the parents' genetic information, so the child may inherit instructions for shorter height; height is also affected by the environment (diet, illness, exercise). Praise answers that use both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in the nucleus (in genes); a zygote; discontinuous and inherited. Students who get Q3 wrong need the 'limited set of values' idea again in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5 and 6 (9Ab Inherited variation and More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2: Inherited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2: Inherited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9A Genetics and evolution  |  Lesson 2: Inherited variation</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9A Genetics and evolution  |  Lesson 2: Inherited variation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9A GENETICS AND EVOLUTION  ·  LESSON 2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Inherited variation</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Why do offspring look like their parents, and why are brothers and sisters not identical?</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8 to 9  ·  Workbook pages 5 to 6</a:t>
            </a:r>
            <a:endParaRPr lang="en-US" sz="1400" dirty="0"/>
          </a:p>
        </p:txBody>
      </p:sp>
      <p:pic>
        <p:nvPicPr>
          <p:cNvPr id="6" name="Image 0" descr="/home/user/lessons/Y9_Exploring_Science/images/dragon_fruit.jpg">    </p:cNvPr>
          <p:cNvPicPr>
            <a:picLocks noChangeAspect="1"/>
          </p:cNvPicPr>
          <p:nvPr/>
        </p:nvPicPr>
        <p:blipFill>
          <a:blip r:embed="rId1"/>
          <a:stretch>
            <a:fillRect/>
          </a:stretch>
        </p:blipFill>
        <p:spPr>
          <a:xfrm>
            <a:off x="9174480" y="4572000"/>
            <a:ext cx="195072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a litter of kittens</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1. Give two ways these kittens vary from each other.</a:t>
            </a:r>
            <a:endParaRPr lang="en-US" sz="2400" dirty="0"/>
          </a:p>
          <a:p>
            <a:pPr indent="0" marL="0">
              <a:spcAft>
                <a:spcPts val="1200"/>
              </a:spcAft>
              <a:buNone/>
            </a:pPr>
            <a:r>
              <a:rPr lang="en-US" sz="2400" dirty="0">
                <a:solidFill>
                  <a:srgbClr val="141B26"/>
                </a:solidFill>
              </a:rPr>
              <a:t>2. Which of these differences did they inherit from their parents?</a:t>
            </a:r>
            <a:endParaRPr lang="en-US" sz="2400" dirty="0"/>
          </a:p>
          <a:p>
            <a:pPr indent="0" marL="0">
              <a:spcAft>
                <a:spcPts val="1200"/>
              </a:spcAft>
              <a:buNone/>
            </a:pPr>
            <a:r>
              <a:rPr lang="en-US" sz="2400" dirty="0">
                <a:solidFill>
                  <a:srgbClr val="141B26"/>
                </a:solidFill>
              </a:rPr>
              <a:t>3. From last lesson: is a scar inherited or environmental variation?</a:t>
            </a:r>
            <a:endParaRPr lang="en-US" sz="2400" dirty="0"/>
          </a:p>
        </p:txBody>
      </p:sp>
      <p:pic>
        <p:nvPicPr>
          <p:cNvPr id="8" name="Image 0" descr="/home/user/lessons/Y9_Exploring_Science/images/kittens_litter.jpg">    </p:cNvPr>
          <p:cNvPicPr>
            <a:picLocks noChangeAspect="1"/>
          </p:cNvPicPr>
          <p:nvPr/>
        </p:nvPicPr>
        <p:blipFill>
          <a:blip r:embed="rId1"/>
          <a:stretch>
            <a:fillRect/>
          </a:stretch>
        </p:blipFill>
        <p:spPr>
          <a:xfrm>
            <a:off x="6858000" y="2087254"/>
            <a:ext cx="4754880" cy="2500611"/>
          </a:xfrm>
          <a:prstGeom prst="rect">
            <a:avLst/>
          </a:prstGeom>
        </p:spPr>
      </p:pic>
      <p:sp>
        <p:nvSpPr>
          <p:cNvPr id="9" name="Text 6"/>
          <p:cNvSpPr txBox="1"/>
          <p:nvPr/>
        </p:nvSpPr>
        <p:spPr>
          <a:xfrm>
            <a:off x="6858000" y="4633586"/>
            <a:ext cx="4754880" cy="548640"/>
          </a:xfrm>
          <a:prstGeom prst="rect">
            <a:avLst/>
          </a:prstGeom>
          <a:noFill/>
          <a:ln/>
        </p:spPr>
        <p:txBody>
          <a:bodyPr wrap="square" lIns="0" tIns="0" rIns="0" bIns="0" rtlCol="0" anchor="t"/>
          <a:lstStyle/>
          <a:p>
            <a:pPr algn="l" indent="0" marL="0">
              <a:buNone/>
            </a:pPr>
            <a:r>
              <a:rPr lang="en-US" sz="1300" dirty="0">
                <a:solidFill>
                  <a:srgbClr val="141B26"/>
                </a:solidFill>
              </a:rPr>
              <a:t>Kittens from one litter</a:t>
            </a:r>
            <a:pPr algn="l" indent="0" marL="0">
              <a:buNone/>
            </a:pPr>
            <a:endParaRPr lang="en-US" sz="1300" dirty="0"/>
          </a:p>
          <a:p>
            <a:pPr algn="l" indent="0" marL="0">
              <a:buNone/>
            </a:pPr>
            <a:r>
              <a:rPr lang="en-US" sz="900" dirty="0">
                <a:solidFill>
                  <a:srgbClr val="5B6574"/>
                </a:solidFill>
              </a:rPr>
              <a:t>Image: Santa Monica Mountains National Recreation Area, Public domain,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give examples of inherited variation and explain how sexual reproduction causes it.</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sort inherited variation into continuous and discontinuous, and recognise a normal distribution.</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inherited variation</a:t>
            </a:r>
            <a:endParaRPr lang="en-US" sz="2100" dirty="0"/>
          </a:p>
          <a:p>
            <a:pPr marL="304800" indent="-304800">
              <a:spcAft>
                <a:spcPts val="600"/>
              </a:spcAft>
              <a:buSzPct val="100000"/>
              <a:buChar char="•"/>
            </a:pPr>
            <a:r>
              <a:rPr lang="en-US" sz="2100" b="1" dirty="0">
                <a:solidFill>
                  <a:srgbClr val="0F2A5F"/>
                </a:solidFill>
              </a:rPr>
              <a:t>offspring</a:t>
            </a:r>
            <a:endParaRPr lang="en-US" sz="2100" dirty="0"/>
          </a:p>
          <a:p>
            <a:pPr marL="304800" indent="-304800">
              <a:spcAft>
                <a:spcPts val="600"/>
              </a:spcAft>
              <a:buSzPct val="100000"/>
              <a:buChar char="•"/>
            </a:pPr>
            <a:r>
              <a:rPr lang="en-US" sz="2100" b="1" dirty="0">
                <a:solidFill>
                  <a:srgbClr val="0F2A5F"/>
                </a:solidFill>
              </a:rPr>
              <a:t>genetic information</a:t>
            </a:r>
            <a:endParaRPr lang="en-US" sz="2100" dirty="0"/>
          </a:p>
          <a:p>
            <a:pPr marL="304800" indent="-304800">
              <a:spcAft>
                <a:spcPts val="600"/>
              </a:spcAft>
              <a:buSzPct val="100000"/>
              <a:buChar char="•"/>
            </a:pPr>
            <a:r>
              <a:rPr lang="en-US" sz="2100" b="1" dirty="0">
                <a:solidFill>
                  <a:srgbClr val="0F2A5F"/>
                </a:solidFill>
              </a:rPr>
              <a:t>gene</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nucleus</a:t>
            </a:r>
            <a:endParaRPr lang="en-US" sz="2100" dirty="0"/>
          </a:p>
          <a:p>
            <a:pPr marL="304800" indent="-304800">
              <a:spcAft>
                <a:spcPts val="600"/>
              </a:spcAft>
              <a:buSzPct val="100000"/>
              <a:buChar char="•"/>
            </a:pPr>
            <a:r>
              <a:rPr lang="en-US" sz="2100" b="1" dirty="0">
                <a:solidFill>
                  <a:srgbClr val="0F2A5F"/>
                </a:solidFill>
              </a:rPr>
              <a:t>gamete</a:t>
            </a:r>
            <a:endParaRPr lang="en-US" sz="2100" dirty="0"/>
          </a:p>
          <a:p>
            <a:pPr marL="304800" indent="-304800">
              <a:spcAft>
                <a:spcPts val="600"/>
              </a:spcAft>
              <a:buSzPct val="100000"/>
              <a:buChar char="•"/>
            </a:pPr>
            <a:r>
              <a:rPr lang="en-US" sz="2100" b="1" dirty="0">
                <a:solidFill>
                  <a:srgbClr val="0F2A5F"/>
                </a:solidFill>
              </a:rPr>
              <a:t>fertilisation</a:t>
            </a:r>
            <a:endParaRPr lang="en-US" sz="2100" dirty="0"/>
          </a:p>
          <a:p>
            <a:pPr marL="304800" indent="-304800">
              <a:spcAft>
                <a:spcPts val="600"/>
              </a:spcAft>
              <a:buSzPct val="100000"/>
              <a:buChar char="•"/>
            </a:pPr>
            <a:r>
              <a:rPr lang="en-US" sz="2100" b="1" dirty="0">
                <a:solidFill>
                  <a:srgbClr val="0F2A5F"/>
                </a:solidFill>
              </a:rPr>
              <a:t>zygote</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continuous variation</a:t>
            </a:r>
            <a:endParaRPr lang="en-US" sz="2200" dirty="0"/>
          </a:p>
          <a:p>
            <a:pPr marL="304800" indent="-304800">
              <a:spcAft>
                <a:spcPts val="600"/>
              </a:spcAft>
              <a:buSzPct val="100000"/>
              <a:buChar char="•"/>
            </a:pPr>
            <a:r>
              <a:rPr lang="en-US" sz="2200" b="1" dirty="0">
                <a:solidFill>
                  <a:srgbClr val="0F2A5F"/>
                </a:solidFill>
              </a:rPr>
              <a:t>discontinuous variation</a:t>
            </a:r>
            <a:endParaRPr lang="en-US" sz="2200" dirty="0"/>
          </a:p>
          <a:p>
            <a:pPr marL="304800" indent="-304800">
              <a:spcAft>
                <a:spcPts val="600"/>
              </a:spcAft>
              <a:buSzPct val="100000"/>
              <a:buChar char="•"/>
            </a:pPr>
            <a:r>
              <a:rPr lang="en-US" sz="2200" b="1" dirty="0">
                <a:solidFill>
                  <a:srgbClr val="0F2A5F"/>
                </a:solidFill>
              </a:rPr>
              <a:t>normal distribution</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Dragon fruit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3000" b="1" dirty="0">
                <a:solidFill>
                  <a:srgbClr val="0F2A5F"/>
                </a:solidFill>
              </a:rPr>
              <a:t>Dragon fruit come in different skin colours, flesh colours and sizes. Give three examples of inherited variation in dragon fruit.</a:t>
            </a:r>
            <a:endParaRPr lang="en-US" sz="30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Then decide: which of these could a grower change by giving the plants more water or light?</a:t>
            </a:r>
            <a:endParaRPr lang="en-US" sz="2000" dirty="0"/>
          </a:p>
        </p:txBody>
      </p:sp>
      <p:pic>
        <p:nvPicPr>
          <p:cNvPr id="7" name="Image 0" descr="/home/user/lessons/Y9_Exploring_Science/images/dragon_fruit.jpg">    </p:cNvPr>
          <p:cNvPicPr>
            <a:picLocks noChangeAspect="1"/>
          </p:cNvPicPr>
          <p:nvPr/>
        </p:nvPicPr>
        <p:blipFill>
          <a:blip r:embed="rId1"/>
          <a:stretch>
            <a:fillRect/>
          </a:stretch>
        </p:blipFill>
        <p:spPr>
          <a:xfrm>
            <a:off x="6717792" y="1280160"/>
            <a:ext cx="4486656" cy="4206240"/>
          </a:xfrm>
          <a:prstGeom prst="rect">
            <a:avLst/>
          </a:prstGeom>
        </p:spPr>
      </p:pic>
      <p:sp>
        <p:nvSpPr>
          <p:cNvPr id="8" name="Text 5"/>
          <p:cNvSpPr txBox="1"/>
          <p:nvPr/>
        </p:nvSpPr>
        <p:spPr>
          <a:xfrm>
            <a:off x="6309360" y="55321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A yellow-skinned dragon fruit (pitaya) with white flesh</a:t>
            </a:r>
            <a:pPr algn="l" indent="0" marL="0">
              <a:buNone/>
            </a:pPr>
            <a:endParaRPr lang="en-US" sz="1300" dirty="0"/>
          </a:p>
          <a:p>
            <a:pPr algn="l" indent="0" marL="0">
              <a:buNone/>
            </a:pPr>
            <a:r>
              <a:rPr lang="en-US" sz="900" dirty="0">
                <a:solidFill>
                  <a:srgbClr val="5B6574"/>
                </a:solidFill>
              </a:rPr>
              <a:t>Image: Tijs Zwinkels, CC BY-SA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Inherited variation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inherited variation   ·   offspring</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Offspring get a mixture of characteristics from their parents. We say they inherit them.</a:t>
            </a:r>
            <a:endParaRPr lang="en-US" sz="2000" dirty="0"/>
          </a:p>
          <a:p>
            <a:pPr marL="304800" indent="-304800">
              <a:spcAft>
                <a:spcPts val="800"/>
              </a:spcAft>
              <a:buSzPct val="100000"/>
              <a:buChar char="•"/>
            </a:pPr>
            <a:r>
              <a:rPr lang="en-US" sz="2000" dirty="0">
                <a:solidFill>
                  <a:srgbClr val="141B26"/>
                </a:solidFill>
              </a:rPr>
              <a:t>Inherited variation: natural eye colour, dimpled chin, blood group.</a:t>
            </a:r>
            <a:endParaRPr lang="en-US" sz="2000" dirty="0"/>
          </a:p>
          <a:p>
            <a:pPr marL="304800" indent="-304800">
              <a:spcAft>
                <a:spcPts val="800"/>
              </a:spcAft>
              <a:buSzPct val="100000"/>
              <a:buChar char="•"/>
            </a:pPr>
            <a:r>
              <a:rPr lang="en-US" sz="2000" dirty="0">
                <a:solidFill>
                  <a:srgbClr val="141B26"/>
                </a:solidFill>
              </a:rPr>
              <a:t>Environmental variation (a scar, a hairstyle) is not inherited.</a:t>
            </a:r>
            <a:endParaRPr lang="en-US" sz="2000" dirty="0"/>
          </a:p>
          <a:p>
            <a:pPr marL="304800" indent="-304800">
              <a:spcAft>
                <a:spcPts val="800"/>
              </a:spcAft>
              <a:buSzPct val="100000"/>
              <a:buChar char="•"/>
            </a:pPr>
            <a:r>
              <a:rPr lang="en-US" sz="2000" dirty="0">
                <a:solidFill>
                  <a:srgbClr val="141B26"/>
                </a:solidFill>
              </a:rPr>
              <a:t>Some characteristics are caused by both: tall parents have tall children only if the children eat well.</a:t>
            </a:r>
            <a:endParaRPr lang="en-US" sz="2000" dirty="0"/>
          </a:p>
        </p:txBody>
      </p:sp>
      <p:pic>
        <p:nvPicPr>
          <p:cNvPr id="7" name="Image 0" descr="/home/user/lessons/Y9_Exploring_Science/images/kittens_litter.jpg">    </p:cNvPr>
          <p:cNvPicPr>
            <a:picLocks noChangeAspect="1"/>
          </p:cNvPicPr>
          <p:nvPr/>
        </p:nvPicPr>
        <p:blipFill>
          <a:blip r:embed="rId1"/>
          <a:stretch>
            <a:fillRect/>
          </a:stretch>
        </p:blipFill>
        <p:spPr>
          <a:xfrm>
            <a:off x="6583680" y="1786521"/>
            <a:ext cx="5029200" cy="2644877"/>
          </a:xfrm>
          <a:prstGeom prst="rect">
            <a:avLst/>
          </a:prstGeom>
        </p:spPr>
      </p:pic>
      <p:sp>
        <p:nvSpPr>
          <p:cNvPr id="8" name="Text 5"/>
          <p:cNvSpPr txBox="1"/>
          <p:nvPr/>
        </p:nvSpPr>
        <p:spPr>
          <a:xfrm>
            <a:off x="6583680" y="4477119"/>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Kittens inherit coat colour from both parents</a:t>
            </a:r>
            <a:pPr algn="l" indent="0" marL="0">
              <a:buNone/>
            </a:pPr>
            <a:endParaRPr lang="en-US" sz="1300" dirty="0"/>
          </a:p>
          <a:p>
            <a:pPr algn="l" indent="0" marL="0">
              <a:buNone/>
            </a:pPr>
            <a:r>
              <a:rPr lang="en-US" sz="900" dirty="0">
                <a:solidFill>
                  <a:srgbClr val="5B6574"/>
                </a:solidFill>
              </a:rPr>
              <a:t>Image: Santa Monica Mountains National Recreation Area, Public domain,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Inherited characteristics are passed on in genetic information from both parents.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Where inherited variation comes from</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genetic information   ·   gene   ·   nucleus   ·   gamete   ·   fertilisation   ·   zygote</a:t>
            </a:r>
            <a:endParaRPr lang="en-US" sz="1400" dirty="0"/>
          </a:p>
        </p:txBody>
      </p:sp>
      <p:sp>
        <p:nvSpPr>
          <p:cNvPr id="6" name="Text 4"/>
          <p:cNvSpPr txBox="1"/>
          <p:nvPr/>
        </p:nvSpPr>
        <p:spPr>
          <a:xfrm>
            <a:off x="548640" y="1325880"/>
            <a:ext cx="4297680" cy="4069080"/>
          </a:xfrm>
          <a:prstGeom prst="rect">
            <a:avLst/>
          </a:prstGeom>
          <a:noFill/>
          <a:ln/>
        </p:spPr>
        <p:txBody>
          <a:bodyPr wrap="square" lIns="0" tIns="0" rIns="0" bIns="0" rtlCol="0" anchor="t"/>
          <a:lstStyle/>
          <a:p>
            <a:pPr marL="304800" indent="-304800">
              <a:spcAft>
                <a:spcPts val="800"/>
              </a:spcAft>
              <a:buSzPct val="100000"/>
              <a:buChar char="•"/>
            </a:pPr>
            <a:r>
              <a:rPr lang="en-US" sz="1900" dirty="0">
                <a:solidFill>
                  <a:srgbClr val="141B26"/>
                </a:solidFill>
              </a:rPr>
              <a:t>Genetic information is stored in genes, in the nucleus of each cell.</a:t>
            </a:r>
            <a:endParaRPr lang="en-US" sz="1900" dirty="0"/>
          </a:p>
          <a:p>
            <a:pPr marL="304800" indent="-304800">
              <a:spcAft>
                <a:spcPts val="800"/>
              </a:spcAft>
              <a:buSzPct val="100000"/>
              <a:buChar char="•"/>
            </a:pPr>
            <a:r>
              <a:rPr lang="en-US" sz="1900" dirty="0">
                <a:solidFill>
                  <a:srgbClr val="141B26"/>
                </a:solidFill>
              </a:rPr>
              <a:t>In sexual reproduction two gametes (one male, one female) fuse at fertilisation to make a zygote.</a:t>
            </a:r>
            <a:endParaRPr lang="en-US" sz="1900" dirty="0"/>
          </a:p>
          <a:p>
            <a:pPr marL="304800" indent="-304800">
              <a:spcAft>
                <a:spcPts val="800"/>
              </a:spcAft>
              <a:buSzPct val="100000"/>
              <a:buChar char="•"/>
            </a:pPr>
            <a:r>
              <a:rPr lang="en-US" sz="1900" dirty="0">
                <a:solidFill>
                  <a:srgbClr val="141B26"/>
                </a:solidFill>
              </a:rPr>
              <a:t>The zygote has genetic information from both parents.</a:t>
            </a:r>
            <a:endParaRPr lang="en-US" sz="1900" dirty="0"/>
          </a:p>
          <a:p>
            <a:pPr marL="304800" indent="-304800">
              <a:spcAft>
                <a:spcPts val="800"/>
              </a:spcAft>
              <a:buSzPct val="100000"/>
              <a:buChar char="•"/>
            </a:pPr>
            <a:r>
              <a:rPr lang="en-US" sz="1900" dirty="0">
                <a:solidFill>
                  <a:srgbClr val="141B26"/>
                </a:solidFill>
              </a:rPr>
              <a:t>Every gamete is slightly different, so brothers and sisters are not identical.</a:t>
            </a:r>
            <a:endParaRPr lang="en-US" sz="1900" dirty="0"/>
          </a:p>
        </p:txBody>
      </p:sp>
      <p:pic>
        <p:nvPicPr>
          <p:cNvPr id="7" name="Image 0" descr="/home/user/lessons/Y9_Exploring_Science/source/diagrams/gametes_zygote.png">    </p:cNvPr>
          <p:cNvPicPr>
            <a:picLocks noChangeAspect="1"/>
          </p:cNvPicPr>
          <p:nvPr/>
        </p:nvPicPr>
        <p:blipFill>
          <a:blip r:embed="rId1"/>
          <a:stretch>
            <a:fillRect/>
          </a:stretch>
        </p:blipFill>
        <p:spPr>
          <a:xfrm>
            <a:off x="5029200" y="1600886"/>
            <a:ext cx="6583680" cy="3016148"/>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Two different gametes fuse, so each offspring gets its own mixture of the parents' genetic information.</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Inherited variation can be continuous or discontinuous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continuous variation   ·   discontinuous variation</a:t>
            </a:r>
            <a:endParaRPr lang="en-US" sz="1400" dirty="0"/>
          </a:p>
        </p:txBody>
      </p:sp>
      <p:sp>
        <p:nvSpPr>
          <p:cNvPr id="6" name="Shape 4"/>
          <p:cNvSpPr/>
          <p:nvPr/>
        </p:nvSpPr>
        <p:spPr>
          <a:xfrm>
            <a:off x="548640" y="1325880"/>
            <a:ext cx="5349240" cy="4023360"/>
          </a:xfrm>
          <a:prstGeom prst="roundRect">
            <a:avLst>
              <a:gd name="adj" fmla="val 2727"/>
            </a:avLst>
          </a:prstGeom>
          <a:solidFill>
            <a:srgbClr val="EEF1F5"/>
          </a:solidFill>
          <a:ln w="12700">
            <a:solidFill>
              <a:srgbClr val="D5DBE3"/>
            </a:solidFill>
            <a:prstDash val="solid"/>
          </a:ln>
        </p:spPr>
      </p:sp>
      <p:sp>
        <p:nvSpPr>
          <p:cNvPr id="7" name="Text 5"/>
          <p:cNvSpPr txBox="1"/>
          <p:nvPr/>
        </p:nvSpPr>
        <p:spPr>
          <a:xfrm>
            <a:off x="822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Discontinuous (inherited)</a:t>
            </a:r>
            <a:endParaRPr lang="en-US" sz="2200" dirty="0"/>
          </a:p>
        </p:txBody>
      </p:sp>
      <p:sp>
        <p:nvSpPr>
          <p:cNvPr id="8" name="Text 6"/>
          <p:cNvSpPr txBox="1"/>
          <p:nvPr/>
        </p:nvSpPr>
        <p:spPr>
          <a:xfrm>
            <a:off x="822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Blood group: A, B, AB or O. Nothing in between.</a:t>
            </a:r>
            <a:endParaRPr lang="en-US" sz="1800" dirty="0"/>
          </a:p>
          <a:p>
            <a:pPr marL="304800" indent="-304800">
              <a:spcAft>
                <a:spcPts val="800"/>
              </a:spcAft>
              <a:buSzPct val="100000"/>
              <a:buChar char="•"/>
            </a:pPr>
            <a:r>
              <a:rPr lang="en-US" sz="1800" dirty="0">
                <a:solidFill>
                  <a:srgbClr val="141B26"/>
                </a:solidFill>
              </a:rPr>
              <a:t>Dimpled chin: yes or no.</a:t>
            </a:r>
            <a:endParaRPr lang="en-US" sz="1800" dirty="0"/>
          </a:p>
          <a:p>
            <a:pPr marL="304800" indent="-304800">
              <a:spcAft>
                <a:spcPts val="800"/>
              </a:spcAft>
              <a:buSzPct val="100000"/>
              <a:buChar char="•"/>
            </a:pPr>
            <a:r>
              <a:rPr lang="en-US" sz="1800" dirty="0">
                <a:solidFill>
                  <a:srgbClr val="141B26"/>
                </a:solidFill>
              </a:rPr>
              <a:t>Tongue rolling, attached ear lobes.</a:t>
            </a:r>
            <a:endParaRPr lang="en-US" sz="1800" dirty="0"/>
          </a:p>
          <a:p>
            <a:pPr marL="304800" indent="-304800">
              <a:spcAft>
                <a:spcPts val="800"/>
              </a:spcAft>
              <a:buSzPct val="100000"/>
              <a:buChar char="•"/>
            </a:pPr>
            <a:r>
              <a:rPr lang="en-US" sz="1800" dirty="0">
                <a:solidFill>
                  <a:srgbClr val="141B26"/>
                </a:solidFill>
              </a:rPr>
              <a:t>Usually caused by genes only.</a:t>
            </a:r>
            <a:endParaRPr lang="en-US" sz="1800" dirty="0"/>
          </a:p>
          <a:p>
            <a:pPr marL="304800" indent="-304800">
              <a:spcAft>
                <a:spcPts val="800"/>
              </a:spcAft>
              <a:buSzPct val="100000"/>
              <a:buChar char="•"/>
            </a:pPr>
            <a:r>
              <a:rPr lang="en-US" sz="1800" dirty="0">
                <a:solidFill>
                  <a:srgbClr val="141B26"/>
                </a:solidFill>
              </a:rPr>
              <a:t>Bar chart with gaps.</a:t>
            </a:r>
            <a:endParaRPr lang="en-US" sz="1800" dirty="0"/>
          </a:p>
        </p:txBody>
      </p:sp>
      <p:sp>
        <p:nvSpPr>
          <p:cNvPr id="9" name="Shape 7"/>
          <p:cNvSpPr/>
          <p:nvPr/>
        </p:nvSpPr>
        <p:spPr>
          <a:xfrm>
            <a:off x="6263640" y="1325880"/>
            <a:ext cx="5349240" cy="4023360"/>
          </a:xfrm>
          <a:prstGeom prst="roundRect">
            <a:avLst>
              <a:gd name="adj" fmla="val 2727"/>
            </a:avLst>
          </a:prstGeom>
          <a:solidFill>
            <a:srgbClr val="F1E5F4"/>
          </a:solidFill>
          <a:ln w="12700">
            <a:solidFill>
              <a:srgbClr val="D5DBE3"/>
            </a:solidFill>
            <a:prstDash val="solid"/>
          </a:ln>
        </p:spPr>
      </p:sp>
      <p:sp>
        <p:nvSpPr>
          <p:cNvPr id="10" name="Text 8"/>
          <p:cNvSpPr txBox="1"/>
          <p:nvPr/>
        </p:nvSpPr>
        <p:spPr>
          <a:xfrm>
            <a:off x="6537960" y="1463040"/>
            <a:ext cx="4800600" cy="502920"/>
          </a:xfrm>
          <a:prstGeom prst="rect">
            <a:avLst/>
          </a:prstGeom>
          <a:noFill/>
          <a:ln/>
        </p:spPr>
        <p:txBody>
          <a:bodyPr wrap="square" lIns="0" tIns="0" rIns="0" bIns="0" rtlCol="0" anchor="ctr"/>
          <a:lstStyle/>
          <a:p>
            <a:pPr indent="0" marL="0">
              <a:buNone/>
            </a:pPr>
            <a:r>
              <a:rPr lang="en-US" sz="2200" b="1" dirty="0">
                <a:solidFill>
                  <a:srgbClr val="0F2A5F"/>
                </a:solidFill>
              </a:rPr>
              <a:t>Continuous (inherited and environment)</a:t>
            </a:r>
            <a:endParaRPr lang="en-US" sz="2200" dirty="0"/>
          </a:p>
        </p:txBody>
      </p:sp>
      <p:sp>
        <p:nvSpPr>
          <p:cNvPr id="11" name="Text 9"/>
          <p:cNvSpPr txBox="1"/>
          <p:nvPr/>
        </p:nvSpPr>
        <p:spPr>
          <a:xfrm>
            <a:off x="6537960" y="2011680"/>
            <a:ext cx="4800600" cy="31546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Height, hand span, skin colour.</a:t>
            </a:r>
            <a:endParaRPr lang="en-US" sz="1800" dirty="0"/>
          </a:p>
          <a:p>
            <a:pPr marL="304800" indent="-304800">
              <a:spcAft>
                <a:spcPts val="800"/>
              </a:spcAft>
              <a:buSzPct val="100000"/>
              <a:buChar char="•"/>
            </a:pPr>
            <a:r>
              <a:rPr lang="en-US" sz="1800" dirty="0">
                <a:solidFill>
                  <a:srgbClr val="141B26"/>
                </a:solidFill>
              </a:rPr>
              <a:t>Any value between two points.</a:t>
            </a:r>
            <a:endParaRPr lang="en-US" sz="1800" dirty="0"/>
          </a:p>
          <a:p>
            <a:pPr marL="304800" indent="-304800">
              <a:spcAft>
                <a:spcPts val="800"/>
              </a:spcAft>
              <a:buSzPct val="100000"/>
              <a:buChar char="•"/>
            </a:pPr>
            <a:r>
              <a:rPr lang="en-US" sz="1800" dirty="0">
                <a:solidFill>
                  <a:srgbClr val="141B26"/>
                </a:solidFill>
              </a:rPr>
              <a:t>Affected by genes and by diet, sunlight or exercise.</a:t>
            </a:r>
            <a:endParaRPr lang="en-US" sz="1800" dirty="0"/>
          </a:p>
          <a:p>
            <a:pPr marL="304800" indent="-304800">
              <a:spcAft>
                <a:spcPts val="800"/>
              </a:spcAft>
              <a:buSzPct val="100000"/>
              <a:buChar char="•"/>
            </a:pPr>
            <a:r>
              <a:rPr lang="en-US" sz="1800" dirty="0">
                <a:solidFill>
                  <a:srgbClr val="141B26"/>
                </a:solidFill>
              </a:rPr>
              <a:t>Group the data; bars touch.</a:t>
            </a:r>
            <a:endParaRPr lang="en-US" sz="1800" dirty="0"/>
          </a:p>
          <a:p>
            <a:pPr marL="304800" indent="-304800">
              <a:spcAft>
                <a:spcPts val="800"/>
              </a:spcAft>
              <a:buSzPct val="100000"/>
              <a:buChar char="•"/>
            </a:pPr>
            <a:r>
              <a:rPr lang="en-US" sz="1800" dirty="0">
                <a:solidFill>
                  <a:srgbClr val="141B26"/>
                </a:solidFill>
              </a:rPr>
              <a:t>Often a bell shape.</a:t>
            </a:r>
            <a:endParaRPr lang="en-US" sz="1800" dirty="0"/>
          </a:p>
        </p:txBody>
      </p:sp>
      <p:sp>
        <p:nvSpPr>
          <p:cNvPr id="12" name="Shape 10"/>
          <p:cNvSpPr/>
          <p:nvPr/>
        </p:nvSpPr>
        <p:spPr>
          <a:xfrm>
            <a:off x="548640" y="5532120"/>
            <a:ext cx="11094415" cy="566928"/>
          </a:xfrm>
          <a:prstGeom prst="rect">
            <a:avLst/>
          </a:prstGeom>
          <a:solidFill>
            <a:srgbClr val="F1E5F4"/>
          </a:solidFill>
          <a:ln w="12700">
            <a:solidFill>
              <a:srgbClr val="F1E5F4"/>
            </a:solidFill>
            <a:prstDash val="solid"/>
          </a:ln>
        </p:spPr>
      </p:sp>
      <p:sp>
        <p:nvSpPr>
          <p:cNvPr id="13" name="Text 11"/>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Discontinuous: a limited set of values. Continuous: any value, and usually many genes plus the environment.</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Discontinuous data: blood groups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discontinuous variation</a:t>
            </a:r>
            <a:endParaRPr lang="en-US" sz="1400" dirty="0"/>
          </a:p>
        </p:txBody>
      </p:sp>
      <p:graphicFrame>
        <p:nvGraphicFramePr>
          <p:cNvPr id="6"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223760" y="1371600"/>
            <a:ext cx="4389120" cy="438912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Only four possible values, so the bars have gaps.</a:t>
            </a:r>
            <a:endParaRPr lang="en-US" sz="1800" dirty="0"/>
          </a:p>
          <a:p>
            <a:pPr marL="304800" indent="-304800">
              <a:spcAft>
                <a:spcPts val="800"/>
              </a:spcAft>
              <a:buSzPct val="100000"/>
              <a:buChar char="•"/>
            </a:pPr>
            <a:r>
              <a:rPr lang="en-US" sz="1800" dirty="0">
                <a:solidFill>
                  <a:srgbClr val="141B26"/>
                </a:solidFill>
              </a:rPr>
              <a:t>Which blood group is most common?</a:t>
            </a:r>
            <a:endParaRPr lang="en-US" sz="1800" dirty="0"/>
          </a:p>
          <a:p>
            <a:pPr marL="304800" indent="-304800">
              <a:spcAft>
                <a:spcPts val="800"/>
              </a:spcAft>
              <a:buSzPct val="100000"/>
              <a:buChar char="•"/>
            </a:pPr>
            <a:r>
              <a:rPr lang="en-US" sz="1800" dirty="0">
                <a:solidFill>
                  <a:srgbClr val="141B26"/>
                </a:solidFill>
              </a:rPr>
              <a:t>Roughly what percentage of this sample has group A?</a:t>
            </a:r>
            <a:endParaRPr lang="en-US" sz="1800" dirty="0"/>
          </a:p>
          <a:p>
            <a:pPr marL="304800" indent="-304800">
              <a:spcAft>
                <a:spcPts val="800"/>
              </a:spcAft>
              <a:buSzPct val="100000"/>
              <a:buChar char="•"/>
            </a:pPr>
            <a:r>
              <a:rPr lang="en-US" sz="1800" dirty="0">
                <a:solidFill>
                  <a:srgbClr val="141B26"/>
                </a:solidFill>
              </a:rPr>
              <a:t>Could anyone be 'between' A and B?</a:t>
            </a:r>
            <a:endParaRPr lang="en-US" sz="1800" dirty="0"/>
          </a:p>
        </p:txBody>
      </p:sp>
      <p:sp>
        <p:nvSpPr>
          <p:cNvPr id="8" name="Shape 5"/>
          <p:cNvSpPr/>
          <p:nvPr/>
        </p:nvSpPr>
        <p:spPr>
          <a:xfrm>
            <a:off x="548640" y="585216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85216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Discontinuous data go on a bar chart with gaps between the bars.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Continuous data: a normal distribution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continuous variation   ·   normal distribution</a:t>
            </a:r>
            <a:endParaRPr lang="en-US" sz="1400" dirty="0"/>
          </a:p>
        </p:txBody>
      </p:sp>
      <p:graphicFrame>
        <p:nvGraphicFramePr>
          <p:cNvPr id="6"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223760" y="1371600"/>
            <a:ext cx="4389120" cy="438912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Heights are grouped, so the bars touch.</a:t>
            </a:r>
            <a:endParaRPr lang="en-US" sz="1800" dirty="0"/>
          </a:p>
          <a:p>
            <a:pPr marL="304800" indent="-304800">
              <a:spcAft>
                <a:spcPts val="800"/>
              </a:spcAft>
              <a:buSzPct val="100000"/>
              <a:buChar char="•"/>
            </a:pPr>
            <a:r>
              <a:rPr lang="en-US" sz="1800" dirty="0">
                <a:solidFill>
                  <a:srgbClr val="141B26"/>
                </a:solidFill>
              </a:rPr>
              <a:t>Join the tops of the bars: a bell shape. This is a normal distribution.</a:t>
            </a:r>
            <a:endParaRPr lang="en-US" sz="1800" dirty="0"/>
          </a:p>
          <a:p>
            <a:pPr marL="304800" indent="-304800">
              <a:spcAft>
                <a:spcPts val="800"/>
              </a:spcAft>
              <a:buSzPct val="100000"/>
              <a:buChar char="•"/>
            </a:pPr>
            <a:r>
              <a:rPr lang="en-US" sz="1800" dirty="0">
                <a:solidFill>
                  <a:srgbClr val="141B26"/>
                </a:solidFill>
              </a:rPr>
              <a:t>Most students are near the middle; very tall and very short students are rare.</a:t>
            </a:r>
            <a:endParaRPr lang="en-US" sz="1800" dirty="0"/>
          </a:p>
        </p:txBody>
      </p:sp>
      <p:sp>
        <p:nvSpPr>
          <p:cNvPr id="8" name="Shape 5"/>
          <p:cNvSpPr/>
          <p:nvPr/>
        </p:nvSpPr>
        <p:spPr>
          <a:xfrm>
            <a:off x="548640" y="585216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85216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Grouped continuous data often give a bell-shaped normal distribution.</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Genes, environment, or both? Then continuous or discontinuous?</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Natural eye colour</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Being able to speak Chinese</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A dimpled chin</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Human height</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Blood group</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class survey and worksheet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13</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896112"/>
          </a:xfrm>
          <a:prstGeom prst="rect">
            <a:avLst/>
          </a:prstGeom>
          <a:noFill/>
          <a:ln/>
        </p:spPr>
        <p:txBody>
          <a:bodyPr wrap="square" lIns="0" tIns="0" rIns="0" bIns="0" rtlCol="0" anchor="t"/>
          <a:lstStyle/>
          <a:p>
            <a:pPr indent="0" marL="0">
              <a:buNone/>
            </a:pPr>
            <a:r>
              <a:rPr lang="en-US" sz="2000" dirty="0">
                <a:solidFill>
                  <a:srgbClr val="141B26"/>
                </a:solidFill>
              </a:rPr>
              <a:t>Class survey: hands up for tongue rolling (can or cannot) and ear lobes (attached or free). Record the totals in the Core tally table.</a:t>
            </a:r>
            <a:endParaRPr lang="en-US" sz="2000" dirty="0"/>
          </a:p>
        </p:txBody>
      </p:sp>
      <p:sp>
        <p:nvSpPr>
          <p:cNvPr id="10" name="Shape 8"/>
          <p:cNvSpPr/>
          <p:nvPr/>
        </p:nvSpPr>
        <p:spPr>
          <a:xfrm>
            <a:off x="548640" y="2313432"/>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13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67712"/>
            <a:ext cx="9418320" cy="896112"/>
          </a:xfrm>
          <a:prstGeom prst="rect">
            <a:avLst/>
          </a:prstGeom>
          <a:noFill/>
          <a:ln/>
        </p:spPr>
        <p:txBody>
          <a:bodyPr wrap="square" lIns="0" tIns="0" rIns="0" bIns="0" rtlCol="0" anchor="t"/>
          <a:lstStyle/>
          <a:p>
            <a:pPr indent="0" marL="0">
              <a:buNone/>
            </a:pPr>
            <a:r>
              <a:rPr lang="en-US" sz="2000" dirty="0">
                <a:solidFill>
                  <a:srgbClr val="141B26"/>
                </a:solidFill>
              </a:rPr>
              <a:t>In pairs, measure your hand span to the nearest 0.5 cm; the teacher collects the class list for the Stretch grid.</a:t>
            </a:r>
            <a:endParaRPr lang="en-US" sz="2000" dirty="0"/>
          </a:p>
        </p:txBody>
      </p:sp>
      <p:sp>
        <p:nvSpPr>
          <p:cNvPr id="13" name="Shape 11"/>
          <p:cNvSpPr/>
          <p:nvPr/>
        </p:nvSpPr>
        <p:spPr>
          <a:xfrm>
            <a:off x="548640" y="3209544"/>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09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163824"/>
            <a:ext cx="9418320" cy="896112"/>
          </a:xfrm>
          <a:prstGeom prst="rect">
            <a:avLst/>
          </a:prstGeom>
          <a:noFill/>
          <a:ln/>
        </p:spPr>
        <p:txBody>
          <a:bodyPr wrap="square" lIns="0" tIns="0" rIns="0" bIns="0" rtlCol="0" anchor="t"/>
          <a:lstStyle/>
          <a:p>
            <a:pPr indent="0" marL="0">
              <a:buNone/>
            </a:pPr>
            <a:r>
              <a:rPr lang="en-US" sz="2000" dirty="0">
                <a:solidFill>
                  <a:srgbClr val="141B26"/>
                </a:solidFill>
              </a:rPr>
              <a:t>Core: gap fill, the cause of each characteristic, the survey.</a:t>
            </a:r>
            <a:endParaRPr lang="en-US" sz="2000" dirty="0"/>
          </a:p>
        </p:txBody>
      </p:sp>
      <p:sp>
        <p:nvSpPr>
          <p:cNvPr id="16" name="Shape 14"/>
          <p:cNvSpPr/>
          <p:nvPr/>
        </p:nvSpPr>
        <p:spPr>
          <a:xfrm>
            <a:off x="548640" y="4105656"/>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059936"/>
            <a:ext cx="9418320" cy="896112"/>
          </a:xfrm>
          <a:prstGeom prst="rect">
            <a:avLst/>
          </a:prstGeom>
          <a:noFill/>
          <a:ln/>
        </p:spPr>
        <p:txBody>
          <a:bodyPr wrap="square" lIns="0" tIns="0" rIns="0" bIns="0" rtlCol="0" anchor="t"/>
          <a:lstStyle/>
          <a:p>
            <a:pPr indent="0" marL="0">
              <a:buNone/>
            </a:pPr>
            <a:r>
              <a:rPr lang="en-US" sz="2000" dirty="0">
                <a:solidFill>
                  <a:srgbClr val="141B26"/>
                </a:solidFill>
              </a:rPr>
              <a:t>Stretch: blood group bar chart; foot length and shoe size; why brothers and sisters differ.</a:t>
            </a:r>
            <a:endParaRPr lang="en-US" sz="2000" dirty="0"/>
          </a:p>
        </p:txBody>
      </p:sp>
      <p:sp>
        <p:nvSpPr>
          <p:cNvPr id="19" name="Shape 17"/>
          <p:cNvSpPr/>
          <p:nvPr/>
        </p:nvSpPr>
        <p:spPr>
          <a:xfrm>
            <a:off x="548640" y="5001768"/>
            <a:ext cx="457200" cy="457200"/>
          </a:xfrm>
          <a:prstGeom prst="ellipse">
            <a:avLst/>
          </a:prstGeom>
          <a:solidFill>
            <a:srgbClr val="7B3A8E"/>
          </a:solidFill>
          <a:ln w="12700">
            <a:solidFill>
              <a:srgbClr val="7B3A8E"/>
            </a:solidFill>
            <a:prstDash val="solid"/>
          </a:ln>
        </p:spPr>
      </p:sp>
      <p:sp>
        <p:nvSpPr>
          <p:cNvPr id="20" name="Text 18"/>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188720" y="4956048"/>
            <a:ext cx="9418320" cy="896112"/>
          </a:xfrm>
          <a:prstGeom prst="rect">
            <a:avLst/>
          </a:prstGeom>
          <a:noFill/>
          <a:ln/>
        </p:spPr>
        <p:txBody>
          <a:bodyPr wrap="square" lIns="0" tIns="0" rIns="0" bIns="0" rtlCol="0" anchor="t"/>
          <a:lstStyle/>
          <a:p>
            <a:pPr indent="0" marL="0">
              <a:buNone/>
            </a:pPr>
            <a:r>
              <a:rPr lang="en-US" sz="2000" dirty="0">
                <a:solidFill>
                  <a:srgbClr val="141B26"/>
                </a:solidFill>
              </a:rPr>
              <a:t>Challenge: tomatoes, and the height histogram.</a:t>
            </a:r>
            <a:endParaRPr lang="en-US" sz="2000" dirty="0"/>
          </a:p>
        </p:txBody>
      </p:sp>
      <p:sp>
        <p:nvSpPr>
          <p:cNvPr id="22" name="Text 20"/>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Use the key words. Chinese answers are fine for the reasons; use the English key words.</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Tall parents, short child?</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Two tall parents have a child who is shorter than both of them. Use the words genetic information, gametes and environment to explain how this can happen.</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The child inherited genetic information from ___, but each gamete carries ___.</a:t>
            </a:r>
            <a:endParaRPr lang="en-US" sz="1800" dirty="0"/>
          </a:p>
          <a:p>
            <a:pPr indent="0" marL="0">
              <a:spcAft>
                <a:spcPts val="600"/>
              </a:spcAft>
              <a:buNone/>
            </a:pPr>
            <a:r>
              <a:rPr lang="en-US" sz="1800" dirty="0">
                <a:solidFill>
                  <a:srgbClr val="141B26"/>
                </a:solidFill>
              </a:rPr>
              <a:t>Height is also affected by ___, for example ___.</a:t>
            </a:r>
            <a:endParaRPr lang="en-US" sz="1800" dirty="0"/>
          </a:p>
          <a:p>
            <a:pPr indent="0" marL="0">
              <a:spcAft>
                <a:spcPts val="600"/>
              </a:spcAft>
              <a:buNone/>
            </a:pPr>
            <a:r>
              <a:rPr lang="en-US" sz="1800" dirty="0">
                <a:solidFill>
                  <a:srgbClr val="141B26"/>
                </a:solidFill>
              </a:rPr>
              <a:t>So the child could be shorter because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Where in a cell is genetic information stored?</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Name the cell formed when two gametes fuse.</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Blood group: is it continuous or discontinuous, and inherited or environmental?</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3</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Offspring inherit a mixture of characteristics because two different gametes fuse at fertilisation.</a:t>
            </a:r>
            <a:endParaRPr lang="en-US" sz="2000" dirty="0"/>
          </a:p>
          <a:p>
            <a:pPr marL="342900" indent="-342900">
              <a:spcAft>
                <a:spcPts val="1200"/>
              </a:spcAft>
              <a:buSzPct val="100000"/>
              <a:buChar char="✓"/>
            </a:pPr>
            <a:r>
              <a:rPr lang="en-US" sz="2000" dirty="0">
                <a:solidFill>
                  <a:srgbClr val="141B26"/>
                </a:solidFill>
              </a:rPr>
              <a:t>Genetic information is stored in genes in the nucleus; the zygote has information from both parents.</a:t>
            </a:r>
            <a:endParaRPr lang="en-US" sz="2000" dirty="0"/>
          </a:p>
          <a:p>
            <a:pPr marL="342900" indent="-342900">
              <a:spcAft>
                <a:spcPts val="1200"/>
              </a:spcAft>
              <a:buSzPct val="100000"/>
              <a:buChar char="✓"/>
            </a:pPr>
            <a:r>
              <a:rPr lang="en-US" sz="2000" dirty="0">
                <a:solidFill>
                  <a:srgbClr val="141B26"/>
                </a:solidFill>
              </a:rPr>
              <a:t>Inherited variation can be discontinuous (blood group) or continuous (height, which the environment also affects).</a:t>
            </a:r>
            <a:endParaRPr lang="en-US" sz="2000" dirty="0"/>
          </a:p>
          <a:p>
            <a:pPr marL="342900" indent="-342900">
              <a:spcAft>
                <a:spcPts val="1200"/>
              </a:spcAft>
              <a:buSzPct val="100000"/>
              <a:buChar char="✓"/>
            </a:pPr>
            <a:r>
              <a:rPr lang="en-US" sz="2000" dirty="0">
                <a:solidFill>
                  <a:srgbClr val="141B26"/>
                </a:solidFill>
              </a:rPr>
              <a:t>Grouped continuous data give a bell shape: a normal distribution.</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400" b="1" dirty="0">
                <a:solidFill>
                  <a:srgbClr val="7B3A8E"/>
                </a:solidFill>
              </a:rPr>
              <a:t>Next lesson  </a:t>
            </a:r>
            <a:pPr indent="0" marL="0">
              <a:buNone/>
            </a:pPr>
            <a:r>
              <a:rPr lang="en-US" sz="1400" dirty="0">
                <a:solidFill>
                  <a:srgbClr val="141B26"/>
                </a:solidFill>
              </a:rPr>
              <a:t>Probability: how we use statistics and probability to describe variation and predict inherited conditions.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9A Lesson 2: Inherited variation</dc:title>
  <dc:subject>PptxGenJS Presentation</dc:subject>
  <dc:creator>Year 9 Science</dc:creator>
  <cp:lastModifiedBy>Year 9 Science</cp:lastModifiedBy>
  <cp:revision>1</cp:revision>
  <dcterms:created xsi:type="dcterms:W3CDTF">2026-10-28T09:44:38Z</dcterms:created>
  <dcterms:modified xsi:type="dcterms:W3CDTF">2026-10-28T09:44:38Z</dcterms:modified>
</cp:coreProperties>
</file>