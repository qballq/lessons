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Lst>
  <p:notesMasterIdLst>
    <p:notesMasterId r:id="rId15"/>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notesMaster" Target="notesMasters/notesMaster1.xml"/><Relationship Id="rId16" Type="http://schemas.openxmlformats.org/officeDocument/2006/relationships/presProps" Target="presProps.xml"/><Relationship Id="rId17" Type="http://schemas.openxmlformats.org/officeDocument/2006/relationships/viewProps" Target="viewProps.xml"/><Relationship Id="rId18" Type="http://schemas.openxmlformats.org/officeDocument/2006/relationships/theme" Target="theme/theme1.xml"/><Relationship Id="rId19"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lesson links adaptations (from genes) to environmental change. It prepares the ground for natural selection next lesson: here the question is why a species declines when it is no longer well adapted.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Light (and temperature) fell. Plants could not photosynthesise, so many died. Animals that ate plants starved, then the predators that ate them. Evidence: a 180 km wide crater near Mexico formed at this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the goals. Remind students that abiotic and biotic factors were Lesson 1's key words; today they are the causes of extinction.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Biotic: hunting is an activity of other organisms (people). Other human activities: clearing habitats for farms and towns, using poisons, bringing in new species that compete or carry disease, fishing too much.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Sand cats are camouflaged against sand. Ask: if the desert got greener, would the camouflage still work? This links to the gap fill at Core. Stress that an individual cannot choose to change its adaptations.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are inherited differences between the two species: the greys' genes give them more fat storage and the ability to digest unripe acorns. Competition and disease are both biotic factors.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Ask the Stretch question now: why might reds be better adapted to conifer forests than greys? Smaller, lighter animals can move on thin flexible branches and handle small seeds.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Svalbard vault in the Arctic holds over a million seed samples. Ask: why keep seeds cold? (They stay alive for decades without growing.) Why is a gene bank not enough on its own? (A species also needs a habitat to live 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Answers: in danger of becoming extinct; biotic; e.g. bushy tail for balance; they can digest unripe acorns so they eat them first; nature reserves, breeding programmes, hunting bans, gene banks.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sundew question (Stretch 3): warmer temperature means more evaporation, the bog dries, and a plant with tiny roots cannot get enough water. The Haast's eagle question is about losing its prey (a biotic factor).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Expected: the population falls because less sea ice means less time to hunt seals, so bears starve and have fewer cubs; the abiotic factor is temperature (and ice cover). Their adaptations (white fur, fat layer, hunting on ice) do not help when the ice is gone.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Answers: in danger of becoming extinct; e.g. competition from a new species, disease, hunting, habitat clearing; e.g. a gene bank stores seeds or gametes cold so the species can be grown again; a nature reserve protects the habitat; a breeding programme increases numbers in captivity.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Homework: Workbook pages 11 and 12 (9Ad).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image" Target="../media/image-1002-1.png"/><Relationship Id="rId2"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image" Target="../media/image-1003-1.png"/><Relationship Id="rId2"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image" Target="../media/image-1004-1.png"/><Relationship Id="rId2"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image" Target="../media/image-1005-1.png"/><Relationship Id="rId2"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p:bg>
      <p:bgPr>
        <a:solidFill>
          <a:srgbClr val="0F2A5F"/>
        </a:solidFill>
      </p:bgPr>
    </p:bg>
    <p:spTree>
      <p:nvGrpSpPr>
        <p:cNvPr id="1" name=""/>
        <p:cNvGrpSpPr/>
        <p:nvPr/>
      </p:nvGrpSpPr>
      <p:grpSpPr>
        <a:xfrm>
          <a:off x="0" y="0"/>
          <a:ext cx="0" cy="0"/>
          <a:chOff x="0" y="0"/>
          <a:chExt cx="0" cy="0"/>
        </a:xfrm>
      </p:grpSpPr>
      <p:pic>
        <p:nvPicPr>
          <p:cNvPr id="2" name="Image 0" descr="/home/user/lessons/design/assets/school_logo_horizontal_white.png">    </p:cNvPr>
          <p:cNvPicPr>
            <a:picLocks noChangeAspect="1"/>
          </p:cNvPicPr>
          <p:nvPr/>
        </p:nvPicPr>
        <p:blipFill>
          <a:blip r:embed="rId1"/>
          <a:stretch>
            <a:fillRect/>
          </a:stretch>
        </p:blipFill>
        <p:spPr>
          <a:xfrm>
            <a:off x="548640" y="5715000"/>
            <a:ext cx="2011680" cy="832104"/>
          </a:xfrm>
          <a:prstGeom prst="rect">
            <a:avLst/>
          </a:prstGeom>
        </p:spPr>
      </p:pic>
      <p:sp>
        <p:nvSpPr>
          <p:cNvPr id="3" name="Text 0"/>
          <p:cNvSpPr/>
          <p:nvPr>
            <p:ph idx="101" type="title" hasCustomPrompt="1"/>
          </p:nvPr>
        </p:nvSpPr>
        <p:spPr>
          <a:xfrm>
            <a:off x="548640" y="2103120"/>
            <a:ext cx="10515600" cy="1463040"/>
          </a:xfrm>
          <a:prstGeom prst="rect">
            <a:avLst/>
          </a:prstGeom>
          <a:noFill/>
          <a:ln/>
        </p:spPr>
        <p:txBody>
          <a:bodyPr wrap="square" rtlCol="0"/>
          <a:lstStyle>
            <a:lvl1pPr indent="0" marL="0">
              <a:buNone/>
              <a:defRPr lang="en-US" sz="4400" b="1" dirty="0">
                <a:solidFill>
                  <a:srgbClr val="FFFFFF"/>
                </a:solidFill>
              </a:defRPr>
            </a:lvl1pPr>
          </a:lstStyle>
          <a:p>
            <a:pPr indent="0" marL="0">
              <a:buNone/>
            </a:pPr>
            <a:endParaRPr lang="en-US" sz="4400" dirty="0"/>
          </a:p>
        </p:txBody>
      </p:sp>
      <p:sp>
        <p:nvSpPr>
          <p:cNvPr id="4" name="Text 0"/>
          <p:cNvSpPr/>
          <p:nvPr>
            <p:ph idx="102" type="body" hasCustomPrompt="1"/>
          </p:nvPr>
        </p:nvSpPr>
        <p:spPr>
          <a:xfrm>
            <a:off x="548640" y="3657600"/>
            <a:ext cx="10515600" cy="1097280"/>
          </a:xfrm>
          <a:prstGeom prst="rect">
            <a:avLst/>
          </a:prstGeom>
          <a:noFill/>
          <a:ln/>
        </p:spPr>
        <p:txBody>
          <a:bodyPr wrap="square" rtlCol="0"/>
          <a:lstStyle>
            <a:lvl1pPr indent="0" marL="0">
              <a:buNone/>
              <a:defRPr lang="en-US" sz="2400" dirty="0">
                <a:solidFill>
                  <a:srgbClr val="FFFFFF"/>
                </a:solidFill>
              </a:defRPr>
            </a:lvl1pPr>
          </a:lstStyle>
          <a:p>
            <a:pPr indent="0" marL="0">
              <a:buNone/>
            </a:pPr>
            <a:endParaRPr lang="en-US" sz="24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
    <p:bg>
      <p:bgPr>
        <a:solidFill>
          <a:srgbClr val="FFFFFF"/>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292608"/>
            <a:ext cx="9052560" cy="868680"/>
          </a:xfrm>
          <a:prstGeom prst="rect">
            <a:avLst/>
          </a:prstGeom>
          <a:noFill/>
          <a:ln/>
        </p:spPr>
        <p:txBody>
          <a:bodyPr wrap="square" rtlCol="0"/>
          <a:lstStyle>
            <a:lvl1pPr indent="0" marL="0">
              <a:buNone/>
              <a:defRPr lang="en-US" sz="3000" b="1" dirty="0">
                <a:solidFill>
                  <a:srgbClr val="0F2A5F"/>
                </a:solidFill>
              </a:defRPr>
            </a:lvl1pPr>
          </a:lstStyle>
          <a:p>
            <a:pPr indent="0" marL="0">
              <a:buNone/>
            </a:pPr>
            <a:endParaRPr lang="en-US" sz="3000" dirty="0"/>
          </a:p>
        </p:txBody>
      </p:sp>
      <p:sp>
        <p:nvSpPr>
          <p:cNvPr id="3" name="Text 0"/>
          <p:cNvSpPr/>
          <p:nvPr/>
        </p:nvSpPr>
        <p:spPr>
          <a:xfrm>
            <a:off x="548640" y="6419088"/>
            <a:ext cx="7772400" cy="274320"/>
          </a:xfrm>
          <a:prstGeom prst="rect">
            <a:avLst/>
          </a:prstGeom>
          <a:noFill/>
          <a:ln/>
        </p:spPr>
        <p:txBody>
          <a:bodyPr wrap="square" lIns="0" tIns="0" rIns="0" bIns="0" rtlCol="0" anchor="ctr"/>
          <a:lstStyle/>
          <a:p>
            <a:pPr indent="0" marL="0">
              <a:buNone/>
            </a:pPr>
            <a:r>
              <a:rPr lang="en-US" sz="1000" dirty="0">
                <a:solidFill>
                  <a:srgbClr val="5B6574"/>
                </a:solidFill>
              </a:rPr>
              <a:t>Year 9 Science  |  9A Genetics and evolution  |  Lesson 6: Genes, adaptation and extinction</a:t>
            </a:r>
            <a:endParaRPr lang="en-US" sz="1000" dirty="0"/>
          </a:p>
        </p:txBody>
      </p:sp>
      <p:pic>
        <p:nvPicPr>
          <p:cNvPr id="4" name="Image 0" descr="/home/user/lessons/design/assets/school_logo_horizontal_navy.png">    </p:cNvPr>
          <p:cNvPicPr>
            <a:picLocks noChangeAspect="1"/>
          </p:cNvPicPr>
          <p:nvPr/>
        </p:nvPicPr>
        <p:blipFill>
          <a:blip r:embed="rId1"/>
          <a:stretch>
            <a:fillRect/>
          </a:stretch>
        </p:blipFill>
        <p:spPr>
          <a:xfrm>
            <a:off x="10561320" y="6263640"/>
            <a:ext cx="1143000" cy="475488"/>
          </a:xfrm>
          <a:prstGeom prst="rect">
            <a:avLst/>
          </a:prstGeom>
        </p:spPr>
      </p:pic>
      <p:sp>
        <p:nvSpPr>
          <p:cNvPr id="25" name="Slide Number Placeholder 0"/>
          <p:cNvSpPr>
            <a:spLocks noGrp="1"/>
          </p:cNvSpPr>
          <p:nvPr>
            <p:ph type="sldNum" sz="quarter" idx="4294967295"/>
          </p:nvPr>
        </p:nvSpPr>
        <p:spPr>
          <a:xfrm>
            <a:off x="9738360" y="6419088"/>
            <a:ext cx="64008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5B6574"/>
                </a:solidFill>
              </a:defRPr>
            </a:lvl1pPr>
          </a:lstStyle>
          <a:p>
            <a:pPr algn="r"/>
            <a:fld id="{F7021451-1387-4CA6-816F-3879F97B5CBC}" type="slidenum">
              <a:rPr b="0" lang="en-US"/>
              <a:t>1003</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TINT">
    <p:bg>
      <p:bgPr>
        <a:solidFill>
          <a:srgbClr val="F1E5F4"/>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292608"/>
            <a:ext cx="9052560" cy="868680"/>
          </a:xfrm>
          <a:prstGeom prst="rect">
            <a:avLst/>
          </a:prstGeom>
          <a:noFill/>
          <a:ln/>
        </p:spPr>
        <p:txBody>
          <a:bodyPr wrap="square" rtlCol="0"/>
          <a:lstStyle>
            <a:lvl1pPr indent="0" marL="0">
              <a:buNone/>
              <a:defRPr lang="en-US" sz="3000" b="1" dirty="0">
                <a:solidFill>
                  <a:srgbClr val="0F2A5F"/>
                </a:solidFill>
              </a:defRPr>
            </a:lvl1pPr>
          </a:lstStyle>
          <a:p>
            <a:pPr indent="0" marL="0">
              <a:buNone/>
            </a:pPr>
            <a:endParaRPr lang="en-US" sz="3000" dirty="0"/>
          </a:p>
        </p:txBody>
      </p:sp>
      <p:sp>
        <p:nvSpPr>
          <p:cNvPr id="3" name="Text 0"/>
          <p:cNvSpPr/>
          <p:nvPr/>
        </p:nvSpPr>
        <p:spPr>
          <a:xfrm>
            <a:off x="548640" y="6419088"/>
            <a:ext cx="7772400" cy="274320"/>
          </a:xfrm>
          <a:prstGeom prst="rect">
            <a:avLst/>
          </a:prstGeom>
          <a:noFill/>
          <a:ln/>
        </p:spPr>
        <p:txBody>
          <a:bodyPr wrap="square" lIns="0" tIns="0" rIns="0" bIns="0" rtlCol="0" anchor="ctr"/>
          <a:lstStyle/>
          <a:p>
            <a:pPr indent="0" marL="0">
              <a:buNone/>
            </a:pPr>
            <a:r>
              <a:rPr lang="en-US" sz="1000" dirty="0">
                <a:solidFill>
                  <a:srgbClr val="5B6574"/>
                </a:solidFill>
              </a:rPr>
              <a:t>Year 9 Science  |  9A Genetics and evolution  |  Lesson 6: Genes, adaptation and extinction</a:t>
            </a:r>
            <a:endParaRPr lang="en-US" sz="1000" dirty="0"/>
          </a:p>
        </p:txBody>
      </p:sp>
      <p:pic>
        <p:nvPicPr>
          <p:cNvPr id="4" name="Image 0" descr="/home/user/lessons/design/assets/school_logo_horizontal_navy.png">    </p:cNvPr>
          <p:cNvPicPr>
            <a:picLocks noChangeAspect="1"/>
          </p:cNvPicPr>
          <p:nvPr/>
        </p:nvPicPr>
        <p:blipFill>
          <a:blip r:embed="rId1"/>
          <a:stretch>
            <a:fillRect/>
          </a:stretch>
        </p:blipFill>
        <p:spPr>
          <a:xfrm>
            <a:off x="10561320" y="6263640"/>
            <a:ext cx="1143000" cy="475488"/>
          </a:xfrm>
          <a:prstGeom prst="rect">
            <a:avLst/>
          </a:prstGeom>
        </p:spPr>
      </p:pic>
      <p:sp>
        <p:nvSpPr>
          <p:cNvPr id="25" name="Slide Number Placeholder 0"/>
          <p:cNvSpPr>
            <a:spLocks noGrp="1"/>
          </p:cNvSpPr>
          <p:nvPr>
            <p:ph type="sldNum" sz="quarter" idx="4294967295"/>
          </p:nvPr>
        </p:nvSpPr>
        <p:spPr>
          <a:xfrm>
            <a:off x="9738360" y="6419088"/>
            <a:ext cx="64008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5B6574"/>
                </a:solidFill>
              </a:defRPr>
            </a:lvl1pPr>
          </a:lstStyle>
          <a:p>
            <a:pPr algn="r"/>
            <a:fld id="{F7021451-1387-4CA6-816F-3879F97B5CBC}" type="slidenum">
              <a:rPr b="0" lang="en-US"/>
              <a:t>1004</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PAGE">
    <p:bg>
      <p:bgPr>
        <a:solidFill>
          <a:srgbClr val="EEF1F5"/>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292608"/>
            <a:ext cx="9052560" cy="868680"/>
          </a:xfrm>
          <a:prstGeom prst="rect">
            <a:avLst/>
          </a:prstGeom>
          <a:noFill/>
          <a:ln/>
        </p:spPr>
        <p:txBody>
          <a:bodyPr wrap="square" rtlCol="0"/>
          <a:lstStyle>
            <a:lvl1pPr indent="0" marL="0">
              <a:buNone/>
              <a:defRPr lang="en-US" sz="3000" b="1" dirty="0">
                <a:solidFill>
                  <a:srgbClr val="0F2A5F"/>
                </a:solidFill>
              </a:defRPr>
            </a:lvl1pPr>
          </a:lstStyle>
          <a:p>
            <a:pPr indent="0" marL="0">
              <a:buNone/>
            </a:pPr>
            <a:endParaRPr lang="en-US" sz="3000" dirty="0"/>
          </a:p>
        </p:txBody>
      </p:sp>
      <p:sp>
        <p:nvSpPr>
          <p:cNvPr id="3" name="Text 0"/>
          <p:cNvSpPr/>
          <p:nvPr/>
        </p:nvSpPr>
        <p:spPr>
          <a:xfrm>
            <a:off x="548640" y="6419088"/>
            <a:ext cx="7772400" cy="274320"/>
          </a:xfrm>
          <a:prstGeom prst="rect">
            <a:avLst/>
          </a:prstGeom>
          <a:noFill/>
          <a:ln/>
        </p:spPr>
        <p:txBody>
          <a:bodyPr wrap="square" lIns="0" tIns="0" rIns="0" bIns="0" rtlCol="0" anchor="ctr"/>
          <a:lstStyle/>
          <a:p>
            <a:pPr indent="0" marL="0">
              <a:buNone/>
            </a:pPr>
            <a:r>
              <a:rPr lang="en-US" sz="1000" dirty="0">
                <a:solidFill>
                  <a:srgbClr val="5B6574"/>
                </a:solidFill>
              </a:rPr>
              <a:t>Year 9 Science  |  9A Genetics and evolution  |  Lesson 6: Genes, adaptation and extinction</a:t>
            </a:r>
            <a:endParaRPr lang="en-US" sz="1000" dirty="0"/>
          </a:p>
        </p:txBody>
      </p:sp>
      <p:pic>
        <p:nvPicPr>
          <p:cNvPr id="4" name="Image 0" descr="/home/user/lessons/design/assets/school_logo_horizontal_navy.png">    </p:cNvPr>
          <p:cNvPicPr>
            <a:picLocks noChangeAspect="1"/>
          </p:cNvPicPr>
          <p:nvPr/>
        </p:nvPicPr>
        <p:blipFill>
          <a:blip r:embed="rId1"/>
          <a:stretch>
            <a:fillRect/>
          </a:stretch>
        </p:blipFill>
        <p:spPr>
          <a:xfrm>
            <a:off x="10561320" y="6263640"/>
            <a:ext cx="1143000" cy="475488"/>
          </a:xfrm>
          <a:prstGeom prst="rect">
            <a:avLst/>
          </a:prstGeom>
        </p:spPr>
      </p:pic>
      <p:sp>
        <p:nvSpPr>
          <p:cNvPr id="25" name="Slide Number Placeholder 0"/>
          <p:cNvSpPr>
            <a:spLocks noGrp="1"/>
          </p:cNvSpPr>
          <p:nvPr>
            <p:ph type="sldNum" sz="quarter" idx="4294967295"/>
          </p:nvPr>
        </p:nvSpPr>
        <p:spPr>
          <a:xfrm>
            <a:off x="9738360" y="6419088"/>
            <a:ext cx="64008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5B6574"/>
                </a:solidFill>
              </a:defRPr>
            </a:lvl1pPr>
          </a:lstStyle>
          <a:p>
            <a:pPr algn="r"/>
            <a:fld id="{F7021451-1387-4CA6-816F-3879F97B5CBC}" type="slidenum">
              <a:rPr b="0" lang="en-US"/>
              <a:t>1005</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SAFETY">
    <p:bg>
      <p:bgPr>
        <a:solidFill>
          <a:srgbClr val="F2CE3E"/>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292608"/>
            <a:ext cx="9052560" cy="868680"/>
          </a:xfrm>
          <a:prstGeom prst="rect">
            <a:avLst/>
          </a:prstGeom>
          <a:noFill/>
          <a:ln/>
        </p:spPr>
        <p:txBody>
          <a:bodyPr wrap="square" rtlCol="0"/>
          <a:lstStyle>
            <a:lvl1pPr indent="0" marL="0">
              <a:buNone/>
              <a:defRPr lang="en-US" sz="3400" b="1" dirty="0">
                <a:solidFill>
                  <a:srgbClr val="3A2E00"/>
                </a:solidFill>
              </a:defRPr>
            </a:lvl1pPr>
          </a:lstStyle>
          <a:p>
            <a:pPr indent="0" marL="0">
              <a:buNone/>
            </a:pPr>
            <a:endParaRPr lang="en-US" sz="3400" dirty="0"/>
          </a:p>
        </p:txBody>
      </p:sp>
      <p:sp>
        <p:nvSpPr>
          <p:cNvPr id="3" name="Text 0"/>
          <p:cNvSpPr/>
          <p:nvPr/>
        </p:nvSpPr>
        <p:spPr>
          <a:xfrm>
            <a:off x="548640" y="6419088"/>
            <a:ext cx="7772400" cy="274320"/>
          </a:xfrm>
          <a:prstGeom prst="rect">
            <a:avLst/>
          </a:prstGeom>
          <a:noFill/>
          <a:ln/>
        </p:spPr>
        <p:txBody>
          <a:bodyPr wrap="square" lIns="0" tIns="0" rIns="0" bIns="0" rtlCol="0" anchor="ctr"/>
          <a:lstStyle/>
          <a:p>
            <a:pPr indent="0" marL="0">
              <a:buNone/>
            </a:pPr>
            <a:r>
              <a:rPr lang="en-US" sz="900" dirty="0">
                <a:solidFill>
                  <a:srgbClr val="3A2E00"/>
                </a:solidFill>
              </a:rPr>
              <a:t>Year 9 Science  |  9A Genetics and evolution  |  Lesson 6: Genes, adaptation and extinction</a:t>
            </a:r>
            <a:endParaRPr lang="en-US" sz="9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9738360" y="6419088"/>
            <a:ext cx="64008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5B6574"/>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jpg"/><Relationship Id="rId2" Type="http://schemas.openxmlformats.org/officeDocument/2006/relationships/slideLayout" Target="../slideLayouts/slideLayout2.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jpg"/><Relationship Id="rId2" Type="http://schemas.openxmlformats.org/officeDocument/2006/relationships/slideLayout" Target="../slideLayouts/slideLayout3.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jpg"/><Relationship Id="rId2" Type="http://schemas.openxmlformats.org/officeDocument/2006/relationships/slideLayout" Target="../slideLayouts/slideLayout3.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jpg"/><Relationship Id="rId2" Type="http://schemas.openxmlformats.org/officeDocument/2006/relationships/slideLayout" Target="../slideLayouts/slideLayout3.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jpg"/><Relationship Id="rId2" Type="http://schemas.openxmlformats.org/officeDocument/2006/relationships/slideLayout" Target="../slideLayouts/slideLayout3.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jpg"/><Relationship Id="rId2" Type="http://schemas.openxmlformats.org/officeDocument/2006/relationships/slideLayout" Target="../slideLayouts/slideLayout4.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3.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txBox="1"/>
          <p:nvPr/>
        </p:nvSpPr>
        <p:spPr>
          <a:xfrm>
            <a:off x="548640" y="1371600"/>
            <a:ext cx="10515600" cy="457200"/>
          </a:xfrm>
          <a:prstGeom prst="rect">
            <a:avLst/>
          </a:prstGeom>
          <a:noFill/>
          <a:ln/>
        </p:spPr>
        <p:txBody>
          <a:bodyPr wrap="square" lIns="0" tIns="0" rIns="0" bIns="0" rtlCol="0" anchor="ctr"/>
          <a:lstStyle/>
          <a:p>
            <a:pPr indent="0" marL="0">
              <a:buNone/>
            </a:pPr>
            <a:r>
              <a:rPr lang="en-US" sz="1400" b="1" spc="200" kern="0" dirty="0">
                <a:solidFill>
                  <a:srgbClr val="F2CE3E"/>
                </a:solidFill>
              </a:rPr>
              <a:t>YEAR 9 SCIENCE  ·  9A GENETICS AND EVOLUTION  ·  LESSON 6 OF 7</a:t>
            </a:r>
            <a:endParaRPr lang="en-US" sz="1400" dirty="0"/>
          </a:p>
        </p:txBody>
      </p:sp>
      <p:sp>
        <p:nvSpPr>
          <p:cNvPr id="3" name="Text 0"/>
          <p:cNvSpPr/>
          <p:nvPr>
            <p:ph idx="101" type="title" hasCustomPrompt="1"/>
          </p:nvPr>
        </p:nvSpPr>
        <p:spPr>
          <a:xfrm>
            <a:off x="548640" y="2103120"/>
            <a:ext cx="10515600" cy="1463040"/>
          </a:xfrm>
          <a:prstGeom prst="rect">
            <a:avLst/>
          </a:prstGeom>
          <a:noFill/>
          <a:ln/>
        </p:spPr>
        <p:txBody>
          <a:bodyPr wrap="square" lIns="0" tIns="0" rIns="0" bIns="0" rtlCol="0" anchor="b"/>
          <a:lstStyle/>
          <a:p>
            <a:pPr indent="0" marL="0">
              <a:buNone/>
            </a:pPr>
            <a:r>
              <a:rPr lang="en-US" sz="4400" b="1" dirty="0">
                <a:solidFill>
                  <a:srgbClr val="FFFFFF"/>
                </a:solidFill>
              </a:rPr>
              <a:t>Genes, adaptation and extinction</a:t>
            </a:r>
            <a:endParaRPr lang="en-US" sz="4400" dirty="0"/>
          </a:p>
        </p:txBody>
      </p:sp>
      <p:sp>
        <p:nvSpPr>
          <p:cNvPr id="4" name="Text 0"/>
          <p:cNvSpPr/>
          <p:nvPr>
            <p:ph idx="102" type="body" hasCustomPrompt="1"/>
          </p:nvPr>
        </p:nvSpPr>
        <p:spPr>
          <a:xfrm>
            <a:off x="548640" y="3657600"/>
            <a:ext cx="10515600" cy="1097280"/>
          </a:xfrm>
          <a:prstGeom prst="rect">
            <a:avLst/>
          </a:prstGeom>
          <a:noFill/>
          <a:ln/>
        </p:spPr>
        <p:txBody>
          <a:bodyPr wrap="square" lIns="0" tIns="0" rIns="0" bIns="0" rtlCol="0" anchor="t"/>
          <a:lstStyle/>
          <a:p>
            <a:pPr indent="0" marL="0">
              <a:buNone/>
            </a:pPr>
            <a:r>
              <a:rPr lang="en-US" sz="2400" dirty="0">
                <a:solidFill>
                  <a:srgbClr val="FFFFFF"/>
                </a:solidFill>
              </a:rPr>
              <a:t>How can genetic information cause extinction?</a:t>
            </a:r>
            <a:endParaRPr lang="en-US" sz="2400" dirty="0"/>
          </a:p>
        </p:txBody>
      </p:sp>
      <p:sp>
        <p:nvSpPr>
          <p:cNvPr id="5" name="Text 3"/>
          <p:cNvSpPr txBox="1"/>
          <p:nvPr/>
        </p:nvSpPr>
        <p:spPr>
          <a:xfrm>
            <a:off x="548640" y="5074920"/>
            <a:ext cx="10515600" cy="365760"/>
          </a:xfrm>
          <a:prstGeom prst="rect">
            <a:avLst/>
          </a:prstGeom>
          <a:noFill/>
          <a:ln/>
        </p:spPr>
        <p:txBody>
          <a:bodyPr wrap="square" lIns="0" tIns="0" rIns="0" bIns="0" rtlCol="0" anchor="ctr"/>
          <a:lstStyle/>
          <a:p>
            <a:pPr indent="0" marL="0">
              <a:buNone/>
            </a:pPr>
            <a:r>
              <a:rPr lang="en-US" sz="1400" dirty="0">
                <a:solidFill>
                  <a:srgbClr val="C9D3E6"/>
                </a:solidFill>
              </a:rPr>
              <a:t>Exploring Science International 9  ·  Student Book pages 16 to 17  ·  Workbook pages 11 to 12</a:t>
            </a:r>
            <a:endParaRPr lang="en-US" sz="1400" dirty="0"/>
          </a:p>
        </p:txBody>
      </p:sp>
      <p:pic>
        <p:nvPicPr>
          <p:cNvPr id="6" name="Image 0" descr="/home/user/lessons/Y9_Exploring_Science/images/thylacine.jpg">    </p:cNvPr>
          <p:cNvPicPr>
            <a:picLocks noChangeAspect="1"/>
          </p:cNvPicPr>
          <p:nvPr/>
        </p:nvPicPr>
        <p:blipFill>
          <a:blip r:embed="rId1"/>
          <a:stretch>
            <a:fillRect/>
          </a:stretch>
        </p:blipFill>
        <p:spPr>
          <a:xfrm>
            <a:off x="8777750" y="4572000"/>
            <a:ext cx="2744180" cy="1828800"/>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title" hasCustomPrompt="1"/>
          </p:nvPr>
        </p:nvSpPr>
        <p:spPr>
          <a:xfrm>
            <a:off x="548640" y="292608"/>
            <a:ext cx="9052560" cy="868680"/>
          </a:xfrm>
          <a:prstGeom prst="rect">
            <a:avLst/>
          </a:prstGeom>
          <a:noFill/>
          <a:ln/>
        </p:spPr>
        <p:txBody>
          <a:bodyPr wrap="square" lIns="0" tIns="0" rIns="0" bIns="0" rtlCol="0" anchor="ctr"/>
          <a:lstStyle/>
          <a:p>
            <a:pPr indent="0" marL="0">
              <a:buNone/>
            </a:pPr>
            <a:r>
              <a:rPr lang="en-US" sz="3000" b="1" dirty="0">
                <a:solidFill>
                  <a:srgbClr val="0F2A5F"/>
                </a:solidFill>
              </a:rPr>
              <a:t>Do Now: the day the dinosaurs died</a:t>
            </a:r>
            <a:endParaRPr lang="en-US" sz="3000" dirty="0"/>
          </a:p>
        </p:txBody>
      </p:sp>
      <p:sp>
        <p:nvSpPr>
          <p:cNvPr id="3" name="Shape 1"/>
          <p:cNvSpPr/>
          <p:nvPr/>
        </p:nvSpPr>
        <p:spPr>
          <a:xfrm>
            <a:off x="10308031" y="411480"/>
            <a:ext cx="1335024" cy="384048"/>
          </a:xfrm>
          <a:prstGeom prst="roundRect">
            <a:avLst>
              <a:gd name="adj" fmla="val 50000"/>
            </a:avLst>
          </a:prstGeom>
          <a:solidFill>
            <a:srgbClr val="7B3A8E"/>
          </a:solidFill>
          <a:ln w="12700">
            <a:solidFill>
              <a:srgbClr val="7B3A8E"/>
            </a:solidFill>
            <a:prstDash val="solid"/>
          </a:ln>
        </p:spPr>
      </p:sp>
      <p:sp>
        <p:nvSpPr>
          <p:cNvPr id="4" name="Text 2"/>
          <p:cNvSpPr txBox="1"/>
          <p:nvPr/>
        </p:nvSpPr>
        <p:spPr>
          <a:xfrm>
            <a:off x="10308031" y="411480"/>
            <a:ext cx="1335024" cy="384048"/>
          </a:xfrm>
          <a:prstGeom prst="rect">
            <a:avLst/>
          </a:prstGeom>
          <a:noFill/>
          <a:ln/>
        </p:spPr>
        <p:txBody>
          <a:bodyPr wrap="square" lIns="0" tIns="0" rIns="0" bIns="0" rtlCol="0" anchor="ctr"/>
          <a:lstStyle/>
          <a:p>
            <a:pPr algn="ctr" indent="0" marL="0">
              <a:buNone/>
            </a:pPr>
            <a:r>
              <a:rPr lang="en-US" sz="1100" b="1" spc="100" kern="0" dirty="0">
                <a:solidFill>
                  <a:srgbClr val="FFFFFF"/>
                </a:solidFill>
              </a:rPr>
              <a:t>DO NOW</a:t>
            </a:r>
            <a:endParaRPr lang="en-US" sz="1100" dirty="0"/>
          </a:p>
        </p:txBody>
      </p:sp>
      <p:sp>
        <p:nvSpPr>
          <p:cNvPr id="5" name="Shape 3"/>
          <p:cNvSpPr/>
          <p:nvPr/>
        </p:nvSpPr>
        <p:spPr>
          <a:xfrm>
            <a:off x="10682935" y="914400"/>
            <a:ext cx="914400" cy="914400"/>
          </a:xfrm>
          <a:prstGeom prst="ellipse">
            <a:avLst/>
          </a:prstGeom>
          <a:solidFill>
            <a:srgbClr val="FFFFFF"/>
          </a:solidFill>
          <a:ln w="25400">
            <a:solidFill>
              <a:srgbClr val="7B3A8E"/>
            </a:solidFill>
            <a:prstDash val="solid"/>
          </a:ln>
        </p:spPr>
      </p:sp>
      <p:sp>
        <p:nvSpPr>
          <p:cNvPr id="6" name="Text 4"/>
          <p:cNvSpPr txBox="1"/>
          <p:nvPr/>
        </p:nvSpPr>
        <p:spPr>
          <a:xfrm>
            <a:off x="10682935" y="914400"/>
            <a:ext cx="914400" cy="914400"/>
          </a:xfrm>
          <a:prstGeom prst="rect">
            <a:avLst/>
          </a:prstGeom>
          <a:noFill/>
          <a:ln/>
        </p:spPr>
        <p:txBody>
          <a:bodyPr wrap="square" lIns="0" tIns="0" rIns="0" bIns="0" rtlCol="0" anchor="ctr"/>
          <a:lstStyle/>
          <a:p>
            <a:pPr algn="ctr" indent="0" marL="0">
              <a:buNone/>
            </a:pPr>
            <a:r>
              <a:rPr lang="en-US" sz="2200" b="1" dirty="0">
                <a:solidFill>
                  <a:srgbClr val="7B3A8E"/>
                </a:solidFill>
              </a:rPr>
              <a:t>4</a:t>
            </a:r>
            <a:endParaRPr lang="en-US" sz="2200" dirty="0"/>
          </a:p>
          <a:p>
            <a:pPr algn="ctr" indent="0" marL="0">
              <a:buNone/>
            </a:pPr>
            <a:r>
              <a:rPr lang="en-US" sz="1000" dirty="0">
                <a:solidFill>
                  <a:srgbClr val="5B6574"/>
                </a:solidFill>
              </a:rPr>
              <a:t>min</a:t>
            </a:r>
            <a:endParaRPr lang="en-US" sz="2200" dirty="0"/>
          </a:p>
        </p:txBody>
      </p:sp>
      <p:sp>
        <p:nvSpPr>
          <p:cNvPr id="7" name="Text 5"/>
          <p:cNvSpPr txBox="1"/>
          <p:nvPr/>
        </p:nvSpPr>
        <p:spPr>
          <a:xfrm>
            <a:off x="548640" y="1371600"/>
            <a:ext cx="9692640" cy="4480560"/>
          </a:xfrm>
          <a:prstGeom prst="rect">
            <a:avLst/>
          </a:prstGeom>
          <a:noFill/>
          <a:ln/>
        </p:spPr>
        <p:txBody>
          <a:bodyPr wrap="square" lIns="0" tIns="0" rIns="0" bIns="0" rtlCol="0" anchor="t"/>
          <a:lstStyle/>
          <a:p>
            <a:pPr indent="0" marL="0">
              <a:spcAft>
                <a:spcPts val="1200"/>
              </a:spcAft>
              <a:buNone/>
            </a:pPr>
            <a:r>
              <a:rPr lang="en-US" sz="2400" dirty="0">
                <a:solidFill>
                  <a:srgbClr val="141B26"/>
                </a:solidFill>
              </a:rPr>
              <a:t>About 65 million years ago a giant meteorite hit the Earth near Mexico, throwing up so much dust that it blocked out sunlight. 75% of species became extinct.</a:t>
            </a:r>
            <a:endParaRPr lang="en-US" sz="2400" dirty="0"/>
          </a:p>
          <a:p>
            <a:pPr indent="0" marL="0">
              <a:spcAft>
                <a:spcPts val="1200"/>
              </a:spcAft>
              <a:buNone/>
            </a:pPr>
            <a:r>
              <a:rPr lang="en-US" sz="2400" dirty="0">
                <a:solidFill>
                  <a:srgbClr val="141B26"/>
                </a:solidFill>
              </a:rPr>
              <a:t>1. State one physical environmental factor that the meteorite changed.</a:t>
            </a:r>
            <a:endParaRPr lang="en-US" sz="2400" dirty="0"/>
          </a:p>
          <a:p>
            <a:pPr indent="0" marL="0">
              <a:spcAft>
                <a:spcPts val="1200"/>
              </a:spcAft>
              <a:buNone/>
            </a:pPr>
            <a:r>
              <a:rPr lang="en-US" sz="2400" dirty="0">
                <a:solidFill>
                  <a:srgbClr val="141B26"/>
                </a:solidFill>
              </a:rPr>
              <a:t>2. Explain the effect this had on plants.</a:t>
            </a:r>
            <a:endParaRPr lang="en-US" sz="2400" dirty="0"/>
          </a:p>
          <a:p>
            <a:pPr indent="0" marL="0">
              <a:spcAft>
                <a:spcPts val="1200"/>
              </a:spcAft>
              <a:buNone/>
            </a:pPr>
            <a:r>
              <a:rPr lang="en-US" sz="2400" dirty="0">
                <a:solidFill>
                  <a:srgbClr val="141B26"/>
                </a:solidFill>
              </a:rPr>
              <a:t>3. Explain the effect this had on animals.</a:t>
            </a:r>
            <a:endParaRPr lang="en-US" sz="2400" dirty="0"/>
          </a:p>
        </p:txBody>
      </p:sp>
      <p:sp>
        <p:nvSpPr>
          <p:cNvPr id="25" name="Slide Number Placeholder 0"/>
          <p:cNvSpPr>
            <a:spLocks noGrp="1"/>
          </p:cNvSpPr>
          <p:nvPr>
            <p:ph type="sldNum" sz="quarter" idx="4294967295"/>
          </p:nvPr>
        </p:nvSpPr>
        <p:spPr>
          <a:xfrm>
            <a:off x="9738360" y="6419088"/>
            <a:ext cx="64008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5B6574"/>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title" hasCustomPrompt="1"/>
          </p:nvPr>
        </p:nvSpPr>
        <p:spPr>
          <a:xfrm>
            <a:off x="548640" y="292608"/>
            <a:ext cx="9052560" cy="868680"/>
          </a:xfrm>
          <a:prstGeom prst="rect">
            <a:avLst/>
          </a:prstGeom>
          <a:noFill/>
          <a:ln/>
        </p:spPr>
        <p:txBody>
          <a:bodyPr wrap="square" lIns="0" tIns="0" rIns="0" bIns="0" rtlCol="0" anchor="ctr"/>
          <a:lstStyle/>
          <a:p>
            <a:pPr indent="0" marL="0">
              <a:buNone/>
            </a:pPr>
            <a:r>
              <a:rPr lang="en-US" sz="3000" b="1" dirty="0">
                <a:solidFill>
                  <a:srgbClr val="0F2A5F"/>
                </a:solidFill>
              </a:rPr>
              <a:t>Today</a:t>
            </a:r>
            <a:endParaRPr lang="en-US" sz="3000" dirty="0"/>
          </a:p>
        </p:txBody>
      </p:sp>
      <p:sp>
        <p:nvSpPr>
          <p:cNvPr id="3" name="Shape 1"/>
          <p:cNvSpPr/>
          <p:nvPr/>
        </p:nvSpPr>
        <p:spPr>
          <a:xfrm>
            <a:off x="10454335" y="411480"/>
            <a:ext cx="1188720" cy="384048"/>
          </a:xfrm>
          <a:prstGeom prst="roundRect">
            <a:avLst>
              <a:gd name="adj" fmla="val 50000"/>
            </a:avLst>
          </a:prstGeom>
          <a:solidFill>
            <a:srgbClr val="7B3A8E"/>
          </a:solidFill>
          <a:ln w="12700">
            <a:solidFill>
              <a:srgbClr val="7B3A8E"/>
            </a:solidFill>
            <a:prstDash val="solid"/>
          </a:ln>
        </p:spPr>
      </p:sp>
      <p:sp>
        <p:nvSpPr>
          <p:cNvPr id="4" name="Text 2"/>
          <p:cNvSpPr txBox="1"/>
          <p:nvPr/>
        </p:nvSpPr>
        <p:spPr>
          <a:xfrm>
            <a:off x="10454335" y="411480"/>
            <a:ext cx="1188720" cy="384048"/>
          </a:xfrm>
          <a:prstGeom prst="rect">
            <a:avLst/>
          </a:prstGeom>
          <a:noFill/>
          <a:ln/>
        </p:spPr>
        <p:txBody>
          <a:bodyPr wrap="square" lIns="0" tIns="0" rIns="0" bIns="0" rtlCol="0" anchor="ctr"/>
          <a:lstStyle/>
          <a:p>
            <a:pPr algn="ctr" indent="0" marL="0">
              <a:buNone/>
            </a:pPr>
            <a:r>
              <a:rPr lang="en-US" sz="1100" b="1" spc="100" kern="0" dirty="0">
                <a:solidFill>
                  <a:srgbClr val="FFFFFF"/>
                </a:solidFill>
              </a:rPr>
              <a:t>TODAY</a:t>
            </a:r>
            <a:endParaRPr lang="en-US" sz="1100" dirty="0"/>
          </a:p>
        </p:txBody>
      </p:sp>
      <p:sp>
        <p:nvSpPr>
          <p:cNvPr id="5" name="Text 3"/>
          <p:cNvSpPr txBox="1"/>
          <p:nvPr/>
        </p:nvSpPr>
        <p:spPr>
          <a:xfrm>
            <a:off x="548640" y="1280160"/>
            <a:ext cx="5486400" cy="411480"/>
          </a:xfrm>
          <a:prstGeom prst="rect">
            <a:avLst/>
          </a:prstGeom>
          <a:noFill/>
          <a:ln/>
        </p:spPr>
        <p:txBody>
          <a:bodyPr wrap="square" lIns="0" tIns="0" rIns="0" bIns="0" rtlCol="0" anchor="ctr"/>
          <a:lstStyle/>
          <a:p>
            <a:pPr indent="0" marL="0">
              <a:buNone/>
            </a:pPr>
            <a:r>
              <a:rPr lang="en-US" sz="2200" b="1" dirty="0">
                <a:solidFill>
                  <a:srgbClr val="7B3A8E"/>
                </a:solidFill>
              </a:rPr>
              <a:t>Today I can ...</a:t>
            </a:r>
            <a:endParaRPr lang="en-US" sz="2200" dirty="0"/>
          </a:p>
        </p:txBody>
      </p:sp>
      <p:sp>
        <p:nvSpPr>
          <p:cNvPr id="6" name="Shape 4"/>
          <p:cNvSpPr/>
          <p:nvPr/>
        </p:nvSpPr>
        <p:spPr>
          <a:xfrm>
            <a:off x="594360" y="1810512"/>
            <a:ext cx="310896" cy="310896"/>
          </a:xfrm>
          <a:prstGeom prst="rect">
            <a:avLst/>
          </a:prstGeom>
          <a:solidFill>
            <a:srgbClr val="FFFFFF"/>
          </a:solidFill>
          <a:ln w="19050">
            <a:solidFill>
              <a:srgbClr val="0F2A5F"/>
            </a:solidFill>
            <a:prstDash val="solid"/>
          </a:ln>
        </p:spPr>
      </p:sp>
      <p:sp>
        <p:nvSpPr>
          <p:cNvPr id="7" name="Text 5"/>
          <p:cNvSpPr txBox="1"/>
          <p:nvPr/>
        </p:nvSpPr>
        <p:spPr>
          <a:xfrm>
            <a:off x="1097280" y="1737360"/>
            <a:ext cx="10332720" cy="868680"/>
          </a:xfrm>
          <a:prstGeom prst="rect">
            <a:avLst/>
          </a:prstGeom>
          <a:noFill/>
          <a:ln/>
        </p:spPr>
        <p:txBody>
          <a:bodyPr wrap="square" lIns="0" tIns="0" rIns="0" bIns="0" rtlCol="0" anchor="t"/>
          <a:lstStyle/>
          <a:p>
            <a:pPr indent="0" marL="0">
              <a:buNone/>
            </a:pPr>
            <a:r>
              <a:rPr lang="en-US" sz="2000" dirty="0">
                <a:solidFill>
                  <a:srgbClr val="141B26"/>
                </a:solidFill>
              </a:rPr>
              <a:t>I can explain how changes in abiotic and biotic factors can make a species endangered or extinct, using the idea of adaptations.</a:t>
            </a:r>
            <a:endParaRPr lang="en-US" sz="2000" dirty="0"/>
          </a:p>
        </p:txBody>
      </p:sp>
      <p:sp>
        <p:nvSpPr>
          <p:cNvPr id="8" name="Shape 6"/>
          <p:cNvSpPr/>
          <p:nvPr/>
        </p:nvSpPr>
        <p:spPr>
          <a:xfrm>
            <a:off x="594360" y="2679192"/>
            <a:ext cx="310896" cy="310896"/>
          </a:xfrm>
          <a:prstGeom prst="rect">
            <a:avLst/>
          </a:prstGeom>
          <a:solidFill>
            <a:srgbClr val="FFFFFF"/>
          </a:solidFill>
          <a:ln w="19050">
            <a:solidFill>
              <a:srgbClr val="0F2A5F"/>
            </a:solidFill>
            <a:prstDash val="solid"/>
          </a:ln>
        </p:spPr>
      </p:sp>
      <p:sp>
        <p:nvSpPr>
          <p:cNvPr id="9" name="Text 7"/>
          <p:cNvSpPr txBox="1"/>
          <p:nvPr/>
        </p:nvSpPr>
        <p:spPr>
          <a:xfrm>
            <a:off x="1097280" y="2606040"/>
            <a:ext cx="10332720" cy="868680"/>
          </a:xfrm>
          <a:prstGeom prst="rect">
            <a:avLst/>
          </a:prstGeom>
          <a:noFill/>
          <a:ln/>
        </p:spPr>
        <p:txBody>
          <a:bodyPr wrap="square" lIns="0" tIns="0" rIns="0" bIns="0" rtlCol="0" anchor="t"/>
          <a:lstStyle/>
          <a:p>
            <a:pPr indent="0" marL="0">
              <a:buNone/>
            </a:pPr>
            <a:r>
              <a:rPr lang="en-US" sz="2000" dirty="0">
                <a:solidFill>
                  <a:srgbClr val="141B26"/>
                </a:solidFill>
              </a:rPr>
              <a:t>I can describe ways of preserving biodiversity, including nature reserves, breeding programmes and gene banks.</a:t>
            </a:r>
            <a:endParaRPr lang="en-US" sz="2000" dirty="0"/>
          </a:p>
        </p:txBody>
      </p:sp>
      <p:sp>
        <p:nvSpPr>
          <p:cNvPr id="10" name="Text 8"/>
          <p:cNvSpPr txBox="1"/>
          <p:nvPr/>
        </p:nvSpPr>
        <p:spPr>
          <a:xfrm>
            <a:off x="548640" y="3611880"/>
            <a:ext cx="5486400" cy="411480"/>
          </a:xfrm>
          <a:prstGeom prst="rect">
            <a:avLst/>
          </a:prstGeom>
          <a:noFill/>
          <a:ln/>
        </p:spPr>
        <p:txBody>
          <a:bodyPr wrap="square" lIns="0" tIns="0" rIns="0" bIns="0" rtlCol="0" anchor="ctr"/>
          <a:lstStyle/>
          <a:p>
            <a:pPr indent="0" marL="0">
              <a:buNone/>
            </a:pPr>
            <a:r>
              <a:rPr lang="en-US" sz="2200" b="1" dirty="0">
                <a:solidFill>
                  <a:srgbClr val="7B3A8E"/>
                </a:solidFill>
              </a:rPr>
              <a:t>Key words today</a:t>
            </a:r>
            <a:endParaRPr lang="en-US" sz="2200" dirty="0"/>
          </a:p>
        </p:txBody>
      </p:sp>
      <p:sp>
        <p:nvSpPr>
          <p:cNvPr id="11" name="Text 9"/>
          <p:cNvSpPr txBox="1"/>
          <p:nvPr/>
        </p:nvSpPr>
        <p:spPr>
          <a:xfrm>
            <a:off x="548640" y="4069080"/>
            <a:ext cx="3515258" cy="1920240"/>
          </a:xfrm>
          <a:prstGeom prst="rect">
            <a:avLst/>
          </a:prstGeom>
          <a:noFill/>
          <a:ln/>
        </p:spPr>
        <p:txBody>
          <a:bodyPr wrap="square" lIns="0" tIns="0" rIns="0" bIns="0" rtlCol="0" anchor="t"/>
          <a:lstStyle/>
          <a:p>
            <a:pPr marL="304800" indent="-304800">
              <a:spcAft>
                <a:spcPts val="600"/>
              </a:spcAft>
              <a:buSzPct val="100000"/>
              <a:buChar char="•"/>
            </a:pPr>
            <a:r>
              <a:rPr lang="en-US" sz="2100" b="1" dirty="0">
                <a:solidFill>
                  <a:srgbClr val="0F2A5F"/>
                </a:solidFill>
              </a:rPr>
              <a:t>adaptation</a:t>
            </a:r>
            <a:endParaRPr lang="en-US" sz="2100" dirty="0"/>
          </a:p>
          <a:p>
            <a:pPr marL="304800" indent="-304800">
              <a:spcAft>
                <a:spcPts val="600"/>
              </a:spcAft>
              <a:buSzPct val="100000"/>
              <a:buChar char="•"/>
            </a:pPr>
            <a:r>
              <a:rPr lang="en-US" sz="2100" b="1" dirty="0">
                <a:solidFill>
                  <a:srgbClr val="0F2A5F"/>
                </a:solidFill>
              </a:rPr>
              <a:t>endangered</a:t>
            </a:r>
            <a:endParaRPr lang="en-US" sz="2100" dirty="0"/>
          </a:p>
          <a:p>
            <a:pPr marL="304800" indent="-304800">
              <a:spcAft>
                <a:spcPts val="600"/>
              </a:spcAft>
              <a:buSzPct val="100000"/>
              <a:buChar char="•"/>
            </a:pPr>
            <a:r>
              <a:rPr lang="en-US" sz="2100" b="1" dirty="0">
                <a:solidFill>
                  <a:srgbClr val="0F2A5F"/>
                </a:solidFill>
              </a:rPr>
              <a:t>extinct</a:t>
            </a:r>
            <a:endParaRPr lang="en-US" sz="2100" dirty="0"/>
          </a:p>
          <a:p>
            <a:pPr marL="304800" indent="-304800">
              <a:spcAft>
                <a:spcPts val="600"/>
              </a:spcAft>
              <a:buSzPct val="100000"/>
              <a:buChar char="•"/>
            </a:pPr>
            <a:r>
              <a:rPr lang="en-US" sz="2100" b="1" dirty="0">
                <a:solidFill>
                  <a:srgbClr val="0F2A5F"/>
                </a:solidFill>
              </a:rPr>
              <a:t>abiotic factor</a:t>
            </a:r>
            <a:endParaRPr lang="en-US" sz="2100" dirty="0"/>
          </a:p>
        </p:txBody>
      </p:sp>
      <p:sp>
        <p:nvSpPr>
          <p:cNvPr id="12" name="Text 10"/>
          <p:cNvSpPr txBox="1"/>
          <p:nvPr/>
        </p:nvSpPr>
        <p:spPr>
          <a:xfrm>
            <a:off x="4338218" y="4069080"/>
            <a:ext cx="3515258" cy="1920240"/>
          </a:xfrm>
          <a:prstGeom prst="rect">
            <a:avLst/>
          </a:prstGeom>
          <a:noFill/>
          <a:ln/>
        </p:spPr>
        <p:txBody>
          <a:bodyPr wrap="square" lIns="0" tIns="0" rIns="0" bIns="0" rtlCol="0" anchor="t"/>
          <a:lstStyle/>
          <a:p>
            <a:pPr marL="304800" indent="-304800">
              <a:spcAft>
                <a:spcPts val="600"/>
              </a:spcAft>
              <a:buSzPct val="100000"/>
              <a:buChar char="•"/>
            </a:pPr>
            <a:r>
              <a:rPr lang="en-US" sz="2100" b="1" dirty="0">
                <a:solidFill>
                  <a:srgbClr val="0F2A5F"/>
                </a:solidFill>
              </a:rPr>
              <a:t>biotic factor</a:t>
            </a:r>
            <a:endParaRPr lang="en-US" sz="2100" dirty="0"/>
          </a:p>
          <a:p>
            <a:pPr marL="304800" indent="-304800">
              <a:spcAft>
                <a:spcPts val="600"/>
              </a:spcAft>
              <a:buSzPct val="100000"/>
              <a:buChar char="•"/>
            </a:pPr>
            <a:r>
              <a:rPr lang="en-US" sz="2100" b="1" dirty="0">
                <a:solidFill>
                  <a:srgbClr val="0F2A5F"/>
                </a:solidFill>
              </a:rPr>
              <a:t>competition</a:t>
            </a:r>
            <a:endParaRPr lang="en-US" sz="2100" dirty="0"/>
          </a:p>
          <a:p>
            <a:pPr marL="304800" indent="-304800">
              <a:spcAft>
                <a:spcPts val="600"/>
              </a:spcAft>
              <a:buSzPct val="100000"/>
              <a:buChar char="•"/>
            </a:pPr>
            <a:r>
              <a:rPr lang="en-US" sz="2100" b="1" dirty="0">
                <a:solidFill>
                  <a:srgbClr val="0F2A5F"/>
                </a:solidFill>
              </a:rPr>
              <a:t>native species</a:t>
            </a:r>
            <a:endParaRPr lang="en-US" sz="2100" dirty="0"/>
          </a:p>
          <a:p>
            <a:pPr marL="304800" indent="-304800">
              <a:spcAft>
                <a:spcPts val="600"/>
              </a:spcAft>
              <a:buSzPct val="100000"/>
              <a:buChar char="•"/>
            </a:pPr>
            <a:r>
              <a:rPr lang="en-US" sz="2100" b="1" dirty="0">
                <a:solidFill>
                  <a:srgbClr val="0F2A5F"/>
                </a:solidFill>
              </a:rPr>
              <a:t>biodiversity</a:t>
            </a:r>
            <a:endParaRPr lang="en-US" sz="2100" dirty="0"/>
          </a:p>
        </p:txBody>
      </p:sp>
      <p:sp>
        <p:nvSpPr>
          <p:cNvPr id="13" name="Text 11"/>
          <p:cNvSpPr txBox="1"/>
          <p:nvPr/>
        </p:nvSpPr>
        <p:spPr>
          <a:xfrm>
            <a:off x="8127797" y="4069080"/>
            <a:ext cx="3515258" cy="1920240"/>
          </a:xfrm>
          <a:prstGeom prst="rect">
            <a:avLst/>
          </a:prstGeom>
          <a:noFill/>
          <a:ln/>
        </p:spPr>
        <p:txBody>
          <a:bodyPr wrap="square" lIns="0" tIns="0" rIns="0" bIns="0" rtlCol="0" anchor="t"/>
          <a:lstStyle/>
          <a:p>
            <a:pPr marL="304800" indent="-304800">
              <a:spcAft>
                <a:spcPts val="600"/>
              </a:spcAft>
              <a:buSzPct val="100000"/>
              <a:buChar char="•"/>
            </a:pPr>
            <a:r>
              <a:rPr lang="en-US" sz="2200" b="1" dirty="0">
                <a:solidFill>
                  <a:srgbClr val="0F2A5F"/>
                </a:solidFill>
              </a:rPr>
              <a:t>nature reserve</a:t>
            </a:r>
            <a:endParaRPr lang="en-US" sz="2200" dirty="0"/>
          </a:p>
          <a:p>
            <a:pPr marL="304800" indent="-304800">
              <a:spcAft>
                <a:spcPts val="600"/>
              </a:spcAft>
              <a:buSzPct val="100000"/>
              <a:buChar char="•"/>
            </a:pPr>
            <a:r>
              <a:rPr lang="en-US" sz="2200" b="1" dirty="0">
                <a:solidFill>
                  <a:srgbClr val="0F2A5F"/>
                </a:solidFill>
              </a:rPr>
              <a:t>breeding programme</a:t>
            </a:r>
            <a:endParaRPr lang="en-US" sz="2200" dirty="0"/>
          </a:p>
          <a:p>
            <a:pPr marL="304800" indent="-304800">
              <a:spcAft>
                <a:spcPts val="600"/>
              </a:spcAft>
              <a:buSzPct val="100000"/>
              <a:buChar char="•"/>
            </a:pPr>
            <a:r>
              <a:rPr lang="en-US" sz="2200" b="1" dirty="0">
                <a:solidFill>
                  <a:srgbClr val="0F2A5F"/>
                </a:solidFill>
              </a:rPr>
              <a:t>gene bank</a:t>
            </a:r>
            <a:endParaRPr lang="en-US" sz="2200" dirty="0"/>
          </a:p>
        </p:txBody>
      </p:sp>
      <p:sp>
        <p:nvSpPr>
          <p:cNvPr id="14" name="Text 12"/>
          <p:cNvSpPr txBox="1"/>
          <p:nvPr/>
        </p:nvSpPr>
        <p:spPr>
          <a:xfrm>
            <a:off x="548640" y="6035040"/>
            <a:ext cx="10881360" cy="320040"/>
          </a:xfrm>
          <a:prstGeom prst="rect">
            <a:avLst/>
          </a:prstGeom>
          <a:noFill/>
          <a:ln/>
        </p:spPr>
        <p:txBody>
          <a:bodyPr wrap="square" lIns="0" tIns="0" rIns="0" bIns="0" rtlCol="0" anchor="ctr"/>
          <a:lstStyle/>
          <a:p>
            <a:pPr indent="0" marL="0">
              <a:buNone/>
            </a:pPr>
            <a:r>
              <a:rPr lang="en-US" sz="1400" i="1" dirty="0">
                <a:solidFill>
                  <a:srgbClr val="5B6574"/>
                </a:solidFill>
              </a:rPr>
              <a:t>Meanings are in the key words box on your worksheet.</a:t>
            </a:r>
            <a:endParaRPr lang="en-US" sz="1400" dirty="0"/>
          </a:p>
        </p:txBody>
      </p:sp>
      <p:sp>
        <p:nvSpPr>
          <p:cNvPr id="25" name="Slide Number Placeholder 0"/>
          <p:cNvSpPr>
            <a:spLocks noGrp="1"/>
          </p:cNvSpPr>
          <p:nvPr>
            <p:ph type="sldNum" sz="quarter" idx="4294967295"/>
          </p:nvPr>
        </p:nvSpPr>
        <p:spPr>
          <a:xfrm>
            <a:off x="9738360" y="6419088"/>
            <a:ext cx="64008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5B6574"/>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title" hasCustomPrompt="1"/>
          </p:nvPr>
        </p:nvSpPr>
        <p:spPr>
          <a:xfrm>
            <a:off x="548640" y="292608"/>
            <a:ext cx="9052560" cy="868680"/>
          </a:xfrm>
          <a:prstGeom prst="rect">
            <a:avLst/>
          </a:prstGeom>
          <a:noFill/>
          <a:ln/>
        </p:spPr>
        <p:txBody>
          <a:bodyPr wrap="square" lIns="0" tIns="0" rIns="0" bIns="0" rtlCol="0" anchor="ctr"/>
          <a:lstStyle/>
          <a:p>
            <a:pPr indent="0" marL="0">
              <a:buNone/>
            </a:pPr>
            <a:r>
              <a:rPr lang="en-US" sz="3000" b="1" dirty="0">
                <a:solidFill>
                  <a:srgbClr val="0F2A5F"/>
                </a:solidFill>
              </a:rPr>
              <a:t>The last thylacine</a:t>
            </a:r>
            <a:endParaRPr lang="en-US" sz="3000" dirty="0"/>
          </a:p>
        </p:txBody>
      </p:sp>
      <p:sp>
        <p:nvSpPr>
          <p:cNvPr id="3" name="Shape 1"/>
          <p:cNvSpPr/>
          <p:nvPr/>
        </p:nvSpPr>
        <p:spPr>
          <a:xfrm>
            <a:off x="10454335" y="411480"/>
            <a:ext cx="1188720" cy="384048"/>
          </a:xfrm>
          <a:prstGeom prst="roundRect">
            <a:avLst>
              <a:gd name="adj" fmla="val 50000"/>
            </a:avLst>
          </a:prstGeom>
          <a:solidFill>
            <a:srgbClr val="7B3A8E"/>
          </a:solidFill>
          <a:ln w="12700">
            <a:solidFill>
              <a:srgbClr val="7B3A8E"/>
            </a:solidFill>
            <a:prstDash val="solid"/>
          </a:ln>
        </p:spPr>
      </p:sp>
      <p:sp>
        <p:nvSpPr>
          <p:cNvPr id="4" name="Text 2"/>
          <p:cNvSpPr txBox="1"/>
          <p:nvPr/>
        </p:nvSpPr>
        <p:spPr>
          <a:xfrm>
            <a:off x="10454335" y="411480"/>
            <a:ext cx="1188720" cy="384048"/>
          </a:xfrm>
          <a:prstGeom prst="rect">
            <a:avLst/>
          </a:prstGeom>
          <a:noFill/>
          <a:ln/>
        </p:spPr>
        <p:txBody>
          <a:bodyPr wrap="square" lIns="0" tIns="0" rIns="0" bIns="0" rtlCol="0" anchor="ctr"/>
          <a:lstStyle/>
          <a:p>
            <a:pPr algn="ctr" indent="0" marL="0">
              <a:buNone/>
            </a:pPr>
            <a:r>
              <a:rPr lang="en-US" sz="1100" b="1" spc="100" kern="0" dirty="0">
                <a:solidFill>
                  <a:srgbClr val="FFFFFF"/>
                </a:solidFill>
              </a:rPr>
              <a:t>HOOK</a:t>
            </a:r>
            <a:endParaRPr lang="en-US" sz="1100" dirty="0"/>
          </a:p>
        </p:txBody>
      </p:sp>
      <p:sp>
        <p:nvSpPr>
          <p:cNvPr id="5" name="Text 3"/>
          <p:cNvSpPr txBox="1"/>
          <p:nvPr/>
        </p:nvSpPr>
        <p:spPr>
          <a:xfrm>
            <a:off x="548640" y="1371600"/>
            <a:ext cx="5394960" cy="2651760"/>
          </a:xfrm>
          <a:prstGeom prst="rect">
            <a:avLst/>
          </a:prstGeom>
          <a:noFill/>
          <a:ln/>
        </p:spPr>
        <p:txBody>
          <a:bodyPr wrap="square" lIns="0" tIns="0" rIns="0" bIns="0" rtlCol="0" anchor="t"/>
          <a:lstStyle/>
          <a:p>
            <a:pPr indent="0" marL="0">
              <a:buNone/>
            </a:pPr>
            <a:r>
              <a:rPr lang="en-US" sz="2900" b="1" dirty="0">
                <a:solidFill>
                  <a:srgbClr val="0F2A5F"/>
                </a:solidFill>
              </a:rPr>
              <a:t>Thylacines were killed in Tasmania to protect sheep. The last one died in a zoo in 1936. Which environmental factor caused this extinction: abiotic or biotic?</a:t>
            </a:r>
            <a:endParaRPr lang="en-US" sz="2900" dirty="0"/>
          </a:p>
        </p:txBody>
      </p:sp>
      <p:sp>
        <p:nvSpPr>
          <p:cNvPr id="6" name="Text 4"/>
          <p:cNvSpPr txBox="1"/>
          <p:nvPr/>
        </p:nvSpPr>
        <p:spPr>
          <a:xfrm>
            <a:off x="548640" y="4114800"/>
            <a:ext cx="5394960" cy="1828800"/>
          </a:xfrm>
          <a:prstGeom prst="rect">
            <a:avLst/>
          </a:prstGeom>
          <a:noFill/>
          <a:ln/>
        </p:spPr>
        <p:txBody>
          <a:bodyPr wrap="square" lIns="0" tIns="0" rIns="0" bIns="0" rtlCol="0" anchor="t"/>
          <a:lstStyle/>
          <a:p>
            <a:pPr indent="0" marL="0">
              <a:spcAft>
                <a:spcPts val="800"/>
              </a:spcAft>
              <a:buNone/>
            </a:pPr>
            <a:r>
              <a:rPr lang="en-US" sz="2000" dirty="0">
                <a:solidFill>
                  <a:srgbClr val="141B26"/>
                </a:solidFill>
              </a:rPr>
              <a:t>Talk to a partner: name two other human activities that can make a species extinct.</a:t>
            </a:r>
            <a:endParaRPr lang="en-US" sz="2000" dirty="0"/>
          </a:p>
        </p:txBody>
      </p:sp>
      <p:pic>
        <p:nvPicPr>
          <p:cNvPr id="7" name="Image 0" descr="/home/user/lessons/Y9_Exploring_Science/images/thylacine.jpg">    </p:cNvPr>
          <p:cNvPicPr>
            <a:picLocks noChangeAspect="1"/>
          </p:cNvPicPr>
          <p:nvPr/>
        </p:nvPicPr>
        <p:blipFill>
          <a:blip r:embed="rId1"/>
          <a:stretch>
            <a:fillRect/>
          </a:stretch>
        </p:blipFill>
        <p:spPr>
          <a:xfrm>
            <a:off x="6309360" y="1616071"/>
            <a:ext cx="5303520" cy="3534417"/>
          </a:xfrm>
          <a:prstGeom prst="rect">
            <a:avLst/>
          </a:prstGeom>
        </p:spPr>
      </p:pic>
      <p:sp>
        <p:nvSpPr>
          <p:cNvPr id="8" name="Text 5"/>
          <p:cNvSpPr txBox="1"/>
          <p:nvPr/>
        </p:nvSpPr>
        <p:spPr>
          <a:xfrm>
            <a:off x="6309360" y="5196209"/>
            <a:ext cx="5303520" cy="548640"/>
          </a:xfrm>
          <a:prstGeom prst="rect">
            <a:avLst/>
          </a:prstGeom>
          <a:noFill/>
          <a:ln/>
        </p:spPr>
        <p:txBody>
          <a:bodyPr wrap="square" lIns="0" tIns="0" rIns="0" bIns="0" rtlCol="0" anchor="t"/>
          <a:lstStyle/>
          <a:p>
            <a:pPr algn="l" indent="0" marL="0">
              <a:buNone/>
            </a:pPr>
            <a:r>
              <a:rPr lang="en-US" sz="1300" dirty="0">
                <a:solidFill>
                  <a:srgbClr val="141B26"/>
                </a:solidFill>
              </a:rPr>
              <a:t>The skull of a thylacine, a species hunted to extinction (Museums Victoria)</a:t>
            </a:r>
            <a:pPr algn="l" indent="0" marL="0">
              <a:buNone/>
            </a:pPr>
            <a:endParaRPr lang="en-US" sz="1300" dirty="0"/>
          </a:p>
          <a:p>
            <a:pPr algn="l" indent="0" marL="0">
              <a:buNone/>
            </a:pPr>
            <a:r>
              <a:rPr lang="en-US" sz="900" dirty="0">
                <a:solidFill>
                  <a:srgbClr val="5B6574"/>
                </a:solidFill>
              </a:rPr>
              <a:t>Image: Photographer: Rodney Start, CC BY 4.0, via Wikimedia Commons</a:t>
            </a:r>
            <a:endParaRPr lang="en-US" sz="1300" dirty="0"/>
          </a:p>
        </p:txBody>
      </p:sp>
      <p:sp>
        <p:nvSpPr>
          <p:cNvPr id="25" name="Slide Number Placeholder 0"/>
          <p:cNvSpPr>
            <a:spLocks noGrp="1"/>
          </p:cNvSpPr>
          <p:nvPr>
            <p:ph type="sldNum" sz="quarter" idx="4294967295"/>
          </p:nvPr>
        </p:nvSpPr>
        <p:spPr>
          <a:xfrm>
            <a:off x="9738360" y="6419088"/>
            <a:ext cx="64008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5B6574"/>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title" hasCustomPrompt="1"/>
          </p:nvPr>
        </p:nvSpPr>
        <p:spPr>
          <a:xfrm>
            <a:off x="548640" y="292608"/>
            <a:ext cx="9052560" cy="868680"/>
          </a:xfrm>
          <a:prstGeom prst="rect">
            <a:avLst/>
          </a:prstGeom>
          <a:noFill/>
          <a:ln/>
        </p:spPr>
        <p:txBody>
          <a:bodyPr wrap="square" lIns="0" tIns="0" rIns="0" bIns="0" rtlCol="0" anchor="ctr"/>
          <a:lstStyle/>
          <a:p>
            <a:pPr indent="0" marL="0">
              <a:buNone/>
            </a:pPr>
            <a:r>
              <a:rPr lang="en-US" sz="3000" b="1" dirty="0">
                <a:solidFill>
                  <a:srgbClr val="0F2A5F"/>
                </a:solidFill>
              </a:rPr>
              <a:t>Adaptations, genes and change</a:t>
            </a:r>
            <a:endParaRPr lang="en-US" sz="3000" dirty="0"/>
          </a:p>
        </p:txBody>
      </p:sp>
      <p:sp>
        <p:nvSpPr>
          <p:cNvPr id="3" name="Shape 1"/>
          <p:cNvSpPr/>
          <p:nvPr/>
        </p:nvSpPr>
        <p:spPr>
          <a:xfrm>
            <a:off x="10454335" y="411480"/>
            <a:ext cx="1188720" cy="384048"/>
          </a:xfrm>
          <a:prstGeom prst="roundRect">
            <a:avLst>
              <a:gd name="adj" fmla="val 50000"/>
            </a:avLst>
          </a:prstGeom>
          <a:solidFill>
            <a:srgbClr val="7B3A8E"/>
          </a:solidFill>
          <a:ln w="12700">
            <a:solidFill>
              <a:srgbClr val="7B3A8E"/>
            </a:solidFill>
            <a:prstDash val="solid"/>
          </a:ln>
        </p:spPr>
      </p:sp>
      <p:sp>
        <p:nvSpPr>
          <p:cNvPr id="4" name="Text 2"/>
          <p:cNvSpPr txBox="1"/>
          <p:nvPr/>
        </p:nvSpPr>
        <p:spPr>
          <a:xfrm>
            <a:off x="10454335" y="411480"/>
            <a:ext cx="1188720" cy="384048"/>
          </a:xfrm>
          <a:prstGeom prst="rect">
            <a:avLst/>
          </a:prstGeom>
          <a:noFill/>
          <a:ln/>
        </p:spPr>
        <p:txBody>
          <a:bodyPr wrap="square" lIns="0" tIns="0" rIns="0" bIns="0" rtlCol="0" anchor="ctr"/>
          <a:lstStyle/>
          <a:p>
            <a:pPr algn="ctr" indent="0" marL="0">
              <a:buNone/>
            </a:pPr>
            <a:r>
              <a:rPr lang="en-US" sz="1100" b="1" spc="100" kern="0" dirty="0">
                <a:solidFill>
                  <a:srgbClr val="FFFFFF"/>
                </a:solidFill>
              </a:rPr>
              <a:t>LEARN</a:t>
            </a:r>
            <a:endParaRPr lang="en-US" sz="1100" dirty="0"/>
          </a:p>
        </p:txBody>
      </p:sp>
      <p:sp>
        <p:nvSpPr>
          <p:cNvPr id="5" name="Text 3"/>
          <p:cNvSpPr txBox="1"/>
          <p:nvPr/>
        </p:nvSpPr>
        <p:spPr>
          <a:xfrm>
            <a:off x="548640" y="6035040"/>
            <a:ext cx="9601200" cy="310896"/>
          </a:xfrm>
          <a:prstGeom prst="rect">
            <a:avLst/>
          </a:prstGeom>
          <a:noFill/>
          <a:ln/>
        </p:spPr>
        <p:txBody>
          <a:bodyPr wrap="square" lIns="0" tIns="0" rIns="0" bIns="0" rtlCol="0" anchor="ctr"/>
          <a:lstStyle/>
          <a:p>
            <a:pPr indent="0" marL="0">
              <a:buNone/>
            </a:pPr>
            <a:r>
              <a:rPr lang="en-US" sz="1400" b="1" dirty="0">
                <a:solidFill>
                  <a:srgbClr val="7B3A8E"/>
                </a:solidFill>
              </a:rPr>
              <a:t>Key words  </a:t>
            </a:r>
            <a:pPr indent="0" marL="0">
              <a:buNone/>
            </a:pPr>
            <a:r>
              <a:rPr lang="en-US" sz="1400" dirty="0">
                <a:solidFill>
                  <a:srgbClr val="7B3A8E"/>
                </a:solidFill>
              </a:rPr>
              <a:t>adaptation   ·   endangered   ·   extinct</a:t>
            </a:r>
            <a:endParaRPr lang="en-US" sz="1400" dirty="0"/>
          </a:p>
        </p:txBody>
      </p:sp>
      <p:sp>
        <p:nvSpPr>
          <p:cNvPr id="6" name="Text 4"/>
          <p:cNvSpPr txBox="1"/>
          <p:nvPr/>
        </p:nvSpPr>
        <p:spPr>
          <a:xfrm>
            <a:off x="548640" y="1325880"/>
            <a:ext cx="5760720" cy="4069080"/>
          </a:xfrm>
          <a:prstGeom prst="rect">
            <a:avLst/>
          </a:prstGeom>
          <a:noFill/>
          <a:ln/>
        </p:spPr>
        <p:txBody>
          <a:bodyPr wrap="square" lIns="0" tIns="0" rIns="0" bIns="0" rtlCol="0" anchor="t"/>
          <a:lstStyle/>
          <a:p>
            <a:pPr marL="304800" indent="-304800">
              <a:spcAft>
                <a:spcPts val="800"/>
              </a:spcAft>
              <a:buSzPct val="100000"/>
              <a:buChar char="•"/>
            </a:pPr>
            <a:r>
              <a:rPr lang="en-US" sz="2000" dirty="0">
                <a:solidFill>
                  <a:srgbClr val="141B26"/>
                </a:solidFill>
              </a:rPr>
              <a:t>The adaptations of an organism are due to its genes.</a:t>
            </a:r>
            <a:endParaRPr lang="en-US" sz="2000" dirty="0"/>
          </a:p>
          <a:p>
            <a:pPr marL="304800" indent="-304800">
              <a:spcAft>
                <a:spcPts val="800"/>
              </a:spcAft>
              <a:buSzPct val="100000"/>
              <a:buChar char="•"/>
            </a:pPr>
            <a:r>
              <a:rPr lang="en-US" sz="2000" dirty="0">
                <a:solidFill>
                  <a:srgbClr val="141B26"/>
                </a:solidFill>
              </a:rPr>
              <a:t>If the ecosystem changes, a species may no longer be well adapted to the new conditions.</a:t>
            </a:r>
            <a:endParaRPr lang="en-US" sz="2000" dirty="0"/>
          </a:p>
          <a:p>
            <a:pPr marL="304800" indent="-304800">
              <a:spcAft>
                <a:spcPts val="800"/>
              </a:spcAft>
              <a:buSzPct val="100000"/>
              <a:buChar char="•"/>
            </a:pPr>
            <a:r>
              <a:rPr lang="en-US" sz="2000" dirty="0">
                <a:solidFill>
                  <a:srgbClr val="141B26"/>
                </a:solidFill>
              </a:rPr>
              <a:t>Its numbers fall: it becomes endangered, and may become extinct.</a:t>
            </a:r>
            <a:endParaRPr lang="en-US" sz="2000" dirty="0"/>
          </a:p>
          <a:p>
            <a:pPr marL="304800" indent="-304800">
              <a:spcAft>
                <a:spcPts val="800"/>
              </a:spcAft>
              <a:buSzPct val="100000"/>
              <a:buChar char="•"/>
            </a:pPr>
            <a:r>
              <a:rPr lang="en-US" sz="2000" dirty="0">
                <a:solidFill>
                  <a:srgbClr val="141B26"/>
                </a:solidFill>
              </a:rPr>
              <a:t>Changes in abiotic factors: rainfall, temperature, light. Changes in biotic factors: competition, disease, human activities (hunting, clearing habitats, poisons).</a:t>
            </a:r>
            <a:endParaRPr lang="en-US" sz="2000" dirty="0"/>
          </a:p>
        </p:txBody>
      </p:sp>
      <p:pic>
        <p:nvPicPr>
          <p:cNvPr id="7" name="Image 0" descr="/home/user/lessons/Y9_Exploring_Science/images/sand_cat.jpg">    </p:cNvPr>
          <p:cNvPicPr>
            <a:picLocks noChangeAspect="1"/>
          </p:cNvPicPr>
          <p:nvPr/>
        </p:nvPicPr>
        <p:blipFill>
          <a:blip r:embed="rId1"/>
          <a:stretch>
            <a:fillRect/>
          </a:stretch>
        </p:blipFill>
        <p:spPr>
          <a:xfrm>
            <a:off x="6583680" y="1318781"/>
            <a:ext cx="5029200" cy="3580358"/>
          </a:xfrm>
          <a:prstGeom prst="rect">
            <a:avLst/>
          </a:prstGeom>
        </p:spPr>
      </p:pic>
      <p:sp>
        <p:nvSpPr>
          <p:cNvPr id="8" name="Text 5"/>
          <p:cNvSpPr txBox="1"/>
          <p:nvPr/>
        </p:nvSpPr>
        <p:spPr>
          <a:xfrm>
            <a:off x="6583680" y="4944859"/>
            <a:ext cx="5029200" cy="548640"/>
          </a:xfrm>
          <a:prstGeom prst="rect">
            <a:avLst/>
          </a:prstGeom>
          <a:noFill/>
          <a:ln/>
        </p:spPr>
        <p:txBody>
          <a:bodyPr wrap="square" lIns="0" tIns="0" rIns="0" bIns="0" rtlCol="0" anchor="t"/>
          <a:lstStyle/>
          <a:p>
            <a:pPr algn="l" indent="0" marL="0">
              <a:buNone/>
            </a:pPr>
            <a:r>
              <a:rPr lang="en-US" sz="1300" dirty="0">
                <a:solidFill>
                  <a:srgbClr val="141B26"/>
                </a:solidFill>
              </a:rPr>
              <a:t>A sand cat's fur matches the sand it hunts on</a:t>
            </a:r>
            <a:pPr algn="l" indent="0" marL="0">
              <a:buNone/>
            </a:pPr>
            <a:endParaRPr lang="en-US" sz="1300" dirty="0"/>
          </a:p>
          <a:p>
            <a:pPr algn="l" indent="0" marL="0">
              <a:buNone/>
            </a:pPr>
            <a:r>
              <a:rPr lang="en-US" sz="900" dirty="0">
                <a:solidFill>
                  <a:srgbClr val="5B6574"/>
                </a:solidFill>
              </a:rPr>
              <a:t>Image: charlieishere@btinternet.com, CC BY 2.0, via Wikimedia Commons</a:t>
            </a:r>
            <a:endParaRPr lang="en-US" sz="1300" dirty="0"/>
          </a:p>
        </p:txBody>
      </p:sp>
      <p:sp>
        <p:nvSpPr>
          <p:cNvPr id="9" name="Shape 6"/>
          <p:cNvSpPr/>
          <p:nvPr/>
        </p:nvSpPr>
        <p:spPr>
          <a:xfrm>
            <a:off x="548640" y="5532120"/>
            <a:ext cx="11094415" cy="566928"/>
          </a:xfrm>
          <a:prstGeom prst="rect">
            <a:avLst/>
          </a:prstGeom>
          <a:solidFill>
            <a:srgbClr val="F1E5F4"/>
          </a:solidFill>
          <a:ln w="12700">
            <a:solidFill>
              <a:srgbClr val="F1E5F4"/>
            </a:solidFill>
            <a:prstDash val="solid"/>
          </a:ln>
        </p:spPr>
      </p:sp>
      <p:sp>
        <p:nvSpPr>
          <p:cNvPr id="10" name="Text 7"/>
          <p:cNvSpPr txBox="1"/>
          <p:nvPr/>
        </p:nvSpPr>
        <p:spPr>
          <a:xfrm>
            <a:off x="685800" y="5532120"/>
            <a:ext cx="10820095" cy="566928"/>
          </a:xfrm>
          <a:prstGeom prst="rect">
            <a:avLst/>
          </a:prstGeom>
          <a:noFill/>
          <a:ln/>
        </p:spPr>
        <p:txBody>
          <a:bodyPr wrap="square" lIns="0" tIns="0" rIns="0" bIns="0" rtlCol="0" anchor="ctr"/>
          <a:lstStyle/>
          <a:p>
            <a:pPr indent="0" marL="0">
              <a:buNone/>
            </a:pPr>
            <a:r>
              <a:rPr lang="en-US" sz="1700" b="1" dirty="0">
                <a:solidFill>
                  <a:srgbClr val="7B3A8E"/>
                </a:solidFill>
              </a:rPr>
              <a:t>Key idea  </a:t>
            </a:r>
            <a:pPr indent="0" marL="0">
              <a:buNone/>
            </a:pPr>
            <a:r>
              <a:rPr lang="en-US" sz="1700" dirty="0">
                <a:solidFill>
                  <a:srgbClr val="141B26"/>
                </a:solidFill>
              </a:rPr>
              <a:t>A species cannot change its genes to fit a new environment; if it is no longer well adapted, it declines.</a:t>
            </a:r>
            <a:endParaRPr lang="en-US" sz="1700" dirty="0"/>
          </a:p>
        </p:txBody>
      </p:sp>
      <p:sp>
        <p:nvSpPr>
          <p:cNvPr id="25" name="Slide Number Placeholder 0"/>
          <p:cNvSpPr>
            <a:spLocks noGrp="1"/>
          </p:cNvSpPr>
          <p:nvPr>
            <p:ph type="sldNum" sz="quarter" idx="4294967295"/>
          </p:nvPr>
        </p:nvSpPr>
        <p:spPr>
          <a:xfrm>
            <a:off x="9738360" y="6419088"/>
            <a:ext cx="64008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5B6574"/>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title" hasCustomPrompt="1"/>
          </p:nvPr>
        </p:nvSpPr>
        <p:spPr>
          <a:xfrm>
            <a:off x="548640" y="292608"/>
            <a:ext cx="9052560" cy="868680"/>
          </a:xfrm>
          <a:prstGeom prst="rect">
            <a:avLst/>
          </a:prstGeom>
          <a:noFill/>
          <a:ln/>
        </p:spPr>
        <p:txBody>
          <a:bodyPr wrap="square" lIns="0" tIns="0" rIns="0" bIns="0" rtlCol="0" anchor="ctr"/>
          <a:lstStyle/>
          <a:p>
            <a:pPr indent="0" marL="0">
              <a:buNone/>
            </a:pPr>
            <a:r>
              <a:rPr lang="en-US" sz="3000" b="1" dirty="0">
                <a:solidFill>
                  <a:srgbClr val="0F2A5F"/>
                </a:solidFill>
              </a:rPr>
              <a:t>Grey squirrels and red squirrels</a:t>
            </a:r>
            <a:endParaRPr lang="en-US" sz="3000" dirty="0"/>
          </a:p>
        </p:txBody>
      </p:sp>
      <p:sp>
        <p:nvSpPr>
          <p:cNvPr id="3" name="Shape 1"/>
          <p:cNvSpPr/>
          <p:nvPr/>
        </p:nvSpPr>
        <p:spPr>
          <a:xfrm>
            <a:off x="10454335" y="411480"/>
            <a:ext cx="1188720" cy="384048"/>
          </a:xfrm>
          <a:prstGeom prst="roundRect">
            <a:avLst>
              <a:gd name="adj" fmla="val 50000"/>
            </a:avLst>
          </a:prstGeom>
          <a:solidFill>
            <a:srgbClr val="7B3A8E"/>
          </a:solidFill>
          <a:ln w="12700">
            <a:solidFill>
              <a:srgbClr val="7B3A8E"/>
            </a:solidFill>
            <a:prstDash val="solid"/>
          </a:ln>
        </p:spPr>
      </p:sp>
      <p:sp>
        <p:nvSpPr>
          <p:cNvPr id="4" name="Text 2"/>
          <p:cNvSpPr txBox="1"/>
          <p:nvPr/>
        </p:nvSpPr>
        <p:spPr>
          <a:xfrm>
            <a:off x="10454335" y="411480"/>
            <a:ext cx="1188720" cy="384048"/>
          </a:xfrm>
          <a:prstGeom prst="rect">
            <a:avLst/>
          </a:prstGeom>
          <a:noFill/>
          <a:ln/>
        </p:spPr>
        <p:txBody>
          <a:bodyPr wrap="square" lIns="0" tIns="0" rIns="0" bIns="0" rtlCol="0" anchor="ctr"/>
          <a:lstStyle/>
          <a:p>
            <a:pPr algn="ctr" indent="0" marL="0">
              <a:buNone/>
            </a:pPr>
            <a:r>
              <a:rPr lang="en-US" sz="1100" b="1" spc="100" kern="0" dirty="0">
                <a:solidFill>
                  <a:srgbClr val="FFFFFF"/>
                </a:solidFill>
              </a:rPr>
              <a:t>LEARN</a:t>
            </a:r>
            <a:endParaRPr lang="en-US" sz="1100" dirty="0"/>
          </a:p>
        </p:txBody>
      </p:sp>
      <p:sp>
        <p:nvSpPr>
          <p:cNvPr id="5" name="Text 3"/>
          <p:cNvSpPr txBox="1"/>
          <p:nvPr/>
        </p:nvSpPr>
        <p:spPr>
          <a:xfrm>
            <a:off x="548640" y="6035040"/>
            <a:ext cx="9601200" cy="310896"/>
          </a:xfrm>
          <a:prstGeom prst="rect">
            <a:avLst/>
          </a:prstGeom>
          <a:noFill/>
          <a:ln/>
        </p:spPr>
        <p:txBody>
          <a:bodyPr wrap="square" lIns="0" tIns="0" rIns="0" bIns="0" rtlCol="0" anchor="ctr"/>
          <a:lstStyle/>
          <a:p>
            <a:pPr indent="0" marL="0">
              <a:buNone/>
            </a:pPr>
            <a:r>
              <a:rPr lang="en-US" sz="1400" b="1" dirty="0">
                <a:solidFill>
                  <a:srgbClr val="7B3A8E"/>
                </a:solidFill>
              </a:rPr>
              <a:t>Key words  </a:t>
            </a:r>
            <a:pPr indent="0" marL="0">
              <a:buNone/>
            </a:pPr>
            <a:r>
              <a:rPr lang="en-US" sz="1400" dirty="0">
                <a:solidFill>
                  <a:srgbClr val="7B3A8E"/>
                </a:solidFill>
              </a:rPr>
              <a:t>competition   ·   native species   ·   biotic factor</a:t>
            </a:r>
            <a:endParaRPr lang="en-US" sz="1400" dirty="0"/>
          </a:p>
        </p:txBody>
      </p:sp>
      <p:sp>
        <p:nvSpPr>
          <p:cNvPr id="6" name="Text 4"/>
          <p:cNvSpPr txBox="1"/>
          <p:nvPr/>
        </p:nvSpPr>
        <p:spPr>
          <a:xfrm>
            <a:off x="548640" y="1325880"/>
            <a:ext cx="5760720" cy="4069080"/>
          </a:xfrm>
          <a:prstGeom prst="rect">
            <a:avLst/>
          </a:prstGeom>
          <a:noFill/>
          <a:ln/>
        </p:spPr>
        <p:txBody>
          <a:bodyPr wrap="square" lIns="0" tIns="0" rIns="0" bIns="0" rtlCol="0" anchor="t"/>
          <a:lstStyle/>
          <a:p>
            <a:pPr marL="304800" indent="-304800">
              <a:spcAft>
                <a:spcPts val="800"/>
              </a:spcAft>
              <a:buSzPct val="100000"/>
              <a:buChar char="•"/>
            </a:pPr>
            <a:r>
              <a:rPr lang="en-US" sz="2000" dirty="0">
                <a:solidFill>
                  <a:srgbClr val="141B26"/>
                </a:solidFill>
              </a:rPr>
              <a:t>Red squirrels are native to the UK. Greys were brought from the USA in the 1870s; now reds are rare.</a:t>
            </a:r>
            <a:endParaRPr lang="en-US" sz="2000" dirty="0"/>
          </a:p>
          <a:p>
            <a:pPr marL="304800" indent="-304800">
              <a:spcAft>
                <a:spcPts val="800"/>
              </a:spcAft>
              <a:buSzPct val="100000"/>
              <a:buChar char="•"/>
            </a:pPr>
            <a:r>
              <a:rPr lang="en-US" sz="2000" dirty="0">
                <a:solidFill>
                  <a:srgbClr val="141B26"/>
                </a:solidFill>
              </a:rPr>
              <a:t>Greys store more body fat, so more survive a long winter.</a:t>
            </a:r>
            <a:endParaRPr lang="en-US" sz="2000" dirty="0"/>
          </a:p>
          <a:p>
            <a:pPr marL="304800" indent="-304800">
              <a:spcAft>
                <a:spcPts val="800"/>
              </a:spcAft>
              <a:buSzPct val="100000"/>
              <a:buChar char="•"/>
            </a:pPr>
            <a:r>
              <a:rPr lang="en-US" sz="2000" dirty="0">
                <a:solidFill>
                  <a:srgbClr val="141B26"/>
                </a:solidFill>
              </a:rPr>
              <a:t>Greys can digest unripe acorns; reds cannot. Greys eat the acorns first, so reds get less food.</a:t>
            </a:r>
            <a:endParaRPr lang="en-US" sz="2000" dirty="0"/>
          </a:p>
          <a:p>
            <a:pPr marL="304800" indent="-304800">
              <a:spcAft>
                <a:spcPts val="800"/>
              </a:spcAft>
              <a:buSzPct val="100000"/>
              <a:buChar char="•"/>
            </a:pPr>
            <a:r>
              <a:rPr lang="en-US" sz="2000" dirty="0">
                <a:solidFill>
                  <a:srgbClr val="141B26"/>
                </a:solidFill>
              </a:rPr>
              <a:t>Greys carry squirrel pox, which does not harm greys but kills reds.</a:t>
            </a:r>
            <a:endParaRPr lang="en-US" sz="2000" dirty="0"/>
          </a:p>
        </p:txBody>
      </p:sp>
      <p:pic>
        <p:nvPicPr>
          <p:cNvPr id="7" name="Image 0" descr="/home/user/lessons/Y9_Exploring_Science/images/grey_squirrel.jpg">    </p:cNvPr>
          <p:cNvPicPr>
            <a:picLocks noChangeAspect="1"/>
          </p:cNvPicPr>
          <p:nvPr/>
        </p:nvPicPr>
        <p:blipFill>
          <a:blip r:embed="rId1"/>
          <a:stretch>
            <a:fillRect/>
          </a:stretch>
        </p:blipFill>
        <p:spPr>
          <a:xfrm>
            <a:off x="6583680" y="1429286"/>
            <a:ext cx="5029200" cy="3359348"/>
          </a:xfrm>
          <a:prstGeom prst="rect">
            <a:avLst/>
          </a:prstGeom>
        </p:spPr>
      </p:pic>
      <p:sp>
        <p:nvSpPr>
          <p:cNvPr id="8" name="Text 5"/>
          <p:cNvSpPr txBox="1"/>
          <p:nvPr/>
        </p:nvSpPr>
        <p:spPr>
          <a:xfrm>
            <a:off x="6583680" y="4834354"/>
            <a:ext cx="5029200" cy="548640"/>
          </a:xfrm>
          <a:prstGeom prst="rect">
            <a:avLst/>
          </a:prstGeom>
          <a:noFill/>
          <a:ln/>
        </p:spPr>
        <p:txBody>
          <a:bodyPr wrap="square" lIns="0" tIns="0" rIns="0" bIns="0" rtlCol="0" anchor="t"/>
          <a:lstStyle/>
          <a:p>
            <a:pPr algn="l" indent="0" marL="0">
              <a:buNone/>
            </a:pPr>
            <a:r>
              <a:rPr lang="en-US" sz="1300" dirty="0">
                <a:solidFill>
                  <a:srgbClr val="141B26"/>
                </a:solidFill>
              </a:rPr>
              <a:t>The grey squirrel was brought to the UK from the USA in the 1870s</a:t>
            </a:r>
            <a:pPr algn="l" indent="0" marL="0">
              <a:buNone/>
            </a:pPr>
            <a:endParaRPr lang="en-US" sz="1300" dirty="0"/>
          </a:p>
          <a:p>
            <a:pPr algn="l" indent="0" marL="0">
              <a:buNone/>
            </a:pPr>
            <a:r>
              <a:rPr lang="en-US" sz="900" dirty="0">
                <a:solidFill>
                  <a:srgbClr val="5B6574"/>
                </a:solidFill>
              </a:rPr>
              <a:t>Image: pete. #hwcp, CC BY 2.0, via Wikimedia Commons</a:t>
            </a:r>
            <a:endParaRPr lang="en-US" sz="1300" dirty="0"/>
          </a:p>
        </p:txBody>
      </p:sp>
      <p:sp>
        <p:nvSpPr>
          <p:cNvPr id="9" name="Shape 6"/>
          <p:cNvSpPr/>
          <p:nvPr/>
        </p:nvSpPr>
        <p:spPr>
          <a:xfrm>
            <a:off x="548640" y="5532120"/>
            <a:ext cx="11094415" cy="566928"/>
          </a:xfrm>
          <a:prstGeom prst="rect">
            <a:avLst/>
          </a:prstGeom>
          <a:solidFill>
            <a:srgbClr val="F1E5F4"/>
          </a:solidFill>
          <a:ln w="12700">
            <a:solidFill>
              <a:srgbClr val="F1E5F4"/>
            </a:solidFill>
            <a:prstDash val="solid"/>
          </a:ln>
        </p:spPr>
      </p:sp>
      <p:sp>
        <p:nvSpPr>
          <p:cNvPr id="10" name="Text 7"/>
          <p:cNvSpPr txBox="1"/>
          <p:nvPr/>
        </p:nvSpPr>
        <p:spPr>
          <a:xfrm>
            <a:off x="685800" y="5532120"/>
            <a:ext cx="10820095" cy="566928"/>
          </a:xfrm>
          <a:prstGeom prst="rect">
            <a:avLst/>
          </a:prstGeom>
          <a:noFill/>
          <a:ln/>
        </p:spPr>
        <p:txBody>
          <a:bodyPr wrap="square" lIns="0" tIns="0" rIns="0" bIns="0" rtlCol="0" anchor="ctr"/>
          <a:lstStyle/>
          <a:p>
            <a:pPr indent="0" marL="0">
              <a:buNone/>
            </a:pPr>
            <a:r>
              <a:rPr lang="en-US" sz="1700" b="1" dirty="0">
                <a:solidFill>
                  <a:srgbClr val="7B3A8E"/>
                </a:solidFill>
              </a:rPr>
              <a:t>Key idea  </a:t>
            </a:r>
            <a:pPr indent="0" marL="0">
              <a:buNone/>
            </a:pPr>
            <a:r>
              <a:rPr lang="en-US" sz="1700" dirty="0">
                <a:solidFill>
                  <a:srgbClr val="141B26"/>
                </a:solidFill>
              </a:rPr>
              <a:t>When food is limited, the better adapted competitor survives and reproduces more, and its population grows faster.</a:t>
            </a:r>
            <a:endParaRPr lang="en-US" sz="1700" dirty="0"/>
          </a:p>
        </p:txBody>
      </p:sp>
      <p:sp>
        <p:nvSpPr>
          <p:cNvPr id="25" name="Slide Number Placeholder 0"/>
          <p:cNvSpPr>
            <a:spLocks noGrp="1"/>
          </p:cNvSpPr>
          <p:nvPr>
            <p:ph type="sldNum" sz="quarter" idx="4294967295"/>
          </p:nvPr>
        </p:nvSpPr>
        <p:spPr>
          <a:xfrm>
            <a:off x="9738360" y="6419088"/>
            <a:ext cx="64008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5B6574"/>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title" hasCustomPrompt="1"/>
          </p:nvPr>
        </p:nvSpPr>
        <p:spPr>
          <a:xfrm>
            <a:off x="548640" y="292608"/>
            <a:ext cx="9052560" cy="868680"/>
          </a:xfrm>
          <a:prstGeom prst="rect">
            <a:avLst/>
          </a:prstGeom>
          <a:noFill/>
          <a:ln/>
        </p:spPr>
        <p:txBody>
          <a:bodyPr wrap="square" lIns="0" tIns="0" rIns="0" bIns="0" rtlCol="0" anchor="ctr"/>
          <a:lstStyle/>
          <a:p>
            <a:pPr indent="0" marL="0">
              <a:buNone/>
            </a:pPr>
            <a:r>
              <a:rPr lang="en-US" sz="3000" b="1" dirty="0">
                <a:solidFill>
                  <a:srgbClr val="0F2A5F"/>
                </a:solidFill>
              </a:rPr>
              <a:t>Two squirrels, many shared adaptations</a:t>
            </a:r>
            <a:endParaRPr lang="en-US" sz="3000" dirty="0"/>
          </a:p>
        </p:txBody>
      </p:sp>
      <p:sp>
        <p:nvSpPr>
          <p:cNvPr id="3" name="Shape 1"/>
          <p:cNvSpPr/>
          <p:nvPr/>
        </p:nvSpPr>
        <p:spPr>
          <a:xfrm>
            <a:off x="10454335" y="411480"/>
            <a:ext cx="1188720" cy="384048"/>
          </a:xfrm>
          <a:prstGeom prst="roundRect">
            <a:avLst>
              <a:gd name="adj" fmla="val 50000"/>
            </a:avLst>
          </a:prstGeom>
          <a:solidFill>
            <a:srgbClr val="7B3A8E"/>
          </a:solidFill>
          <a:ln w="12700">
            <a:solidFill>
              <a:srgbClr val="7B3A8E"/>
            </a:solidFill>
            <a:prstDash val="solid"/>
          </a:ln>
        </p:spPr>
      </p:sp>
      <p:sp>
        <p:nvSpPr>
          <p:cNvPr id="4" name="Text 2"/>
          <p:cNvSpPr txBox="1"/>
          <p:nvPr/>
        </p:nvSpPr>
        <p:spPr>
          <a:xfrm>
            <a:off x="10454335" y="411480"/>
            <a:ext cx="1188720" cy="384048"/>
          </a:xfrm>
          <a:prstGeom prst="rect">
            <a:avLst/>
          </a:prstGeom>
          <a:noFill/>
          <a:ln/>
        </p:spPr>
        <p:txBody>
          <a:bodyPr wrap="square" lIns="0" tIns="0" rIns="0" bIns="0" rtlCol="0" anchor="ctr"/>
          <a:lstStyle/>
          <a:p>
            <a:pPr algn="ctr" indent="0" marL="0">
              <a:buNone/>
            </a:pPr>
            <a:r>
              <a:rPr lang="en-US" sz="1100" b="1" spc="100" kern="0" dirty="0">
                <a:solidFill>
                  <a:srgbClr val="FFFFFF"/>
                </a:solidFill>
              </a:rPr>
              <a:t>LEARN</a:t>
            </a:r>
            <a:endParaRPr lang="en-US" sz="1100" dirty="0"/>
          </a:p>
        </p:txBody>
      </p:sp>
      <p:sp>
        <p:nvSpPr>
          <p:cNvPr id="5" name="Text 3"/>
          <p:cNvSpPr txBox="1"/>
          <p:nvPr/>
        </p:nvSpPr>
        <p:spPr>
          <a:xfrm>
            <a:off x="548640" y="6035040"/>
            <a:ext cx="9601200" cy="310896"/>
          </a:xfrm>
          <a:prstGeom prst="rect">
            <a:avLst/>
          </a:prstGeom>
          <a:noFill/>
          <a:ln/>
        </p:spPr>
        <p:txBody>
          <a:bodyPr wrap="square" lIns="0" tIns="0" rIns="0" bIns="0" rtlCol="0" anchor="ctr"/>
          <a:lstStyle/>
          <a:p>
            <a:pPr indent="0" marL="0">
              <a:buNone/>
            </a:pPr>
            <a:r>
              <a:rPr lang="en-US" sz="1400" b="1" dirty="0">
                <a:solidFill>
                  <a:srgbClr val="7B3A8E"/>
                </a:solidFill>
              </a:rPr>
              <a:t>Key words  </a:t>
            </a:r>
            <a:pPr indent="0" marL="0">
              <a:buNone/>
            </a:pPr>
            <a:r>
              <a:rPr lang="en-US" sz="1400" dirty="0">
                <a:solidFill>
                  <a:srgbClr val="7B3A8E"/>
                </a:solidFill>
              </a:rPr>
              <a:t>adaptation   ·   competition</a:t>
            </a:r>
            <a:endParaRPr lang="en-US" sz="1400" dirty="0"/>
          </a:p>
        </p:txBody>
      </p:sp>
      <p:sp>
        <p:nvSpPr>
          <p:cNvPr id="6" name="Shape 4"/>
          <p:cNvSpPr/>
          <p:nvPr/>
        </p:nvSpPr>
        <p:spPr>
          <a:xfrm>
            <a:off x="548640" y="1325880"/>
            <a:ext cx="5349240" cy="4023360"/>
          </a:xfrm>
          <a:prstGeom prst="roundRect">
            <a:avLst>
              <a:gd name="adj" fmla="val 2727"/>
            </a:avLst>
          </a:prstGeom>
          <a:solidFill>
            <a:srgbClr val="EEF1F5"/>
          </a:solidFill>
          <a:ln w="12700">
            <a:solidFill>
              <a:srgbClr val="D5DBE3"/>
            </a:solidFill>
            <a:prstDash val="solid"/>
          </a:ln>
        </p:spPr>
      </p:sp>
      <p:sp>
        <p:nvSpPr>
          <p:cNvPr id="7" name="Text 5"/>
          <p:cNvSpPr txBox="1"/>
          <p:nvPr/>
        </p:nvSpPr>
        <p:spPr>
          <a:xfrm>
            <a:off x="822960" y="1463040"/>
            <a:ext cx="4800600" cy="502920"/>
          </a:xfrm>
          <a:prstGeom prst="rect">
            <a:avLst/>
          </a:prstGeom>
          <a:noFill/>
          <a:ln/>
        </p:spPr>
        <p:txBody>
          <a:bodyPr wrap="square" lIns="0" tIns="0" rIns="0" bIns="0" rtlCol="0" anchor="ctr"/>
          <a:lstStyle/>
          <a:p>
            <a:pPr indent="0" marL="0">
              <a:buNone/>
            </a:pPr>
            <a:r>
              <a:rPr lang="en-US" sz="2200" b="1" dirty="0">
                <a:solidFill>
                  <a:srgbClr val="0F2A5F"/>
                </a:solidFill>
              </a:rPr>
              <a:t>Both species</a:t>
            </a:r>
            <a:endParaRPr lang="en-US" sz="2200" dirty="0"/>
          </a:p>
        </p:txBody>
      </p:sp>
      <p:sp>
        <p:nvSpPr>
          <p:cNvPr id="8" name="Text 6"/>
          <p:cNvSpPr txBox="1"/>
          <p:nvPr/>
        </p:nvSpPr>
        <p:spPr>
          <a:xfrm>
            <a:off x="822960" y="2011680"/>
            <a:ext cx="4800600" cy="3154680"/>
          </a:xfrm>
          <a:prstGeom prst="rect">
            <a:avLst/>
          </a:prstGeom>
          <a:noFill/>
          <a:ln/>
        </p:spPr>
        <p:txBody>
          <a:bodyPr wrap="square" lIns="0" tIns="0" rIns="0" bIns="0" rtlCol="0" anchor="t"/>
          <a:lstStyle/>
          <a:p>
            <a:pPr marL="304800" indent="-304800">
              <a:spcAft>
                <a:spcPts val="800"/>
              </a:spcAft>
              <a:buSzPct val="100000"/>
              <a:buChar char="•"/>
            </a:pPr>
            <a:r>
              <a:rPr lang="en-US" sz="1800" dirty="0">
                <a:solidFill>
                  <a:srgbClr val="141B26"/>
                </a:solidFill>
              </a:rPr>
              <a:t>Eyes on the side of the head: all-round vision to spot predators.</a:t>
            </a:r>
            <a:endParaRPr lang="en-US" sz="1800" dirty="0"/>
          </a:p>
          <a:p>
            <a:pPr marL="304800" indent="-304800">
              <a:spcAft>
                <a:spcPts val="800"/>
              </a:spcAft>
              <a:buSzPct val="100000"/>
              <a:buChar char="•"/>
            </a:pPr>
            <a:r>
              <a:rPr lang="en-US" sz="1800" dirty="0">
                <a:solidFill>
                  <a:srgbClr val="141B26"/>
                </a:solidFill>
              </a:rPr>
              <a:t>Long, bushy tail for balance.</a:t>
            </a:r>
            <a:endParaRPr lang="en-US" sz="1800" dirty="0"/>
          </a:p>
          <a:p>
            <a:pPr marL="304800" indent="-304800">
              <a:spcAft>
                <a:spcPts val="800"/>
              </a:spcAft>
              <a:buSzPct val="100000"/>
              <a:buChar char="•"/>
            </a:pPr>
            <a:r>
              <a:rPr lang="en-US" sz="1800" dirty="0">
                <a:solidFill>
                  <a:srgbClr val="141B26"/>
                </a:solidFill>
              </a:rPr>
              <a:t>Long, strong hind legs for leaping.</a:t>
            </a:r>
            <a:endParaRPr lang="en-US" sz="1800" dirty="0"/>
          </a:p>
          <a:p>
            <a:pPr marL="304800" indent="-304800">
              <a:spcAft>
                <a:spcPts val="800"/>
              </a:spcAft>
              <a:buSzPct val="100000"/>
              <a:buChar char="•"/>
            </a:pPr>
            <a:r>
              <a:rPr lang="en-US" sz="1800" dirty="0">
                <a:solidFill>
                  <a:srgbClr val="141B26"/>
                </a:solidFill>
              </a:rPr>
              <a:t>Sharp claws for gripping tree trunks.</a:t>
            </a:r>
            <a:endParaRPr lang="en-US" sz="1800" dirty="0"/>
          </a:p>
        </p:txBody>
      </p:sp>
      <p:sp>
        <p:nvSpPr>
          <p:cNvPr id="9" name="Shape 7"/>
          <p:cNvSpPr/>
          <p:nvPr/>
        </p:nvSpPr>
        <p:spPr>
          <a:xfrm>
            <a:off x="6263640" y="1325880"/>
            <a:ext cx="5349240" cy="4023360"/>
          </a:xfrm>
          <a:prstGeom prst="roundRect">
            <a:avLst>
              <a:gd name="adj" fmla="val 2727"/>
            </a:avLst>
          </a:prstGeom>
          <a:solidFill>
            <a:srgbClr val="F1E5F4"/>
          </a:solidFill>
          <a:ln w="12700">
            <a:solidFill>
              <a:srgbClr val="D5DBE3"/>
            </a:solidFill>
            <a:prstDash val="solid"/>
          </a:ln>
        </p:spPr>
      </p:sp>
      <p:sp>
        <p:nvSpPr>
          <p:cNvPr id="10" name="Text 8"/>
          <p:cNvSpPr txBox="1"/>
          <p:nvPr/>
        </p:nvSpPr>
        <p:spPr>
          <a:xfrm>
            <a:off x="6537960" y="1463040"/>
            <a:ext cx="4800600" cy="502920"/>
          </a:xfrm>
          <a:prstGeom prst="rect">
            <a:avLst/>
          </a:prstGeom>
          <a:noFill/>
          <a:ln/>
        </p:spPr>
        <p:txBody>
          <a:bodyPr wrap="square" lIns="0" tIns="0" rIns="0" bIns="0" rtlCol="0" anchor="ctr"/>
          <a:lstStyle/>
          <a:p>
            <a:pPr indent="0" marL="0">
              <a:buNone/>
            </a:pPr>
            <a:r>
              <a:rPr lang="en-US" sz="2200" b="1" dirty="0">
                <a:solidFill>
                  <a:srgbClr val="0F2A5F"/>
                </a:solidFill>
              </a:rPr>
              <a:t>Differences</a:t>
            </a:r>
            <a:endParaRPr lang="en-US" sz="2200" dirty="0"/>
          </a:p>
        </p:txBody>
      </p:sp>
      <p:sp>
        <p:nvSpPr>
          <p:cNvPr id="11" name="Text 9"/>
          <p:cNvSpPr txBox="1"/>
          <p:nvPr/>
        </p:nvSpPr>
        <p:spPr>
          <a:xfrm>
            <a:off x="6537960" y="2011680"/>
            <a:ext cx="4800600" cy="3154680"/>
          </a:xfrm>
          <a:prstGeom prst="rect">
            <a:avLst/>
          </a:prstGeom>
          <a:noFill/>
          <a:ln/>
        </p:spPr>
        <p:txBody>
          <a:bodyPr wrap="square" lIns="0" tIns="0" rIns="0" bIns="0" rtlCol="0" anchor="t"/>
          <a:lstStyle/>
          <a:p>
            <a:pPr marL="304800" indent="-304800">
              <a:spcAft>
                <a:spcPts val="800"/>
              </a:spcAft>
              <a:buSzPct val="100000"/>
              <a:buChar char="•"/>
            </a:pPr>
            <a:r>
              <a:rPr lang="en-US" sz="1800" dirty="0">
                <a:solidFill>
                  <a:srgbClr val="141B26"/>
                </a:solidFill>
              </a:rPr>
              <a:t>Greys are bigger and store more fat: better in long winters.</a:t>
            </a:r>
            <a:endParaRPr lang="en-US" sz="1800" dirty="0"/>
          </a:p>
          <a:p>
            <a:pPr marL="304800" indent="-304800">
              <a:spcAft>
                <a:spcPts val="800"/>
              </a:spcAft>
              <a:buSzPct val="100000"/>
              <a:buChar char="•"/>
            </a:pPr>
            <a:r>
              <a:rPr lang="en-US" sz="1800" dirty="0">
                <a:solidFill>
                  <a:srgbClr val="141B26"/>
                </a:solidFill>
              </a:rPr>
              <a:t>Greys digest unripe acorns: eat them before the reds.</a:t>
            </a:r>
            <a:endParaRPr lang="en-US" sz="1800" dirty="0"/>
          </a:p>
          <a:p>
            <a:pPr marL="304800" indent="-304800">
              <a:spcAft>
                <a:spcPts val="800"/>
              </a:spcAft>
              <a:buSzPct val="100000"/>
              <a:buChar char="•"/>
            </a:pPr>
            <a:r>
              <a:rPr lang="en-US" sz="1800" dirty="0">
                <a:solidFill>
                  <a:srgbClr val="141B26"/>
                </a:solidFill>
              </a:rPr>
              <a:t>Greys carry squirrel pox, which kills reds.</a:t>
            </a:r>
            <a:endParaRPr lang="en-US" sz="1800" dirty="0"/>
          </a:p>
          <a:p>
            <a:pPr marL="304800" indent="-304800">
              <a:spcAft>
                <a:spcPts val="800"/>
              </a:spcAft>
              <a:buSzPct val="100000"/>
              <a:buChar char="•"/>
            </a:pPr>
            <a:r>
              <a:rPr lang="en-US" sz="1800" dirty="0">
                <a:solidFill>
                  <a:srgbClr val="141B26"/>
                </a:solidFill>
              </a:rPr>
              <a:t>Reds are lighter: better on thin, flexible conifer branches, and eat small conifer seeds.</a:t>
            </a:r>
            <a:endParaRPr lang="en-US" sz="1800" dirty="0"/>
          </a:p>
        </p:txBody>
      </p:sp>
      <p:sp>
        <p:nvSpPr>
          <p:cNvPr id="12" name="Shape 10"/>
          <p:cNvSpPr/>
          <p:nvPr/>
        </p:nvSpPr>
        <p:spPr>
          <a:xfrm>
            <a:off x="548640" y="5532120"/>
            <a:ext cx="11094415" cy="566928"/>
          </a:xfrm>
          <a:prstGeom prst="rect">
            <a:avLst/>
          </a:prstGeom>
          <a:solidFill>
            <a:srgbClr val="F1E5F4"/>
          </a:solidFill>
          <a:ln w="12700">
            <a:solidFill>
              <a:srgbClr val="F1E5F4"/>
            </a:solidFill>
            <a:prstDash val="solid"/>
          </a:ln>
        </p:spPr>
      </p:sp>
      <p:sp>
        <p:nvSpPr>
          <p:cNvPr id="13" name="Text 11"/>
          <p:cNvSpPr txBox="1"/>
          <p:nvPr/>
        </p:nvSpPr>
        <p:spPr>
          <a:xfrm>
            <a:off x="685800" y="5532120"/>
            <a:ext cx="10820095" cy="566928"/>
          </a:xfrm>
          <a:prstGeom prst="rect">
            <a:avLst/>
          </a:prstGeom>
          <a:noFill/>
          <a:ln/>
        </p:spPr>
        <p:txBody>
          <a:bodyPr wrap="square" lIns="0" tIns="0" rIns="0" bIns="0" rtlCol="0" anchor="ctr"/>
          <a:lstStyle/>
          <a:p>
            <a:pPr indent="0" marL="0">
              <a:buNone/>
            </a:pPr>
            <a:r>
              <a:rPr lang="en-US" sz="1700" b="1" dirty="0">
                <a:solidFill>
                  <a:srgbClr val="7B3A8E"/>
                </a:solidFill>
              </a:rPr>
              <a:t>Key idea  </a:t>
            </a:r>
            <a:pPr indent="0" marL="0">
              <a:buNone/>
            </a:pPr>
            <a:r>
              <a:rPr lang="en-US" sz="1700" dirty="0">
                <a:solidFill>
                  <a:srgbClr val="141B26"/>
                </a:solidFill>
              </a:rPr>
              <a:t>Which species is 'better adapted' depends on the habitat: reds still do well in conifer forests.</a:t>
            </a:r>
            <a:endParaRPr lang="en-US" sz="1700" dirty="0"/>
          </a:p>
        </p:txBody>
      </p:sp>
      <p:sp>
        <p:nvSpPr>
          <p:cNvPr id="25" name="Slide Number Placeholder 0"/>
          <p:cNvSpPr>
            <a:spLocks noGrp="1"/>
          </p:cNvSpPr>
          <p:nvPr>
            <p:ph type="sldNum" sz="quarter" idx="4294967295"/>
          </p:nvPr>
        </p:nvSpPr>
        <p:spPr>
          <a:xfrm>
            <a:off x="9738360" y="6419088"/>
            <a:ext cx="64008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5B6574"/>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0" type="title" hasCustomPrompt="1"/>
          </p:nvPr>
        </p:nvSpPr>
        <p:spPr>
          <a:xfrm>
            <a:off x="548640" y="292608"/>
            <a:ext cx="9052560" cy="868680"/>
          </a:xfrm>
          <a:prstGeom prst="rect">
            <a:avLst/>
          </a:prstGeom>
          <a:noFill/>
          <a:ln/>
        </p:spPr>
        <p:txBody>
          <a:bodyPr wrap="square" lIns="0" tIns="0" rIns="0" bIns="0" rtlCol="0" anchor="ctr"/>
          <a:lstStyle/>
          <a:p>
            <a:pPr indent="0" marL="0">
              <a:buNone/>
            </a:pPr>
            <a:r>
              <a:rPr lang="en-US" sz="3000" b="1" dirty="0">
                <a:solidFill>
                  <a:srgbClr val="0F2A5F"/>
                </a:solidFill>
              </a:rPr>
              <a:t>Preserving biodiversity</a:t>
            </a:r>
            <a:endParaRPr lang="en-US" sz="3000" dirty="0"/>
          </a:p>
        </p:txBody>
      </p:sp>
      <p:sp>
        <p:nvSpPr>
          <p:cNvPr id="3" name="Shape 1"/>
          <p:cNvSpPr/>
          <p:nvPr/>
        </p:nvSpPr>
        <p:spPr>
          <a:xfrm>
            <a:off x="10454335" y="411480"/>
            <a:ext cx="1188720" cy="384048"/>
          </a:xfrm>
          <a:prstGeom prst="roundRect">
            <a:avLst>
              <a:gd name="adj" fmla="val 50000"/>
            </a:avLst>
          </a:prstGeom>
          <a:solidFill>
            <a:srgbClr val="7B3A8E"/>
          </a:solidFill>
          <a:ln w="12700">
            <a:solidFill>
              <a:srgbClr val="7B3A8E"/>
            </a:solidFill>
            <a:prstDash val="solid"/>
          </a:ln>
        </p:spPr>
      </p:sp>
      <p:sp>
        <p:nvSpPr>
          <p:cNvPr id="4" name="Text 2"/>
          <p:cNvSpPr txBox="1"/>
          <p:nvPr/>
        </p:nvSpPr>
        <p:spPr>
          <a:xfrm>
            <a:off x="10454335" y="411480"/>
            <a:ext cx="1188720" cy="384048"/>
          </a:xfrm>
          <a:prstGeom prst="rect">
            <a:avLst/>
          </a:prstGeom>
          <a:noFill/>
          <a:ln/>
        </p:spPr>
        <p:txBody>
          <a:bodyPr wrap="square" lIns="0" tIns="0" rIns="0" bIns="0" rtlCol="0" anchor="ctr"/>
          <a:lstStyle/>
          <a:p>
            <a:pPr algn="ctr" indent="0" marL="0">
              <a:buNone/>
            </a:pPr>
            <a:r>
              <a:rPr lang="en-US" sz="1100" b="1" spc="100" kern="0" dirty="0">
                <a:solidFill>
                  <a:srgbClr val="FFFFFF"/>
                </a:solidFill>
              </a:rPr>
              <a:t>LEARN</a:t>
            </a:r>
            <a:endParaRPr lang="en-US" sz="1100" dirty="0"/>
          </a:p>
        </p:txBody>
      </p:sp>
      <p:sp>
        <p:nvSpPr>
          <p:cNvPr id="5" name="Text 3"/>
          <p:cNvSpPr txBox="1"/>
          <p:nvPr/>
        </p:nvSpPr>
        <p:spPr>
          <a:xfrm>
            <a:off x="548640" y="6035040"/>
            <a:ext cx="9601200" cy="310896"/>
          </a:xfrm>
          <a:prstGeom prst="rect">
            <a:avLst/>
          </a:prstGeom>
          <a:noFill/>
          <a:ln/>
        </p:spPr>
        <p:txBody>
          <a:bodyPr wrap="square" lIns="0" tIns="0" rIns="0" bIns="0" rtlCol="0" anchor="ctr"/>
          <a:lstStyle/>
          <a:p>
            <a:pPr indent="0" marL="0">
              <a:buNone/>
            </a:pPr>
            <a:r>
              <a:rPr lang="en-US" sz="1400" b="1" dirty="0">
                <a:solidFill>
                  <a:srgbClr val="7B3A8E"/>
                </a:solidFill>
              </a:rPr>
              <a:t>Key words  </a:t>
            </a:r>
            <a:pPr indent="0" marL="0">
              <a:buNone/>
            </a:pPr>
            <a:r>
              <a:rPr lang="en-US" sz="1400" dirty="0">
                <a:solidFill>
                  <a:srgbClr val="7B3A8E"/>
                </a:solidFill>
              </a:rPr>
              <a:t>biodiversity   ·   nature reserve   ·   breeding programme   ·   gene bank</a:t>
            </a:r>
            <a:endParaRPr lang="en-US" sz="1400" dirty="0"/>
          </a:p>
        </p:txBody>
      </p:sp>
      <p:sp>
        <p:nvSpPr>
          <p:cNvPr id="6" name="Text 4"/>
          <p:cNvSpPr txBox="1"/>
          <p:nvPr/>
        </p:nvSpPr>
        <p:spPr>
          <a:xfrm>
            <a:off x="548640" y="1325880"/>
            <a:ext cx="5760720" cy="4069080"/>
          </a:xfrm>
          <a:prstGeom prst="rect">
            <a:avLst/>
          </a:prstGeom>
          <a:noFill/>
          <a:ln/>
        </p:spPr>
        <p:txBody>
          <a:bodyPr wrap="square" lIns="0" tIns="0" rIns="0" bIns="0" rtlCol="0" anchor="t"/>
          <a:lstStyle/>
          <a:p>
            <a:pPr marL="304800" indent="-304800">
              <a:spcAft>
                <a:spcPts val="800"/>
              </a:spcAft>
              <a:buSzPct val="100000"/>
              <a:buChar char="•"/>
            </a:pPr>
            <a:r>
              <a:rPr lang="en-US" sz="1900" dirty="0">
                <a:solidFill>
                  <a:srgbClr val="141B26"/>
                </a:solidFill>
              </a:rPr>
              <a:t>Biodiversity is the number of different species.</a:t>
            </a:r>
            <a:endParaRPr lang="en-US" sz="1900" dirty="0"/>
          </a:p>
          <a:p>
            <a:pPr marL="304800" indent="-304800">
              <a:spcAft>
                <a:spcPts val="800"/>
              </a:spcAft>
              <a:buSzPct val="100000"/>
              <a:buChar char="•"/>
            </a:pPr>
            <a:r>
              <a:rPr lang="en-US" sz="1900" dirty="0">
                <a:solidFill>
                  <a:srgbClr val="141B26"/>
                </a:solidFill>
              </a:rPr>
              <a:t>Extinctions upset ecosystems and food webs, and we lose species we could use (food, medicines).</a:t>
            </a:r>
            <a:endParaRPr lang="en-US" sz="1900" dirty="0"/>
          </a:p>
          <a:p>
            <a:pPr marL="304800" indent="-304800">
              <a:spcAft>
                <a:spcPts val="800"/>
              </a:spcAft>
              <a:buSzPct val="100000"/>
              <a:buChar char="•"/>
            </a:pPr>
            <a:r>
              <a:rPr lang="en-US" sz="1900" dirty="0">
                <a:solidFill>
                  <a:srgbClr val="141B26"/>
                </a:solidFill>
              </a:rPr>
              <a:t>Ways to preserve biodiversity: ban hunting of certain animals, set up nature reserves, run breeding programmes.</a:t>
            </a:r>
            <a:endParaRPr lang="en-US" sz="1900" dirty="0"/>
          </a:p>
          <a:p>
            <a:pPr marL="304800" indent="-304800">
              <a:spcAft>
                <a:spcPts val="800"/>
              </a:spcAft>
              <a:buSzPct val="100000"/>
              <a:buChar char="•"/>
            </a:pPr>
            <a:r>
              <a:rPr lang="en-US" sz="1900" dirty="0">
                <a:solidFill>
                  <a:srgbClr val="141B26"/>
                </a:solidFill>
              </a:rPr>
              <a:t>Gene banks store seeds, gametes or cells at low temperatures, so a species can be produced again if it becomes extinct in the wild.</a:t>
            </a:r>
            <a:endParaRPr lang="en-US" sz="1900" dirty="0"/>
          </a:p>
        </p:txBody>
      </p:sp>
      <p:pic>
        <p:nvPicPr>
          <p:cNvPr id="7" name="Image 0" descr="/home/user/lessons/Y9_Exploring_Science/images/seed_bank.jpg">    </p:cNvPr>
          <p:cNvPicPr>
            <a:picLocks noChangeAspect="1"/>
          </p:cNvPicPr>
          <p:nvPr/>
        </p:nvPicPr>
        <p:blipFill>
          <a:blip r:embed="rId1"/>
          <a:stretch>
            <a:fillRect/>
          </a:stretch>
        </p:blipFill>
        <p:spPr>
          <a:xfrm>
            <a:off x="6583680" y="1355616"/>
            <a:ext cx="5029200" cy="3506688"/>
          </a:xfrm>
          <a:prstGeom prst="rect">
            <a:avLst/>
          </a:prstGeom>
        </p:spPr>
      </p:pic>
      <p:sp>
        <p:nvSpPr>
          <p:cNvPr id="8" name="Text 5"/>
          <p:cNvSpPr txBox="1"/>
          <p:nvPr/>
        </p:nvSpPr>
        <p:spPr>
          <a:xfrm>
            <a:off x="6583680" y="4908024"/>
            <a:ext cx="5029200" cy="548640"/>
          </a:xfrm>
          <a:prstGeom prst="rect">
            <a:avLst/>
          </a:prstGeom>
          <a:noFill/>
          <a:ln/>
        </p:spPr>
        <p:txBody>
          <a:bodyPr wrap="square" lIns="0" tIns="0" rIns="0" bIns="0" rtlCol="0" anchor="t"/>
          <a:lstStyle/>
          <a:p>
            <a:pPr algn="l" indent="0" marL="0">
              <a:buNone/>
            </a:pPr>
            <a:r>
              <a:rPr lang="en-US" sz="1300" dirty="0">
                <a:solidFill>
                  <a:srgbClr val="141B26"/>
                </a:solidFill>
              </a:rPr>
              <a:t>The Svalbard Global Seed Vault stores seeds from around the world</a:t>
            </a:r>
            <a:pPr algn="l" indent="0" marL="0">
              <a:buNone/>
            </a:pPr>
            <a:endParaRPr lang="en-US" sz="1300" dirty="0"/>
          </a:p>
          <a:p>
            <a:pPr algn="l" indent="0" marL="0">
              <a:buNone/>
            </a:pPr>
            <a:r>
              <a:rPr lang="en-US" sz="900" dirty="0">
                <a:solidFill>
                  <a:srgbClr val="5B6574"/>
                </a:solidFill>
              </a:rPr>
              <a:t>Image: the tinz, CC BY 2.0, via Wikimedia Commons</a:t>
            </a:r>
            <a:endParaRPr lang="en-US" sz="1300" dirty="0"/>
          </a:p>
        </p:txBody>
      </p:sp>
      <p:sp>
        <p:nvSpPr>
          <p:cNvPr id="9" name="Shape 6"/>
          <p:cNvSpPr/>
          <p:nvPr/>
        </p:nvSpPr>
        <p:spPr>
          <a:xfrm>
            <a:off x="548640" y="5532120"/>
            <a:ext cx="11094415" cy="566928"/>
          </a:xfrm>
          <a:prstGeom prst="rect">
            <a:avLst/>
          </a:prstGeom>
          <a:solidFill>
            <a:srgbClr val="F1E5F4"/>
          </a:solidFill>
          <a:ln w="12700">
            <a:solidFill>
              <a:srgbClr val="F1E5F4"/>
            </a:solidFill>
            <a:prstDash val="solid"/>
          </a:ln>
        </p:spPr>
      </p:sp>
      <p:sp>
        <p:nvSpPr>
          <p:cNvPr id="10" name="Text 7"/>
          <p:cNvSpPr txBox="1"/>
          <p:nvPr/>
        </p:nvSpPr>
        <p:spPr>
          <a:xfrm>
            <a:off x="685800" y="5532120"/>
            <a:ext cx="10820095" cy="566928"/>
          </a:xfrm>
          <a:prstGeom prst="rect">
            <a:avLst/>
          </a:prstGeom>
          <a:noFill/>
          <a:ln/>
        </p:spPr>
        <p:txBody>
          <a:bodyPr wrap="square" lIns="0" tIns="0" rIns="0" bIns="0" rtlCol="0" anchor="ctr"/>
          <a:lstStyle/>
          <a:p>
            <a:pPr indent="0" marL="0">
              <a:buNone/>
            </a:pPr>
            <a:r>
              <a:rPr lang="en-US" sz="1700" b="1" dirty="0">
                <a:solidFill>
                  <a:srgbClr val="7B3A8E"/>
                </a:solidFill>
              </a:rPr>
              <a:t>Key idea  </a:t>
            </a:r>
            <a:pPr indent="0" marL="0">
              <a:buNone/>
            </a:pPr>
            <a:r>
              <a:rPr lang="en-US" sz="1700" dirty="0">
                <a:solidFill>
                  <a:srgbClr val="141B26"/>
                </a:solidFill>
              </a:rPr>
              <a:t>Protect the habitat, protect the animals, and keep a frozen back-up of the genes.</a:t>
            </a:r>
            <a:endParaRPr lang="en-US" sz="1700" dirty="0"/>
          </a:p>
        </p:txBody>
      </p:sp>
      <p:sp>
        <p:nvSpPr>
          <p:cNvPr id="25" name="Slide Number Placeholder 0"/>
          <p:cNvSpPr>
            <a:spLocks noGrp="1"/>
          </p:cNvSpPr>
          <p:nvPr>
            <p:ph type="sldNum" sz="quarter" idx="4294967295"/>
          </p:nvPr>
        </p:nvSpPr>
        <p:spPr>
          <a:xfrm>
            <a:off x="9738360" y="6419088"/>
            <a:ext cx="64008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5B6574"/>
                </a:solidFil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0" type="title" hasCustomPrompt="1"/>
          </p:nvPr>
        </p:nvSpPr>
        <p:spPr>
          <a:xfrm>
            <a:off x="548640" y="292608"/>
            <a:ext cx="9052560" cy="868680"/>
          </a:xfrm>
          <a:prstGeom prst="rect">
            <a:avLst/>
          </a:prstGeom>
          <a:noFill/>
          <a:ln/>
        </p:spPr>
        <p:txBody>
          <a:bodyPr wrap="square" lIns="0" tIns="0" rIns="0" bIns="0" rtlCol="0" anchor="ctr"/>
          <a:lstStyle/>
          <a:p>
            <a:pPr indent="0" marL="0">
              <a:buNone/>
            </a:pPr>
            <a:r>
              <a:rPr lang="en-US" sz="3000" b="1" dirty="0">
                <a:solidFill>
                  <a:srgbClr val="0F2A5F"/>
                </a:solidFill>
              </a:rPr>
              <a:t>Quick check</a:t>
            </a:r>
            <a:endParaRPr lang="en-US" sz="3000" dirty="0"/>
          </a:p>
        </p:txBody>
      </p:sp>
      <p:sp>
        <p:nvSpPr>
          <p:cNvPr id="3" name="Shape 1"/>
          <p:cNvSpPr/>
          <p:nvPr/>
        </p:nvSpPr>
        <p:spPr>
          <a:xfrm>
            <a:off x="10454335" y="411480"/>
            <a:ext cx="1188720" cy="384048"/>
          </a:xfrm>
          <a:prstGeom prst="roundRect">
            <a:avLst>
              <a:gd name="adj" fmla="val 50000"/>
            </a:avLst>
          </a:prstGeom>
          <a:solidFill>
            <a:srgbClr val="7B3A8E"/>
          </a:solidFill>
          <a:ln w="12700">
            <a:solidFill>
              <a:srgbClr val="7B3A8E"/>
            </a:solidFill>
            <a:prstDash val="solid"/>
          </a:ln>
        </p:spPr>
      </p:sp>
      <p:sp>
        <p:nvSpPr>
          <p:cNvPr id="4" name="Text 2"/>
          <p:cNvSpPr txBox="1"/>
          <p:nvPr/>
        </p:nvSpPr>
        <p:spPr>
          <a:xfrm>
            <a:off x="10454335" y="411480"/>
            <a:ext cx="1188720" cy="384048"/>
          </a:xfrm>
          <a:prstGeom prst="rect">
            <a:avLst/>
          </a:prstGeom>
          <a:noFill/>
          <a:ln/>
        </p:spPr>
        <p:txBody>
          <a:bodyPr wrap="square" lIns="0" tIns="0" rIns="0" bIns="0" rtlCol="0" anchor="ctr"/>
          <a:lstStyle/>
          <a:p>
            <a:pPr algn="ctr" indent="0" marL="0">
              <a:buNone/>
            </a:pPr>
            <a:r>
              <a:rPr lang="en-US" sz="1100" b="1" spc="100" kern="0" dirty="0">
                <a:solidFill>
                  <a:srgbClr val="FFFFFF"/>
                </a:solidFill>
              </a:rPr>
              <a:t>CHECK</a:t>
            </a:r>
            <a:endParaRPr lang="en-US" sz="1100" dirty="0"/>
          </a:p>
        </p:txBody>
      </p:sp>
      <p:sp>
        <p:nvSpPr>
          <p:cNvPr id="5" name="Text 3"/>
          <p:cNvSpPr txBox="1"/>
          <p:nvPr/>
        </p:nvSpPr>
        <p:spPr>
          <a:xfrm>
            <a:off x="548640" y="1280160"/>
            <a:ext cx="10881360" cy="411480"/>
          </a:xfrm>
          <a:prstGeom prst="rect">
            <a:avLst/>
          </a:prstGeom>
          <a:noFill/>
          <a:ln/>
        </p:spPr>
        <p:txBody>
          <a:bodyPr wrap="square" lIns="0" tIns="0" rIns="0" bIns="0" rtlCol="0" anchor="ctr"/>
          <a:lstStyle/>
          <a:p>
            <a:pPr indent="0" marL="0">
              <a:buNone/>
            </a:pPr>
            <a:r>
              <a:rPr lang="en-US" sz="1600" i="1" dirty="0">
                <a:solidFill>
                  <a:srgbClr val="5B6574"/>
                </a:solidFill>
              </a:rPr>
              <a:t>Mini whiteboards. Short answers.</a:t>
            </a:r>
            <a:endParaRPr lang="en-US" sz="1600" dirty="0"/>
          </a:p>
        </p:txBody>
      </p:sp>
      <p:sp>
        <p:nvSpPr>
          <p:cNvPr id="6" name="Shape 4"/>
          <p:cNvSpPr/>
          <p:nvPr/>
        </p:nvSpPr>
        <p:spPr>
          <a:xfrm>
            <a:off x="548640" y="1783080"/>
            <a:ext cx="10881360" cy="713232"/>
          </a:xfrm>
          <a:prstGeom prst="roundRect">
            <a:avLst>
              <a:gd name="adj" fmla="val 10256"/>
            </a:avLst>
          </a:prstGeom>
          <a:solidFill>
            <a:srgbClr val="FFFFFF"/>
          </a:solidFill>
          <a:ln w="12700">
            <a:solidFill>
              <a:srgbClr val="D5DBE3"/>
            </a:solidFill>
            <a:prstDash val="solid"/>
          </a:ln>
        </p:spPr>
      </p:sp>
      <p:sp>
        <p:nvSpPr>
          <p:cNvPr id="7" name="Text 5"/>
          <p:cNvSpPr txBox="1"/>
          <p:nvPr/>
        </p:nvSpPr>
        <p:spPr>
          <a:xfrm>
            <a:off x="731520" y="1783080"/>
            <a:ext cx="10515600" cy="713232"/>
          </a:xfrm>
          <a:prstGeom prst="rect">
            <a:avLst/>
          </a:prstGeom>
          <a:noFill/>
          <a:ln/>
        </p:spPr>
        <p:txBody>
          <a:bodyPr wrap="square" lIns="0" tIns="0" rIns="0" bIns="0" rtlCol="0" anchor="ctr"/>
          <a:lstStyle/>
          <a:p>
            <a:pPr indent="0" marL="0">
              <a:buNone/>
            </a:pPr>
            <a:r>
              <a:rPr lang="en-US" sz="2000" b="1" dirty="0">
                <a:solidFill>
                  <a:srgbClr val="7B3A8E"/>
                </a:solidFill>
              </a:rPr>
              <a:t>Q1  </a:t>
            </a:r>
            <a:pPr indent="0" marL="0">
              <a:buNone/>
            </a:pPr>
            <a:r>
              <a:rPr lang="en-US" sz="2000" dirty="0">
                <a:solidFill>
                  <a:srgbClr val="141B26"/>
                </a:solidFill>
              </a:rPr>
              <a:t>What does 'endangered' mean?</a:t>
            </a:r>
            <a:endParaRPr lang="en-US" sz="2000" dirty="0"/>
          </a:p>
        </p:txBody>
      </p:sp>
      <p:sp>
        <p:nvSpPr>
          <p:cNvPr id="8" name="Shape 6"/>
          <p:cNvSpPr/>
          <p:nvPr/>
        </p:nvSpPr>
        <p:spPr>
          <a:xfrm>
            <a:off x="548640" y="2606040"/>
            <a:ext cx="10881360" cy="713232"/>
          </a:xfrm>
          <a:prstGeom prst="roundRect">
            <a:avLst>
              <a:gd name="adj" fmla="val 10256"/>
            </a:avLst>
          </a:prstGeom>
          <a:solidFill>
            <a:srgbClr val="FFFFFF"/>
          </a:solidFill>
          <a:ln w="12700">
            <a:solidFill>
              <a:srgbClr val="D5DBE3"/>
            </a:solidFill>
            <a:prstDash val="solid"/>
          </a:ln>
        </p:spPr>
      </p:sp>
      <p:sp>
        <p:nvSpPr>
          <p:cNvPr id="9" name="Text 7"/>
          <p:cNvSpPr txBox="1"/>
          <p:nvPr/>
        </p:nvSpPr>
        <p:spPr>
          <a:xfrm>
            <a:off x="731520" y="2606040"/>
            <a:ext cx="10515600" cy="713232"/>
          </a:xfrm>
          <a:prstGeom prst="rect">
            <a:avLst/>
          </a:prstGeom>
          <a:noFill/>
          <a:ln/>
        </p:spPr>
        <p:txBody>
          <a:bodyPr wrap="square" lIns="0" tIns="0" rIns="0" bIns="0" rtlCol="0" anchor="ctr"/>
          <a:lstStyle/>
          <a:p>
            <a:pPr indent="0" marL="0">
              <a:buNone/>
            </a:pPr>
            <a:r>
              <a:rPr lang="en-US" sz="2000" b="1" dirty="0">
                <a:solidFill>
                  <a:srgbClr val="7B3A8E"/>
                </a:solidFill>
              </a:rPr>
              <a:t>Q2  </a:t>
            </a:r>
            <a:pPr indent="0" marL="0">
              <a:buNone/>
            </a:pPr>
            <a:r>
              <a:rPr lang="en-US" sz="2000" dirty="0">
                <a:solidFill>
                  <a:srgbClr val="141B26"/>
                </a:solidFill>
              </a:rPr>
              <a:t>Hunting: abiotic or biotic factor?</a:t>
            </a:r>
            <a:endParaRPr lang="en-US" sz="2000" dirty="0"/>
          </a:p>
        </p:txBody>
      </p:sp>
      <p:sp>
        <p:nvSpPr>
          <p:cNvPr id="10" name="Shape 8"/>
          <p:cNvSpPr/>
          <p:nvPr/>
        </p:nvSpPr>
        <p:spPr>
          <a:xfrm>
            <a:off x="548640" y="3429000"/>
            <a:ext cx="10881360" cy="713232"/>
          </a:xfrm>
          <a:prstGeom prst="roundRect">
            <a:avLst>
              <a:gd name="adj" fmla="val 10256"/>
            </a:avLst>
          </a:prstGeom>
          <a:solidFill>
            <a:srgbClr val="FFFFFF"/>
          </a:solidFill>
          <a:ln w="12700">
            <a:solidFill>
              <a:srgbClr val="D5DBE3"/>
            </a:solidFill>
            <a:prstDash val="solid"/>
          </a:ln>
        </p:spPr>
      </p:sp>
      <p:sp>
        <p:nvSpPr>
          <p:cNvPr id="11" name="Text 9"/>
          <p:cNvSpPr txBox="1"/>
          <p:nvPr/>
        </p:nvSpPr>
        <p:spPr>
          <a:xfrm>
            <a:off x="731520" y="3429000"/>
            <a:ext cx="10515600" cy="713232"/>
          </a:xfrm>
          <a:prstGeom prst="rect">
            <a:avLst/>
          </a:prstGeom>
          <a:noFill/>
          <a:ln/>
        </p:spPr>
        <p:txBody>
          <a:bodyPr wrap="square" lIns="0" tIns="0" rIns="0" bIns="0" rtlCol="0" anchor="ctr"/>
          <a:lstStyle/>
          <a:p>
            <a:pPr indent="0" marL="0">
              <a:buNone/>
            </a:pPr>
            <a:r>
              <a:rPr lang="en-US" sz="2000" b="1" dirty="0">
                <a:solidFill>
                  <a:srgbClr val="7B3A8E"/>
                </a:solidFill>
              </a:rPr>
              <a:t>Q3  </a:t>
            </a:r>
            <a:pPr indent="0" marL="0">
              <a:buNone/>
            </a:pPr>
            <a:r>
              <a:rPr lang="en-US" sz="2000" dirty="0">
                <a:solidFill>
                  <a:srgbClr val="141B26"/>
                </a:solidFill>
              </a:rPr>
              <a:t>Give one adaptation that red and grey squirrels share.</a:t>
            </a:r>
            <a:endParaRPr lang="en-US" sz="2000" dirty="0"/>
          </a:p>
        </p:txBody>
      </p:sp>
      <p:sp>
        <p:nvSpPr>
          <p:cNvPr id="12" name="Shape 10"/>
          <p:cNvSpPr/>
          <p:nvPr/>
        </p:nvSpPr>
        <p:spPr>
          <a:xfrm>
            <a:off x="548640" y="4251960"/>
            <a:ext cx="10881360" cy="713232"/>
          </a:xfrm>
          <a:prstGeom prst="roundRect">
            <a:avLst>
              <a:gd name="adj" fmla="val 10256"/>
            </a:avLst>
          </a:prstGeom>
          <a:solidFill>
            <a:srgbClr val="FFFFFF"/>
          </a:solidFill>
          <a:ln w="12700">
            <a:solidFill>
              <a:srgbClr val="D5DBE3"/>
            </a:solidFill>
            <a:prstDash val="solid"/>
          </a:ln>
        </p:spPr>
      </p:sp>
      <p:sp>
        <p:nvSpPr>
          <p:cNvPr id="13" name="Text 11"/>
          <p:cNvSpPr txBox="1"/>
          <p:nvPr/>
        </p:nvSpPr>
        <p:spPr>
          <a:xfrm>
            <a:off x="731520" y="4251960"/>
            <a:ext cx="10515600" cy="713232"/>
          </a:xfrm>
          <a:prstGeom prst="rect">
            <a:avLst/>
          </a:prstGeom>
          <a:noFill/>
          <a:ln/>
        </p:spPr>
        <p:txBody>
          <a:bodyPr wrap="square" lIns="0" tIns="0" rIns="0" bIns="0" rtlCol="0" anchor="ctr"/>
          <a:lstStyle/>
          <a:p>
            <a:pPr indent="0" marL="0">
              <a:buNone/>
            </a:pPr>
            <a:r>
              <a:rPr lang="en-US" sz="2000" b="1" dirty="0">
                <a:solidFill>
                  <a:srgbClr val="7B3A8E"/>
                </a:solidFill>
              </a:rPr>
              <a:t>Q4  </a:t>
            </a:r>
            <a:pPr indent="0" marL="0">
              <a:buNone/>
            </a:pPr>
            <a:r>
              <a:rPr lang="en-US" sz="2000" dirty="0">
                <a:solidFill>
                  <a:srgbClr val="141B26"/>
                </a:solidFill>
              </a:rPr>
              <a:t>Why do grey squirrels get more acorns than reds?</a:t>
            </a:r>
            <a:endParaRPr lang="en-US" sz="2000" dirty="0"/>
          </a:p>
        </p:txBody>
      </p:sp>
      <p:sp>
        <p:nvSpPr>
          <p:cNvPr id="14" name="Shape 12"/>
          <p:cNvSpPr/>
          <p:nvPr/>
        </p:nvSpPr>
        <p:spPr>
          <a:xfrm>
            <a:off x="548640" y="5074920"/>
            <a:ext cx="10881360" cy="713232"/>
          </a:xfrm>
          <a:prstGeom prst="roundRect">
            <a:avLst>
              <a:gd name="adj" fmla="val 10256"/>
            </a:avLst>
          </a:prstGeom>
          <a:solidFill>
            <a:srgbClr val="FFFFFF"/>
          </a:solidFill>
          <a:ln w="12700">
            <a:solidFill>
              <a:srgbClr val="D5DBE3"/>
            </a:solidFill>
            <a:prstDash val="solid"/>
          </a:ln>
        </p:spPr>
      </p:sp>
      <p:sp>
        <p:nvSpPr>
          <p:cNvPr id="15" name="Text 13"/>
          <p:cNvSpPr txBox="1"/>
          <p:nvPr/>
        </p:nvSpPr>
        <p:spPr>
          <a:xfrm>
            <a:off x="731520" y="5074920"/>
            <a:ext cx="10515600" cy="713232"/>
          </a:xfrm>
          <a:prstGeom prst="rect">
            <a:avLst/>
          </a:prstGeom>
          <a:noFill/>
          <a:ln/>
        </p:spPr>
        <p:txBody>
          <a:bodyPr wrap="square" lIns="0" tIns="0" rIns="0" bIns="0" rtlCol="0" anchor="ctr"/>
          <a:lstStyle/>
          <a:p>
            <a:pPr indent="0" marL="0">
              <a:buNone/>
            </a:pPr>
            <a:r>
              <a:rPr lang="en-US" sz="2000" b="1" dirty="0">
                <a:solidFill>
                  <a:srgbClr val="7B3A8E"/>
                </a:solidFill>
              </a:rPr>
              <a:t>Q5  </a:t>
            </a:r>
            <a:pPr indent="0" marL="0">
              <a:buNone/>
            </a:pPr>
            <a:r>
              <a:rPr lang="en-US" sz="2000" dirty="0">
                <a:solidFill>
                  <a:srgbClr val="141B26"/>
                </a:solidFill>
              </a:rPr>
              <a:t>Give one way of preserving biodiversity.</a:t>
            </a:r>
            <a:endParaRPr lang="en-US" sz="2000" dirty="0"/>
          </a:p>
        </p:txBody>
      </p:sp>
      <p:sp>
        <p:nvSpPr>
          <p:cNvPr id="25" name="Slide Number Placeholder 0"/>
          <p:cNvSpPr>
            <a:spLocks noGrp="1"/>
          </p:cNvSpPr>
          <p:nvPr>
            <p:ph type="sldNum" sz="quarter" idx="4294967295"/>
          </p:nvPr>
        </p:nvSpPr>
        <p:spPr>
          <a:xfrm>
            <a:off x="9738360" y="6419088"/>
            <a:ext cx="64008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5B6574"/>
                </a:solidFill>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ph idx="100" type="title" hasCustomPrompt="1"/>
          </p:nvPr>
        </p:nvSpPr>
        <p:spPr>
          <a:xfrm>
            <a:off x="548640" y="292608"/>
            <a:ext cx="9052560" cy="868680"/>
          </a:xfrm>
          <a:prstGeom prst="rect">
            <a:avLst/>
          </a:prstGeom>
          <a:noFill/>
          <a:ln/>
        </p:spPr>
        <p:txBody>
          <a:bodyPr wrap="square" lIns="0" tIns="0" rIns="0" bIns="0" rtlCol="0" anchor="ctr"/>
          <a:lstStyle/>
          <a:p>
            <a:pPr indent="0" marL="0">
              <a:buNone/>
            </a:pPr>
            <a:r>
              <a:rPr lang="en-US" sz="3000" b="1" dirty="0">
                <a:solidFill>
                  <a:srgbClr val="0F2A5F"/>
                </a:solidFill>
              </a:rPr>
              <a:t>Your turn: adaptation and extinction</a:t>
            </a:r>
            <a:endParaRPr lang="en-US" sz="3000" dirty="0"/>
          </a:p>
        </p:txBody>
      </p:sp>
      <p:sp>
        <p:nvSpPr>
          <p:cNvPr id="3" name="Shape 1"/>
          <p:cNvSpPr/>
          <p:nvPr/>
        </p:nvSpPr>
        <p:spPr>
          <a:xfrm>
            <a:off x="10454335" y="411480"/>
            <a:ext cx="1188720" cy="384048"/>
          </a:xfrm>
          <a:prstGeom prst="roundRect">
            <a:avLst>
              <a:gd name="adj" fmla="val 50000"/>
            </a:avLst>
          </a:prstGeom>
          <a:solidFill>
            <a:srgbClr val="7B3A8E"/>
          </a:solidFill>
          <a:ln w="12700">
            <a:solidFill>
              <a:srgbClr val="7B3A8E"/>
            </a:solidFill>
            <a:prstDash val="solid"/>
          </a:ln>
        </p:spPr>
      </p:sp>
      <p:sp>
        <p:nvSpPr>
          <p:cNvPr id="4" name="Text 2"/>
          <p:cNvSpPr txBox="1"/>
          <p:nvPr/>
        </p:nvSpPr>
        <p:spPr>
          <a:xfrm>
            <a:off x="10454335" y="411480"/>
            <a:ext cx="1188720" cy="384048"/>
          </a:xfrm>
          <a:prstGeom prst="rect">
            <a:avLst/>
          </a:prstGeom>
          <a:noFill/>
          <a:ln/>
        </p:spPr>
        <p:txBody>
          <a:bodyPr wrap="square" lIns="0" tIns="0" rIns="0" bIns="0" rtlCol="0" anchor="ctr"/>
          <a:lstStyle/>
          <a:p>
            <a:pPr algn="ctr" indent="0" marL="0">
              <a:buNone/>
            </a:pPr>
            <a:r>
              <a:rPr lang="en-US" sz="1100" b="1" spc="100" kern="0" dirty="0">
                <a:solidFill>
                  <a:srgbClr val="FFFFFF"/>
                </a:solidFill>
              </a:rPr>
              <a:t>DO</a:t>
            </a:r>
            <a:endParaRPr lang="en-US" sz="1100" dirty="0"/>
          </a:p>
        </p:txBody>
      </p:sp>
      <p:sp>
        <p:nvSpPr>
          <p:cNvPr id="5" name="Shape 3"/>
          <p:cNvSpPr/>
          <p:nvPr/>
        </p:nvSpPr>
        <p:spPr>
          <a:xfrm>
            <a:off x="10682935" y="914400"/>
            <a:ext cx="914400" cy="914400"/>
          </a:xfrm>
          <a:prstGeom prst="ellipse">
            <a:avLst/>
          </a:prstGeom>
          <a:solidFill>
            <a:srgbClr val="FFFFFF"/>
          </a:solidFill>
          <a:ln w="25400">
            <a:solidFill>
              <a:srgbClr val="7B3A8E"/>
            </a:solidFill>
            <a:prstDash val="solid"/>
          </a:ln>
        </p:spPr>
      </p:sp>
      <p:sp>
        <p:nvSpPr>
          <p:cNvPr id="6" name="Text 4"/>
          <p:cNvSpPr txBox="1"/>
          <p:nvPr/>
        </p:nvSpPr>
        <p:spPr>
          <a:xfrm>
            <a:off x="10682935" y="914400"/>
            <a:ext cx="914400" cy="914400"/>
          </a:xfrm>
          <a:prstGeom prst="rect">
            <a:avLst/>
          </a:prstGeom>
          <a:noFill/>
          <a:ln/>
        </p:spPr>
        <p:txBody>
          <a:bodyPr wrap="square" lIns="0" tIns="0" rIns="0" bIns="0" rtlCol="0" anchor="ctr"/>
          <a:lstStyle/>
          <a:p>
            <a:pPr algn="ctr" indent="0" marL="0">
              <a:buNone/>
            </a:pPr>
            <a:r>
              <a:rPr lang="en-US" sz="2200" b="1" dirty="0">
                <a:solidFill>
                  <a:srgbClr val="7B3A8E"/>
                </a:solidFill>
              </a:rPr>
              <a:t>13</a:t>
            </a:r>
            <a:endParaRPr lang="en-US" sz="2200" dirty="0"/>
          </a:p>
          <a:p>
            <a:pPr algn="ctr" indent="0" marL="0">
              <a:buNone/>
            </a:pPr>
            <a:r>
              <a:rPr lang="en-US" sz="1000" dirty="0">
                <a:solidFill>
                  <a:srgbClr val="5B6574"/>
                </a:solidFill>
              </a:rPr>
              <a:t>min</a:t>
            </a:r>
            <a:endParaRPr lang="en-US" sz="2200" dirty="0"/>
          </a:p>
        </p:txBody>
      </p:sp>
      <p:sp>
        <p:nvSpPr>
          <p:cNvPr id="7" name="Shape 5"/>
          <p:cNvSpPr/>
          <p:nvPr/>
        </p:nvSpPr>
        <p:spPr>
          <a:xfrm>
            <a:off x="548640" y="1417320"/>
            <a:ext cx="457200" cy="457200"/>
          </a:xfrm>
          <a:prstGeom prst="ellipse">
            <a:avLst/>
          </a:prstGeom>
          <a:solidFill>
            <a:srgbClr val="7B3A8E"/>
          </a:solidFill>
          <a:ln w="12700">
            <a:solidFill>
              <a:srgbClr val="7B3A8E"/>
            </a:solidFill>
            <a:prstDash val="solid"/>
          </a:ln>
        </p:spPr>
      </p:sp>
      <p:sp>
        <p:nvSpPr>
          <p:cNvPr id="8" name="Text 6"/>
          <p:cNvSpPr txBox="1"/>
          <p:nvPr/>
        </p:nvSpPr>
        <p:spPr>
          <a:xfrm>
            <a:off x="548640" y="1417320"/>
            <a:ext cx="457200" cy="457200"/>
          </a:xfrm>
          <a:prstGeom prst="rect">
            <a:avLst/>
          </a:prstGeom>
          <a:noFill/>
          <a:ln/>
        </p:spPr>
        <p:txBody>
          <a:bodyPr wrap="square" lIns="0" tIns="0" rIns="0" bIns="0" rtlCol="0" anchor="ctr"/>
          <a:lstStyle/>
          <a:p>
            <a:pPr algn="ctr" indent="0" marL="0">
              <a:buNone/>
            </a:pPr>
            <a:r>
              <a:rPr lang="en-US" sz="1500" b="1" dirty="0">
                <a:solidFill>
                  <a:srgbClr val="FFFFFF"/>
                </a:solidFill>
              </a:rPr>
              <a:t>1</a:t>
            </a:r>
            <a:endParaRPr lang="en-US" sz="1500" dirty="0"/>
          </a:p>
        </p:txBody>
      </p:sp>
      <p:sp>
        <p:nvSpPr>
          <p:cNvPr id="9" name="Text 7"/>
          <p:cNvSpPr txBox="1"/>
          <p:nvPr/>
        </p:nvSpPr>
        <p:spPr>
          <a:xfrm>
            <a:off x="1188720" y="1371600"/>
            <a:ext cx="9418320" cy="914400"/>
          </a:xfrm>
          <a:prstGeom prst="rect">
            <a:avLst/>
          </a:prstGeom>
          <a:noFill/>
          <a:ln/>
        </p:spPr>
        <p:txBody>
          <a:bodyPr wrap="square" lIns="0" tIns="0" rIns="0" bIns="0" rtlCol="0" anchor="t"/>
          <a:lstStyle/>
          <a:p>
            <a:pPr indent="0" marL="0">
              <a:buNone/>
            </a:pPr>
            <a:r>
              <a:rPr lang="en-US" sz="2000" dirty="0">
                <a:solidFill>
                  <a:srgbClr val="141B26"/>
                </a:solidFill>
              </a:rPr>
              <a:t>Core: match the environment words; sand cat gap fill; native species and competition; resources plants compete for.</a:t>
            </a:r>
            <a:endParaRPr lang="en-US" sz="2000" dirty="0"/>
          </a:p>
        </p:txBody>
      </p:sp>
      <p:sp>
        <p:nvSpPr>
          <p:cNvPr id="10" name="Shape 8"/>
          <p:cNvSpPr/>
          <p:nvPr/>
        </p:nvSpPr>
        <p:spPr>
          <a:xfrm>
            <a:off x="548640" y="2331720"/>
            <a:ext cx="457200" cy="457200"/>
          </a:xfrm>
          <a:prstGeom prst="ellipse">
            <a:avLst/>
          </a:prstGeom>
          <a:solidFill>
            <a:srgbClr val="7B3A8E"/>
          </a:solidFill>
          <a:ln w="12700">
            <a:solidFill>
              <a:srgbClr val="7B3A8E"/>
            </a:solidFill>
            <a:prstDash val="solid"/>
          </a:ln>
        </p:spPr>
      </p:sp>
      <p:sp>
        <p:nvSpPr>
          <p:cNvPr id="11" name="Text 9"/>
          <p:cNvSpPr txBox="1"/>
          <p:nvPr/>
        </p:nvSpPr>
        <p:spPr>
          <a:xfrm>
            <a:off x="548640" y="2331720"/>
            <a:ext cx="457200" cy="457200"/>
          </a:xfrm>
          <a:prstGeom prst="rect">
            <a:avLst/>
          </a:prstGeom>
          <a:noFill/>
          <a:ln/>
        </p:spPr>
        <p:txBody>
          <a:bodyPr wrap="square" lIns="0" tIns="0" rIns="0" bIns="0" rtlCol="0" anchor="ctr"/>
          <a:lstStyle/>
          <a:p>
            <a:pPr algn="ctr" indent="0" marL="0">
              <a:buNone/>
            </a:pPr>
            <a:r>
              <a:rPr lang="en-US" sz="1500" b="1" dirty="0">
                <a:solidFill>
                  <a:srgbClr val="FFFFFF"/>
                </a:solidFill>
              </a:rPr>
              <a:t>2</a:t>
            </a:r>
            <a:endParaRPr lang="en-US" sz="1500" dirty="0"/>
          </a:p>
        </p:txBody>
      </p:sp>
      <p:sp>
        <p:nvSpPr>
          <p:cNvPr id="12" name="Text 10"/>
          <p:cNvSpPr txBox="1"/>
          <p:nvPr/>
        </p:nvSpPr>
        <p:spPr>
          <a:xfrm>
            <a:off x="1188720" y="2286000"/>
            <a:ext cx="9418320" cy="914400"/>
          </a:xfrm>
          <a:prstGeom prst="rect">
            <a:avLst/>
          </a:prstGeom>
          <a:noFill/>
          <a:ln/>
        </p:spPr>
        <p:txBody>
          <a:bodyPr wrap="square" lIns="0" tIns="0" rIns="0" bIns="0" rtlCol="0" anchor="t"/>
          <a:lstStyle/>
          <a:p>
            <a:pPr indent="0" marL="0">
              <a:buNone/>
            </a:pPr>
            <a:r>
              <a:rPr lang="en-US" sz="2000" dirty="0">
                <a:solidFill>
                  <a:srgbClr val="141B26"/>
                </a:solidFill>
              </a:rPr>
              <a:t>Stretch: explain the squirrel story with adaptations and genes; reds in conifer forests; the sundew and rising temperature.</a:t>
            </a:r>
            <a:endParaRPr lang="en-US" sz="2000" dirty="0"/>
          </a:p>
        </p:txBody>
      </p:sp>
      <p:sp>
        <p:nvSpPr>
          <p:cNvPr id="13" name="Shape 11"/>
          <p:cNvSpPr/>
          <p:nvPr/>
        </p:nvSpPr>
        <p:spPr>
          <a:xfrm>
            <a:off x="548640" y="3246120"/>
            <a:ext cx="457200" cy="457200"/>
          </a:xfrm>
          <a:prstGeom prst="ellipse">
            <a:avLst/>
          </a:prstGeom>
          <a:solidFill>
            <a:srgbClr val="7B3A8E"/>
          </a:solidFill>
          <a:ln w="12700">
            <a:solidFill>
              <a:srgbClr val="7B3A8E"/>
            </a:solidFill>
            <a:prstDash val="solid"/>
          </a:ln>
        </p:spPr>
      </p:sp>
      <p:sp>
        <p:nvSpPr>
          <p:cNvPr id="14" name="Text 12"/>
          <p:cNvSpPr txBox="1"/>
          <p:nvPr/>
        </p:nvSpPr>
        <p:spPr>
          <a:xfrm>
            <a:off x="548640" y="3246120"/>
            <a:ext cx="457200" cy="457200"/>
          </a:xfrm>
          <a:prstGeom prst="rect">
            <a:avLst/>
          </a:prstGeom>
          <a:noFill/>
          <a:ln/>
        </p:spPr>
        <p:txBody>
          <a:bodyPr wrap="square" lIns="0" tIns="0" rIns="0" bIns="0" rtlCol="0" anchor="ctr"/>
          <a:lstStyle/>
          <a:p>
            <a:pPr algn="ctr" indent="0" marL="0">
              <a:buNone/>
            </a:pPr>
            <a:r>
              <a:rPr lang="en-US" sz="1500" b="1" dirty="0">
                <a:solidFill>
                  <a:srgbClr val="FFFFFF"/>
                </a:solidFill>
              </a:rPr>
              <a:t>3</a:t>
            </a:r>
            <a:endParaRPr lang="en-US" sz="1500" dirty="0"/>
          </a:p>
        </p:txBody>
      </p:sp>
      <p:sp>
        <p:nvSpPr>
          <p:cNvPr id="15" name="Text 13"/>
          <p:cNvSpPr txBox="1"/>
          <p:nvPr/>
        </p:nvSpPr>
        <p:spPr>
          <a:xfrm>
            <a:off x="1188720" y="3200400"/>
            <a:ext cx="9418320" cy="914400"/>
          </a:xfrm>
          <a:prstGeom prst="rect">
            <a:avLst/>
          </a:prstGeom>
          <a:noFill/>
          <a:ln/>
        </p:spPr>
        <p:txBody>
          <a:bodyPr wrap="square" lIns="0" tIns="0" rIns="0" bIns="0" rtlCol="0" anchor="t"/>
          <a:lstStyle/>
          <a:p>
            <a:pPr indent="0" marL="0">
              <a:buNone/>
            </a:pPr>
            <a:r>
              <a:rPr lang="en-US" sz="2000" dirty="0">
                <a:solidFill>
                  <a:srgbClr val="141B26"/>
                </a:solidFill>
              </a:rPr>
              <a:t>Challenge: Haast's eagle and the moa; how a gene bank works and what it cannot do.</a:t>
            </a:r>
            <a:endParaRPr lang="en-US" sz="2000" dirty="0"/>
          </a:p>
        </p:txBody>
      </p:sp>
      <p:sp>
        <p:nvSpPr>
          <p:cNvPr id="16" name="Shape 14"/>
          <p:cNvSpPr/>
          <p:nvPr/>
        </p:nvSpPr>
        <p:spPr>
          <a:xfrm>
            <a:off x="548640" y="4160520"/>
            <a:ext cx="457200" cy="457200"/>
          </a:xfrm>
          <a:prstGeom prst="ellipse">
            <a:avLst/>
          </a:prstGeom>
          <a:solidFill>
            <a:srgbClr val="7B3A8E"/>
          </a:solidFill>
          <a:ln w="12700">
            <a:solidFill>
              <a:srgbClr val="7B3A8E"/>
            </a:solidFill>
            <a:prstDash val="solid"/>
          </a:ln>
        </p:spPr>
      </p:sp>
      <p:sp>
        <p:nvSpPr>
          <p:cNvPr id="17" name="Text 15"/>
          <p:cNvSpPr txBox="1"/>
          <p:nvPr/>
        </p:nvSpPr>
        <p:spPr>
          <a:xfrm>
            <a:off x="548640" y="4160520"/>
            <a:ext cx="457200" cy="457200"/>
          </a:xfrm>
          <a:prstGeom prst="rect">
            <a:avLst/>
          </a:prstGeom>
          <a:noFill/>
          <a:ln/>
        </p:spPr>
        <p:txBody>
          <a:bodyPr wrap="square" lIns="0" tIns="0" rIns="0" bIns="0" rtlCol="0" anchor="ctr"/>
          <a:lstStyle/>
          <a:p>
            <a:pPr algn="ctr" indent="0" marL="0">
              <a:buNone/>
            </a:pPr>
            <a:r>
              <a:rPr lang="en-US" sz="1500" b="1" dirty="0">
                <a:solidFill>
                  <a:srgbClr val="FFFFFF"/>
                </a:solidFill>
              </a:rPr>
              <a:t>4</a:t>
            </a:r>
            <a:endParaRPr lang="en-US" sz="1500" dirty="0"/>
          </a:p>
        </p:txBody>
      </p:sp>
      <p:sp>
        <p:nvSpPr>
          <p:cNvPr id="18" name="Text 16"/>
          <p:cNvSpPr txBox="1"/>
          <p:nvPr/>
        </p:nvSpPr>
        <p:spPr>
          <a:xfrm>
            <a:off x="1188720" y="4114800"/>
            <a:ext cx="9418320" cy="914400"/>
          </a:xfrm>
          <a:prstGeom prst="rect">
            <a:avLst/>
          </a:prstGeom>
          <a:noFill/>
          <a:ln/>
        </p:spPr>
        <p:txBody>
          <a:bodyPr wrap="square" lIns="0" tIns="0" rIns="0" bIns="0" rtlCol="0" anchor="t"/>
          <a:lstStyle/>
          <a:p>
            <a:pPr indent="0" marL="0">
              <a:buNone/>
            </a:pPr>
            <a:r>
              <a:rPr lang="en-US" sz="2000" dirty="0">
                <a:solidFill>
                  <a:srgbClr val="141B26"/>
                </a:solidFill>
              </a:rPr>
              <a:t>Use 'better adapted' and 'genes' in every explanation.</a:t>
            </a:r>
            <a:endParaRPr lang="en-US" sz="2000" dirty="0"/>
          </a:p>
        </p:txBody>
      </p:sp>
      <p:sp>
        <p:nvSpPr>
          <p:cNvPr id="19" name="Text 17"/>
          <p:cNvSpPr txBox="1"/>
          <p:nvPr/>
        </p:nvSpPr>
        <p:spPr>
          <a:xfrm>
            <a:off x="548640" y="5577840"/>
            <a:ext cx="10881360" cy="411480"/>
          </a:xfrm>
          <a:prstGeom prst="rect">
            <a:avLst/>
          </a:prstGeom>
          <a:noFill/>
          <a:ln/>
        </p:spPr>
        <p:txBody>
          <a:bodyPr wrap="square" lIns="0" tIns="0" rIns="0" bIns="0" rtlCol="0" anchor="ctr"/>
          <a:lstStyle/>
          <a:p>
            <a:pPr indent="0" marL="0">
              <a:buNone/>
            </a:pPr>
            <a:r>
              <a:rPr lang="en-US" sz="1500" i="1" dirty="0">
                <a:solidFill>
                  <a:srgbClr val="5B6574"/>
                </a:solidFill>
              </a:rPr>
              <a:t>A good explanation says what changed, why the species was no longer well adapted, and what happened to its numbers.</a:t>
            </a:r>
            <a:endParaRPr lang="en-US" sz="1500" dirty="0"/>
          </a:p>
        </p:txBody>
      </p:sp>
      <p:sp>
        <p:nvSpPr>
          <p:cNvPr id="25" name="Slide Number Placeholder 0"/>
          <p:cNvSpPr>
            <a:spLocks noGrp="1"/>
          </p:cNvSpPr>
          <p:nvPr>
            <p:ph type="sldNum" sz="quarter" idx="4294967295"/>
          </p:nvPr>
        </p:nvSpPr>
        <p:spPr>
          <a:xfrm>
            <a:off x="9738360" y="6419088"/>
            <a:ext cx="64008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5B6574"/>
                </a:solidFill>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ph idx="100" type="title" hasCustomPrompt="1"/>
          </p:nvPr>
        </p:nvSpPr>
        <p:spPr>
          <a:xfrm>
            <a:off x="548640" y="292608"/>
            <a:ext cx="9052560" cy="868680"/>
          </a:xfrm>
          <a:prstGeom prst="rect">
            <a:avLst/>
          </a:prstGeom>
          <a:noFill/>
          <a:ln/>
        </p:spPr>
        <p:txBody>
          <a:bodyPr wrap="square" lIns="0" tIns="0" rIns="0" bIns="0" rtlCol="0" anchor="ctr"/>
          <a:lstStyle/>
          <a:p>
            <a:pPr indent="0" marL="0">
              <a:buNone/>
            </a:pPr>
            <a:r>
              <a:rPr lang="en-US" sz="3000" b="1" dirty="0">
                <a:solidFill>
                  <a:srgbClr val="0F2A5F"/>
                </a:solidFill>
              </a:rPr>
              <a:t>Polar bears and a warming world</a:t>
            </a:r>
            <a:endParaRPr lang="en-US" sz="3000" dirty="0"/>
          </a:p>
        </p:txBody>
      </p:sp>
      <p:sp>
        <p:nvSpPr>
          <p:cNvPr id="3" name="Shape 1"/>
          <p:cNvSpPr/>
          <p:nvPr/>
        </p:nvSpPr>
        <p:spPr>
          <a:xfrm>
            <a:off x="8698687" y="411480"/>
            <a:ext cx="2944368" cy="384048"/>
          </a:xfrm>
          <a:prstGeom prst="roundRect">
            <a:avLst>
              <a:gd name="adj" fmla="val 50000"/>
            </a:avLst>
          </a:prstGeom>
          <a:solidFill>
            <a:srgbClr val="7B3A8E"/>
          </a:solidFill>
          <a:ln w="12700">
            <a:solidFill>
              <a:srgbClr val="7B3A8E"/>
            </a:solidFill>
            <a:prstDash val="solid"/>
          </a:ln>
        </p:spPr>
      </p:sp>
      <p:sp>
        <p:nvSpPr>
          <p:cNvPr id="4" name="Text 2"/>
          <p:cNvSpPr txBox="1"/>
          <p:nvPr/>
        </p:nvSpPr>
        <p:spPr>
          <a:xfrm>
            <a:off x="8698687" y="411480"/>
            <a:ext cx="2944368" cy="384048"/>
          </a:xfrm>
          <a:prstGeom prst="rect">
            <a:avLst/>
          </a:prstGeom>
          <a:noFill/>
          <a:ln/>
        </p:spPr>
        <p:txBody>
          <a:bodyPr wrap="square" lIns="0" tIns="0" rIns="0" bIns="0" rtlCol="0" anchor="ctr"/>
          <a:lstStyle/>
          <a:p>
            <a:pPr algn="ctr" indent="0" marL="0">
              <a:buNone/>
            </a:pPr>
            <a:r>
              <a:rPr lang="en-US" sz="1100" b="1" spc="100" kern="0" dirty="0">
                <a:solidFill>
                  <a:srgbClr val="FFFFFF"/>
                </a:solidFill>
              </a:rPr>
              <a:t>THINK AND REFLECT</a:t>
            </a:r>
            <a:endParaRPr lang="en-US" sz="1100" dirty="0"/>
          </a:p>
        </p:txBody>
      </p:sp>
      <p:sp>
        <p:nvSpPr>
          <p:cNvPr id="5" name="Text 3"/>
          <p:cNvSpPr txBox="1"/>
          <p:nvPr/>
        </p:nvSpPr>
        <p:spPr>
          <a:xfrm>
            <a:off x="548640" y="1325880"/>
            <a:ext cx="5852160" cy="1920240"/>
          </a:xfrm>
          <a:prstGeom prst="rect">
            <a:avLst/>
          </a:prstGeom>
          <a:noFill/>
          <a:ln/>
        </p:spPr>
        <p:txBody>
          <a:bodyPr wrap="square" lIns="0" tIns="0" rIns="0" bIns="0" rtlCol="0" anchor="t"/>
          <a:lstStyle/>
          <a:p>
            <a:pPr indent="0" marL="0">
              <a:buNone/>
            </a:pPr>
            <a:r>
              <a:rPr lang="en-US" sz="2300" b="1" dirty="0">
                <a:solidFill>
                  <a:srgbClr val="0F2A5F"/>
                </a:solidFill>
              </a:rPr>
              <a:t>Polar bears hunt seals from the sea ice. Global warming is making the Arctic sea ice melt earlier each year. Predict the effect on the polar bear population and explain your reasoning.</a:t>
            </a:r>
            <a:endParaRPr lang="en-US" sz="2300" dirty="0"/>
          </a:p>
        </p:txBody>
      </p:sp>
      <p:sp>
        <p:nvSpPr>
          <p:cNvPr id="6" name="Shape 4"/>
          <p:cNvSpPr/>
          <p:nvPr/>
        </p:nvSpPr>
        <p:spPr>
          <a:xfrm>
            <a:off x="548640" y="3383280"/>
            <a:ext cx="5852160" cy="2377440"/>
          </a:xfrm>
          <a:prstGeom prst="roundRect">
            <a:avLst>
              <a:gd name="adj" fmla="val 3846"/>
            </a:avLst>
          </a:prstGeom>
          <a:solidFill>
            <a:srgbClr val="FFFFFF"/>
          </a:solidFill>
          <a:ln w="12700">
            <a:solidFill>
              <a:srgbClr val="7B3A8E"/>
            </a:solidFill>
            <a:prstDash val="dash"/>
          </a:ln>
        </p:spPr>
      </p:sp>
      <p:sp>
        <p:nvSpPr>
          <p:cNvPr id="7" name="Text 5"/>
          <p:cNvSpPr txBox="1"/>
          <p:nvPr/>
        </p:nvSpPr>
        <p:spPr>
          <a:xfrm>
            <a:off x="777240" y="3520440"/>
            <a:ext cx="5394960" cy="2148840"/>
          </a:xfrm>
          <a:prstGeom prst="rect">
            <a:avLst/>
          </a:prstGeom>
          <a:noFill/>
          <a:ln/>
        </p:spPr>
        <p:txBody>
          <a:bodyPr wrap="square" lIns="0" tIns="0" rIns="0" bIns="0" rtlCol="0" anchor="t"/>
          <a:lstStyle/>
          <a:p>
            <a:pPr indent="0" marL="0">
              <a:spcAft>
                <a:spcPts val="600"/>
              </a:spcAft>
              <a:buNone/>
            </a:pPr>
            <a:r>
              <a:rPr lang="en-US" sz="1800" b="1" dirty="0">
                <a:solidFill>
                  <a:srgbClr val="7B3A8E"/>
                </a:solidFill>
              </a:rPr>
              <a:t>Sentence frames</a:t>
            </a:r>
            <a:endParaRPr lang="en-US" sz="1800" dirty="0"/>
          </a:p>
          <a:p>
            <a:pPr indent="0" marL="0">
              <a:spcAft>
                <a:spcPts val="600"/>
              </a:spcAft>
              <a:buNone/>
            </a:pPr>
            <a:r>
              <a:rPr lang="en-US" sz="1800" dirty="0">
                <a:solidFill>
                  <a:srgbClr val="141B26"/>
                </a:solidFill>
              </a:rPr>
              <a:t>I predict the population will ___ because ___.</a:t>
            </a:r>
            <a:endParaRPr lang="en-US" sz="1800" dirty="0"/>
          </a:p>
          <a:p>
            <a:pPr indent="0" marL="0">
              <a:spcAft>
                <a:spcPts val="600"/>
              </a:spcAft>
              <a:buNone/>
            </a:pPr>
            <a:r>
              <a:rPr lang="en-US" sz="1800" dirty="0">
                <a:solidFill>
                  <a:srgbClr val="141B26"/>
                </a:solidFill>
              </a:rPr>
              <a:t>The abiotic factor that is changing is ___.</a:t>
            </a:r>
            <a:endParaRPr lang="en-US" sz="1800" dirty="0"/>
          </a:p>
          <a:p>
            <a:pPr indent="0" marL="0">
              <a:spcAft>
                <a:spcPts val="600"/>
              </a:spcAft>
              <a:buNone/>
            </a:pPr>
            <a:r>
              <a:rPr lang="en-US" sz="1800" dirty="0">
                <a:solidFill>
                  <a:srgbClr val="141B26"/>
                </a:solidFill>
              </a:rPr>
              <a:t>Polar bears are adapted to ___, so when ___ they cannot ___.</a:t>
            </a:r>
            <a:endParaRPr lang="en-US" sz="1800" dirty="0"/>
          </a:p>
        </p:txBody>
      </p:sp>
      <p:pic>
        <p:nvPicPr>
          <p:cNvPr id="8" name="Image 0" descr="/home/user/lessons/Y9_Exploring_Science/images/polar_bear.jpg">    </p:cNvPr>
          <p:cNvPicPr>
            <a:picLocks noChangeAspect="1"/>
          </p:cNvPicPr>
          <p:nvPr/>
        </p:nvPicPr>
        <p:blipFill>
          <a:blip r:embed="rId1"/>
          <a:stretch>
            <a:fillRect/>
          </a:stretch>
        </p:blipFill>
        <p:spPr>
          <a:xfrm>
            <a:off x="6766560" y="1785136"/>
            <a:ext cx="4846320" cy="3287728"/>
          </a:xfrm>
          <a:prstGeom prst="rect">
            <a:avLst/>
          </a:prstGeom>
        </p:spPr>
      </p:pic>
      <p:sp>
        <p:nvSpPr>
          <p:cNvPr id="9" name="Text 6"/>
          <p:cNvSpPr txBox="1"/>
          <p:nvPr/>
        </p:nvSpPr>
        <p:spPr>
          <a:xfrm>
            <a:off x="6766560" y="5118584"/>
            <a:ext cx="4846320" cy="548640"/>
          </a:xfrm>
          <a:prstGeom prst="rect">
            <a:avLst/>
          </a:prstGeom>
          <a:noFill/>
          <a:ln/>
        </p:spPr>
        <p:txBody>
          <a:bodyPr wrap="square" lIns="0" tIns="0" rIns="0" bIns="0" rtlCol="0" anchor="t"/>
          <a:lstStyle/>
          <a:p>
            <a:pPr algn="l" indent="0" marL="0">
              <a:buNone/>
            </a:pPr>
            <a:r>
              <a:rPr lang="en-US" sz="1300" dirty="0">
                <a:solidFill>
                  <a:srgbClr val="141B26"/>
                </a:solidFill>
              </a:rPr>
              <a:t>A polar bear on sea ice</a:t>
            </a:r>
            <a:pPr algn="l" indent="0" marL="0">
              <a:buNone/>
            </a:pPr>
            <a:endParaRPr lang="en-US" sz="1300" dirty="0"/>
          </a:p>
          <a:p>
            <a:pPr algn="l" indent="0" marL="0">
              <a:buNone/>
            </a:pPr>
            <a:r>
              <a:rPr lang="en-US" sz="900" dirty="0">
                <a:solidFill>
                  <a:srgbClr val="5B6574"/>
                </a:solidFill>
              </a:rPr>
              <a:t>Image: Gregory 'Slobirdr' Smith, CC BY-SA 2.0, via Wikimedia Commons</a:t>
            </a:r>
            <a:endParaRPr lang="en-US" sz="1300" dirty="0"/>
          </a:p>
        </p:txBody>
      </p:sp>
      <p:sp>
        <p:nvSpPr>
          <p:cNvPr id="25" name="Slide Number Placeholder 0"/>
          <p:cNvSpPr>
            <a:spLocks noGrp="1"/>
          </p:cNvSpPr>
          <p:nvPr>
            <p:ph type="sldNum" sz="quarter" idx="4294967295"/>
          </p:nvPr>
        </p:nvSpPr>
        <p:spPr>
          <a:xfrm>
            <a:off x="9738360" y="6419088"/>
            <a:ext cx="64008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5B6574"/>
                </a:solidFill>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ph idx="100" type="title" hasCustomPrompt="1"/>
          </p:nvPr>
        </p:nvSpPr>
        <p:spPr>
          <a:xfrm>
            <a:off x="548640" y="292608"/>
            <a:ext cx="9052560" cy="868680"/>
          </a:xfrm>
          <a:prstGeom prst="rect">
            <a:avLst/>
          </a:prstGeom>
          <a:noFill/>
          <a:ln/>
        </p:spPr>
        <p:txBody>
          <a:bodyPr wrap="square" lIns="0" tIns="0" rIns="0" bIns="0" rtlCol="0" anchor="ctr"/>
          <a:lstStyle/>
          <a:p>
            <a:pPr indent="0" marL="0">
              <a:buNone/>
            </a:pPr>
            <a:r>
              <a:rPr lang="en-US" sz="3000" b="1" dirty="0">
                <a:solidFill>
                  <a:srgbClr val="0F2A5F"/>
                </a:solidFill>
              </a:rPr>
              <a:t>Exit ticket</a:t>
            </a:r>
            <a:endParaRPr lang="en-US" sz="3000" dirty="0"/>
          </a:p>
        </p:txBody>
      </p:sp>
      <p:sp>
        <p:nvSpPr>
          <p:cNvPr id="3" name="Shape 1"/>
          <p:cNvSpPr/>
          <p:nvPr/>
        </p:nvSpPr>
        <p:spPr>
          <a:xfrm>
            <a:off x="9576511" y="411480"/>
            <a:ext cx="2066544" cy="384048"/>
          </a:xfrm>
          <a:prstGeom prst="roundRect">
            <a:avLst>
              <a:gd name="adj" fmla="val 50000"/>
            </a:avLst>
          </a:prstGeom>
          <a:solidFill>
            <a:srgbClr val="7B3A8E"/>
          </a:solidFill>
          <a:ln w="12700">
            <a:solidFill>
              <a:srgbClr val="7B3A8E"/>
            </a:solidFill>
            <a:prstDash val="solid"/>
          </a:ln>
        </p:spPr>
      </p:sp>
      <p:sp>
        <p:nvSpPr>
          <p:cNvPr id="4" name="Text 2"/>
          <p:cNvSpPr txBox="1"/>
          <p:nvPr/>
        </p:nvSpPr>
        <p:spPr>
          <a:xfrm>
            <a:off x="9576511" y="411480"/>
            <a:ext cx="2066544" cy="384048"/>
          </a:xfrm>
          <a:prstGeom prst="rect">
            <a:avLst/>
          </a:prstGeom>
          <a:noFill/>
          <a:ln/>
        </p:spPr>
        <p:txBody>
          <a:bodyPr wrap="square" lIns="0" tIns="0" rIns="0" bIns="0" rtlCol="0" anchor="ctr"/>
          <a:lstStyle/>
          <a:p>
            <a:pPr algn="ctr" indent="0" marL="0">
              <a:buNone/>
            </a:pPr>
            <a:r>
              <a:rPr lang="en-US" sz="1100" b="1" spc="100" kern="0" dirty="0">
                <a:solidFill>
                  <a:srgbClr val="FFFFFF"/>
                </a:solidFill>
              </a:rPr>
              <a:t>EXIT TICKET</a:t>
            </a:r>
            <a:endParaRPr lang="en-US" sz="1100" dirty="0"/>
          </a:p>
        </p:txBody>
      </p:sp>
      <p:sp>
        <p:nvSpPr>
          <p:cNvPr id="5" name="Text 3"/>
          <p:cNvSpPr txBox="1"/>
          <p:nvPr/>
        </p:nvSpPr>
        <p:spPr>
          <a:xfrm>
            <a:off x="548640" y="1280160"/>
            <a:ext cx="10881360" cy="411480"/>
          </a:xfrm>
          <a:prstGeom prst="rect">
            <a:avLst/>
          </a:prstGeom>
          <a:noFill/>
          <a:ln/>
        </p:spPr>
        <p:txBody>
          <a:bodyPr wrap="square" lIns="0" tIns="0" rIns="0" bIns="0" rtlCol="0" anchor="ctr"/>
          <a:lstStyle/>
          <a:p>
            <a:pPr indent="0" marL="0">
              <a:buNone/>
            </a:pPr>
            <a:r>
              <a:rPr lang="en-US" sz="1600" i="1" dirty="0">
                <a:solidFill>
                  <a:srgbClr val="5B6574"/>
                </a:solidFill>
              </a:rPr>
              <a:t>On your worksheet exit ticket. Work alone. Hand it in as you leave.</a:t>
            </a:r>
            <a:endParaRPr lang="en-US" sz="1600" dirty="0"/>
          </a:p>
        </p:txBody>
      </p:sp>
      <p:sp>
        <p:nvSpPr>
          <p:cNvPr id="6" name="Text 4"/>
          <p:cNvSpPr txBox="1"/>
          <p:nvPr/>
        </p:nvSpPr>
        <p:spPr>
          <a:xfrm>
            <a:off x="548640" y="1828800"/>
            <a:ext cx="9692640" cy="1188720"/>
          </a:xfrm>
          <a:prstGeom prst="rect">
            <a:avLst/>
          </a:prstGeom>
          <a:noFill/>
          <a:ln/>
        </p:spPr>
        <p:txBody>
          <a:bodyPr wrap="square" lIns="0" tIns="0" rIns="0" bIns="0" rtlCol="0" anchor="t"/>
          <a:lstStyle/>
          <a:p>
            <a:pPr indent="0" marL="0">
              <a:buNone/>
            </a:pPr>
            <a:r>
              <a:rPr lang="en-US" sz="2200" b="1" dirty="0">
                <a:solidFill>
                  <a:srgbClr val="7B3A8E"/>
                </a:solidFill>
              </a:rPr>
              <a:t>1.  </a:t>
            </a:r>
            <a:pPr indent="0" marL="0">
              <a:buNone/>
            </a:pPr>
            <a:r>
              <a:rPr lang="en-US" sz="2200" dirty="0">
                <a:solidFill>
                  <a:srgbClr val="141B26"/>
                </a:solidFill>
              </a:rPr>
              <a:t>What does it mean if a species is endangered?</a:t>
            </a:r>
            <a:endParaRPr lang="en-US" sz="2200" dirty="0"/>
          </a:p>
        </p:txBody>
      </p:sp>
      <p:sp>
        <p:nvSpPr>
          <p:cNvPr id="7" name="Text 5"/>
          <p:cNvSpPr txBox="1"/>
          <p:nvPr/>
        </p:nvSpPr>
        <p:spPr>
          <a:xfrm>
            <a:off x="548640" y="3017520"/>
            <a:ext cx="9692640" cy="1188720"/>
          </a:xfrm>
          <a:prstGeom prst="rect">
            <a:avLst/>
          </a:prstGeom>
          <a:noFill/>
          <a:ln/>
        </p:spPr>
        <p:txBody>
          <a:bodyPr wrap="square" lIns="0" tIns="0" rIns="0" bIns="0" rtlCol="0" anchor="t"/>
          <a:lstStyle/>
          <a:p>
            <a:pPr indent="0" marL="0">
              <a:buNone/>
            </a:pPr>
            <a:r>
              <a:rPr lang="en-US" sz="2200" b="1" dirty="0">
                <a:solidFill>
                  <a:srgbClr val="7B3A8E"/>
                </a:solidFill>
              </a:rPr>
              <a:t>2.  </a:t>
            </a:r>
            <a:pPr indent="0" marL="0">
              <a:buNone/>
            </a:pPr>
            <a:r>
              <a:rPr lang="en-US" sz="2200" dirty="0">
                <a:solidFill>
                  <a:srgbClr val="141B26"/>
                </a:solidFill>
              </a:rPr>
              <a:t>Give one biotic factor that can cause a species to become extinct.</a:t>
            </a:r>
            <a:endParaRPr lang="en-US" sz="2200" dirty="0"/>
          </a:p>
        </p:txBody>
      </p:sp>
      <p:sp>
        <p:nvSpPr>
          <p:cNvPr id="8" name="Text 6"/>
          <p:cNvSpPr txBox="1"/>
          <p:nvPr/>
        </p:nvSpPr>
        <p:spPr>
          <a:xfrm>
            <a:off x="548640" y="4206240"/>
            <a:ext cx="9692640" cy="1188720"/>
          </a:xfrm>
          <a:prstGeom prst="rect">
            <a:avLst/>
          </a:prstGeom>
          <a:noFill/>
          <a:ln/>
        </p:spPr>
        <p:txBody>
          <a:bodyPr wrap="square" lIns="0" tIns="0" rIns="0" bIns="0" rtlCol="0" anchor="t"/>
          <a:lstStyle/>
          <a:p>
            <a:pPr indent="0" marL="0">
              <a:buNone/>
            </a:pPr>
            <a:r>
              <a:rPr lang="en-US" sz="2200" b="1" dirty="0">
                <a:solidFill>
                  <a:srgbClr val="7B3A8E"/>
                </a:solidFill>
              </a:rPr>
              <a:t>3.  </a:t>
            </a:r>
            <a:pPr indent="0" marL="0">
              <a:buNone/>
            </a:pPr>
            <a:r>
              <a:rPr lang="en-US" sz="2200" dirty="0">
                <a:solidFill>
                  <a:srgbClr val="141B26"/>
                </a:solidFill>
              </a:rPr>
              <a:t>Give one way of preserving biodiversity and say how it works.</a:t>
            </a:r>
            <a:endParaRPr lang="en-US" sz="2200" dirty="0"/>
          </a:p>
        </p:txBody>
      </p:sp>
      <p:sp>
        <p:nvSpPr>
          <p:cNvPr id="9" name="Shape 7"/>
          <p:cNvSpPr/>
          <p:nvPr/>
        </p:nvSpPr>
        <p:spPr>
          <a:xfrm>
            <a:off x="10682935" y="914400"/>
            <a:ext cx="914400" cy="914400"/>
          </a:xfrm>
          <a:prstGeom prst="ellipse">
            <a:avLst/>
          </a:prstGeom>
          <a:solidFill>
            <a:srgbClr val="FFFFFF"/>
          </a:solidFill>
          <a:ln w="25400">
            <a:solidFill>
              <a:srgbClr val="7B3A8E"/>
            </a:solidFill>
            <a:prstDash val="solid"/>
          </a:ln>
        </p:spPr>
      </p:sp>
      <p:sp>
        <p:nvSpPr>
          <p:cNvPr id="10" name="Text 8"/>
          <p:cNvSpPr txBox="1"/>
          <p:nvPr/>
        </p:nvSpPr>
        <p:spPr>
          <a:xfrm>
            <a:off x="10682935" y="914400"/>
            <a:ext cx="914400" cy="914400"/>
          </a:xfrm>
          <a:prstGeom prst="rect">
            <a:avLst/>
          </a:prstGeom>
          <a:noFill/>
          <a:ln/>
        </p:spPr>
        <p:txBody>
          <a:bodyPr wrap="square" lIns="0" tIns="0" rIns="0" bIns="0" rtlCol="0" anchor="ctr"/>
          <a:lstStyle/>
          <a:p>
            <a:pPr algn="ctr" indent="0" marL="0">
              <a:buNone/>
            </a:pPr>
            <a:r>
              <a:rPr lang="en-US" sz="2200" b="1" dirty="0">
                <a:solidFill>
                  <a:srgbClr val="7B3A8E"/>
                </a:solidFill>
              </a:rPr>
              <a:t>3</a:t>
            </a:r>
            <a:endParaRPr lang="en-US" sz="2200" dirty="0"/>
          </a:p>
          <a:p>
            <a:pPr algn="ctr" indent="0" marL="0">
              <a:buNone/>
            </a:pPr>
            <a:r>
              <a:rPr lang="en-US" sz="1000" dirty="0">
                <a:solidFill>
                  <a:srgbClr val="5B6574"/>
                </a:solidFill>
              </a:rPr>
              <a:t>min</a:t>
            </a:r>
            <a:endParaRPr lang="en-US" sz="2200" dirty="0"/>
          </a:p>
        </p:txBody>
      </p:sp>
      <p:sp>
        <p:nvSpPr>
          <p:cNvPr id="25" name="Slide Number Placeholder 0"/>
          <p:cNvSpPr>
            <a:spLocks noGrp="1"/>
          </p:cNvSpPr>
          <p:nvPr>
            <p:ph type="sldNum" sz="quarter" idx="4294967295"/>
          </p:nvPr>
        </p:nvSpPr>
        <p:spPr>
          <a:xfrm>
            <a:off x="9738360" y="6419088"/>
            <a:ext cx="64008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5B6574"/>
                </a:solidFill>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ph idx="100" type="title" hasCustomPrompt="1"/>
          </p:nvPr>
        </p:nvSpPr>
        <p:spPr>
          <a:xfrm>
            <a:off x="548640" y="292608"/>
            <a:ext cx="9052560" cy="868680"/>
          </a:xfrm>
          <a:prstGeom prst="rect">
            <a:avLst/>
          </a:prstGeom>
          <a:noFill/>
          <a:ln/>
        </p:spPr>
        <p:txBody>
          <a:bodyPr wrap="square" lIns="0" tIns="0" rIns="0" bIns="0" rtlCol="0" anchor="ctr"/>
          <a:lstStyle/>
          <a:p>
            <a:pPr indent="0" marL="0">
              <a:buNone/>
            </a:pPr>
            <a:r>
              <a:rPr lang="en-US" sz="3000" b="1" dirty="0">
                <a:solidFill>
                  <a:srgbClr val="0F2A5F"/>
                </a:solidFill>
              </a:rPr>
              <a:t>What we learned</a:t>
            </a:r>
            <a:endParaRPr lang="en-US" sz="3000" dirty="0"/>
          </a:p>
        </p:txBody>
      </p:sp>
      <p:sp>
        <p:nvSpPr>
          <p:cNvPr id="3" name="Shape 1"/>
          <p:cNvSpPr/>
          <p:nvPr/>
        </p:nvSpPr>
        <p:spPr>
          <a:xfrm>
            <a:off x="10161727" y="411480"/>
            <a:ext cx="1481328" cy="384048"/>
          </a:xfrm>
          <a:prstGeom prst="roundRect">
            <a:avLst>
              <a:gd name="adj" fmla="val 50000"/>
            </a:avLst>
          </a:prstGeom>
          <a:solidFill>
            <a:srgbClr val="7B3A8E"/>
          </a:solidFill>
          <a:ln w="12700">
            <a:solidFill>
              <a:srgbClr val="7B3A8E"/>
            </a:solidFill>
            <a:prstDash val="solid"/>
          </a:ln>
        </p:spPr>
      </p:sp>
      <p:sp>
        <p:nvSpPr>
          <p:cNvPr id="4" name="Text 2"/>
          <p:cNvSpPr txBox="1"/>
          <p:nvPr/>
        </p:nvSpPr>
        <p:spPr>
          <a:xfrm>
            <a:off x="10161727" y="411480"/>
            <a:ext cx="1481328" cy="384048"/>
          </a:xfrm>
          <a:prstGeom prst="rect">
            <a:avLst/>
          </a:prstGeom>
          <a:noFill/>
          <a:ln/>
        </p:spPr>
        <p:txBody>
          <a:bodyPr wrap="square" lIns="0" tIns="0" rIns="0" bIns="0" rtlCol="0" anchor="ctr"/>
          <a:lstStyle/>
          <a:p>
            <a:pPr algn="ctr" indent="0" marL="0">
              <a:buNone/>
            </a:pPr>
            <a:r>
              <a:rPr lang="en-US" sz="1100" b="1" spc="100" kern="0" dirty="0">
                <a:solidFill>
                  <a:srgbClr val="FFFFFF"/>
                </a:solidFill>
              </a:rPr>
              <a:t>SUMMARY</a:t>
            </a:r>
            <a:endParaRPr lang="en-US" sz="1100" dirty="0"/>
          </a:p>
        </p:txBody>
      </p:sp>
      <p:sp>
        <p:nvSpPr>
          <p:cNvPr id="5" name="Text 3"/>
          <p:cNvSpPr txBox="1"/>
          <p:nvPr/>
        </p:nvSpPr>
        <p:spPr>
          <a:xfrm>
            <a:off x="548640" y="1371600"/>
            <a:ext cx="10881360" cy="4114800"/>
          </a:xfrm>
          <a:prstGeom prst="rect">
            <a:avLst/>
          </a:prstGeom>
          <a:noFill/>
          <a:ln/>
        </p:spPr>
        <p:txBody>
          <a:bodyPr wrap="square" lIns="0" tIns="0" rIns="0" bIns="0" rtlCol="0" anchor="t"/>
          <a:lstStyle/>
          <a:p>
            <a:pPr marL="342900" indent="-342900">
              <a:spcAft>
                <a:spcPts val="1200"/>
              </a:spcAft>
              <a:buSzPct val="100000"/>
              <a:buChar char="✓"/>
            </a:pPr>
            <a:r>
              <a:rPr lang="en-US" sz="2000" dirty="0">
                <a:solidFill>
                  <a:srgbClr val="141B26"/>
                </a:solidFill>
              </a:rPr>
              <a:t>Adaptations come from genes. When abiotic or biotic factors change, a species may no longer be well adapted and can become endangered or extinct.</a:t>
            </a:r>
            <a:endParaRPr lang="en-US" sz="2000" dirty="0"/>
          </a:p>
          <a:p>
            <a:pPr marL="342900" indent="-342900">
              <a:spcAft>
                <a:spcPts val="1200"/>
              </a:spcAft>
              <a:buSzPct val="100000"/>
              <a:buChar char="✓"/>
            </a:pPr>
            <a:r>
              <a:rPr lang="en-US" sz="2000" dirty="0">
                <a:solidFill>
                  <a:srgbClr val="141B26"/>
                </a:solidFill>
              </a:rPr>
              <a:t>Competition, disease and human activities are biotic factors that can cause extinction; the grey squirrel out-competes the red.</a:t>
            </a:r>
            <a:endParaRPr lang="en-US" sz="2000" dirty="0"/>
          </a:p>
          <a:p>
            <a:pPr marL="342900" indent="-342900">
              <a:spcAft>
                <a:spcPts val="1200"/>
              </a:spcAft>
              <a:buSzPct val="100000"/>
              <a:buChar char="✓"/>
            </a:pPr>
            <a:r>
              <a:rPr lang="en-US" sz="2000" dirty="0">
                <a:solidFill>
                  <a:srgbClr val="141B26"/>
                </a:solidFill>
              </a:rPr>
              <a:t>Biodiversity is the number of different species; losing species damages ecosystems and food webs.</a:t>
            </a:r>
            <a:endParaRPr lang="en-US" sz="2000" dirty="0"/>
          </a:p>
          <a:p>
            <a:pPr marL="342900" indent="-342900">
              <a:spcAft>
                <a:spcPts val="1200"/>
              </a:spcAft>
              <a:buSzPct val="100000"/>
              <a:buChar char="✓"/>
            </a:pPr>
            <a:r>
              <a:rPr lang="en-US" sz="2000" dirty="0">
                <a:solidFill>
                  <a:srgbClr val="141B26"/>
                </a:solidFill>
              </a:rPr>
              <a:t>We preserve biodiversity with hunting bans, nature reserves, breeding programmes and gene banks.</a:t>
            </a:r>
            <a:endParaRPr lang="en-US" sz="2000" dirty="0"/>
          </a:p>
        </p:txBody>
      </p:sp>
      <p:sp>
        <p:nvSpPr>
          <p:cNvPr id="6" name="Text 4"/>
          <p:cNvSpPr txBox="1"/>
          <p:nvPr/>
        </p:nvSpPr>
        <p:spPr>
          <a:xfrm>
            <a:off x="548640" y="5577840"/>
            <a:ext cx="10881360" cy="411480"/>
          </a:xfrm>
          <a:prstGeom prst="rect">
            <a:avLst/>
          </a:prstGeom>
          <a:noFill/>
          <a:ln/>
        </p:spPr>
        <p:txBody>
          <a:bodyPr wrap="square" lIns="0" tIns="0" rIns="0" bIns="0" rtlCol="0" anchor="ctr"/>
          <a:lstStyle/>
          <a:p>
            <a:pPr indent="0" marL="0">
              <a:buNone/>
            </a:pPr>
            <a:r>
              <a:rPr lang="en-US" sz="1300" b="1" dirty="0">
                <a:solidFill>
                  <a:srgbClr val="7B3A8E"/>
                </a:solidFill>
              </a:rPr>
              <a:t>Next lesson  </a:t>
            </a:r>
            <a:pPr indent="0" marL="0">
              <a:buNone/>
            </a:pPr>
            <a:r>
              <a:rPr lang="en-US" sz="1300" dirty="0">
                <a:solidFill>
                  <a:srgbClr val="141B26"/>
                </a:solidFill>
              </a:rPr>
              <a:t>Natural selection and evolution: how the environment 'selects' the inherited variations that survive, and how new species form.</a:t>
            </a:r>
            <a:endParaRPr lang="en-US" sz="1300" dirty="0"/>
          </a:p>
        </p:txBody>
      </p:sp>
      <p:sp>
        <p:nvSpPr>
          <p:cNvPr id="25" name="Slide Number Placeholder 0"/>
          <p:cNvSpPr>
            <a:spLocks noGrp="1"/>
          </p:cNvSpPr>
          <p:nvPr>
            <p:ph type="sldNum" sz="quarter" idx="4294967295"/>
          </p:nvPr>
        </p:nvSpPr>
        <p:spPr>
          <a:xfrm>
            <a:off x="9738360" y="6419088"/>
            <a:ext cx="64008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5B6574"/>
                </a:solidFill>
              </a:defRPr>
            </a:lvl1pPr>
          </a:lstStyle>
          <a:p>
            <a:pPr algn="r"/>
            <a:fld id="{F7021451-1387-4CA6-816F-3879F97B5CBC}" type="slidenum">
              <a:rPr b="0" lang="en-US"/>
              <a:t>13</a:t>
            </a:fld>
            <a:endParaRPr lang="en-US"/>
          </a:p>
        </p:txBody>
      </p:sp>
    </p:spTree>
  </p:cSld>
  <p:clrMapOvr>
    <a:masterClrMapping/>
  </p:clrMapOvr>
</p:sld>
</file>

<file path=ppt/theme/theme1.xml><?xml version="1.0" encoding="utf-8"?>
<a:theme xmlns:a="http://schemas.openxmlformats.org/drawingml/2006/main" name="Year 9 Science">
  <a:themeElements>
    <a:clrScheme name="Year 9 Science">
      <a:dk1>
        <a:srgbClr val="141B26"/>
      </a:dk1>
      <a:lt1>
        <a:srgbClr val="FFFFFF"/>
      </a:lt1>
      <a:dk2>
        <a:srgbClr val="0F2A5F"/>
      </a:dk2>
      <a:lt2>
        <a:srgbClr val="EEF1F5"/>
      </a:lt2>
      <a:accent1>
        <a:srgbClr val="7B3A8E"/>
      </a:accent1>
      <a:accent2>
        <a:srgbClr val="F2CE3E"/>
      </a:accent2>
      <a:accent3>
        <a:srgbClr val="5B6574"/>
      </a:accent3>
      <a:accent4>
        <a:srgbClr val="D5DBE3"/>
      </a:accent4>
      <a:accent5>
        <a:srgbClr val="F1E5F4"/>
      </a:accent5>
      <a:accent6>
        <a:srgbClr val="1E7DB0"/>
      </a:accent6>
      <a:hlink>
        <a:srgbClr val="1E7DB0"/>
      </a:hlink>
      <a:folHlink>
        <a:srgbClr val="7B3A8E"/>
      </a:folHlink>
    </a:clrScheme>
    <a:fontScheme name="Year 9 Science">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13</Slides>
  <Notes>13</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13</vt:i4>
      </vt:variant>
    </vt:vector>
  </HeadingPairs>
  <TitlesOfParts>
    <vt:vector size="16"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9A Lesson 6: Genes, adaptation and extinction</dc:title>
  <dc:subject>PptxGenJS Presentation</dc:subject>
  <dc:creator>Year 9 Science</dc:creator>
  <cp:lastModifiedBy>Year 9 Science</cp:lastModifiedBy>
  <cp:revision>1</cp:revision>
  <dcterms:created xsi:type="dcterms:W3CDTF">2026-10-28T09:44:57Z</dcterms:created>
  <dcterms:modified xsi:type="dcterms:W3CDTF">2026-10-28T09:44:57Z</dcterms:modified>
</cp:coreProperties>
</file>