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the students meet the molecule behind inherited variation. The story of 1953 shows how scientists share evidence and test models; the second half gives the cell to gene hierarchy they need for the rest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 were James Watson and Francis Crick; they had built a cardboard model of DNA. Genetic information is in the nucleus. Human body cells have 46 chromosomes. Four minutes, in 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goals. The names Franklin, Wilkins, Watson and Crick come up all lesson; write them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spiral (helix) molecules make an X pattern in an X-ray photo. The photo gave Watson and Crick the evidence they needed to finish their model. Scientists build on each other's data; the question of whether the photo should have been shown without Franklin's permission comes back in Think and Reflect.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sequence: model, told it was wrong, new evidence, better model, published, tested. If you have a pipe-cleaner, twist two strands together to show a double helix.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fill in a matching question on this at Core. The Think and Reflect slide asks whether the discovery should carry only Watson and Crick's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chain out loud together, biggest to smallest. Check: which is bigger, a gene or a chromosome? (A chromosome: it holds thousands of genes along its DNA.)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pair 23 on the karyotype: is this cell from a male or a female? (If X and a smaller Y are shown, male.) Each gene therefore has two copies in a body cell, one on each chromosome of the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23; 46; DNA; Rosalind Franklin (and Maurice Wilkins); 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errors: ordering the bar chart randomly (ask for ascending order or grouped by animal type); saying a gamete has 46 chromosomes. The conclusion question (one bird in the data) is about sample size: one chicken cannot tell you about all birds.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no single right answer; expect students to say that all four contributed and that the X-ray evidence was essential. Today data are shared openly through published papers with named authors, and using someone's unpublished data without permission is not acceptable.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in the chromosomes in the nucleus; 46 and 23; a section of DNA that carries the instructions (genetic information) for a characteristic.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Homework: Workbook pages 8 and 9 (9Ac DNA).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2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essons/design/assets/school_logo_horizonta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715000"/>
            <a:ext cx="2011680" cy="8321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2A5F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Year 9 Science  |  9A Genetics and evolution  |  Lesson 4: DNA, chromosomes and genes</a:t>
            </a:r>
            <a:endParaRPr lang="en-US" sz="1000" dirty="0"/>
          </a:p>
        </p:txBody>
      </p:sp>
      <p:pic>
        <p:nvPicPr>
          <p:cNvPr id="4" name="Image 0" descr="/home/user/lessons/design/assets/school_logo_horizont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263640"/>
            <a:ext cx="1143000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rgbClr val="F1E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2A5F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Year 9 Science  |  9A Genetics and evolution  |  Lesson 4: DNA, chromosomes and genes</a:t>
            </a:r>
            <a:endParaRPr lang="en-US" sz="1000" dirty="0"/>
          </a:p>
        </p:txBody>
      </p:sp>
      <p:pic>
        <p:nvPicPr>
          <p:cNvPr id="4" name="Image 0" descr="/home/user/lessons/design/assets/school_logo_horizont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263640"/>
            <a:ext cx="1143000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2A5F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Year 9 Science  |  9A Genetics and evolution  |  Lesson 4: DNA, chromosomes and genes</a:t>
            </a:r>
            <a:endParaRPr lang="en-US" sz="1000" dirty="0"/>
          </a:p>
        </p:txBody>
      </p:sp>
      <p:pic>
        <p:nvPicPr>
          <p:cNvPr id="4" name="Image 0" descr="/home/user/lessons/design/assets/school_logo_horizont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263640"/>
            <a:ext cx="1143000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FETY">
    <p:bg>
      <p:bgPr>
        <a:solidFill>
          <a:srgbClr val="F2C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rgbClr val="3A2E00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2E00"/>
                </a:solidFill>
              </a:rPr>
              <a:t>Year 9 Science  |  9A Genetics and evolution  |  Lesson 4: DNA, chromosomes and genes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CE3E"/>
                </a:solidFill>
              </a:rPr>
              <a:t>YEAR 9 SCIENCE  ·  9A GENETICS AND EVOLUTION  ·  LESSON 4 OF 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DNA, chromosomes and genes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How is genetic information stored?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E6"/>
                </a:solidFill>
              </a:rPr>
              <a:t>Exploring Science International 9  ·  Student Book pages 12 to 13  ·  Workbook pages 8 to 9</a:t>
            </a:r>
            <a:endParaRPr lang="en-US" sz="1400" dirty="0"/>
          </a:p>
        </p:txBody>
      </p:sp>
      <p:pic>
        <p:nvPicPr>
          <p:cNvPr id="6" name="Image 0" descr="/home/user/lessons/Y9_Exploring_Science/images/dna_helix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0640" y="4572000"/>
            <a:ext cx="2438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Do Now: the secret of life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08031" y="41148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08031" y="41148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DO 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682935" y="9144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B3A8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82935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min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9692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41B26"/>
                </a:solidFill>
              </a:rPr>
              <a:t>28 February 1953, Cambridge. Two men interrupt people eating lunch: 'We have discovered the secret of life!'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41B26"/>
                </a:solidFill>
              </a:rPr>
              <a:t>1. What do you think they had discovered?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41B26"/>
                </a:solidFill>
              </a:rPr>
              <a:t>2. Where in a cell is genetic information stored?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41B26"/>
                </a:solidFill>
              </a:rPr>
              <a:t>3. Guess: how many chromosomes are in one human body cell?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Today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TODAY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Today I can ...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94360" y="181051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0F2A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17373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I can outline how the structure of DNA was discovered and say what each scientist did.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267919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0F2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6060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I can describe how DNA, chromosomes, genes and genetic information are linked, and give the number of chromosomes in body cells and gametes.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Key words today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69080"/>
            <a:ext cx="3515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DNA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double helix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chromosome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gene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338218" y="4069080"/>
            <a:ext cx="3515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genetic information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nucleus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sex chromosomes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gamete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127797" y="4069080"/>
            <a:ext cx="3515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200" b="1" dirty="0">
                <a:solidFill>
                  <a:srgbClr val="0F2A5F"/>
                </a:solidFill>
              </a:rPr>
              <a:t>zygote</a:t>
            </a:r>
            <a:endParaRPr lang="en-US" sz="22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200" b="1" dirty="0">
                <a:solidFill>
                  <a:srgbClr val="0F2A5F"/>
                </a:solidFill>
              </a:rPr>
              <a:t>X-ray</a:t>
            </a:r>
            <a:endParaRPr lang="en-US" sz="22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200" b="1" dirty="0">
                <a:solidFill>
                  <a:srgbClr val="0F2A5F"/>
                </a:solidFill>
              </a:rPr>
              <a:t>model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4"/>
                </a:solidFill>
              </a:rPr>
              <a:t>Meanings are in the key words box on your worksheet.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A blurry 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HOOK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2A5F"/>
                </a:solidFill>
              </a:rPr>
              <a:t>In 1952 Rosalind Franklin took an X-ray photo of DNA. It looked like a blurry X. When James Watson saw it, he knew at once that DNA must be a spiral. Why was seeing another scientist's data so important?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41B26"/>
                </a:solidFill>
              </a:rPr>
              <a:t>Talk to a partner: what could Watson and Crick do with the photo that they could not do without it?</a:t>
            </a:r>
            <a:endParaRPr lang="en-US" sz="2000" dirty="0"/>
          </a:p>
        </p:txBody>
      </p:sp>
      <p:pic>
        <p:nvPicPr>
          <p:cNvPr id="7" name="Image 0" descr="/home/user/lessons/Y9_Exploring_Science/images/rosalind_frankl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614577"/>
            <a:ext cx="5303520" cy="35374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09360" y="5197703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B26"/>
                </a:solidFill>
              </a:rPr>
              <a:t>A copy of Rosalind Franklin's X-ray photograph of DNA (Photo 51)</a:t>
            </a:r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574"/>
                </a:solidFill>
              </a:rPr>
              <a:t>Image: Ryan Somma, CC BY-SA 2.0, via Wikimedia Commons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Discovering the structure of DNA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400" dirty="0">
                <a:solidFill>
                  <a:srgbClr val="7B3A8E"/>
                </a:solidFill>
              </a:rPr>
              <a:t>DNA   ·   double helix   ·   X-ray   ·   model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Watson and Crick used their own data and other scientists' data to build a model of DNA.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Franklin told them their first model was wrong.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Franklin and Wilkins took X-ray photos of DNA; Wilkins showed one to Watson in 1953.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Watson and Crick published the double helix model in Nature on 25 April 1953. Wilkins then spent years testing and correcting it.</a:t>
            </a:r>
            <a:endParaRPr lang="en-US" sz="2000" dirty="0"/>
          </a:p>
        </p:txBody>
      </p:sp>
      <p:pic>
        <p:nvPicPr>
          <p:cNvPr id="7" name="Image 0" descr="/home/user/lessons/Y9_Exploring_Science/images/dna_helix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9880" y="1280160"/>
            <a:ext cx="4876800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0" y="49834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B26"/>
                </a:solidFill>
              </a:rPr>
              <a:t>The double helix: two strands twisted into a spiral</a:t>
            </a:r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574"/>
                </a:solidFill>
              </a:rPr>
              <a:t>Image: National Institutes of Health (NIH), Public domain, via Wikimedia Commons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A scientific model is built from evidence, shared, tested and corrected.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Who did what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400" dirty="0">
                <a:solidFill>
                  <a:srgbClr val="7B3A8E"/>
                </a:solidFill>
              </a:rPr>
              <a:t>X-ray   ·   model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Scientist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they did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B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Rosalind Franklin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B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Took very clear X-ray photos of DNA; told Watson and Crick their first model was wrong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B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Maurice Wilkins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B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Took X-ray photos; showed Franklin's photo to Watson; tested and corrected the model for years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B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James Watson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B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Saw from the photo that DNA was a spiral; built the double helix model with Crick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B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Crick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B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the model with Watson; worked out the shape from the X-ray evidence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72400" y="137160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All four published their work in the same edition of Nature.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Watson, Crick and Wilkins shared the Nobel Prize in 1962.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Franklin had died in 1958. Nobel Prizes are not given after death.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Discoveries are usually made by groups of scientists sharing evidence.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From cell to gene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400" dirty="0">
                <a:solidFill>
                  <a:srgbClr val="7B3A8E"/>
                </a:solidFill>
              </a:rPr>
              <a:t>nucleus   ·   chromosome   ·   DNA   ·   gene   ·   genetic information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42976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DNA is found in chromosomes, inside the nucleus of a cell.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Each chromosome contains one enormously long DNA molecule.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Genes are sections of a DNA molecule. Genetic information is stored in genes.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Genes control inherited characteristics. A few (ABO blood group) depend on one gene; most depend on many genes.</a:t>
            </a:r>
            <a:endParaRPr lang="en-US" sz="2000" dirty="0"/>
          </a:p>
        </p:txBody>
      </p:sp>
      <p:pic>
        <p:nvPicPr>
          <p:cNvPr id="7" name="Image 0" descr="/home/user/lessons/Y9_Exploring_Science/source/diagrams/dna_chromosome_ge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421892"/>
            <a:ext cx="6583680" cy="33741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cell &gt; nucleus &gt; chromosome &gt; DNA &gt; gene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Counting chromosomes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400" dirty="0">
                <a:solidFill>
                  <a:srgbClr val="7B3A8E"/>
                </a:solidFill>
              </a:rPr>
              <a:t>sex chromosomes   ·   gamete   ·   zygote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Most human cells contain 23 pairs of chromosomes: 46 in all.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Both chromosomes in a pair carry the same genes and are the same size, except the sex chromosomes: XX (female), XY (male). Y is much smaller.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Gametes contain only 23 chromosomes. When two gametes fuse, the zygote has 46.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Cell division then copies the 46 chromosomes into every new cell.</a:t>
            </a:r>
            <a:endParaRPr lang="en-US" sz="2000" dirty="0"/>
          </a:p>
        </p:txBody>
      </p:sp>
      <p:pic>
        <p:nvPicPr>
          <p:cNvPr id="7" name="Image 0" descr="/home/user/lessons/Y9_Exploring_Science/images/karyotyp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0478" y="1280160"/>
            <a:ext cx="4815605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0" y="49834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B26"/>
                </a:solidFill>
              </a:rPr>
              <a:t>The chromosomes of one human cell, sorted into pairs</a:t>
            </a:r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574"/>
                </a:solidFill>
              </a:rPr>
              <a:t>Image: Can H., CC BY 2.0, via Wikimedia Commons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Body cells: 46 (23 pairs). Gametes: 23. Zygote: 23 + 23 = 46.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Quick check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4"/>
                </a:solidFill>
              </a:rPr>
              <a:t>Mini whiteboards. Short answers.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8308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Q1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How many chromosomes are in a human sperm cell?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060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Q2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How many chromosomes are in a human heart muscle cell?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2900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Q3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What long molecule does a chromosome contain?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251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Q4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Who took the X-ray photos of DNA?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07492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07492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Q5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A cell has an X and a Y chromosome. Male or female?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Your turn: DNA and chromosomes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682935" y="9144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B3A8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82935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13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min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3716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Core: match the scientists; write the numbers; order cell, nucleus, chromosome and gene by size; read the karyotype.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2860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Stretch: plot the chromosome numbers of five animals in a logical order, then judge the conclusion about birds and mammals.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2004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Challenge: draw the links between DNA, chromosomes, genes and genetic information; explain how scientists share data.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148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Use the key words box: DNA, chromosome, gene, nucleus.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4"/>
                </a:solidFill>
              </a:rPr>
              <a:t>Numbers to remember: 46 in a body cell, 23 in a gamete, 1 DNA molecule per chromosome.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Whose discovery?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98687" y="411480"/>
            <a:ext cx="2944368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98687" y="411480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THINK AND REFLECT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A5F"/>
                </a:solidFill>
              </a:rPr>
              <a:t>Textbooks often call the double helix 'Watson and Crick's model'. Franklin's X-ray photo was shown to Watson without her permission, and she died before the Nobel Prize. Should the discovery carry only two names?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7B3A8E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0424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7B3A8E"/>
                </a:solidFill>
              </a:rPr>
              <a:t>Sentence frames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41B26"/>
                </a:solidFill>
              </a:rPr>
              <a:t>I think the discovery should be called ___ because ___.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41B26"/>
                </a:solidFill>
              </a:rPr>
              <a:t>The evidence that mattered most was ___, which came from ___.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41B26"/>
                </a:solidFill>
              </a:rPr>
              <a:t>Today, scientists should share data by ___.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Exit ticket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576511" y="411480"/>
            <a:ext cx="2066544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76511" y="41148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EXIT TICKET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4"/>
                </a:solidFill>
              </a:rPr>
              <a:t>On your worksheet exit ticket. Work alone. Hand it in as you leave.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1.  </a:t>
            </a:r>
            <a:pPr indent="0" marL="0">
              <a:buNone/>
            </a:pPr>
            <a:r>
              <a:rPr lang="en-US" sz="2200" dirty="0">
                <a:solidFill>
                  <a:srgbClr val="141B26"/>
                </a:solidFill>
              </a:rPr>
              <a:t>Where in a cell is DNA found?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2.  </a:t>
            </a:r>
            <a:pPr indent="0" marL="0">
              <a:buNone/>
            </a:pPr>
            <a:r>
              <a:rPr lang="en-US" sz="2200" dirty="0">
                <a:solidFill>
                  <a:srgbClr val="141B26"/>
                </a:solidFill>
              </a:rPr>
              <a:t>How many chromosomes are there in a human body cell, and in a human gamete?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0624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3.  </a:t>
            </a:r>
            <a:pPr indent="0" marL="0">
              <a:buNone/>
            </a:pPr>
            <a:r>
              <a:rPr lang="en-US" sz="2200" dirty="0">
                <a:solidFill>
                  <a:srgbClr val="141B26"/>
                </a:solidFill>
              </a:rPr>
              <a:t>What is a gene?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0682935" y="9144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B3A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82935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3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min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What we learned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61727" y="411480"/>
            <a:ext cx="1481328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61727" y="41148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0881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2000" dirty="0">
                <a:solidFill>
                  <a:srgbClr val="141B26"/>
                </a:solidFill>
              </a:rPr>
              <a:t>The double helix structure of DNA was worked out in 1953 by Watson and Crick, using X-ray evidence from Franklin and Wilkins.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2000" dirty="0">
                <a:solidFill>
                  <a:srgbClr val="141B26"/>
                </a:solidFill>
              </a:rPr>
              <a:t>DNA is in the chromosomes in the nucleus; each chromosome is one long DNA molecule; genes are sections of DNA that carry genetic information.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2000" dirty="0">
                <a:solidFill>
                  <a:srgbClr val="141B26"/>
                </a:solidFill>
              </a:rPr>
              <a:t>Human body cells have 23 pairs (46) of chromosomes; gametes have 23; a zygote has 46.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2000" dirty="0">
                <a:solidFill>
                  <a:srgbClr val="141B26"/>
                </a:solidFill>
              </a:rPr>
              <a:t>The sex chromosomes are XX in females and XY in males.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5778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Next lesson  </a:t>
            </a:r>
            <a:pPr indent="0" marL="0">
              <a:buNone/>
            </a:pPr>
            <a:r>
              <a:rPr lang="en-US" sz="1400" dirty="0">
                <a:solidFill>
                  <a:srgbClr val="141B26"/>
                </a:solidFill>
              </a:rPr>
              <a:t>Genetic counselling: how genetic tests work and how a counsellor explains probabilities to a family.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Year 9 Science">
  <a:themeElements>
    <a:clrScheme name="Year 9 Science">
      <a:dk1>
        <a:srgbClr val="141B26"/>
      </a:dk1>
      <a:lt1>
        <a:srgbClr val="FFFFFF"/>
      </a:lt1>
      <a:dk2>
        <a:srgbClr val="0F2A5F"/>
      </a:dk2>
      <a:lt2>
        <a:srgbClr val="EEF1F5"/>
      </a:lt2>
      <a:accent1>
        <a:srgbClr val="7B3A8E"/>
      </a:accent1>
      <a:accent2>
        <a:srgbClr val="F2CE3E"/>
      </a:accent2>
      <a:accent3>
        <a:srgbClr val="5B6574"/>
      </a:accent3>
      <a:accent4>
        <a:srgbClr val="D5DBE3"/>
      </a:accent4>
      <a:accent5>
        <a:srgbClr val="F1E5F4"/>
      </a:accent5>
      <a:accent6>
        <a:srgbClr val="1E7DB0"/>
      </a:accent6>
      <a:hlink>
        <a:srgbClr val="1E7DB0"/>
      </a:hlink>
      <a:folHlink>
        <a:srgbClr val="7B3A8E"/>
      </a:folHlink>
    </a:clrScheme>
    <a:fontScheme name="Year 9 Scien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9A Lesson 4: DNA, chromosomes and genes</dc:title>
  <dc:subject>PptxGenJS Presentation</dc:subject>
  <dc:creator>Year 9 Science</dc:creator>
  <cp:lastModifiedBy>Year 9 Science</cp:lastModifiedBy>
  <cp:revision>1</cp:revision>
  <dcterms:created xsi:type="dcterms:W3CDTF">2026-10-28T09:44:48Z</dcterms:created>
  <dcterms:modified xsi:type="dcterms:W3CDTF">2026-10-28T09:44:48Z</dcterms:modified>
</cp:coreProperties>
</file>