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A5F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0F2A5F"/>
                </a:solidFill>
                <a:latin typeface="+mj-lt"/>
              </a:rPr>
              <a:t>Shirt sleeve lengths needed by a sample of 102 men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men</c:v>
                </c:pt>
              </c:strCache>
            </c:strRef>
          </c:tx>
          <c:spPr>
            <a:solidFill>
              <a:srgbClr val="7B3A8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B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80</c:v>
                  </c:pt>
                  <c:pt idx="1">
                    <c:v>85</c:v>
                  </c:pt>
                  <c:pt idx="2">
                    <c:v>90</c:v>
                  </c:pt>
                  <c:pt idx="3">
                    <c:v>95</c:v>
                  </c:pt>
                  <c:pt idx="4">
                    <c:v>100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18</c:v>
                </c:pt>
                <c:pt idx="2">
                  <c:v>55</c:v>
                </c:pt>
                <c:pt idx="3">
                  <c:v>20</c:v>
                </c:pt>
                <c:pt idx="4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41B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41B26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141B26"/>
                    </a:solidFill>
                    <a:latin typeface="+mn-lt"/>
                  </a:rPr>
                  <a:t>Sleeve length (cm)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B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B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41B26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141B26"/>
                    </a:solidFill>
                    <a:latin typeface="+mn-lt"/>
                  </a:rPr>
                  <a:t>Number of men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B2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Working Scientifically lesson. The maths is revision; the science is using it to describe variation and to predict inherited conditions, which leads into genetic counselling in Lesson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if that hour happened 100 times over, it would rain on about 76 occasions; 76/100 (or 19/25) and 0.76; not certain, because certain would be 100%. Four minutes, in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goals. Mean, median and mode are maths words the students know; today they are used on science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sample is large so that the results represent the whole population; the findings could decide whether to use dinosaurs in an advert. Twenty people might all be from one school or one age group. This is statistics: collecting, analysing and presenting data to draw conclusions and make predictions.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the example on the board (the list is six values for speed: mean = 537 divided by 6 = 89.5). A clothing company uses this to decide how many shirts of each size to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along the scale. Ask for the probability of the Sun rising tomorrow (certain) and of finding a live dinosaur (impossible). Check conversions: 25% = 1/4 = 0.25.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Achondroplasia is an inherited condition in which people do not grow very tall (up to about 130 cm). Neither parent: 0.003%; one parent: 50%; both parents: 75%. The worksheet Challenge uses these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is a random shopper more likely to need 85 cm or 95 cm sleeves? (About the same: 18 and 20.) Which value is the mean, median and mode here? (90 cm.)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1/4; 75%; 1/6 (about 17%); 0; 48/100 = 0.48 = 48%.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minutes. Pairs: one throws, one records, swap at 25 throws. If time is short, stop at 30 throws and divide by 30. Pool the class results on the board for a bigger sample: the experimental probabilities get closer to the theoretical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still 50%; each fertilisation is a separate event, like a new coin flip; certain would be 100%. Link to Lesson 5: a genetic counsellor explains these probabilities to families.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the chance of something happening; 0.05; 5/50 = 1/10 = 10%.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Workbook page 7 (9Ab Probability).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2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essons/design/assets/school_logo_horizont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715000"/>
            <a:ext cx="2011680" cy="8321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576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F2A5F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4"/>
                </a:solidFill>
              </a:rPr>
              <a:t>Year 9 Science  |  9A Genetics and evolution  |  Lesson 3: Probability and statistics</a:t>
            </a:r>
            <a:endParaRPr lang="en-US" sz="900" dirty="0"/>
          </a:p>
        </p:txBody>
      </p:sp>
      <p:pic>
        <p:nvPicPr>
          <p:cNvPr id="4" name="Image 0" descr="/home/user/lessons/design/assets/school_logo_horizonta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263640"/>
            <a:ext cx="1143000" cy="475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F1E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F2A5F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4"/>
                </a:solidFill>
              </a:rPr>
              <a:t>Year 9 Science  |  9A Genetics and evolution  |  Lesson 3: Probability and statistics</a:t>
            </a:r>
            <a:endParaRPr lang="en-US" sz="900" dirty="0"/>
          </a:p>
        </p:txBody>
      </p:sp>
      <p:pic>
        <p:nvPicPr>
          <p:cNvPr id="4" name="Image 0" descr="/home/user/lessons/design/assets/school_logo_horizonta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263640"/>
            <a:ext cx="1143000" cy="475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F2A5F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4"/>
                </a:solidFill>
              </a:rPr>
              <a:t>Year 9 Science  |  9A Genetics and evolution  |  Lesson 3: Probability and statistics</a:t>
            </a:r>
            <a:endParaRPr lang="en-US" sz="900" dirty="0"/>
          </a:p>
        </p:txBody>
      </p:sp>
      <p:pic>
        <p:nvPicPr>
          <p:cNvPr id="4" name="Image 0" descr="/home/user/lessons/design/assets/school_logo_horizonta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263640"/>
            <a:ext cx="1143000" cy="475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FETY">
    <p:bg>
      <p:bgPr>
        <a:solidFill>
          <a:srgbClr val="F2C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3A2E00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2E00"/>
                </a:solidFill>
              </a:rPr>
              <a:t>Year 9 Science  |  9A Genetics and evolution  |  Lesson 3: Probability and statistics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E3E"/>
                </a:solidFill>
              </a:rPr>
              <a:t>YEAR 9 SCIENCE  ·  9A GENETICS AND EVOLUTION  ·  LESSON 3 OF 7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Probability and statistics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57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How do scientists use statistics and probability?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6"/>
                </a:solidFill>
              </a:rPr>
              <a:t>Exploring Science International 9  ·  Student Book pages 10 to 11  ·  Workbook pages 7</a:t>
            </a:r>
            <a:endParaRPr lang="en-US" sz="1200" dirty="0"/>
          </a:p>
        </p:txBody>
      </p:sp>
      <p:pic>
        <p:nvPicPr>
          <p:cNvPr id="6" name="Image 0" descr="/home/user/lessons/Y9_Exploring_Science/images/di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5271" y="4572000"/>
            <a:ext cx="3249137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Do Now: chance of rain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308031" y="41148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08031" y="4114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DO NOW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682935" y="91440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3A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82935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A8E"/>
                </a:solidFill>
              </a:rPr>
              <a:t>4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574"/>
                </a:solidFill>
              </a:rPr>
              <a:t>min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9692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41B26"/>
                </a:solidFill>
              </a:rPr>
              <a:t>A weather app says there is a 76% chance of rain between 11:00 and 12:00 tomorrow.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41B26"/>
                </a:solidFill>
              </a:rPr>
              <a:t>1. What do you think 76% means here?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41B26"/>
                </a:solidFill>
              </a:rPr>
              <a:t>2. Write 76% as a fraction and as a decimal.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41B26"/>
                </a:solidFill>
              </a:rPr>
              <a:t>3. Is rain certain? How do you know?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TODAY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3A8E"/>
                </a:solidFill>
              </a:rPr>
              <a:t>Today I can ...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194767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8745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41B26"/>
                </a:solidFill>
              </a:rPr>
              <a:t>I can explain what probability is and write a probability as a percentage, a fraction and a decimal.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90779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8346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41B26"/>
                </a:solidFill>
              </a:rPr>
              <a:t>I can calculate an experimental probability from results and compare it with a theoretical probability.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325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3A8E"/>
                </a:solidFill>
              </a:rPr>
              <a:t>Key words today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87452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statistics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collecting, analysing and presenting data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sample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a small part of a group that is measured to estimate the whole group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mean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the sum of the values divided by the number of values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median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the middle value when the values are in order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mode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the most common value in a set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probability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the chance of something happening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percentage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a number out of 100, shown with the % sign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fraction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a part of a whole, written as one number over another, e.g. 1/4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decimal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a number written with a decimal point, e.g. 0.25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experimental probability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a probability worked out from the results of an experiment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theoretical probability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a probability worked out by reasoning about all the possible outcomes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Are you interested in dinosaurs?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5F"/>
                </a:solidFill>
              </a:rPr>
              <a:t>A company asked 113,867 people in Japan how interested they were in dinosaurs. 25% said 'interested' and 10% said 'uninterested'. Why ask so many people, and what could the company do with the answers?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1B26"/>
                </a:solidFill>
              </a:rPr>
              <a:t>Talk to a partner. Would 20 people have been enough?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What statistics is for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5332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A8E"/>
                </a:solidFill>
              </a:rPr>
              <a:t>Key words  </a:t>
            </a:r>
            <a:pPr indent="0" marL="0">
              <a:buNone/>
            </a:pPr>
            <a:r>
              <a:rPr lang="en-US" sz="1200" dirty="0">
                <a:solidFill>
                  <a:srgbClr val="7B3A8E"/>
                </a:solidFill>
              </a:rPr>
              <a:t>statistics   ·   sample   ·   mean   ·   median   ·   mode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08813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1B26"/>
                </a:solidFill>
              </a:rPr>
              <a:t>Statistics is collecting, analysing and presenting data.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1B26"/>
                </a:solidFill>
              </a:rPr>
              <a:t>Collect data: use a sample to estimate values for a whole population.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1B26"/>
                </a:solidFill>
              </a:rPr>
              <a:t>Draw conclusions: calculate averages (mean, median, mode); find patterns with graphs.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1B26"/>
                </a:solidFill>
              </a:rPr>
              <a:t>Present findings and make predictions.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1B26"/>
                </a:solidFill>
              </a:rPr>
              <a:t>Example: sleeve lengths of 12 men: 86, 88, 90, 90, 91, 92 cm. Mode 90, median 90, mean 89.5.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solidFill>
            <a:srgbClr val="F1E5F4"/>
          </a:solidFill>
          <a:ln w="12700">
            <a:solidFill>
              <a:srgbClr val="F1E5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B3A8E"/>
                </a:solidFill>
              </a:rPr>
              <a:t>Key idea  </a:t>
            </a:r>
            <a:pPr indent="0" marL="0">
              <a:buNone/>
            </a:pPr>
            <a:r>
              <a:rPr lang="en-US" sz="1400" dirty="0">
                <a:solidFill>
                  <a:srgbClr val="141B26"/>
                </a:solidFill>
              </a:rPr>
              <a:t>Mean: add up and divide. Median: middle value in order. Mode: most common value.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Probability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5332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A8E"/>
                </a:solidFill>
              </a:rPr>
              <a:t>Key words  </a:t>
            </a:r>
            <a:pPr indent="0" marL="0">
              <a:buNone/>
            </a:pPr>
            <a:r>
              <a:rPr lang="en-US" sz="1200" dirty="0">
                <a:solidFill>
                  <a:srgbClr val="7B3A8E"/>
                </a:solidFill>
              </a:rPr>
              <a:t>probability   ·   percentage   ·   fraction   ·   decimal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42976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1B26"/>
                </a:solidFill>
              </a:rPr>
              <a:t>Probability is the chance of something happening.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1B26"/>
                </a:solidFill>
              </a:rPr>
              <a:t>0% (0) is impossible; 100% (1) is certain; 50% (1/2, 0.5) is an even chance.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1B26"/>
                </a:solidFill>
              </a:rPr>
              <a:t>To change a percentage to a decimal: write it over 100 and divide. 52% = 52/100 = 0.52.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1B26"/>
                </a:solidFill>
              </a:rPr>
              <a:t>With one dice: probability of a 1 is 1/6; of 'not 1' is 5/6.</a:t>
            </a:r>
            <a:endParaRPr lang="en-US" sz="1700" dirty="0"/>
          </a:p>
        </p:txBody>
      </p:sp>
      <p:pic>
        <p:nvPicPr>
          <p:cNvPr id="7" name="Image 0" descr="/home/user/lessons/Y9_Exploring_Science/source/diagrams/probability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833372"/>
            <a:ext cx="6583680" cy="25511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solidFill>
            <a:srgbClr val="F1E5F4"/>
          </a:solidFill>
          <a:ln w="12700">
            <a:solidFill>
              <a:srgbClr val="F1E5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B3A8E"/>
                </a:solidFill>
              </a:rPr>
              <a:t>Key idea  </a:t>
            </a:r>
            <a:pPr indent="0" marL="0">
              <a:buNone/>
            </a:pPr>
            <a:r>
              <a:rPr lang="en-US" sz="1400" dirty="0">
                <a:solidFill>
                  <a:srgbClr val="141B26"/>
                </a:solidFill>
              </a:rPr>
              <a:t>The same probability can be written as a percentage, a fraction or a decimal.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Experimental or theoretical?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5332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A8E"/>
                </a:solidFill>
              </a:rPr>
              <a:t>Key words  </a:t>
            </a:r>
            <a:pPr indent="0" marL="0">
              <a:buNone/>
            </a:pPr>
            <a:r>
              <a:rPr lang="en-US" sz="1200" dirty="0">
                <a:solidFill>
                  <a:srgbClr val="7B3A8E"/>
                </a:solidFill>
              </a:rPr>
              <a:t>experimental probability   ·   theoretical probability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EEF1F5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4630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5F"/>
                </a:solidFill>
              </a:rPr>
              <a:t>Experimental probability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11680"/>
            <a:ext cx="48006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B26"/>
                </a:solidFill>
              </a:rPr>
              <a:t>Worked out from results.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B26"/>
                </a:solidFill>
              </a:rPr>
              <a:t>Flip a coin 100 times: 52 heads, so 52/100 = 52%.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B26"/>
                </a:solidFill>
              </a:rPr>
              <a:t>Gets closer to the true value with more trials.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B26"/>
                </a:solidFill>
              </a:rPr>
              <a:t>Used when we cannot reason out every outcome, e.g. weather.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1E5F4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4630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5F"/>
                </a:solidFill>
              </a:rPr>
              <a:t>Theoretical probability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011680"/>
            <a:ext cx="48006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B26"/>
                </a:solidFill>
              </a:rPr>
              <a:t>Worked out by reasoning about all the outcomes.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B26"/>
                </a:solidFill>
              </a:rPr>
              <a:t>A fair coin: 1/2. One dice: 1/6 for each number.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B26"/>
                </a:solidFill>
              </a:rPr>
              <a:t>Inheritance: if one parent has achondroplasia, each child has a 50% chance.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B26"/>
                </a:solidFill>
              </a:rPr>
              <a:t>Does not change because of earlier results.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solidFill>
            <a:srgbClr val="F1E5F4"/>
          </a:solidFill>
          <a:ln w="12700">
            <a:solidFill>
              <a:srgbClr val="F1E5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B3A8E"/>
                </a:solidFill>
              </a:rPr>
              <a:t>Key idea  </a:t>
            </a:r>
            <a:pPr indent="0" marL="0">
              <a:buNone/>
            </a:pPr>
            <a:r>
              <a:rPr lang="en-US" sz="1400" dirty="0">
                <a:solidFill>
                  <a:srgbClr val="141B26"/>
                </a:solidFill>
              </a:rPr>
              <a:t>Experimental comes from doing it; theoretical comes from thinking about it. With many trials they get close.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Probability from a normal distribution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5332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A8E"/>
                </a:solidFill>
              </a:rPr>
              <a:t>Key words  </a:t>
            </a:r>
            <a:pPr indent="0" marL="0">
              <a:buNone/>
            </a:pPr>
            <a:r>
              <a:rPr lang="en-US" sz="1200" dirty="0">
                <a:solidFill>
                  <a:srgbClr val="7B3A8E"/>
                </a:solidFill>
              </a:rPr>
              <a:t>normal distribution   ·   mean   ·   median   ·   mode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2588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223760" y="1371600"/>
            <a:ext cx="4389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B26"/>
                </a:solidFill>
              </a:rPr>
              <a:t>A shopper picked at random is much more likely to need 90 cm sleeves than 95 cm.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B26"/>
                </a:solidFill>
              </a:rPr>
              <a:t>Probability of needing 95 cm: 20 out of 102, about 20%.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B26"/>
                </a:solidFill>
              </a:rPr>
              <a:t>In a normal distribution the mean, median and mode are the same value.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5852160"/>
            <a:ext cx="11094415" cy="566928"/>
          </a:xfrm>
          <a:prstGeom prst="rect">
            <a:avLst/>
          </a:prstGeom>
          <a:solidFill>
            <a:srgbClr val="F1E5F4"/>
          </a:solidFill>
          <a:ln w="12700">
            <a:solidFill>
              <a:srgbClr val="F1E5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8521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B3A8E"/>
                </a:solidFill>
              </a:rPr>
              <a:t>Key idea  </a:t>
            </a:r>
            <a:pPr indent="0" marL="0">
              <a:buNone/>
            </a:pPr>
            <a:r>
              <a:rPr lang="en-US" sz="1400" dirty="0">
                <a:solidFill>
                  <a:srgbClr val="141B26"/>
                </a:solidFill>
              </a:rPr>
              <a:t>A bell-shaped graph tells you how likely each value 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CHECK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4"/>
                </a:solidFill>
              </a:rPr>
              <a:t>Mini whiteboards. Write the answer, then we check.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B3A8E"/>
                </a:solidFill>
              </a:rPr>
              <a:t>Q1  </a:t>
            </a:r>
            <a:pPr indent="0" marL="0">
              <a:buNone/>
            </a:pPr>
            <a:r>
              <a:rPr lang="en-US" sz="1600" dirty="0">
                <a:solidFill>
                  <a:srgbClr val="141B26"/>
                </a:solidFill>
              </a:rPr>
              <a:t>Write 25% as a fraction.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0604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B3A8E"/>
                </a:solidFill>
              </a:rPr>
              <a:t>Q2  </a:t>
            </a:r>
            <a:pPr indent="0" marL="0">
              <a:buNone/>
            </a:pPr>
            <a:r>
              <a:rPr lang="en-US" sz="1600" dirty="0">
                <a:solidFill>
                  <a:srgbClr val="141B26"/>
                </a:solidFill>
              </a:rPr>
              <a:t>Write 0.75 as a percentage.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2900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B3A8E"/>
                </a:solidFill>
              </a:rPr>
              <a:t>Q3  </a:t>
            </a:r>
            <a:pPr indent="0" marL="0">
              <a:buNone/>
            </a:pPr>
            <a:r>
              <a:rPr lang="en-US" sz="1600" dirty="0">
                <a:solidFill>
                  <a:srgbClr val="141B26"/>
                </a:solidFill>
              </a:rPr>
              <a:t>What is the theoretical probability of rolling a 6 with one dice?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5196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B3A8E"/>
                </a:solidFill>
              </a:rPr>
              <a:t>Q4  </a:t>
            </a:r>
            <a:pPr indent="0" marL="0">
              <a:buNone/>
            </a:pPr>
            <a:r>
              <a:rPr lang="en-US" sz="1600" dirty="0">
                <a:solidFill>
                  <a:srgbClr val="141B26"/>
                </a:solidFill>
              </a:rPr>
              <a:t>Write 'impossible' as a decimal.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0749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B3A8E"/>
                </a:solidFill>
              </a:rPr>
              <a:t>Q5  </a:t>
            </a:r>
            <a:pPr indent="0" marL="0">
              <a:buNone/>
            </a:pPr>
            <a:r>
              <a:rPr lang="en-US" sz="1600" dirty="0">
                <a:solidFill>
                  <a:srgbClr val="141B26"/>
                </a:solidFill>
              </a:rPr>
              <a:t>A coin landed heads 48 times in 100 flips. What is the experimental probability of heads?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Investigation: two dice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869119" y="411480"/>
            <a:ext cx="1773936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69119" y="41148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PRACTICAL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3A8E"/>
                </a:solidFill>
              </a:rPr>
              <a:t>Aim  </a:t>
            </a:r>
            <a:pPr indent="0" marL="0">
              <a:buNone/>
            </a:pPr>
            <a:r>
              <a:rPr lang="en-US" sz="1500" dirty="0">
                <a:solidFill>
                  <a:srgbClr val="141B26"/>
                </a:solidFill>
              </a:rPr>
              <a:t>Find the experimental probability of each score (2 to 12) when two dice are thrown and added.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F"/>
                </a:solidFill>
              </a:rPr>
              <a:t>Equipment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B26"/>
                </a:solidFill>
              </a:rPr>
              <a:t>Two dice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B26"/>
                </a:solidFill>
              </a:rPr>
              <a:t>Worksheet tally table (Core question 3)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B26"/>
                </a:solidFill>
              </a:rPr>
              <a:t>Calculator (optional)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F"/>
                </a:solidFill>
              </a:rPr>
              <a:t>Method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240280"/>
            <a:ext cx="6675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41B26"/>
                </a:solidFill>
              </a:rPr>
              <a:t>Throw both dice and add the two numbers to get the score.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41B26"/>
                </a:solidFill>
              </a:rPr>
              <a:t>Record a tally mark next to that score. Repeat until you have 50 throws.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41B26"/>
                </a:solidFill>
              </a:rPr>
              <a:t>Count the tallies to find the frequency of each score.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41B26"/>
                </a:solidFill>
              </a:rPr>
              <a:t>Experimental probability = frequency divided by 50. Write it as a fraction, a decimal and a percentage.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41B26"/>
                </a:solidFill>
              </a:rPr>
              <a:t>Compare your result for a score of 7 with the theoretical probability 6/36 (about 17%).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532120"/>
            <a:ext cx="10881360" cy="502920"/>
          </a:xfrm>
          <a:prstGeom prst="rect">
            <a:avLst/>
          </a:prstGeom>
          <a:solidFill>
            <a:srgbClr val="F2CE3E"/>
          </a:solidFill>
          <a:ln w="12700">
            <a:solidFill>
              <a:srgbClr val="F2CE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532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2E00"/>
                </a:solidFill>
              </a:rPr>
              <a:t>Safety  </a:t>
            </a:r>
            <a:pPr indent="0" marL="0">
              <a:buNone/>
            </a:pPr>
            <a:r>
              <a:rPr lang="en-US" sz="1300" dirty="0">
                <a:solidFill>
                  <a:srgbClr val="3A2E00"/>
                </a:solidFill>
              </a:rPr>
              <a:t>No hazards. Keep dice on the desk; share the throwing and the recording.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Is the third child certain?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98687" y="411480"/>
            <a:ext cx="2944368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98687" y="41148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THINK AND REFLECT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2A5F"/>
                </a:solidFill>
              </a:rPr>
              <a:t>If one parent has achondroplasia, each child has a 50% chance of inheriting it. A couple already has two children without it. Is their third child certain to have it?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7B3A8E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77240" y="3520440"/>
            <a:ext cx="10424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7B3A8E"/>
                </a:solidFill>
              </a:rPr>
              <a:t>Sentence frames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1B26"/>
                </a:solidFill>
              </a:rPr>
              <a:t>The probability for the third child is still ___ because ___.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1B26"/>
                </a:solidFill>
              </a:rPr>
              <a:t>Each child is a separate event, like ___.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1B26"/>
                </a:solidFill>
              </a:rPr>
              <a:t>'Certain' would mean a probability of ___.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Exit ticket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576511" y="411480"/>
            <a:ext cx="2066544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76511" y="41148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EXIT TICKET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4"/>
                </a:solidFill>
              </a:rPr>
              <a:t>On your worksheet exit ticket. Work alone. Hand it in as you leave.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B3A8E"/>
                </a:solidFill>
              </a:rPr>
              <a:t>1.  </a:t>
            </a:r>
            <a:pPr indent="0" marL="0">
              <a:buNone/>
            </a:pPr>
            <a:r>
              <a:rPr lang="en-US" sz="1800" dirty="0">
                <a:solidFill>
                  <a:srgbClr val="141B26"/>
                </a:solidFill>
              </a:rPr>
              <a:t>What is probability?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B3A8E"/>
                </a:solidFill>
              </a:rPr>
              <a:t>2.  </a:t>
            </a:r>
            <a:pPr indent="0" marL="0">
              <a:buNone/>
            </a:pPr>
            <a:r>
              <a:rPr lang="en-US" sz="1800" dirty="0">
                <a:solidFill>
                  <a:srgbClr val="141B26"/>
                </a:solidFill>
              </a:rPr>
              <a:t>Write 5% as a decimal.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B3A8E"/>
                </a:solidFill>
              </a:rPr>
              <a:t>3.  </a:t>
            </a:r>
            <a:pPr indent="0" marL="0">
              <a:buNone/>
            </a:pPr>
            <a:r>
              <a:rPr lang="en-US" sz="1800" dirty="0">
                <a:solidFill>
                  <a:srgbClr val="141B26"/>
                </a:solidFill>
              </a:rPr>
              <a:t>A bag has 20 red, 10 green, 5 blue and 15 yellow beads. Bilal takes one bead. Give the probability that it is blue as a fraction and as a percentage.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682935" y="91440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3A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82935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A8E"/>
                </a:solidFill>
              </a:rPr>
              <a:t>3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574"/>
                </a:solidFill>
              </a:rPr>
              <a:t>min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What we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1727" y="41148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61727" y="411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141B26"/>
                </a:solidFill>
              </a:rPr>
              <a:t>Statistics means collecting, analysing and presenting data; a large random sample represents the population.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141B26"/>
                </a:solidFill>
              </a:rPr>
              <a:t>Probability is the chance of something happening: 0 (impossible) to 1 (certain), written as a percentage, fraction or decimal.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141B26"/>
                </a:solidFill>
              </a:rPr>
              <a:t>Experimental probability comes from results; theoretical probability from reasoning about the outcomes.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141B26"/>
                </a:solidFill>
              </a:rPr>
              <a:t>In a normal distribution the mean, median and mode are the same, and values near the middle are most likely.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577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A8E"/>
                </a:solidFill>
              </a:rPr>
              <a:t>Next lesson  </a:t>
            </a:r>
            <a:pPr indent="0" marL="0">
              <a:buNone/>
            </a:pPr>
            <a:r>
              <a:rPr lang="en-US" sz="1300" dirty="0">
                <a:solidFill>
                  <a:srgbClr val="141B26"/>
                </a:solidFill>
              </a:rPr>
              <a:t>DNA: how the structure of DNA was discovered, and how DNA, chromosomes and genes fit together.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ear 9 Science">
  <a:themeElements>
    <a:clrScheme name="Year 9 Science">
      <a:dk1>
        <a:srgbClr val="141B26"/>
      </a:dk1>
      <a:lt1>
        <a:srgbClr val="FFFFFF"/>
      </a:lt1>
      <a:dk2>
        <a:srgbClr val="0F2A5F"/>
      </a:dk2>
      <a:lt2>
        <a:srgbClr val="EEF1F5"/>
      </a:lt2>
      <a:accent1>
        <a:srgbClr val="7B3A8E"/>
      </a:accent1>
      <a:accent2>
        <a:srgbClr val="F2CE3E"/>
      </a:accent2>
      <a:accent3>
        <a:srgbClr val="5B6574"/>
      </a:accent3>
      <a:accent4>
        <a:srgbClr val="D5DBE3"/>
      </a:accent4>
      <a:accent5>
        <a:srgbClr val="F1E5F4"/>
      </a:accent5>
      <a:accent6>
        <a:srgbClr val="1E7DB0"/>
      </a:accent6>
      <a:hlink>
        <a:srgbClr val="1E7DB0"/>
      </a:hlink>
      <a:folHlink>
        <a:srgbClr val="7B3A8E"/>
      </a:folHlink>
    </a:clrScheme>
    <a:fontScheme name="Year 9 Scie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9A Lesson 3: Probability and statistics</dc:title>
  <dc:subject>PptxGenJS Presentation</dc:subject>
  <dc:creator>Year 9 Science</dc:creator>
  <cp:lastModifiedBy>Year 9 Science</cp:lastModifiedBy>
  <cp:revision>1</cp:revision>
  <dcterms:created xsi:type="dcterms:W3CDTF">2026-10-28T01:48:09Z</dcterms:created>
  <dcterms:modified xsi:type="dcterms:W3CDTF">2026-10-28T01:48:09Z</dcterms:modified>
</cp:coreProperties>
</file>