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of 9B. Last lesson: how farmers raise yield. This lesson: the damage those methods can do, and how the carbon cycle links farming to the whole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oxygen (dissolved in the water); fertiliser (or pesticide, manure); most students will say 'poisoned': keep that idea for the hook, because the real chain is longer and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carbon cycle key words; students met photosynthesis and respiration in Lesson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ideas. The green is algae, fed by fertiliser washed off the field. The fish died of a lack of oxygen, not poison. The next slide gives the full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six steps and have students repeat the chain back in pairs. Manure causes the same problem and can also carry harmful microorganisms. Core 1 on the worksheet asks them to put the steps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rapeseed and not wheat? Rapeseed flowers and is visited by bees; wheat is wind-pollinated, so bees do not collect from it. Bioaccumulation is why top predators such as birds of prey were harmed by DDT in the 1950s and 1960s.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 insecticide: aphids and caterpillars fall; sparrows have less food and fall; sparrowhawks fall; dormice may rise a little (less competition for hazel) but sparrowhawks hunt them more. Selective herbicide: broad-leaved hedge plants and the hazel suffer, so caterpillars and dormice fall, and so on up the web. Core 2 on the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Lesson 5: selective breeding makes varieties uniform, which is exactly what makes them vulnerable. A huge area of wheat for many years also uses up the same mineral salts, which is the workbook's rapeseed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one carbon atom: in the air, into a wheat plant by photosynthesis, into a person who eats bread, back to the air by respiration. Carbon is stored in trees for a long time; in crops it returns quickly when they are eaten or burnt. Cutting forests removes a store and stops photosynthesis; burning them adds carbon dioxide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decomposers (bacteria); it does not break down in the environment; photosynthesis; respiration, combustion (also decomposition); if one plant gets a disease, all the identical plants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 chain answer on the board for the fish: fertiliser in the water, so algae grow fast, so light is blocked, so plants die, so decomposers use oxygen, so fish die. Insist on 'so' or 'because' links in every Stretch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for: higher yields, more food, cheaper food; against: eutrophication, cost; sustainable solutions: use less and only when the crop needs it, keep a strip of unploughed land by rivers, use manure carefully, grow clover to add nitrates. This is the idea of sustainable development: meeting our needs without destroying habitats.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very rich supply of nutrients in water, causing fast growth of algae and plants (leading to fish deaths); respiration, combustion, decomposition (any two); all the plants are identical, so one disease can kill the whole crop. Collect the strips.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23 and 24. The carbon cycle on page 24 uses the same diagram letters as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rtlCol="0"/>
          <a:lstStyle>
            <a:lvl1pPr indent="0" marL="0">
              <a:buNone/>
              <a:defRPr lang="en-US" sz="2000" dirty="0">
                <a:solidFill>
                  <a:srgbClr val="FFFFFF"/>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6: Farming problems and the carbon cycle</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6: Farming problems and the carbon cycle</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6: Farming problems and the carbon cycle</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3A2E00"/>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9B Plant growth  |  Lesson 6: Farming problems and the carbon cycle</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300" b="1" spc="200" kern="0" dirty="0">
                <a:solidFill>
                  <a:srgbClr val="F2CE3E"/>
                </a:solidFill>
              </a:rPr>
              <a:t>YEAR 9 SCIENCE  ·  9B PLANT GROWTH  ·  LESSON 6 OF 7</a:t>
            </a:r>
            <a:endParaRPr lang="en-US" sz="13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Farming problems and the carbon cycle</a:t>
            </a: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lIns="0" tIns="0" rIns="0" bIns="0" rtlCol="0" anchor="t"/>
          <a:lstStyle/>
          <a:p>
            <a:pPr indent="0" marL="0">
              <a:buNone/>
            </a:pPr>
            <a:r>
              <a:rPr lang="en-US" sz="2000" dirty="0">
                <a:solidFill>
                  <a:srgbClr val="FFFFFF"/>
                </a:solidFill>
              </a:rPr>
              <a:t>If fertilisers and pesticides raise the yield, what is the cost?</a:t>
            </a:r>
            <a:endParaRPr lang="en-US" sz="20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200" dirty="0">
                <a:solidFill>
                  <a:srgbClr val="C9D3E6"/>
                </a:solidFill>
              </a:rPr>
              <a:t>Exploring Science International 9  ·  Student Book pages 32 to 33  ·  Workbook pages 23 to 24</a:t>
            </a:r>
            <a:endParaRPr lang="en-US" sz="1200" dirty="0"/>
          </a:p>
        </p:txBody>
      </p:sp>
      <p:pic>
        <p:nvPicPr>
          <p:cNvPr id="6" name="Image 0" descr="/home/user/lessons/Y9_Exploring_Science/images/algal_bloom.jpg">    </p:cNvPr>
          <p:cNvPicPr>
            <a:picLocks noChangeAspect="1"/>
          </p:cNvPicPr>
          <p:nvPr/>
        </p:nvPicPr>
        <p:blipFill>
          <a:blip r:embed="rId1"/>
          <a:stretch>
            <a:fillRect/>
          </a:stretch>
        </p:blipFill>
        <p:spPr>
          <a:xfrm>
            <a:off x="8930640" y="4572000"/>
            <a:ext cx="2438400"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the dead fish</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6035040" cy="4480560"/>
          </a:xfrm>
          <a:prstGeom prst="rect">
            <a:avLst/>
          </a:prstGeom>
          <a:noFill/>
          <a:ln/>
        </p:spPr>
        <p:txBody>
          <a:bodyPr wrap="square" lIns="0" tIns="0" rIns="0" bIns="0" rtlCol="0" anchor="t">
            <a:normAutofit/>
          </a:bodyPr>
          <a:lstStyle/>
          <a:p>
            <a:pPr indent="0" marL="0">
              <a:spcAft>
                <a:spcPts val="1000"/>
              </a:spcAft>
              <a:buNone/>
            </a:pPr>
            <a:r>
              <a:rPr lang="en-US" sz="2000" dirty="0">
                <a:solidFill>
                  <a:srgbClr val="141B26"/>
                </a:solidFill>
              </a:rPr>
              <a:t>1. What do fish need from the water for respiration?</a:t>
            </a:r>
            <a:endParaRPr lang="en-US" sz="2000" dirty="0"/>
          </a:p>
          <a:p>
            <a:pPr indent="0" marL="0">
              <a:spcAft>
                <a:spcPts val="1000"/>
              </a:spcAft>
              <a:buNone/>
            </a:pPr>
            <a:r>
              <a:rPr lang="en-US" sz="2000" dirty="0">
                <a:solidFill>
                  <a:srgbClr val="141B26"/>
                </a:solidFill>
              </a:rPr>
              <a:t>2. Name one farm chemical that rain can wash into a river or lake.</a:t>
            </a:r>
            <a:endParaRPr lang="en-US" sz="2000" dirty="0"/>
          </a:p>
          <a:p>
            <a:pPr indent="0" marL="0">
              <a:spcAft>
                <a:spcPts val="1000"/>
              </a:spcAft>
              <a:buNone/>
            </a:pPr>
            <a:r>
              <a:rPr lang="en-US" sz="2000" dirty="0">
                <a:solidFill>
                  <a:srgbClr val="141B26"/>
                </a:solidFill>
              </a:rPr>
              <a:t>3. Suggest how these fish died.</a:t>
            </a:r>
            <a:endParaRPr lang="en-US" sz="2000" dirty="0"/>
          </a:p>
        </p:txBody>
      </p:sp>
      <p:pic>
        <p:nvPicPr>
          <p:cNvPr id="8" name="Image 0" descr="/home/user/lessons/Y9_Exploring_Science/images/dead_fish.jpg">    </p:cNvPr>
          <p:cNvPicPr>
            <a:picLocks noChangeAspect="1"/>
          </p:cNvPicPr>
          <p:nvPr/>
        </p:nvPicPr>
        <p:blipFill>
          <a:blip r:embed="rId1"/>
          <a:stretch>
            <a:fillRect/>
          </a:stretch>
        </p:blipFill>
        <p:spPr>
          <a:xfrm>
            <a:off x="6858000" y="2217398"/>
            <a:ext cx="4754880" cy="2240325"/>
          </a:xfrm>
          <a:prstGeom prst="rect">
            <a:avLst/>
          </a:prstGeom>
        </p:spPr>
      </p:pic>
      <p:sp>
        <p:nvSpPr>
          <p:cNvPr id="9" name="Text 6"/>
          <p:cNvSpPr txBox="1"/>
          <p:nvPr/>
        </p:nvSpPr>
        <p:spPr>
          <a:xfrm>
            <a:off x="6858000" y="4503442"/>
            <a:ext cx="4754880" cy="502920"/>
          </a:xfrm>
          <a:prstGeom prst="rect">
            <a:avLst/>
          </a:prstGeom>
          <a:noFill/>
          <a:ln/>
        </p:spPr>
        <p:txBody>
          <a:bodyPr wrap="square" lIns="0" tIns="0" rIns="0" bIns="0" rtlCol="0" anchor="t"/>
          <a:lstStyle/>
          <a:p>
            <a:pPr algn="l" indent="0" marL="0">
              <a:buNone/>
            </a:pPr>
            <a:r>
              <a:rPr lang="en-US" sz="1100" dirty="0">
                <a:solidFill>
                  <a:srgbClr val="141B26"/>
                </a:solidFill>
              </a:rPr>
              <a:t>Fish killed in a lake</a:t>
            </a:r>
            <a:pPr algn="l" indent="0" marL="0">
              <a:buNone/>
            </a:pPr>
            <a:endParaRPr lang="en-US" sz="1100" dirty="0"/>
          </a:p>
          <a:p>
            <a:pPr algn="l" indent="0" marL="0">
              <a:buNone/>
            </a:pPr>
            <a:r>
              <a:rPr lang="en-US" sz="800" dirty="0">
                <a:solidFill>
                  <a:srgbClr val="5B6574"/>
                </a:solidFill>
              </a:rPr>
              <a:t>Image: eutrophication&amp;hypoxia, CC BY 2.0,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325880"/>
            <a:ext cx="5669280" cy="457200"/>
          </a:xfrm>
          <a:prstGeom prst="rect">
            <a:avLst/>
          </a:prstGeom>
          <a:noFill/>
          <a:ln/>
        </p:spPr>
        <p:txBody>
          <a:bodyPr wrap="square" lIns="0" tIns="0" rIns="0" bIns="0" rtlCol="0" anchor="ctr"/>
          <a:lstStyle/>
          <a:p>
            <a:pPr indent="0" marL="0">
              <a:buNone/>
            </a:pPr>
            <a:r>
              <a:rPr lang="en-US" sz="2000" b="1" dirty="0">
                <a:solidFill>
                  <a:srgbClr val="7B3A8E"/>
                </a:solidFill>
              </a:rPr>
              <a:t>Today I can ...</a:t>
            </a:r>
            <a:endParaRPr lang="en-US" sz="2000" dirty="0"/>
          </a:p>
        </p:txBody>
      </p:sp>
      <p:sp>
        <p:nvSpPr>
          <p:cNvPr id="6" name="Shape 4"/>
          <p:cNvSpPr/>
          <p:nvPr/>
        </p:nvSpPr>
        <p:spPr>
          <a:xfrm>
            <a:off x="594360" y="1947672"/>
            <a:ext cx="292608" cy="292608"/>
          </a:xfrm>
          <a:prstGeom prst="rect">
            <a:avLst/>
          </a:prstGeom>
          <a:solidFill>
            <a:srgbClr val="FFFFFF"/>
          </a:solidFill>
          <a:ln w="19050">
            <a:solidFill>
              <a:srgbClr val="0F2A5F"/>
            </a:solidFill>
            <a:prstDash val="solid"/>
          </a:ln>
        </p:spPr>
      </p:sp>
      <p:sp>
        <p:nvSpPr>
          <p:cNvPr id="7" name="Text 5"/>
          <p:cNvSpPr txBox="1"/>
          <p:nvPr/>
        </p:nvSpPr>
        <p:spPr>
          <a:xfrm>
            <a:off x="1051560" y="187452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explain how fertilisers, pesticides and clearing land can harm wild organisms, including eutrophication and bioaccumulation.</a:t>
            </a:r>
            <a:endParaRPr lang="en-US" sz="1600" dirty="0"/>
          </a:p>
        </p:txBody>
      </p:sp>
      <p:sp>
        <p:nvSpPr>
          <p:cNvPr id="8" name="Shape 6"/>
          <p:cNvSpPr/>
          <p:nvPr/>
        </p:nvSpPr>
        <p:spPr>
          <a:xfrm>
            <a:off x="594360" y="2907792"/>
            <a:ext cx="292608" cy="292608"/>
          </a:xfrm>
          <a:prstGeom prst="rect">
            <a:avLst/>
          </a:prstGeom>
          <a:solidFill>
            <a:srgbClr val="FFFFFF"/>
          </a:solidFill>
          <a:ln w="19050">
            <a:solidFill>
              <a:srgbClr val="0F2A5F"/>
            </a:solidFill>
            <a:prstDash val="solid"/>
          </a:ln>
        </p:spPr>
      </p:sp>
      <p:sp>
        <p:nvSpPr>
          <p:cNvPr id="9" name="Text 7"/>
          <p:cNvSpPr txBox="1"/>
          <p:nvPr/>
        </p:nvSpPr>
        <p:spPr>
          <a:xfrm>
            <a:off x="1051560" y="283464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use the carbon cycle to explain how farming and burning fuels change the carbon dioxide in the air, and suggest ways to farm more sustainably.</a:t>
            </a:r>
            <a:endParaRPr lang="en-US" sz="1600" dirty="0"/>
          </a:p>
        </p:txBody>
      </p:sp>
      <p:sp>
        <p:nvSpPr>
          <p:cNvPr id="10" name="Text 8"/>
          <p:cNvSpPr txBox="1"/>
          <p:nvPr/>
        </p:nvSpPr>
        <p:spPr>
          <a:xfrm>
            <a:off x="6583680" y="1325880"/>
            <a:ext cx="5029200" cy="457200"/>
          </a:xfrm>
          <a:prstGeom prst="rect">
            <a:avLst/>
          </a:prstGeom>
          <a:noFill/>
          <a:ln/>
        </p:spPr>
        <p:txBody>
          <a:bodyPr wrap="square" lIns="0" tIns="0" rIns="0" bIns="0" rtlCol="0" anchor="ctr"/>
          <a:lstStyle/>
          <a:p>
            <a:pPr indent="0" marL="0">
              <a:buNone/>
            </a:pPr>
            <a:r>
              <a:rPr lang="en-US" sz="2000" b="1" dirty="0">
                <a:solidFill>
                  <a:srgbClr val="7B3A8E"/>
                </a:solidFill>
              </a:rPr>
              <a:t>Key words today</a:t>
            </a:r>
            <a:endParaRPr lang="en-US" sz="2000" dirty="0"/>
          </a:p>
        </p:txBody>
      </p:sp>
      <p:sp>
        <p:nvSpPr>
          <p:cNvPr id="11" name="Text 9"/>
          <p:cNvSpPr txBox="1"/>
          <p:nvPr/>
        </p:nvSpPr>
        <p:spPr>
          <a:xfrm>
            <a:off x="6583680" y="1874520"/>
            <a:ext cx="5029200" cy="40233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0F2A5F"/>
                </a:solidFill>
              </a:rPr>
              <a:t>habitat</a:t>
            </a:r>
            <a:pPr indent="0" marL="0">
              <a:spcAft>
                <a:spcPts val="500"/>
              </a:spcAft>
              <a:buNone/>
            </a:pPr>
            <a:r>
              <a:rPr lang="en-US" sz="1300" dirty="0">
                <a:solidFill>
                  <a:srgbClr val="141B26"/>
                </a:solidFill>
              </a:rPr>
              <a:t>  the place where an organism lives</a:t>
            </a:r>
            <a:endParaRPr lang="en-US" sz="1300" dirty="0"/>
          </a:p>
          <a:p>
            <a:pPr indent="0" marL="0">
              <a:spcAft>
                <a:spcPts val="500"/>
              </a:spcAft>
              <a:buNone/>
            </a:pPr>
            <a:r>
              <a:rPr lang="en-US" sz="1300" b="1" dirty="0">
                <a:solidFill>
                  <a:srgbClr val="0F2A5F"/>
                </a:solidFill>
              </a:rPr>
              <a:t>eutrophication</a:t>
            </a:r>
            <a:pPr indent="0" marL="0">
              <a:spcAft>
                <a:spcPts val="500"/>
              </a:spcAft>
              <a:buNone/>
            </a:pPr>
            <a:r>
              <a:rPr lang="en-US" sz="1300" dirty="0">
                <a:solidFill>
                  <a:srgbClr val="141B26"/>
                </a:solidFill>
              </a:rPr>
              <a:t>  a very rich supply of nutrients in water, which leads to fast plant growth and then death of fish</a:t>
            </a:r>
            <a:endParaRPr lang="en-US" sz="1300" dirty="0"/>
          </a:p>
          <a:p>
            <a:pPr indent="0" marL="0">
              <a:spcAft>
                <a:spcPts val="500"/>
              </a:spcAft>
              <a:buNone/>
            </a:pPr>
            <a:r>
              <a:rPr lang="en-US" sz="1300" b="1" dirty="0">
                <a:solidFill>
                  <a:srgbClr val="0F2A5F"/>
                </a:solidFill>
              </a:rPr>
              <a:t>algae</a:t>
            </a:r>
            <a:pPr indent="0" marL="0">
              <a:spcAft>
                <a:spcPts val="500"/>
              </a:spcAft>
              <a:buNone/>
            </a:pPr>
            <a:r>
              <a:rPr lang="en-US" sz="1300" dirty="0">
                <a:solidFill>
                  <a:srgbClr val="141B26"/>
                </a:solidFill>
              </a:rPr>
              <a:t>  simple plant-like organisms that photosynthesise in water</a:t>
            </a:r>
            <a:endParaRPr lang="en-US" sz="1300" dirty="0"/>
          </a:p>
          <a:p>
            <a:pPr indent="0" marL="0">
              <a:spcAft>
                <a:spcPts val="500"/>
              </a:spcAft>
              <a:buNone/>
            </a:pPr>
            <a:r>
              <a:rPr lang="en-US" sz="1300" b="1" dirty="0">
                <a:solidFill>
                  <a:srgbClr val="0F2A5F"/>
                </a:solidFill>
              </a:rPr>
              <a:t>decomposer</a:t>
            </a:r>
            <a:pPr indent="0" marL="0">
              <a:spcAft>
                <a:spcPts val="500"/>
              </a:spcAft>
              <a:buNone/>
            </a:pPr>
            <a:r>
              <a:rPr lang="en-US" sz="1300" dirty="0">
                <a:solidFill>
                  <a:srgbClr val="141B26"/>
                </a:solidFill>
              </a:rPr>
              <a:t>  a microorganism that breaks down dead material, using oxygen</a:t>
            </a:r>
            <a:endParaRPr lang="en-US" sz="1300" dirty="0"/>
          </a:p>
          <a:p>
            <a:pPr indent="0" marL="0">
              <a:spcAft>
                <a:spcPts val="500"/>
              </a:spcAft>
              <a:buNone/>
            </a:pPr>
            <a:r>
              <a:rPr lang="en-US" sz="1300" b="1" dirty="0">
                <a:solidFill>
                  <a:srgbClr val="0F2A5F"/>
                </a:solidFill>
              </a:rPr>
              <a:t>persistent</a:t>
            </a:r>
            <a:pPr indent="0" marL="0">
              <a:spcAft>
                <a:spcPts val="500"/>
              </a:spcAft>
              <a:buNone/>
            </a:pPr>
            <a:r>
              <a:rPr lang="en-US" sz="1300" dirty="0">
                <a:solidFill>
                  <a:srgbClr val="141B26"/>
                </a:solidFill>
              </a:rPr>
              <a:t>  does not break down in the environment</a:t>
            </a:r>
            <a:endParaRPr lang="en-US" sz="1300" dirty="0"/>
          </a:p>
          <a:p>
            <a:pPr indent="0" marL="0">
              <a:spcAft>
                <a:spcPts val="500"/>
              </a:spcAft>
              <a:buNone/>
            </a:pPr>
            <a:r>
              <a:rPr lang="en-US" sz="1300" b="1" dirty="0">
                <a:solidFill>
                  <a:srgbClr val="0F2A5F"/>
                </a:solidFill>
              </a:rPr>
              <a:t>bioaccumulation</a:t>
            </a:r>
            <a:pPr indent="0" marL="0">
              <a:spcAft>
                <a:spcPts val="500"/>
              </a:spcAft>
              <a:buNone/>
            </a:pPr>
            <a:r>
              <a:rPr lang="en-US" sz="1300" dirty="0">
                <a:solidFill>
                  <a:srgbClr val="141B26"/>
                </a:solidFill>
              </a:rPr>
              <a:t>  the build-up of a substance in organisms along a food chain</a:t>
            </a:r>
            <a:endParaRPr lang="en-US" sz="1300" dirty="0"/>
          </a:p>
          <a:p>
            <a:pPr indent="0" marL="0">
              <a:spcAft>
                <a:spcPts val="500"/>
              </a:spcAft>
              <a:buNone/>
            </a:pPr>
            <a:r>
              <a:rPr lang="en-US" sz="1300" b="1" dirty="0">
                <a:solidFill>
                  <a:srgbClr val="0F2A5F"/>
                </a:solidFill>
              </a:rPr>
              <a:t>food web</a:t>
            </a:r>
            <a:pPr indent="0" marL="0">
              <a:spcAft>
                <a:spcPts val="500"/>
              </a:spcAft>
              <a:buNone/>
            </a:pPr>
            <a:r>
              <a:rPr lang="en-US" sz="1300" dirty="0">
                <a:solidFill>
                  <a:srgbClr val="141B26"/>
                </a:solidFill>
              </a:rPr>
              <a:t>  a diagram of linked food chains showing what eats what</a:t>
            </a:r>
            <a:endParaRPr lang="en-US" sz="1300" dirty="0"/>
          </a:p>
          <a:p>
            <a:pPr indent="0" marL="0">
              <a:spcAft>
                <a:spcPts val="500"/>
              </a:spcAft>
              <a:buNone/>
            </a:pPr>
            <a:r>
              <a:rPr lang="en-US" sz="1300" b="1" dirty="0">
                <a:solidFill>
                  <a:srgbClr val="0F2A5F"/>
                </a:solidFill>
              </a:rPr>
              <a:t>biodiversity</a:t>
            </a:r>
            <a:pPr indent="0" marL="0">
              <a:spcAft>
                <a:spcPts val="500"/>
              </a:spcAft>
              <a:buNone/>
            </a:pPr>
            <a:r>
              <a:rPr lang="en-US" sz="1300" dirty="0">
                <a:solidFill>
                  <a:srgbClr val="141B26"/>
                </a:solidFill>
              </a:rPr>
              <a:t>  the number of different species in an area</a:t>
            </a:r>
            <a:endParaRPr lang="en-US" sz="1300" dirty="0"/>
          </a:p>
          <a:p>
            <a:pPr indent="0" marL="0">
              <a:spcAft>
                <a:spcPts val="500"/>
              </a:spcAft>
              <a:buNone/>
            </a:pPr>
            <a:r>
              <a:rPr lang="en-US" sz="1300" b="1" dirty="0">
                <a:solidFill>
                  <a:srgbClr val="0F2A5F"/>
                </a:solidFill>
              </a:rPr>
              <a:t>carbon cycle</a:t>
            </a:r>
            <a:pPr indent="0" marL="0">
              <a:spcAft>
                <a:spcPts val="500"/>
              </a:spcAft>
              <a:buNone/>
            </a:pPr>
            <a:r>
              <a:rPr lang="en-US" sz="1300" dirty="0">
                <a:solidFill>
                  <a:srgbClr val="141B26"/>
                </a:solidFill>
              </a:rPr>
              <a:t>  the processes that move carbon between the air, living things and the Earth</a:t>
            </a:r>
            <a:endParaRPr lang="en-US" sz="1300" dirty="0"/>
          </a:p>
          <a:p>
            <a:pPr indent="0" marL="0">
              <a:spcAft>
                <a:spcPts val="500"/>
              </a:spcAft>
              <a:buNone/>
            </a:pPr>
            <a:r>
              <a:rPr lang="en-US" sz="1300" b="1" dirty="0">
                <a:solidFill>
                  <a:srgbClr val="0F2A5F"/>
                </a:solidFill>
              </a:rPr>
              <a:t>combustion</a:t>
            </a:r>
            <a:pPr indent="0" marL="0">
              <a:spcAft>
                <a:spcPts val="500"/>
              </a:spcAft>
              <a:buNone/>
            </a:pPr>
            <a:r>
              <a:rPr lang="en-US" sz="1300" dirty="0">
                <a:solidFill>
                  <a:srgbClr val="141B26"/>
                </a:solidFill>
              </a:rPr>
              <a:t>  burning, which releases carbon dioxide</a:t>
            </a:r>
            <a:endParaRPr lang="en-US" sz="1300" dirty="0"/>
          </a:p>
          <a:p>
            <a:pPr indent="0" marL="0">
              <a:spcAft>
                <a:spcPts val="500"/>
              </a:spcAft>
              <a:buNone/>
            </a:pPr>
            <a:r>
              <a:rPr lang="en-US" sz="1300" b="1" dirty="0">
                <a:solidFill>
                  <a:srgbClr val="0F2A5F"/>
                </a:solidFill>
              </a:rPr>
              <a:t>global warming</a:t>
            </a:r>
            <a:pPr indent="0" marL="0">
              <a:spcAft>
                <a:spcPts val="500"/>
              </a:spcAft>
              <a:buNone/>
            </a:pPr>
            <a:r>
              <a:rPr lang="en-US" sz="1300" dirty="0">
                <a:solidFill>
                  <a:srgbClr val="141B26"/>
                </a:solidFill>
              </a:rPr>
              <a:t>  the rise in the Earth's average temperature</a:t>
            </a:r>
            <a:endParaRPr lang="en-US" sz="1300" dirty="0"/>
          </a:p>
          <a:p>
            <a:pPr indent="0" marL="0">
              <a:spcAft>
                <a:spcPts val="500"/>
              </a:spcAft>
              <a:buNone/>
            </a:pPr>
            <a:r>
              <a:rPr lang="en-US" sz="1300" b="1" dirty="0">
                <a:solidFill>
                  <a:srgbClr val="0F2A5F"/>
                </a:solidFill>
              </a:rPr>
              <a:t>sustainable development</a:t>
            </a:r>
            <a:pPr indent="0" marL="0">
              <a:spcAft>
                <a:spcPts val="500"/>
              </a:spcAft>
              <a:buNone/>
            </a:pPr>
            <a:r>
              <a:rPr lang="en-US" sz="1300" dirty="0">
                <a:solidFill>
                  <a:srgbClr val="141B26"/>
                </a:solidFill>
              </a:rPr>
              <a:t>  making the things we need without destroying habitats for the future</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Nobody poisoned the pond</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377440"/>
          </a:xfrm>
          <a:prstGeom prst="rect">
            <a:avLst/>
          </a:prstGeom>
          <a:noFill/>
          <a:ln/>
        </p:spPr>
        <p:txBody>
          <a:bodyPr wrap="square" lIns="0" tIns="0" rIns="0" bIns="0" rtlCol="0" anchor="t">
            <a:normAutofit/>
          </a:bodyPr>
          <a:lstStyle/>
          <a:p>
            <a:pPr indent="0" marL="0">
              <a:buNone/>
            </a:pPr>
            <a:r>
              <a:rPr lang="en-US" sz="2800" b="1" dirty="0">
                <a:solidFill>
                  <a:srgbClr val="0F2A5F"/>
                </a:solidFill>
              </a:rPr>
              <a:t>After a wet spring, a pond next to a farm turned bright green. Within two weeks the fish were dead. Nobody poisoned the pond. What happened?</a:t>
            </a:r>
            <a:endParaRPr lang="en-US" sz="2800" dirty="0"/>
          </a:p>
        </p:txBody>
      </p:sp>
      <p:sp>
        <p:nvSpPr>
          <p:cNvPr id="6" name="Text 4"/>
          <p:cNvSpPr txBox="1"/>
          <p:nvPr/>
        </p:nvSpPr>
        <p:spPr>
          <a:xfrm>
            <a:off x="548640" y="3794760"/>
            <a:ext cx="5394960"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41B26"/>
                </a:solidFill>
              </a:rPr>
              <a:t>Talk to a partner: what made the water green, and why would that kill fish?</a:t>
            </a:r>
            <a:endParaRPr lang="en-US" sz="1600" dirty="0"/>
          </a:p>
        </p:txBody>
      </p:sp>
      <p:pic>
        <p:nvPicPr>
          <p:cNvPr id="7" name="Image 0" descr="/home/user/lessons/Y9_Exploring_Science/images/algal_bloom.jpg">    </p:cNvPr>
          <p:cNvPicPr>
            <a:picLocks noChangeAspect="1"/>
          </p:cNvPicPr>
          <p:nvPr/>
        </p:nvPicPr>
        <p:blipFill>
          <a:blip r:embed="rId1"/>
          <a:stretch>
            <a:fillRect/>
          </a:stretch>
        </p:blipFill>
        <p:spPr>
          <a:xfrm>
            <a:off x="6309360" y="1394460"/>
            <a:ext cx="5303520" cy="3977640"/>
          </a:xfrm>
          <a:prstGeom prst="rect">
            <a:avLst/>
          </a:prstGeom>
        </p:spPr>
      </p:pic>
      <p:sp>
        <p:nvSpPr>
          <p:cNvPr id="8" name="Text 5"/>
          <p:cNvSpPr txBox="1"/>
          <p:nvPr/>
        </p:nvSpPr>
        <p:spPr>
          <a:xfrm>
            <a:off x="6309360" y="5417820"/>
            <a:ext cx="5303520" cy="502920"/>
          </a:xfrm>
          <a:prstGeom prst="rect">
            <a:avLst/>
          </a:prstGeom>
          <a:noFill/>
          <a:ln/>
        </p:spPr>
        <p:txBody>
          <a:bodyPr wrap="square" lIns="0" tIns="0" rIns="0" bIns="0" rtlCol="0" anchor="t"/>
          <a:lstStyle/>
          <a:p>
            <a:pPr algn="l" indent="0" marL="0">
              <a:buNone/>
            </a:pPr>
            <a:r>
              <a:rPr lang="en-US" sz="1100" dirty="0">
                <a:solidFill>
                  <a:srgbClr val="141B26"/>
                </a:solidFill>
              </a:rPr>
              <a:t>An algal bloom</a:t>
            </a:r>
            <a:pPr algn="l" indent="0" marL="0">
              <a:buNone/>
            </a:pPr>
            <a:endParaRPr lang="en-US" sz="1100" dirty="0"/>
          </a:p>
          <a:p>
            <a:pPr algn="l" indent="0" marL="0">
              <a:buNone/>
            </a:pPr>
            <a:r>
              <a:rPr lang="en-US" sz="800" dirty="0">
                <a:solidFill>
                  <a:srgbClr val="5B6574"/>
                </a:solidFill>
              </a:rPr>
              <a:t>Image: suavehouse113, CC BY 2.0,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Eutrophication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eutrophication   ·   algae   ·   decomposer</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A very rich supply of nutrients in the water sets off a chain that ends with no oxygen for the fish.</a:t>
            </a:r>
            <a:endParaRPr lang="en-US" sz="1600" dirty="0"/>
          </a:p>
        </p:txBody>
      </p:sp>
      <p:pic>
        <p:nvPicPr>
          <p:cNvPr id="7" name="Image 0" descr="/home/user/lessons/Y9_Exploring_Science/source/diagrams/eutrophication_flow.png">    </p:cNvPr>
          <p:cNvPicPr>
            <a:picLocks noChangeAspect="1"/>
          </p:cNvPicPr>
          <p:nvPr/>
        </p:nvPicPr>
        <p:blipFill>
          <a:blip r:embed="rId1"/>
          <a:stretch>
            <a:fillRect/>
          </a:stretch>
        </p:blipFill>
        <p:spPr>
          <a:xfrm>
            <a:off x="2420930" y="1737360"/>
            <a:ext cx="7136780"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Fertiliser feeds the algae; the decomposers that break down the dead plants use up the oxygen; the fish suffocate.</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Pesticide problems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persistent   ·   bioaccumulation</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Insecticides can kill helpful insects: the ones that pollinate crops and the ones that eat pests.</a:t>
            </a:r>
            <a:endParaRPr lang="en-US" sz="1700" dirty="0"/>
          </a:p>
          <a:p>
            <a:pPr marL="228600" indent="-228600">
              <a:spcAft>
                <a:spcPts val="600"/>
              </a:spcAft>
              <a:buSzPct val="100000"/>
              <a:buChar char="•"/>
            </a:pPr>
            <a:r>
              <a:rPr lang="en-US" sz="1700" dirty="0">
                <a:solidFill>
                  <a:srgbClr val="141B26"/>
                </a:solidFill>
              </a:rPr>
              <a:t>Some insecticides are persistent: they do not break down in the environment.</a:t>
            </a:r>
            <a:endParaRPr lang="en-US" sz="1700" dirty="0"/>
          </a:p>
          <a:p>
            <a:pPr marL="228600" indent="-228600">
              <a:spcAft>
                <a:spcPts val="600"/>
              </a:spcAft>
              <a:buSzPct val="100000"/>
              <a:buChar char="•"/>
            </a:pPr>
            <a:r>
              <a:rPr lang="en-US" sz="1700" dirty="0">
                <a:solidFill>
                  <a:srgbClr val="141B26"/>
                </a:solidFill>
              </a:rPr>
              <a:t>Predators eat many animals that each contain a little insecticide, so the top predator gets a large amount. This is bioaccumulation.</a:t>
            </a:r>
            <a:endParaRPr lang="en-US" sz="1700" dirty="0"/>
          </a:p>
          <a:p>
            <a:pPr marL="228600" indent="-228600">
              <a:spcAft>
                <a:spcPts val="600"/>
              </a:spcAft>
              <a:buSzPct val="100000"/>
              <a:buChar char="•"/>
            </a:pPr>
            <a:r>
              <a:rPr lang="en-US" sz="1700" dirty="0">
                <a:solidFill>
                  <a:srgbClr val="141B26"/>
                </a:solidFill>
              </a:rPr>
              <a:t>In 2014 the EU banned some neonicotinoid insecticides on flowering crops because they made nectar and pollen poisonous to bees.</a:t>
            </a:r>
            <a:endParaRPr lang="en-US" sz="1700" dirty="0"/>
          </a:p>
          <a:p>
            <a:pPr marL="228600" indent="-228600">
              <a:spcAft>
                <a:spcPts val="600"/>
              </a:spcAft>
              <a:buSzPct val="100000"/>
              <a:buChar char="•"/>
            </a:pPr>
            <a:r>
              <a:rPr lang="en-US" sz="1700" dirty="0">
                <a:solidFill>
                  <a:srgbClr val="141B26"/>
                </a:solidFill>
              </a:rPr>
              <a:t>Selective herbicides also kill the broad-leaved plants in hedges.</a:t>
            </a:r>
            <a:endParaRPr lang="en-US" sz="1700" dirty="0"/>
          </a:p>
        </p:txBody>
      </p:sp>
      <p:pic>
        <p:nvPicPr>
          <p:cNvPr id="7" name="Image 0" descr="/home/user/lessons/Y9_Exploring_Science/images/bee_rapeseed.jpg">    </p:cNvPr>
          <p:cNvPicPr>
            <a:picLocks noChangeAspect="1"/>
          </p:cNvPicPr>
          <p:nvPr/>
        </p:nvPicPr>
        <p:blipFill>
          <a:blip r:embed="rId1"/>
          <a:stretch>
            <a:fillRect/>
          </a:stretch>
        </p:blipFill>
        <p:spPr>
          <a:xfrm>
            <a:off x="6583680" y="1431741"/>
            <a:ext cx="5029200" cy="3354437"/>
          </a:xfrm>
          <a:prstGeom prst="rect">
            <a:avLst/>
          </a:prstGeom>
        </p:spPr>
      </p:pic>
      <p:sp>
        <p:nvSpPr>
          <p:cNvPr id="8" name="Text 5"/>
          <p:cNvSpPr txBox="1"/>
          <p:nvPr/>
        </p:nvSpPr>
        <p:spPr>
          <a:xfrm>
            <a:off x="6583680" y="4831899"/>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A bee on rapeseed</a:t>
            </a:r>
            <a:pPr algn="l" indent="0" marL="0">
              <a:buNone/>
            </a:pPr>
            <a:endParaRPr lang="en-US" sz="1100" dirty="0"/>
          </a:p>
          <a:p>
            <a:pPr algn="l" indent="0" marL="0">
              <a:buNone/>
            </a:pPr>
            <a:r>
              <a:rPr lang="en-US" sz="800" dirty="0">
                <a:solidFill>
                  <a:srgbClr val="5B6574"/>
                </a:solidFill>
              </a:rPr>
              <a:t>Image: Gilles San Martin, CC BY-SA 2.0,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A persistent pesticide does not stay where it was sprayed: it travels up the food chain.</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A food web from a hedge next to a wheat field</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food web</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What happens to each population if the farmer sprays the wheat with a general insecticide? With a selective herbicide?</a:t>
            </a:r>
            <a:endParaRPr lang="en-US" sz="1600" dirty="0"/>
          </a:p>
        </p:txBody>
      </p:sp>
      <p:pic>
        <p:nvPicPr>
          <p:cNvPr id="7" name="Image 0" descr="/home/user/lessons/Y9_Exploring_Science/source/diagrams/food_web_hedge.png">    </p:cNvPr>
          <p:cNvPicPr>
            <a:picLocks noChangeAspect="1"/>
          </p:cNvPicPr>
          <p:nvPr/>
        </p:nvPicPr>
        <p:blipFill>
          <a:blip r:embed="rId1"/>
          <a:stretch>
            <a:fillRect/>
          </a:stretch>
        </p:blipFill>
        <p:spPr>
          <a:xfrm>
            <a:off x="2139215" y="1737360"/>
            <a:ext cx="7700211"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Remove one link in a food web and the effects spread to organisms that were never sprayed.</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Clearing land and single varieties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habitat   ·   biodiversity</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Clearing land for crops or machines destroys habitats, so populations of wild organisms fall.</a:t>
            </a:r>
            <a:endParaRPr lang="en-US" sz="1700" dirty="0"/>
          </a:p>
          <a:p>
            <a:pPr marL="228600" indent="-228600">
              <a:spcAft>
                <a:spcPts val="600"/>
              </a:spcAft>
              <a:buSzPct val="100000"/>
              <a:buChar char="•"/>
            </a:pPr>
            <a:r>
              <a:rPr lang="en-US" sz="1700" dirty="0">
                <a:solidFill>
                  <a:srgbClr val="141B26"/>
                </a:solidFill>
              </a:rPr>
              <a:t>Farmers often plant one variety over a huge area. All the plants are identical, so if one gets a disease, all of them do.</a:t>
            </a:r>
            <a:endParaRPr lang="en-US" sz="1700" dirty="0"/>
          </a:p>
          <a:p>
            <a:pPr marL="228600" indent="-228600">
              <a:spcAft>
                <a:spcPts val="600"/>
              </a:spcAft>
              <a:buSzPct val="100000"/>
              <a:buChar char="•"/>
            </a:pPr>
            <a:r>
              <a:rPr lang="en-US" sz="1700" dirty="0">
                <a:solidFill>
                  <a:srgbClr val="141B26"/>
                </a:solidFill>
              </a:rPr>
              <a:t>In 19th century Ireland most people lived on one potato variety. Between 1845 and 1852 a disease wiped it out and over a million people starved.</a:t>
            </a:r>
            <a:endParaRPr lang="en-US" sz="1700" dirty="0"/>
          </a:p>
          <a:p>
            <a:pPr marL="228600" indent="-228600">
              <a:spcAft>
                <a:spcPts val="600"/>
              </a:spcAft>
              <a:buSzPct val="100000"/>
              <a:buChar char="•"/>
            </a:pPr>
            <a:r>
              <a:rPr lang="en-US" sz="1700" dirty="0">
                <a:solidFill>
                  <a:srgbClr val="141B26"/>
                </a:solidFill>
              </a:rPr>
              <a:t>A single variety reduces biodiversity: the food webs are smaller and the area takes longer to recover after a disaster.</a:t>
            </a:r>
            <a:endParaRPr lang="en-US" sz="1700" dirty="0"/>
          </a:p>
        </p:txBody>
      </p:sp>
      <p:pic>
        <p:nvPicPr>
          <p:cNvPr id="7" name="Image 0" descr="/home/user/lessons/Y9_Exploring_Science/images/deforestation.jpg">    </p:cNvPr>
          <p:cNvPicPr>
            <a:picLocks noChangeAspect="1"/>
          </p:cNvPicPr>
          <p:nvPr/>
        </p:nvPicPr>
        <p:blipFill>
          <a:blip r:embed="rId1"/>
          <a:stretch>
            <a:fillRect/>
          </a:stretch>
        </p:blipFill>
        <p:spPr>
          <a:xfrm>
            <a:off x="6659880" y="1280160"/>
            <a:ext cx="4876800" cy="3657600"/>
          </a:xfrm>
          <a:prstGeom prst="rect">
            <a:avLst/>
          </a:prstGeom>
        </p:spPr>
      </p:pic>
      <p:sp>
        <p:nvSpPr>
          <p:cNvPr id="8" name="Text 5"/>
          <p:cNvSpPr txBox="1"/>
          <p:nvPr/>
        </p:nvSpPr>
        <p:spPr>
          <a:xfrm>
            <a:off x="6583680" y="4983480"/>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Forest cleared for farmland</a:t>
            </a:r>
            <a:pPr algn="l" indent="0" marL="0">
              <a:buNone/>
            </a:pPr>
            <a:endParaRPr lang="en-US" sz="1100" dirty="0"/>
          </a:p>
          <a:p>
            <a:pPr algn="l" indent="0" marL="0">
              <a:buNone/>
            </a:pPr>
            <a:r>
              <a:rPr lang="en-US" sz="800" dirty="0">
                <a:solidFill>
                  <a:srgbClr val="5B6574"/>
                </a:solidFill>
              </a:rPr>
              <a:t>Image: crustmania, CC BY 2.0,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Low biodiversity is fragile. One disease, one pest or one drought can take everything.</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carbon cycle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carbon cycle   ·   combustion   ·   global warming</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Photosynthesis removes carbon dioxide from the air. Respiration, decomposers and combustion put it back.</a:t>
            </a:r>
            <a:endParaRPr lang="en-US" sz="1600" dirty="0"/>
          </a:p>
        </p:txBody>
      </p:sp>
      <p:pic>
        <p:nvPicPr>
          <p:cNvPr id="7" name="Image 0" descr="/home/user/lessons/Y9_Exploring_Science/source/diagrams/carbon_cycle.png">    </p:cNvPr>
          <p:cNvPicPr>
            <a:picLocks noChangeAspect="1"/>
          </p:cNvPicPr>
          <p:nvPr/>
        </p:nvPicPr>
        <p:blipFill>
          <a:blip r:embed="rId1"/>
          <a:stretch>
            <a:fillRect/>
          </a:stretch>
        </p:blipFill>
        <p:spPr>
          <a:xfrm>
            <a:off x="2738120" y="1737360"/>
            <a:ext cx="6502400"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Burning fossil fuels and cutting down forests have raised carbon dioxide in the air for 200 years, which is thought to cause global warming.</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Mini whiteboards. One answer each, then we check.</a:t>
            </a:r>
            <a:endParaRPr lang="en-US" sz="14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Q1  </a:t>
            </a:r>
            <a:pPr indent="0" marL="0">
              <a:buNone/>
            </a:pPr>
            <a:r>
              <a:rPr lang="en-US" sz="1600" dirty="0">
                <a:solidFill>
                  <a:srgbClr val="141B26"/>
                </a:solidFill>
              </a:rPr>
              <a:t>Which organisms use up the oxygen in a lake after an algal bloom?</a:t>
            </a:r>
            <a:endParaRPr lang="en-US" sz="16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Q2  </a:t>
            </a:r>
            <a:pPr indent="0" marL="0">
              <a:buNone/>
            </a:pPr>
            <a:r>
              <a:rPr lang="en-US" sz="1600" dirty="0">
                <a:solidFill>
                  <a:srgbClr val="141B26"/>
                </a:solidFill>
              </a:rPr>
              <a:t>What does persistent mean for a pesticide?</a:t>
            </a:r>
            <a:endParaRPr lang="en-US" sz="16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Q3  </a:t>
            </a:r>
            <a:pPr indent="0" marL="0">
              <a:buNone/>
            </a:pPr>
            <a:r>
              <a:rPr lang="en-US" sz="1600" dirty="0">
                <a:solidFill>
                  <a:srgbClr val="141B26"/>
                </a:solidFill>
              </a:rPr>
              <a:t>Which process removes carbon dioxide from the air?</a:t>
            </a:r>
            <a:endParaRPr lang="en-US" sz="16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Q4  </a:t>
            </a:r>
            <a:pPr indent="0" marL="0">
              <a:buNone/>
            </a:pPr>
            <a:r>
              <a:rPr lang="en-US" sz="1600" dirty="0">
                <a:solidFill>
                  <a:srgbClr val="141B26"/>
                </a:solidFill>
              </a:rPr>
              <a:t>Name two processes that release carbon dioxide into the air.</a:t>
            </a:r>
            <a:endParaRPr lang="en-US" sz="16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Q5  </a:t>
            </a:r>
            <a:pPr indent="0" marL="0">
              <a:buNone/>
            </a:pPr>
            <a:r>
              <a:rPr lang="en-US" sz="1600" dirty="0">
                <a:solidFill>
                  <a:srgbClr val="141B26"/>
                </a:solidFill>
              </a:rPr>
              <a:t>Why is planting one variety over a huge area risky?</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14</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Core: number the eutrophication steps, predict the changes in the hedge food web, match the carbon cycle processes.</a:t>
            </a:r>
            <a:endParaRPr lang="en-US" sz="1700" dirty="0"/>
          </a:p>
        </p:txBody>
      </p:sp>
      <p:sp>
        <p:nvSpPr>
          <p:cNvPr id="10" name="Shape 8"/>
          <p:cNvSpPr/>
          <p:nvPr/>
        </p:nvSpPr>
        <p:spPr>
          <a:xfrm>
            <a:off x="548640" y="2331720"/>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860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Stretch: bacteria and fish; nitrates and algae; deforestation and carbon dioxide.</a:t>
            </a:r>
            <a:endParaRPr lang="en-US" sz="1700" dirty="0"/>
          </a:p>
        </p:txBody>
      </p:sp>
      <p:sp>
        <p:nvSpPr>
          <p:cNvPr id="13" name="Shape 11"/>
          <p:cNvSpPr/>
          <p:nvPr/>
        </p:nvSpPr>
        <p:spPr>
          <a:xfrm>
            <a:off x="548640" y="3246120"/>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2004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Challenge: the Irish potato famine; bioaccumulation and the neonicotinoid ban.</a:t>
            </a:r>
            <a:endParaRPr lang="en-US" sz="1700" dirty="0"/>
          </a:p>
        </p:txBody>
      </p:sp>
      <p:sp>
        <p:nvSpPr>
          <p:cNvPr id="16" name="Shape 14"/>
          <p:cNvSpPr/>
          <p:nvPr/>
        </p:nvSpPr>
        <p:spPr>
          <a:xfrm>
            <a:off x="548640" y="4160520"/>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1148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Finished? The My thinking question is about cement.</a:t>
            </a:r>
            <a:endParaRPr lang="en-US" sz="1700" dirty="0"/>
          </a:p>
        </p:txBody>
      </p:sp>
      <p:sp>
        <p:nvSpPr>
          <p:cNvPr id="19" name="Text 17"/>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i="1" dirty="0">
                <a:solidFill>
                  <a:srgbClr val="5B6574"/>
                </a:solidFill>
              </a:rPr>
              <a:t>Every explanation should be a chain: this happens, so this happens, so this happens.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Should farmers stop using fertilisers?</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normAutofit/>
          </a:bodyPr>
          <a:lstStyle/>
          <a:p>
            <a:pPr indent="0" marL="0">
              <a:buNone/>
            </a:pPr>
            <a:r>
              <a:rPr lang="en-US" sz="2200" b="1" dirty="0">
                <a:solidFill>
                  <a:srgbClr val="0F2A5F"/>
                </a:solidFill>
              </a:rPr>
              <a:t>Fertilisers raise yields and feed people, but they can wash into rivers. Should farmers stop using them? Give one point for each side, then decide.</a:t>
            </a:r>
            <a:endParaRPr lang="en-US" sz="22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normAutofit/>
          </a:bodyPr>
          <a:lstStyle/>
          <a:p>
            <a:pPr indent="0" marL="0">
              <a:spcAft>
                <a:spcPts val="600"/>
              </a:spcAft>
              <a:buNone/>
            </a:pPr>
            <a:r>
              <a:rPr lang="en-US" sz="1500" b="1" dirty="0">
                <a:solidFill>
                  <a:srgbClr val="7B3A8E"/>
                </a:solidFill>
              </a:rPr>
              <a:t>Sentence frames</a:t>
            </a:r>
            <a:endParaRPr lang="en-US" sz="1500" dirty="0"/>
          </a:p>
          <a:p>
            <a:pPr indent="0" marL="0">
              <a:spcAft>
                <a:spcPts val="600"/>
              </a:spcAft>
              <a:buNone/>
            </a:pPr>
            <a:r>
              <a:rPr lang="en-US" sz="1500" dirty="0">
                <a:solidFill>
                  <a:srgbClr val="141B26"/>
                </a:solidFill>
              </a:rPr>
              <a:t>One reason to keep using fertilisers is ___.</a:t>
            </a:r>
            <a:endParaRPr lang="en-US" sz="1500" dirty="0"/>
          </a:p>
          <a:p>
            <a:pPr indent="0" marL="0">
              <a:spcAft>
                <a:spcPts val="600"/>
              </a:spcAft>
              <a:buNone/>
            </a:pPr>
            <a:r>
              <a:rPr lang="en-US" sz="1500" dirty="0">
                <a:solidFill>
                  <a:srgbClr val="141B26"/>
                </a:solidFill>
              </a:rPr>
              <a:t>One problem is ___, because ___.</a:t>
            </a:r>
            <a:endParaRPr lang="en-US" sz="1500" dirty="0"/>
          </a:p>
          <a:p>
            <a:pPr indent="0" marL="0">
              <a:spcAft>
                <a:spcPts val="600"/>
              </a:spcAft>
              <a:buNone/>
            </a:pPr>
            <a:r>
              <a:rPr lang="en-US" sz="1500" dirty="0">
                <a:solidFill>
                  <a:srgbClr val="141B26"/>
                </a:solidFill>
              </a:rPr>
              <a:t>A sustainable solution could be ___.</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On your worksheet exit ticket. Work alone. Hand it in as you leave.</a:t>
            </a:r>
            <a:endParaRPr lang="en-US" sz="1400" dirty="0"/>
          </a:p>
        </p:txBody>
      </p:sp>
      <p:sp>
        <p:nvSpPr>
          <p:cNvPr id="6" name="Text 4"/>
          <p:cNvSpPr txBox="1"/>
          <p:nvPr/>
        </p:nvSpPr>
        <p:spPr>
          <a:xfrm>
            <a:off x="548640" y="182880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1.  </a:t>
            </a:r>
            <a:pPr indent="0" marL="0">
              <a:buNone/>
            </a:pPr>
            <a:r>
              <a:rPr lang="en-US" sz="1800" dirty="0">
                <a:solidFill>
                  <a:srgbClr val="141B26"/>
                </a:solidFill>
              </a:rPr>
              <a:t>What does eutrophication mean?</a:t>
            </a:r>
            <a:endParaRPr lang="en-US" sz="1800" dirty="0"/>
          </a:p>
        </p:txBody>
      </p:sp>
      <p:sp>
        <p:nvSpPr>
          <p:cNvPr id="7" name="Text 5"/>
          <p:cNvSpPr txBox="1"/>
          <p:nvPr/>
        </p:nvSpPr>
        <p:spPr>
          <a:xfrm>
            <a:off x="548640" y="301752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2.  </a:t>
            </a:r>
            <a:pPr indent="0" marL="0">
              <a:buNone/>
            </a:pPr>
            <a:r>
              <a:rPr lang="en-US" sz="1800" dirty="0">
                <a:solidFill>
                  <a:srgbClr val="141B26"/>
                </a:solidFill>
              </a:rPr>
              <a:t>Name two processes that release carbon dioxide into the air.</a:t>
            </a:r>
            <a:endParaRPr lang="en-US" sz="1800" dirty="0"/>
          </a:p>
        </p:txBody>
      </p:sp>
      <p:sp>
        <p:nvSpPr>
          <p:cNvPr id="8" name="Text 6"/>
          <p:cNvSpPr txBox="1"/>
          <p:nvPr/>
        </p:nvSpPr>
        <p:spPr>
          <a:xfrm>
            <a:off x="548640" y="420624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3.  </a:t>
            </a:r>
            <a:pPr indent="0" marL="0">
              <a:buNone/>
            </a:pPr>
            <a:r>
              <a:rPr lang="en-US" sz="1800" dirty="0">
                <a:solidFill>
                  <a:srgbClr val="141B26"/>
                </a:solidFill>
              </a:rPr>
              <a:t>Why is it risky to plant one variety of crop over a very large area?</a:t>
            </a:r>
            <a:endParaRPr lang="en-US" sz="18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4805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41B26"/>
                </a:solidFill>
              </a:rPr>
              <a:t>Fertiliser washed into water causes eutrophication: algae grow, plants die, decomposers use the oxygen, fish die.</a:t>
            </a:r>
            <a:endParaRPr lang="en-US" sz="1700" dirty="0"/>
          </a:p>
          <a:p>
            <a:pPr marL="342900" indent="-342900">
              <a:spcAft>
                <a:spcPts val="1000"/>
              </a:spcAft>
              <a:buSzPct val="100000"/>
              <a:buChar char="✓"/>
            </a:pPr>
            <a:r>
              <a:rPr lang="en-US" sz="1700" dirty="0">
                <a:solidFill>
                  <a:srgbClr val="141B26"/>
                </a:solidFill>
              </a:rPr>
              <a:t>Persistent pesticides build up along food chains (bioaccumulation) and can kill pollinators and pest predators.</a:t>
            </a:r>
            <a:endParaRPr lang="en-US" sz="1700" dirty="0"/>
          </a:p>
          <a:p>
            <a:pPr marL="342900" indent="-342900">
              <a:spcAft>
                <a:spcPts val="1000"/>
              </a:spcAft>
              <a:buSzPct val="100000"/>
              <a:buChar char="✓"/>
            </a:pPr>
            <a:r>
              <a:rPr lang="en-US" sz="1700" dirty="0">
                <a:solidFill>
                  <a:srgbClr val="141B26"/>
                </a:solidFill>
              </a:rPr>
              <a:t>Clearing land and growing single varieties reduce biodiversity and make food webs fragile.</a:t>
            </a:r>
            <a:endParaRPr lang="en-US" sz="1700" dirty="0"/>
          </a:p>
          <a:p>
            <a:pPr marL="342900" indent="-342900">
              <a:spcAft>
                <a:spcPts val="1000"/>
              </a:spcAft>
              <a:buSzPct val="100000"/>
              <a:buChar char="✓"/>
            </a:pPr>
            <a:r>
              <a:rPr lang="en-US" sz="1700" dirty="0">
                <a:solidFill>
                  <a:srgbClr val="141B26"/>
                </a:solidFill>
              </a:rPr>
              <a:t>Photosynthesis removes carbon dioxide; respiration, decomposers and combustion return it. Fossil fuels and deforestation are raising it.</a:t>
            </a:r>
            <a:endParaRPr lang="en-US" sz="1700" dirty="0"/>
          </a:p>
          <a:p>
            <a:pPr marL="342900" indent="-342900">
              <a:spcAft>
                <a:spcPts val="1000"/>
              </a:spcAft>
              <a:buSzPct val="100000"/>
              <a:buChar char="✓"/>
            </a:pPr>
            <a:r>
              <a:rPr lang="en-US" sz="1700" dirty="0">
                <a:solidFill>
                  <a:srgbClr val="141B26"/>
                </a:solidFill>
              </a:rPr>
              <a:t>Sustainable development means producing what we need without destroying habitats.</a:t>
            </a:r>
            <a:endParaRPr lang="en-US" sz="17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Bias and validity: can we trust a graph, and is organic farming better?</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9B Lesson 6: Farming problems and the carbon cycle</dc:title>
  <dc:subject>PptxGenJS Presentation</dc:subject>
  <dc:creator>Year 9 Science</dc:creator>
  <cp:lastModifiedBy>Year 9 Science</cp:lastModifiedBy>
  <cp:revision>1</cp:revision>
  <dcterms:created xsi:type="dcterms:W3CDTF">2026-10-28T01:48:47Z</dcterms:created>
  <dcterms:modified xsi:type="dcterms:W3CDTF">2026-10-28T01:48:47Z</dcterms:modified>
</cp:coreProperties>
</file>