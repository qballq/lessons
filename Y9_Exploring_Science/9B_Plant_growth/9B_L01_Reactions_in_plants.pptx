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9B, Plant growth. We start on a farm: a farmer's yield depends on two chemical reactions inside every plant. Today we meet both of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minutes in books. Answers: photosynthesis; carbon dioxide; less light means less photosynthesis, so less glucose, less growth and a smaller harvest. This recaps Year 8 and tells you who remembers the word equation.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each goal aloud. Point out the key words box on the worksheet; students with the Chinese key words sheet have the same words with Chinese beside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confirm yet. Most of the mass came from carbon dioxide in the air (carbon atoms in glucose, starch and cellulose) plus water. The experiment disproves Aristotle but van Helmont himself wrongly concluded it was all water. Students evaluate that claim in Challenge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copy the word equation and the symbol equation. Say it aloud: carbon dioxide plus water makes glucose plus oxygen. Point out 6CO2 and 6H2O on the left, C6H12O6 and 6O2 on the right: the atoms are the same on both sides.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a farmer in a greenhouse adds lamps and pumps in carbon dioxide. Why? Answer: to remove limiting factors so the crop grows faster. Counting bubbles from pondweed is the standard way to measure the rate; the book's question 6 asks for three limiting factors.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word equation. Respiration is the reverse of photosynthesis. The energy released is transferred to ATP molecules, which store it until the cell needs it. Ask: does a root cell photosynthesise? No, no chloroplasts, no light. Does it respire? Yes.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X is oxygen: it rises while the plant photosynthesises in the light and falls at night when only respiration happens. Y is carbon dioxide: used up in the day, released at night. The crossing point is when photosynthesis and respiration are equal.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Link to yield: a flooded field means dead roots and a lost harvest. Next lesson looks at how roots, stems and leaves are adapted. Workbook page 16 has the variegated leaf question: photosynthesis only in the green parts, respiration in all cells.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carbon dioxide and water; in the chloroplasts; both (all the time); light; phloem. Ask a student to say the respiration equation from memory.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Circulate and check the equations first: a wrong equation now will be copied into every later lesson. Core 4: soil change 0.06 kg, tree change 74.47 kg.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roots need oxygen for aerobic respiration to release energy; flooded soil has no air spaces so no oxygen reaches the roots; root cells cannot release energy, so they stop working and die, and the plant dies. Praise students who add that the leaves still photosynthesise but the sugar cannot be used in the roots.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carbon dioxide + water makes glucose + oxygen; in the chloroplasts; photosynthesis needs light, which is only available in the day. Collect the strips.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Homework: Workbook pages 15 and 16. Remind students that the word equations will be used in every lesson of this unit.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image-1005-1.png"/><Relationship Id="rId2"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0F2A5F"/>
        </a:solidFill>
      </p:bgPr>
    </p:bg>
    <p:spTree>
      <p:nvGrpSpPr>
        <p:cNvPr id="1" name=""/>
        <p:cNvGrpSpPr/>
        <p:nvPr/>
      </p:nvGrpSpPr>
      <p:grpSpPr>
        <a:xfrm>
          <a:off x="0" y="0"/>
          <a:ext cx="0" cy="0"/>
          <a:chOff x="0" y="0"/>
          <a:chExt cx="0" cy="0"/>
        </a:xfrm>
      </p:grpSpPr>
      <p:pic>
        <p:nvPicPr>
          <p:cNvPr id="2" name="Image 0" descr="/home/user/lessons/design/assets/school_logo_horizontal_white.png">    </p:cNvPr>
          <p:cNvPicPr>
            <a:picLocks noChangeAspect="1"/>
          </p:cNvPicPr>
          <p:nvPr/>
        </p:nvPicPr>
        <p:blipFill>
          <a:blip r:embed="rId1"/>
          <a:stretch>
            <a:fillRect/>
          </a:stretch>
        </p:blipFill>
        <p:spPr>
          <a:xfrm>
            <a:off x="548640" y="5715000"/>
            <a:ext cx="2011680" cy="832104"/>
          </a:xfrm>
          <a:prstGeom prst="rect">
            <a:avLst/>
          </a:prstGeom>
        </p:spPr>
      </p:pic>
      <p:sp>
        <p:nvSpPr>
          <p:cNvPr id="3" name="Text 0"/>
          <p:cNvSpPr/>
          <p:nvPr>
            <p:ph idx="101" type="title" hasCustomPrompt="1"/>
          </p:nvPr>
        </p:nvSpPr>
        <p:spPr>
          <a:xfrm>
            <a:off x="548640" y="2103120"/>
            <a:ext cx="10515600" cy="1463040"/>
          </a:xfrm>
          <a:prstGeom prst="rect">
            <a:avLst/>
          </a:prstGeom>
          <a:noFill/>
          <a:ln/>
        </p:spPr>
        <p:txBody>
          <a:bodyPr wrap="square" rtlCol="0"/>
          <a:lstStyle>
            <a:lvl1pPr indent="0" marL="0">
              <a:buNone/>
              <a:defRPr lang="en-US" sz="4400" b="1" dirty="0">
                <a:solidFill>
                  <a:srgbClr val="FFFFFF"/>
                </a:solidFill>
              </a:defRPr>
            </a:lvl1pPr>
          </a:lstStyle>
          <a:p>
            <a:pPr indent="0" marL="0">
              <a:buNone/>
            </a:pPr>
            <a:endParaRPr lang="en-US" sz="4400" dirty="0"/>
          </a:p>
        </p:txBody>
      </p:sp>
      <p:sp>
        <p:nvSpPr>
          <p:cNvPr id="4" name="Text 0"/>
          <p:cNvSpPr/>
          <p:nvPr>
            <p:ph idx="102" type="body" hasCustomPrompt="1"/>
          </p:nvPr>
        </p:nvSpPr>
        <p:spPr>
          <a:xfrm>
            <a:off x="548640" y="3657600"/>
            <a:ext cx="10515600" cy="1097280"/>
          </a:xfrm>
          <a:prstGeom prst="rect">
            <a:avLst/>
          </a:prstGeom>
          <a:noFill/>
          <a:ln/>
        </p:spPr>
        <p:txBody>
          <a:bodyPr wrap="square" rtlCol="0"/>
          <a:lstStyle>
            <a:lvl1pPr indent="0" marL="0">
              <a:buNone/>
              <a:defRPr lang="en-US" sz="2400" dirty="0">
                <a:solidFill>
                  <a:srgbClr val="FFFFFF"/>
                </a:solidFill>
              </a:defRPr>
            </a:lvl1pPr>
          </a:lstStyle>
          <a:p>
            <a:pPr indent="0" marL="0">
              <a:buNone/>
            </a:pPr>
            <a:endParaRPr lang="en-US" sz="2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rtlCol="0"/>
          <a:lstStyle>
            <a:lvl1pPr indent="0" marL="0">
              <a:buNone/>
              <a:defRPr lang="en-US" sz="3000" b="1" dirty="0">
                <a:solidFill>
                  <a:srgbClr val="0F2A5F"/>
                </a:solidFill>
              </a:defRPr>
            </a:lvl1pPr>
          </a:lstStyle>
          <a:p>
            <a:pPr indent="0" marL="0">
              <a:buNone/>
            </a:pPr>
            <a:endParaRPr lang="en-US" sz="3000" dirty="0"/>
          </a:p>
        </p:txBody>
      </p:sp>
      <p:sp>
        <p:nvSpPr>
          <p:cNvPr id="3" name="Text 0"/>
          <p:cNvSpPr/>
          <p:nvPr/>
        </p:nvSpPr>
        <p:spPr>
          <a:xfrm>
            <a:off x="548640" y="6419088"/>
            <a:ext cx="7772400" cy="274320"/>
          </a:xfrm>
          <a:prstGeom prst="rect">
            <a:avLst/>
          </a:prstGeom>
          <a:noFill/>
          <a:ln/>
        </p:spPr>
        <p:txBody>
          <a:bodyPr wrap="square" lIns="0" tIns="0" rIns="0" bIns="0" rtlCol="0" anchor="ctr"/>
          <a:lstStyle/>
          <a:p>
            <a:pPr indent="0" marL="0">
              <a:buNone/>
            </a:pPr>
            <a:r>
              <a:rPr lang="en-US" sz="1000" dirty="0">
                <a:solidFill>
                  <a:srgbClr val="5B6574"/>
                </a:solidFill>
              </a:rPr>
              <a:t>Year 9 Science  |  9B Plant growth  |  Lesson 1: Reactions in plants</a:t>
            </a:r>
            <a:endParaRPr lang="en-US" sz="1000" dirty="0"/>
          </a:p>
        </p:txBody>
      </p:sp>
      <p:pic>
        <p:nvPicPr>
          <p:cNvPr id="4" name="Image 0" descr="/home/user/lessons/design/assets/school_logo_horizontal_navy.png">    </p:cNvPr>
          <p:cNvPicPr>
            <a:picLocks noChangeAspect="1"/>
          </p:cNvPicPr>
          <p:nvPr/>
        </p:nvPicPr>
        <p:blipFill>
          <a:blip r:embed="rId1"/>
          <a:stretch>
            <a:fillRect/>
          </a:stretch>
        </p:blipFill>
        <p:spPr>
          <a:xfrm>
            <a:off x="10561320" y="6263640"/>
            <a:ext cx="1143000" cy="475488"/>
          </a:xfrm>
          <a:prstGeom prst="rect">
            <a:avLst/>
          </a:prstGeom>
        </p:spPr>
      </p:pic>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NT">
    <p:bg>
      <p:bgPr>
        <a:solidFill>
          <a:srgbClr val="F1E5F4"/>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rtlCol="0"/>
          <a:lstStyle>
            <a:lvl1pPr indent="0" marL="0">
              <a:buNone/>
              <a:defRPr lang="en-US" sz="3000" b="1" dirty="0">
                <a:solidFill>
                  <a:srgbClr val="0F2A5F"/>
                </a:solidFill>
              </a:defRPr>
            </a:lvl1pPr>
          </a:lstStyle>
          <a:p>
            <a:pPr indent="0" marL="0">
              <a:buNone/>
            </a:pPr>
            <a:endParaRPr lang="en-US" sz="3000" dirty="0"/>
          </a:p>
        </p:txBody>
      </p:sp>
      <p:sp>
        <p:nvSpPr>
          <p:cNvPr id="3" name="Text 0"/>
          <p:cNvSpPr/>
          <p:nvPr/>
        </p:nvSpPr>
        <p:spPr>
          <a:xfrm>
            <a:off x="548640" y="6419088"/>
            <a:ext cx="7772400" cy="274320"/>
          </a:xfrm>
          <a:prstGeom prst="rect">
            <a:avLst/>
          </a:prstGeom>
          <a:noFill/>
          <a:ln/>
        </p:spPr>
        <p:txBody>
          <a:bodyPr wrap="square" lIns="0" tIns="0" rIns="0" bIns="0" rtlCol="0" anchor="ctr"/>
          <a:lstStyle/>
          <a:p>
            <a:pPr indent="0" marL="0">
              <a:buNone/>
            </a:pPr>
            <a:r>
              <a:rPr lang="en-US" sz="1000" dirty="0">
                <a:solidFill>
                  <a:srgbClr val="5B6574"/>
                </a:solidFill>
              </a:rPr>
              <a:t>Year 9 Science  |  9B Plant growth  |  Lesson 1: Reactions in plants</a:t>
            </a:r>
            <a:endParaRPr lang="en-US" sz="1000" dirty="0"/>
          </a:p>
        </p:txBody>
      </p:sp>
      <p:pic>
        <p:nvPicPr>
          <p:cNvPr id="4" name="Image 0" descr="/home/user/lessons/design/assets/school_logo_horizontal_navy.png">    </p:cNvPr>
          <p:cNvPicPr>
            <a:picLocks noChangeAspect="1"/>
          </p:cNvPicPr>
          <p:nvPr/>
        </p:nvPicPr>
        <p:blipFill>
          <a:blip r:embed="rId1"/>
          <a:stretch>
            <a:fillRect/>
          </a:stretch>
        </p:blipFill>
        <p:spPr>
          <a:xfrm>
            <a:off x="10561320" y="6263640"/>
            <a:ext cx="1143000" cy="475488"/>
          </a:xfrm>
          <a:prstGeom prst="rect">
            <a:avLst/>
          </a:prstGeom>
        </p:spPr>
      </p:pic>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PAGE">
    <p:bg>
      <p:bgPr>
        <a:solidFill>
          <a:srgbClr val="EEF1F5"/>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rtlCol="0"/>
          <a:lstStyle>
            <a:lvl1pPr indent="0" marL="0">
              <a:buNone/>
              <a:defRPr lang="en-US" sz="3000" b="1" dirty="0">
                <a:solidFill>
                  <a:srgbClr val="0F2A5F"/>
                </a:solidFill>
              </a:defRPr>
            </a:lvl1pPr>
          </a:lstStyle>
          <a:p>
            <a:pPr indent="0" marL="0">
              <a:buNone/>
            </a:pPr>
            <a:endParaRPr lang="en-US" sz="3000" dirty="0"/>
          </a:p>
        </p:txBody>
      </p:sp>
      <p:sp>
        <p:nvSpPr>
          <p:cNvPr id="3" name="Text 0"/>
          <p:cNvSpPr/>
          <p:nvPr/>
        </p:nvSpPr>
        <p:spPr>
          <a:xfrm>
            <a:off x="548640" y="6419088"/>
            <a:ext cx="7772400" cy="274320"/>
          </a:xfrm>
          <a:prstGeom prst="rect">
            <a:avLst/>
          </a:prstGeom>
          <a:noFill/>
          <a:ln/>
        </p:spPr>
        <p:txBody>
          <a:bodyPr wrap="square" lIns="0" tIns="0" rIns="0" bIns="0" rtlCol="0" anchor="ctr"/>
          <a:lstStyle/>
          <a:p>
            <a:pPr indent="0" marL="0">
              <a:buNone/>
            </a:pPr>
            <a:r>
              <a:rPr lang="en-US" sz="1000" dirty="0">
                <a:solidFill>
                  <a:srgbClr val="5B6574"/>
                </a:solidFill>
              </a:rPr>
              <a:t>Year 9 Science  |  9B Plant growth  |  Lesson 1: Reactions in plants</a:t>
            </a:r>
            <a:endParaRPr lang="en-US" sz="1000" dirty="0"/>
          </a:p>
        </p:txBody>
      </p:sp>
      <p:pic>
        <p:nvPicPr>
          <p:cNvPr id="4" name="Image 0" descr="/home/user/lessons/design/assets/school_logo_horizontal_navy.png">    </p:cNvPr>
          <p:cNvPicPr>
            <a:picLocks noChangeAspect="1"/>
          </p:cNvPicPr>
          <p:nvPr/>
        </p:nvPicPr>
        <p:blipFill>
          <a:blip r:embed="rId1"/>
          <a:stretch>
            <a:fillRect/>
          </a:stretch>
        </p:blipFill>
        <p:spPr>
          <a:xfrm>
            <a:off x="10561320" y="6263640"/>
            <a:ext cx="1143000" cy="475488"/>
          </a:xfrm>
          <a:prstGeom prst="rect">
            <a:avLst/>
          </a:prstGeom>
        </p:spPr>
      </p:pic>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1005</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AFETY">
    <p:bg>
      <p:bgPr>
        <a:solidFill>
          <a:srgbClr val="F2CE3E"/>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rtlCol="0"/>
          <a:lstStyle>
            <a:lvl1pPr indent="0" marL="0">
              <a:buNone/>
              <a:defRPr lang="en-US" sz="3400" b="1" dirty="0">
                <a:solidFill>
                  <a:srgbClr val="3A2E00"/>
                </a:solidFill>
              </a:defRPr>
            </a:lvl1pPr>
          </a:lstStyle>
          <a:p>
            <a:pPr indent="0" marL="0">
              <a:buNone/>
            </a:pPr>
            <a:endParaRPr lang="en-US" sz="3400" dirty="0"/>
          </a:p>
        </p:txBody>
      </p:sp>
      <p:sp>
        <p:nvSpPr>
          <p:cNvPr id="3" name="Text 0"/>
          <p:cNvSpPr/>
          <p:nvPr/>
        </p:nvSpPr>
        <p:spPr>
          <a:xfrm>
            <a:off x="548640" y="6419088"/>
            <a:ext cx="7772400" cy="274320"/>
          </a:xfrm>
          <a:prstGeom prst="rect">
            <a:avLst/>
          </a:prstGeom>
          <a:noFill/>
          <a:ln/>
        </p:spPr>
        <p:txBody>
          <a:bodyPr wrap="square" lIns="0" tIns="0" rIns="0" bIns="0" rtlCol="0" anchor="ctr"/>
          <a:lstStyle/>
          <a:p>
            <a:pPr indent="0" marL="0">
              <a:buNone/>
            </a:pPr>
            <a:r>
              <a:rPr lang="en-US" sz="900" dirty="0">
                <a:solidFill>
                  <a:srgbClr val="3A2E00"/>
                </a:solidFill>
              </a:rPr>
              <a:t>Year 9 Science  |  9B Plant growth  |  Lesson 1: Reactions in plants</a:t>
            </a:r>
            <a:endParaRPr lang="en-US" sz="9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1371600"/>
            <a:ext cx="10515600" cy="457200"/>
          </a:xfrm>
          <a:prstGeom prst="rect">
            <a:avLst/>
          </a:prstGeom>
          <a:noFill/>
          <a:ln/>
        </p:spPr>
        <p:txBody>
          <a:bodyPr wrap="square" lIns="0" tIns="0" rIns="0" bIns="0" rtlCol="0" anchor="ctr"/>
          <a:lstStyle/>
          <a:p>
            <a:pPr indent="0" marL="0">
              <a:buNone/>
            </a:pPr>
            <a:r>
              <a:rPr lang="en-US" sz="1400" b="1" spc="200" kern="0" dirty="0">
                <a:solidFill>
                  <a:srgbClr val="F2CE3E"/>
                </a:solidFill>
              </a:rPr>
              <a:t>YEAR 9 SCIENCE  ·  9B PLANT GROWTH  ·  LESSON 1 OF 7</a:t>
            </a:r>
            <a:endParaRPr lang="en-US" sz="1400" dirty="0"/>
          </a:p>
        </p:txBody>
      </p:sp>
      <p:sp>
        <p:nvSpPr>
          <p:cNvPr id="3" name="Text 0"/>
          <p:cNvSpPr/>
          <p:nvPr>
            <p:ph idx="101" type="title" hasCustomPrompt="1"/>
          </p:nvPr>
        </p:nvSpPr>
        <p:spPr>
          <a:xfrm>
            <a:off x="548640" y="2103120"/>
            <a:ext cx="10515600" cy="1463040"/>
          </a:xfrm>
          <a:prstGeom prst="rect">
            <a:avLst/>
          </a:prstGeom>
          <a:noFill/>
          <a:ln/>
        </p:spPr>
        <p:txBody>
          <a:bodyPr wrap="square" lIns="0" tIns="0" rIns="0" bIns="0" rtlCol="0" anchor="b"/>
          <a:lstStyle/>
          <a:p>
            <a:pPr indent="0" marL="0">
              <a:buNone/>
            </a:pPr>
            <a:r>
              <a:rPr lang="en-US" sz="4400" b="1" dirty="0">
                <a:solidFill>
                  <a:srgbClr val="FFFFFF"/>
                </a:solidFill>
              </a:rPr>
              <a:t>Reactions in plants</a:t>
            </a:r>
            <a:endParaRPr lang="en-US" sz="4400" dirty="0"/>
          </a:p>
        </p:txBody>
      </p:sp>
      <p:sp>
        <p:nvSpPr>
          <p:cNvPr id="4" name="Text 0"/>
          <p:cNvSpPr/>
          <p:nvPr>
            <p:ph idx="102" type="body" hasCustomPrompt="1"/>
          </p:nvPr>
        </p:nvSpPr>
        <p:spPr>
          <a:xfrm>
            <a:off x="548640" y="3657600"/>
            <a:ext cx="10515600" cy="1097280"/>
          </a:xfrm>
          <a:prstGeom prst="rect">
            <a:avLst/>
          </a:prstGeom>
          <a:noFill/>
          <a:ln/>
        </p:spPr>
        <p:txBody>
          <a:bodyPr wrap="square" lIns="0" tIns="0" rIns="0" bIns="0" rtlCol="0" anchor="t"/>
          <a:lstStyle/>
          <a:p>
            <a:pPr indent="0" marL="0">
              <a:buNone/>
            </a:pPr>
            <a:r>
              <a:rPr lang="en-US" sz="2400" dirty="0">
                <a:solidFill>
                  <a:srgbClr val="FFFFFF"/>
                </a:solidFill>
              </a:rPr>
              <a:t>How does a wheat plant turn air, water and light into a harvest?</a:t>
            </a:r>
            <a:endParaRPr lang="en-US" sz="2400" dirty="0"/>
          </a:p>
        </p:txBody>
      </p:sp>
      <p:sp>
        <p:nvSpPr>
          <p:cNvPr id="5" name="Text 3"/>
          <p:cNvSpPr txBox="1"/>
          <p:nvPr/>
        </p:nvSpPr>
        <p:spPr>
          <a:xfrm>
            <a:off x="548640" y="5074920"/>
            <a:ext cx="10515600" cy="365760"/>
          </a:xfrm>
          <a:prstGeom prst="rect">
            <a:avLst/>
          </a:prstGeom>
          <a:noFill/>
          <a:ln/>
        </p:spPr>
        <p:txBody>
          <a:bodyPr wrap="square" lIns="0" tIns="0" rIns="0" bIns="0" rtlCol="0" anchor="ctr"/>
          <a:lstStyle/>
          <a:p>
            <a:pPr indent="0" marL="0">
              <a:buNone/>
            </a:pPr>
            <a:r>
              <a:rPr lang="en-US" sz="1400" dirty="0">
                <a:solidFill>
                  <a:srgbClr val="C9D3E6"/>
                </a:solidFill>
              </a:rPr>
              <a:t>Exploring Science International 9  ·  Student Book pages 21 to 23  ·  Workbook pages 15 to 16</a:t>
            </a:r>
            <a:endParaRPr lang="en-US" sz="1400" dirty="0"/>
          </a:p>
        </p:txBody>
      </p:sp>
      <p:pic>
        <p:nvPicPr>
          <p:cNvPr id="6" name="Image 0" descr="/home/user/lessons/Y9_Exploring_Science/images/wheat_harvest.jpg">    </p:cNvPr>
          <p:cNvPicPr>
            <a:picLocks noChangeAspect="1"/>
          </p:cNvPicPr>
          <p:nvPr/>
        </p:nvPicPr>
        <p:blipFill>
          <a:blip r:embed="rId1"/>
          <a:stretch>
            <a:fillRect/>
          </a:stretch>
        </p:blipFill>
        <p:spPr>
          <a:xfrm>
            <a:off x="8784247" y="4572000"/>
            <a:ext cx="2731186" cy="18288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lIns="0" tIns="0" rIns="0" bIns="0" rtlCol="0" anchor="ctr"/>
          <a:lstStyle/>
          <a:p>
            <a:pPr indent="0" marL="0">
              <a:buNone/>
            </a:pPr>
            <a:r>
              <a:rPr lang="en-US" sz="3000" b="1" dirty="0">
                <a:solidFill>
                  <a:srgbClr val="0F2A5F"/>
                </a:solidFill>
              </a:rPr>
              <a:t>Do Now: on a farm</a:t>
            </a:r>
            <a:endParaRPr lang="en-US" sz="3000" dirty="0"/>
          </a:p>
        </p:txBody>
      </p:sp>
      <p:sp>
        <p:nvSpPr>
          <p:cNvPr id="3" name="Shape 1"/>
          <p:cNvSpPr/>
          <p:nvPr/>
        </p:nvSpPr>
        <p:spPr>
          <a:xfrm>
            <a:off x="10308031" y="411480"/>
            <a:ext cx="1335024" cy="384048"/>
          </a:xfrm>
          <a:prstGeom prst="roundRect">
            <a:avLst>
              <a:gd name="adj" fmla="val 50000"/>
            </a:avLst>
          </a:prstGeom>
          <a:solidFill>
            <a:srgbClr val="7B3A8E"/>
          </a:solidFill>
          <a:ln w="12700">
            <a:solidFill>
              <a:srgbClr val="7B3A8E"/>
            </a:solidFill>
            <a:prstDash val="solid"/>
          </a:ln>
        </p:spPr>
      </p:sp>
      <p:sp>
        <p:nvSpPr>
          <p:cNvPr id="4" name="Text 2"/>
          <p:cNvSpPr txBox="1"/>
          <p:nvPr/>
        </p:nvSpPr>
        <p:spPr>
          <a:xfrm>
            <a:off x="10308031" y="411480"/>
            <a:ext cx="1335024" cy="384048"/>
          </a:xfrm>
          <a:prstGeom prst="rect">
            <a:avLst/>
          </a:prstGeom>
          <a:noFill/>
          <a:ln/>
        </p:spPr>
        <p:txBody>
          <a:bodyPr wrap="square" lIns="0" tIns="0" rIns="0" bIns="0" rtlCol="0" anchor="ctr"/>
          <a:lstStyle/>
          <a:p>
            <a:pPr algn="ctr" indent="0" marL="0">
              <a:buNone/>
            </a:pPr>
            <a:r>
              <a:rPr lang="en-US" sz="1100" b="1" spc="100" kern="0" dirty="0">
                <a:solidFill>
                  <a:srgbClr val="FFFFFF"/>
                </a:solidFill>
              </a:rPr>
              <a:t>DO NOW</a:t>
            </a:r>
            <a:endParaRPr lang="en-US" sz="1100" dirty="0"/>
          </a:p>
        </p:txBody>
      </p:sp>
      <p:sp>
        <p:nvSpPr>
          <p:cNvPr id="5" name="Shape 3"/>
          <p:cNvSpPr/>
          <p:nvPr/>
        </p:nvSpPr>
        <p:spPr>
          <a:xfrm>
            <a:off x="10682935" y="914400"/>
            <a:ext cx="914400" cy="914400"/>
          </a:xfrm>
          <a:prstGeom prst="ellipse">
            <a:avLst/>
          </a:prstGeom>
          <a:solidFill>
            <a:srgbClr val="FFFFFF"/>
          </a:solidFill>
          <a:ln w="25400">
            <a:solidFill>
              <a:srgbClr val="7B3A8E"/>
            </a:solidFill>
            <a:prstDash val="solid"/>
          </a:ln>
        </p:spPr>
      </p:sp>
      <p:sp>
        <p:nvSpPr>
          <p:cNvPr id="6" name="Text 4"/>
          <p:cNvSpPr txBox="1"/>
          <p:nvPr/>
        </p:nvSpPr>
        <p:spPr>
          <a:xfrm>
            <a:off x="10682935" y="914400"/>
            <a:ext cx="914400" cy="914400"/>
          </a:xfrm>
          <a:prstGeom prst="rect">
            <a:avLst/>
          </a:prstGeom>
          <a:noFill/>
          <a:ln/>
        </p:spPr>
        <p:txBody>
          <a:bodyPr wrap="square" lIns="0" tIns="0" rIns="0" bIns="0" rtlCol="0" anchor="ctr"/>
          <a:lstStyle/>
          <a:p>
            <a:pPr algn="ctr" indent="0" marL="0">
              <a:buNone/>
            </a:pPr>
            <a:r>
              <a:rPr lang="en-US" sz="2200" b="1" dirty="0">
                <a:solidFill>
                  <a:srgbClr val="7B3A8E"/>
                </a:solidFill>
              </a:rPr>
              <a:t>4</a:t>
            </a:r>
            <a:endParaRPr lang="en-US" sz="2200" dirty="0"/>
          </a:p>
          <a:p>
            <a:pPr algn="ctr" indent="0" marL="0">
              <a:buNone/>
            </a:pPr>
            <a:r>
              <a:rPr lang="en-US" sz="1000" dirty="0">
                <a:solidFill>
                  <a:srgbClr val="5B6574"/>
                </a:solidFill>
              </a:rPr>
              <a:t>min</a:t>
            </a:r>
            <a:endParaRPr lang="en-US" sz="2200" dirty="0"/>
          </a:p>
        </p:txBody>
      </p:sp>
      <p:sp>
        <p:nvSpPr>
          <p:cNvPr id="7" name="Text 5"/>
          <p:cNvSpPr txBox="1"/>
          <p:nvPr/>
        </p:nvSpPr>
        <p:spPr>
          <a:xfrm>
            <a:off x="548640" y="1371600"/>
            <a:ext cx="6035040" cy="4480560"/>
          </a:xfrm>
          <a:prstGeom prst="rect">
            <a:avLst/>
          </a:prstGeom>
          <a:noFill/>
          <a:ln/>
        </p:spPr>
        <p:txBody>
          <a:bodyPr wrap="square" lIns="0" tIns="0" rIns="0" bIns="0" rtlCol="0" anchor="t"/>
          <a:lstStyle/>
          <a:p>
            <a:pPr indent="0" marL="0">
              <a:spcAft>
                <a:spcPts val="1200"/>
              </a:spcAft>
              <a:buNone/>
            </a:pPr>
            <a:r>
              <a:rPr lang="en-US" sz="2400" dirty="0">
                <a:solidFill>
                  <a:srgbClr val="141B26"/>
                </a:solidFill>
              </a:rPr>
              <a:t>Farmers want as much useful product (yield) from their crops as possible.</a:t>
            </a:r>
            <a:endParaRPr lang="en-US" sz="2400" dirty="0"/>
          </a:p>
          <a:p>
            <a:pPr indent="0" marL="0">
              <a:spcAft>
                <a:spcPts val="1200"/>
              </a:spcAft>
              <a:buNone/>
            </a:pPr>
            <a:r>
              <a:rPr lang="en-US" sz="2400" dirty="0">
                <a:solidFill>
                  <a:srgbClr val="141B26"/>
                </a:solidFill>
              </a:rPr>
              <a:t>1. What process do wheat plants use to make their own food?</a:t>
            </a:r>
            <a:endParaRPr lang="en-US" sz="2400" dirty="0"/>
          </a:p>
          <a:p>
            <a:pPr indent="0" marL="0">
              <a:spcAft>
                <a:spcPts val="1200"/>
              </a:spcAft>
              <a:buNone/>
            </a:pPr>
            <a:r>
              <a:rPr lang="en-US" sz="2400" dirty="0">
                <a:solidFill>
                  <a:srgbClr val="141B26"/>
                </a:solidFill>
              </a:rPr>
              <a:t>2. Name the gas that plants take in for this process.</a:t>
            </a:r>
            <a:endParaRPr lang="en-US" sz="2400" dirty="0"/>
          </a:p>
          <a:p>
            <a:pPr indent="0" marL="0">
              <a:spcAft>
                <a:spcPts val="1200"/>
              </a:spcAft>
              <a:buNone/>
            </a:pPr>
            <a:r>
              <a:rPr lang="en-US" sz="2400" dirty="0">
                <a:solidFill>
                  <a:srgbClr val="141B26"/>
                </a:solidFill>
              </a:rPr>
              <a:t>3. Suggest the effect of a very cloudy year on the wheat harvest.</a:t>
            </a:r>
            <a:endParaRPr lang="en-US" sz="2400" dirty="0"/>
          </a:p>
        </p:txBody>
      </p:sp>
      <p:pic>
        <p:nvPicPr>
          <p:cNvPr id="8" name="Image 0" descr="/home/user/lessons/Y9_Exploring_Science/images/wheat_harvest.jpg">    </p:cNvPr>
          <p:cNvPicPr>
            <a:picLocks noChangeAspect="1"/>
          </p:cNvPicPr>
          <p:nvPr/>
        </p:nvPicPr>
        <p:blipFill>
          <a:blip r:embed="rId1"/>
          <a:stretch>
            <a:fillRect/>
          </a:stretch>
        </p:blipFill>
        <p:spPr>
          <a:xfrm>
            <a:off x="6858000" y="1745628"/>
            <a:ext cx="4754880" cy="3183864"/>
          </a:xfrm>
          <a:prstGeom prst="rect">
            <a:avLst/>
          </a:prstGeom>
        </p:spPr>
      </p:pic>
      <p:sp>
        <p:nvSpPr>
          <p:cNvPr id="9" name="Text 6"/>
          <p:cNvSpPr txBox="1"/>
          <p:nvPr/>
        </p:nvSpPr>
        <p:spPr>
          <a:xfrm>
            <a:off x="6858000" y="4975212"/>
            <a:ext cx="4754880" cy="548640"/>
          </a:xfrm>
          <a:prstGeom prst="rect">
            <a:avLst/>
          </a:prstGeom>
          <a:noFill/>
          <a:ln/>
        </p:spPr>
        <p:txBody>
          <a:bodyPr wrap="square" lIns="0" tIns="0" rIns="0" bIns="0" rtlCol="0" anchor="t"/>
          <a:lstStyle/>
          <a:p>
            <a:pPr algn="l" indent="0" marL="0">
              <a:buNone/>
            </a:pPr>
            <a:r>
              <a:rPr lang="en-US" sz="1300" dirty="0">
                <a:solidFill>
                  <a:srgbClr val="141B26"/>
                </a:solidFill>
              </a:rPr>
              <a:t>Harvesting wheat</a:t>
            </a:r>
            <a:pPr algn="l" indent="0" marL="0">
              <a:buNone/>
            </a:pPr>
            <a:endParaRPr lang="en-US" sz="1300" dirty="0"/>
          </a:p>
          <a:p>
            <a:pPr algn="l" indent="0" marL="0">
              <a:buNone/>
            </a:pPr>
            <a:r>
              <a:rPr lang="en-US" sz="900" dirty="0">
                <a:solidFill>
                  <a:srgbClr val="5B6574"/>
                </a:solidFill>
              </a:rPr>
              <a:t>Image: Knowles Gallery, CC BY 2.0, via Wikimedia Commons</a:t>
            </a:r>
            <a:endParaRPr lang="en-US" sz="1300" dirty="0"/>
          </a:p>
        </p:txBody>
      </p:sp>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lIns="0" tIns="0" rIns="0" bIns="0" rtlCol="0" anchor="ctr"/>
          <a:lstStyle/>
          <a:p>
            <a:pPr indent="0" marL="0">
              <a:buNone/>
            </a:pPr>
            <a:r>
              <a:rPr lang="en-US" sz="3000" b="1" dirty="0">
                <a:solidFill>
                  <a:srgbClr val="0F2A5F"/>
                </a:solidFill>
              </a:rPr>
              <a:t>Today</a:t>
            </a:r>
            <a:endParaRPr lang="en-US" sz="3000" dirty="0"/>
          </a:p>
        </p:txBody>
      </p:sp>
      <p:sp>
        <p:nvSpPr>
          <p:cNvPr id="3" name="Shape 1"/>
          <p:cNvSpPr/>
          <p:nvPr/>
        </p:nvSpPr>
        <p:spPr>
          <a:xfrm>
            <a:off x="10454335" y="411480"/>
            <a:ext cx="1188720" cy="384048"/>
          </a:xfrm>
          <a:prstGeom prst="roundRect">
            <a:avLst>
              <a:gd name="adj" fmla="val 50000"/>
            </a:avLst>
          </a:prstGeom>
          <a:solidFill>
            <a:srgbClr val="7B3A8E"/>
          </a:solidFill>
          <a:ln w="12700">
            <a:solidFill>
              <a:srgbClr val="7B3A8E"/>
            </a:solidFill>
            <a:prstDash val="solid"/>
          </a:ln>
        </p:spPr>
      </p:sp>
      <p:sp>
        <p:nvSpPr>
          <p:cNvPr id="4" name="Text 2"/>
          <p:cNvSpPr txBox="1"/>
          <p:nvPr/>
        </p:nvSpPr>
        <p:spPr>
          <a:xfrm>
            <a:off x="10454335" y="411480"/>
            <a:ext cx="1188720" cy="384048"/>
          </a:xfrm>
          <a:prstGeom prst="rect">
            <a:avLst/>
          </a:prstGeom>
          <a:noFill/>
          <a:ln/>
        </p:spPr>
        <p:txBody>
          <a:bodyPr wrap="square" lIns="0" tIns="0" rIns="0" bIns="0" rtlCol="0" anchor="ctr"/>
          <a:lstStyle/>
          <a:p>
            <a:pPr algn="ctr" indent="0" marL="0">
              <a:buNone/>
            </a:pPr>
            <a:r>
              <a:rPr lang="en-US" sz="1100" b="1" spc="100" kern="0" dirty="0">
                <a:solidFill>
                  <a:srgbClr val="FFFFFF"/>
                </a:solidFill>
              </a:rPr>
              <a:t>TODAY</a:t>
            </a:r>
            <a:endParaRPr lang="en-US" sz="1100" dirty="0"/>
          </a:p>
        </p:txBody>
      </p:sp>
      <p:sp>
        <p:nvSpPr>
          <p:cNvPr id="5" name="Text 3"/>
          <p:cNvSpPr txBox="1"/>
          <p:nvPr/>
        </p:nvSpPr>
        <p:spPr>
          <a:xfrm>
            <a:off x="548640" y="1280160"/>
            <a:ext cx="5486400" cy="411480"/>
          </a:xfrm>
          <a:prstGeom prst="rect">
            <a:avLst/>
          </a:prstGeom>
          <a:noFill/>
          <a:ln/>
        </p:spPr>
        <p:txBody>
          <a:bodyPr wrap="square" lIns="0" tIns="0" rIns="0" bIns="0" rtlCol="0" anchor="ctr"/>
          <a:lstStyle/>
          <a:p>
            <a:pPr indent="0" marL="0">
              <a:buNone/>
            </a:pPr>
            <a:r>
              <a:rPr lang="en-US" sz="2200" b="1" dirty="0">
                <a:solidFill>
                  <a:srgbClr val="7B3A8E"/>
                </a:solidFill>
              </a:rPr>
              <a:t>Today I can ...</a:t>
            </a:r>
            <a:endParaRPr lang="en-US" sz="2200" dirty="0"/>
          </a:p>
        </p:txBody>
      </p:sp>
      <p:sp>
        <p:nvSpPr>
          <p:cNvPr id="6" name="Shape 4"/>
          <p:cNvSpPr/>
          <p:nvPr/>
        </p:nvSpPr>
        <p:spPr>
          <a:xfrm>
            <a:off x="594360" y="1810512"/>
            <a:ext cx="310896" cy="310896"/>
          </a:xfrm>
          <a:prstGeom prst="rect">
            <a:avLst/>
          </a:prstGeom>
          <a:solidFill>
            <a:srgbClr val="FFFFFF"/>
          </a:solidFill>
          <a:ln w="19050">
            <a:solidFill>
              <a:srgbClr val="0F2A5F"/>
            </a:solidFill>
            <a:prstDash val="solid"/>
          </a:ln>
        </p:spPr>
      </p:sp>
      <p:sp>
        <p:nvSpPr>
          <p:cNvPr id="7" name="Text 5"/>
          <p:cNvSpPr txBox="1"/>
          <p:nvPr/>
        </p:nvSpPr>
        <p:spPr>
          <a:xfrm>
            <a:off x="1097280" y="1737360"/>
            <a:ext cx="10332720" cy="868680"/>
          </a:xfrm>
          <a:prstGeom prst="rect">
            <a:avLst/>
          </a:prstGeom>
          <a:noFill/>
          <a:ln/>
        </p:spPr>
        <p:txBody>
          <a:bodyPr wrap="square" lIns="0" tIns="0" rIns="0" bIns="0" rtlCol="0" anchor="t"/>
          <a:lstStyle/>
          <a:p>
            <a:pPr indent="0" marL="0">
              <a:buNone/>
            </a:pPr>
            <a:r>
              <a:rPr lang="en-US" sz="2000" dirty="0">
                <a:solidFill>
                  <a:srgbClr val="141B26"/>
                </a:solidFill>
              </a:rPr>
              <a:t>I can write the word and symbol equations for photosynthesis and aerobic respiration, and say where and when each happens in a plant.</a:t>
            </a:r>
            <a:endParaRPr lang="en-US" sz="2000" dirty="0"/>
          </a:p>
        </p:txBody>
      </p:sp>
      <p:sp>
        <p:nvSpPr>
          <p:cNvPr id="8" name="Shape 6"/>
          <p:cNvSpPr/>
          <p:nvPr/>
        </p:nvSpPr>
        <p:spPr>
          <a:xfrm>
            <a:off x="594360" y="2679192"/>
            <a:ext cx="310896" cy="310896"/>
          </a:xfrm>
          <a:prstGeom prst="rect">
            <a:avLst/>
          </a:prstGeom>
          <a:solidFill>
            <a:srgbClr val="FFFFFF"/>
          </a:solidFill>
          <a:ln w="19050">
            <a:solidFill>
              <a:srgbClr val="0F2A5F"/>
            </a:solidFill>
            <a:prstDash val="solid"/>
          </a:ln>
        </p:spPr>
      </p:sp>
      <p:sp>
        <p:nvSpPr>
          <p:cNvPr id="9" name="Text 7"/>
          <p:cNvSpPr txBox="1"/>
          <p:nvPr/>
        </p:nvSpPr>
        <p:spPr>
          <a:xfrm>
            <a:off x="1097280" y="2606040"/>
            <a:ext cx="10332720" cy="868680"/>
          </a:xfrm>
          <a:prstGeom prst="rect">
            <a:avLst/>
          </a:prstGeom>
          <a:noFill/>
          <a:ln/>
        </p:spPr>
        <p:txBody>
          <a:bodyPr wrap="square" lIns="0" tIns="0" rIns="0" bIns="0" rtlCol="0" anchor="t"/>
          <a:lstStyle/>
          <a:p>
            <a:pPr indent="0" marL="0">
              <a:buNone/>
            </a:pPr>
            <a:r>
              <a:rPr lang="en-US" sz="2000" dirty="0">
                <a:solidFill>
                  <a:srgbClr val="141B26"/>
                </a:solidFill>
              </a:rPr>
              <a:t>I can explain how limiting factors slow photosynthesis and why roots need oxygen.</a:t>
            </a:r>
            <a:endParaRPr lang="en-US" sz="2000" dirty="0"/>
          </a:p>
        </p:txBody>
      </p:sp>
      <p:sp>
        <p:nvSpPr>
          <p:cNvPr id="10" name="Text 8"/>
          <p:cNvSpPr txBox="1"/>
          <p:nvPr/>
        </p:nvSpPr>
        <p:spPr>
          <a:xfrm>
            <a:off x="548640" y="3611880"/>
            <a:ext cx="5486400" cy="411480"/>
          </a:xfrm>
          <a:prstGeom prst="rect">
            <a:avLst/>
          </a:prstGeom>
          <a:noFill/>
          <a:ln/>
        </p:spPr>
        <p:txBody>
          <a:bodyPr wrap="square" lIns="0" tIns="0" rIns="0" bIns="0" rtlCol="0" anchor="ctr"/>
          <a:lstStyle/>
          <a:p>
            <a:pPr indent="0" marL="0">
              <a:buNone/>
            </a:pPr>
            <a:r>
              <a:rPr lang="en-US" sz="2200" b="1" dirty="0">
                <a:solidFill>
                  <a:srgbClr val="7B3A8E"/>
                </a:solidFill>
              </a:rPr>
              <a:t>Key words today</a:t>
            </a:r>
            <a:endParaRPr lang="en-US" sz="2200" dirty="0"/>
          </a:p>
        </p:txBody>
      </p:sp>
      <p:sp>
        <p:nvSpPr>
          <p:cNvPr id="11" name="Text 9"/>
          <p:cNvSpPr txBox="1"/>
          <p:nvPr/>
        </p:nvSpPr>
        <p:spPr>
          <a:xfrm>
            <a:off x="548640" y="4069080"/>
            <a:ext cx="3515258" cy="1920240"/>
          </a:xfrm>
          <a:prstGeom prst="rect">
            <a:avLst/>
          </a:prstGeom>
          <a:noFill/>
          <a:ln/>
        </p:spPr>
        <p:txBody>
          <a:bodyPr wrap="square" lIns="0" tIns="0" rIns="0" bIns="0" rtlCol="0" anchor="t"/>
          <a:lstStyle/>
          <a:p>
            <a:pPr marL="304800" indent="-304800">
              <a:spcAft>
                <a:spcPts val="600"/>
              </a:spcAft>
              <a:buSzPct val="100000"/>
              <a:buChar char="•"/>
            </a:pPr>
            <a:r>
              <a:rPr lang="en-US" sz="2100" b="1" dirty="0">
                <a:solidFill>
                  <a:srgbClr val="0F2A5F"/>
                </a:solidFill>
              </a:rPr>
              <a:t>photosynthesis</a:t>
            </a:r>
            <a:endParaRPr lang="en-US" sz="2100" dirty="0"/>
          </a:p>
          <a:p>
            <a:pPr marL="304800" indent="-304800">
              <a:spcAft>
                <a:spcPts val="600"/>
              </a:spcAft>
              <a:buSzPct val="100000"/>
              <a:buChar char="•"/>
            </a:pPr>
            <a:r>
              <a:rPr lang="en-US" sz="2100" b="1" dirty="0">
                <a:solidFill>
                  <a:srgbClr val="0F2A5F"/>
                </a:solidFill>
              </a:rPr>
              <a:t>aerobic respiration</a:t>
            </a:r>
            <a:endParaRPr lang="en-US" sz="2100" dirty="0"/>
          </a:p>
          <a:p>
            <a:pPr marL="304800" indent="-304800">
              <a:spcAft>
                <a:spcPts val="600"/>
              </a:spcAft>
              <a:buSzPct val="100000"/>
              <a:buChar char="•"/>
            </a:pPr>
            <a:r>
              <a:rPr lang="en-US" sz="2100" b="1" dirty="0">
                <a:solidFill>
                  <a:srgbClr val="0F2A5F"/>
                </a:solidFill>
              </a:rPr>
              <a:t>chlorophyll</a:t>
            </a:r>
            <a:endParaRPr lang="en-US" sz="2100" dirty="0"/>
          </a:p>
          <a:p>
            <a:pPr marL="304800" indent="-304800">
              <a:spcAft>
                <a:spcPts val="600"/>
              </a:spcAft>
              <a:buSzPct val="100000"/>
              <a:buChar char="•"/>
            </a:pPr>
            <a:r>
              <a:rPr lang="en-US" sz="2100" b="1" dirty="0">
                <a:solidFill>
                  <a:srgbClr val="0F2A5F"/>
                </a:solidFill>
              </a:rPr>
              <a:t>chloroplast</a:t>
            </a:r>
            <a:endParaRPr lang="en-US" sz="2100" dirty="0"/>
          </a:p>
        </p:txBody>
      </p:sp>
      <p:sp>
        <p:nvSpPr>
          <p:cNvPr id="12" name="Text 10"/>
          <p:cNvSpPr txBox="1"/>
          <p:nvPr/>
        </p:nvSpPr>
        <p:spPr>
          <a:xfrm>
            <a:off x="4338218" y="4069080"/>
            <a:ext cx="3515258" cy="1920240"/>
          </a:xfrm>
          <a:prstGeom prst="rect">
            <a:avLst/>
          </a:prstGeom>
          <a:noFill/>
          <a:ln/>
        </p:spPr>
        <p:txBody>
          <a:bodyPr wrap="square" lIns="0" tIns="0" rIns="0" bIns="0" rtlCol="0" anchor="t"/>
          <a:lstStyle/>
          <a:p>
            <a:pPr marL="304800" indent="-304800">
              <a:spcAft>
                <a:spcPts val="600"/>
              </a:spcAft>
              <a:buSzPct val="100000"/>
              <a:buChar char="•"/>
            </a:pPr>
            <a:r>
              <a:rPr lang="en-US" sz="2100" b="1" dirty="0">
                <a:solidFill>
                  <a:srgbClr val="0F2A5F"/>
                </a:solidFill>
              </a:rPr>
              <a:t>glucose</a:t>
            </a:r>
            <a:endParaRPr lang="en-US" sz="2100" dirty="0"/>
          </a:p>
          <a:p>
            <a:pPr marL="304800" indent="-304800">
              <a:spcAft>
                <a:spcPts val="600"/>
              </a:spcAft>
              <a:buSzPct val="100000"/>
              <a:buChar char="•"/>
            </a:pPr>
            <a:r>
              <a:rPr lang="en-US" sz="2100" b="1" dirty="0">
                <a:solidFill>
                  <a:srgbClr val="0F2A5F"/>
                </a:solidFill>
              </a:rPr>
              <a:t>reactant</a:t>
            </a:r>
            <a:endParaRPr lang="en-US" sz="2100" dirty="0"/>
          </a:p>
          <a:p>
            <a:pPr marL="304800" indent="-304800">
              <a:spcAft>
                <a:spcPts val="600"/>
              </a:spcAft>
              <a:buSzPct val="100000"/>
              <a:buChar char="•"/>
            </a:pPr>
            <a:r>
              <a:rPr lang="en-US" sz="2100" b="1" dirty="0">
                <a:solidFill>
                  <a:srgbClr val="0F2A5F"/>
                </a:solidFill>
              </a:rPr>
              <a:t>product</a:t>
            </a:r>
            <a:endParaRPr lang="en-US" sz="2100" dirty="0"/>
          </a:p>
          <a:p>
            <a:pPr marL="304800" indent="-304800">
              <a:spcAft>
                <a:spcPts val="600"/>
              </a:spcAft>
              <a:buSzPct val="100000"/>
              <a:buChar char="•"/>
            </a:pPr>
            <a:r>
              <a:rPr lang="en-US" sz="2100" b="1" dirty="0">
                <a:solidFill>
                  <a:srgbClr val="0F2A5F"/>
                </a:solidFill>
              </a:rPr>
              <a:t>limiting factor</a:t>
            </a:r>
            <a:endParaRPr lang="en-US" sz="2100" dirty="0"/>
          </a:p>
        </p:txBody>
      </p:sp>
      <p:sp>
        <p:nvSpPr>
          <p:cNvPr id="13" name="Text 11"/>
          <p:cNvSpPr txBox="1"/>
          <p:nvPr/>
        </p:nvSpPr>
        <p:spPr>
          <a:xfrm>
            <a:off x="8127797" y="4069080"/>
            <a:ext cx="3515258" cy="1920240"/>
          </a:xfrm>
          <a:prstGeom prst="rect">
            <a:avLst/>
          </a:prstGeom>
          <a:noFill/>
          <a:ln/>
        </p:spPr>
        <p:txBody>
          <a:bodyPr wrap="square" lIns="0" tIns="0" rIns="0" bIns="0" rtlCol="0" anchor="t"/>
          <a:lstStyle/>
          <a:p>
            <a:pPr marL="304800" indent="-304800">
              <a:spcAft>
                <a:spcPts val="600"/>
              </a:spcAft>
              <a:buSzPct val="100000"/>
              <a:buChar char="•"/>
            </a:pPr>
            <a:r>
              <a:rPr lang="en-US" sz="2200" b="1" dirty="0">
                <a:solidFill>
                  <a:srgbClr val="0F2A5F"/>
                </a:solidFill>
              </a:rPr>
              <a:t>phloem</a:t>
            </a:r>
            <a:endParaRPr lang="en-US" sz="2200" dirty="0"/>
          </a:p>
          <a:p>
            <a:pPr marL="304800" indent="-304800">
              <a:spcAft>
                <a:spcPts val="600"/>
              </a:spcAft>
              <a:buSzPct val="100000"/>
              <a:buChar char="•"/>
            </a:pPr>
            <a:r>
              <a:rPr lang="en-US" sz="2200" b="1" dirty="0">
                <a:solidFill>
                  <a:srgbClr val="0F2A5F"/>
                </a:solidFill>
              </a:rPr>
              <a:t>yield</a:t>
            </a:r>
            <a:endParaRPr lang="en-US" sz="2200" dirty="0"/>
          </a:p>
        </p:txBody>
      </p:sp>
      <p:sp>
        <p:nvSpPr>
          <p:cNvPr id="14" name="Text 12"/>
          <p:cNvSpPr txBox="1"/>
          <p:nvPr/>
        </p:nvSpPr>
        <p:spPr>
          <a:xfrm>
            <a:off x="548640" y="6035040"/>
            <a:ext cx="10881360" cy="320040"/>
          </a:xfrm>
          <a:prstGeom prst="rect">
            <a:avLst/>
          </a:prstGeom>
          <a:noFill/>
          <a:ln/>
        </p:spPr>
        <p:txBody>
          <a:bodyPr wrap="square" lIns="0" tIns="0" rIns="0" bIns="0" rtlCol="0" anchor="ctr"/>
          <a:lstStyle/>
          <a:p>
            <a:pPr indent="0" marL="0">
              <a:buNone/>
            </a:pPr>
            <a:r>
              <a:rPr lang="en-US" sz="1400" i="1" dirty="0">
                <a:solidFill>
                  <a:srgbClr val="5B6574"/>
                </a:solidFill>
              </a:rPr>
              <a:t>Meanings are in the key words box on your worksheet.</a:t>
            </a:r>
            <a:endParaRPr lang="en-US" sz="1400" dirty="0"/>
          </a:p>
        </p:txBody>
      </p:sp>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lIns="0" tIns="0" rIns="0" bIns="0" rtlCol="0" anchor="ctr"/>
          <a:lstStyle/>
          <a:p>
            <a:pPr indent="0" marL="0">
              <a:buNone/>
            </a:pPr>
            <a:r>
              <a:rPr lang="en-US" sz="3000" b="1" dirty="0">
                <a:solidFill>
                  <a:srgbClr val="0F2A5F"/>
                </a:solidFill>
              </a:rPr>
              <a:t>Where did the tree come from?</a:t>
            </a:r>
            <a:endParaRPr lang="en-US" sz="3000" dirty="0"/>
          </a:p>
        </p:txBody>
      </p:sp>
      <p:sp>
        <p:nvSpPr>
          <p:cNvPr id="3" name="Shape 1"/>
          <p:cNvSpPr/>
          <p:nvPr/>
        </p:nvSpPr>
        <p:spPr>
          <a:xfrm>
            <a:off x="10454335" y="411480"/>
            <a:ext cx="1188720" cy="384048"/>
          </a:xfrm>
          <a:prstGeom prst="roundRect">
            <a:avLst>
              <a:gd name="adj" fmla="val 50000"/>
            </a:avLst>
          </a:prstGeom>
          <a:solidFill>
            <a:srgbClr val="7B3A8E"/>
          </a:solidFill>
          <a:ln w="12700">
            <a:solidFill>
              <a:srgbClr val="7B3A8E"/>
            </a:solidFill>
            <a:prstDash val="solid"/>
          </a:ln>
        </p:spPr>
      </p:sp>
      <p:sp>
        <p:nvSpPr>
          <p:cNvPr id="4" name="Text 2"/>
          <p:cNvSpPr txBox="1"/>
          <p:nvPr/>
        </p:nvSpPr>
        <p:spPr>
          <a:xfrm>
            <a:off x="10454335" y="411480"/>
            <a:ext cx="1188720" cy="38404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HOOK</a:t>
            </a:r>
            <a:endParaRPr lang="en-US" sz="1100" dirty="0"/>
          </a:p>
        </p:txBody>
      </p:sp>
      <p:sp>
        <p:nvSpPr>
          <p:cNvPr id="5" name="Text 3"/>
          <p:cNvSpPr txBox="1"/>
          <p:nvPr/>
        </p:nvSpPr>
        <p:spPr>
          <a:xfrm>
            <a:off x="548640" y="1371600"/>
            <a:ext cx="4297680" cy="2651760"/>
          </a:xfrm>
          <a:prstGeom prst="rect">
            <a:avLst/>
          </a:prstGeom>
          <a:noFill/>
          <a:ln/>
        </p:spPr>
        <p:txBody>
          <a:bodyPr wrap="square" lIns="0" tIns="0" rIns="0" bIns="0" rtlCol="0" anchor="t"/>
          <a:lstStyle/>
          <a:p>
            <a:pPr indent="0" marL="0">
              <a:buNone/>
            </a:pPr>
            <a:r>
              <a:rPr lang="en-US" sz="2100" b="1" dirty="0">
                <a:solidFill>
                  <a:srgbClr val="0F2A5F"/>
                </a:solidFill>
              </a:rPr>
              <a:t>Aristotle thought roots sucked up soil for plants to eat. Van Helmont grew a willow for five years, adding only rainwater. The soil lost 0.06 kg. The tree gained over 74 kg. Where did the extra mass come from?</a:t>
            </a:r>
            <a:endParaRPr lang="en-US" sz="2100" dirty="0"/>
          </a:p>
        </p:txBody>
      </p:sp>
      <p:sp>
        <p:nvSpPr>
          <p:cNvPr id="6" name="Text 4"/>
          <p:cNvSpPr txBox="1"/>
          <p:nvPr/>
        </p:nvSpPr>
        <p:spPr>
          <a:xfrm>
            <a:off x="548640" y="4114800"/>
            <a:ext cx="4297680" cy="1828800"/>
          </a:xfrm>
          <a:prstGeom prst="rect">
            <a:avLst/>
          </a:prstGeom>
          <a:noFill/>
          <a:ln/>
        </p:spPr>
        <p:txBody>
          <a:bodyPr wrap="square" lIns="0" tIns="0" rIns="0" bIns="0" rtlCol="0" anchor="t"/>
          <a:lstStyle/>
          <a:p>
            <a:pPr indent="0" marL="0">
              <a:spcAft>
                <a:spcPts val="800"/>
              </a:spcAft>
              <a:buNone/>
            </a:pPr>
            <a:r>
              <a:rPr lang="en-US" sz="2000" dirty="0">
                <a:solidFill>
                  <a:srgbClr val="141B26"/>
                </a:solidFill>
              </a:rPr>
              <a:t>Vote with a partner: soil, water, air or light?</a:t>
            </a:r>
            <a:endParaRPr lang="en-US" sz="2000" dirty="0"/>
          </a:p>
        </p:txBody>
      </p:sp>
      <p:pic>
        <p:nvPicPr>
          <p:cNvPr id="7" name="Image 0" descr="/home/user/lessons/Y9_Exploring_Science/source/diagrams/van_helmont.png">    </p:cNvPr>
          <p:cNvPicPr>
            <a:picLocks noChangeAspect="1"/>
          </p:cNvPicPr>
          <p:nvPr/>
        </p:nvPicPr>
        <p:blipFill>
          <a:blip r:embed="rId1"/>
          <a:stretch>
            <a:fillRect/>
          </a:stretch>
        </p:blipFill>
        <p:spPr>
          <a:xfrm>
            <a:off x="5029200" y="1943100"/>
            <a:ext cx="6583680" cy="2880360"/>
          </a:xfrm>
          <a:prstGeom prst="rect">
            <a:avLst/>
          </a:prstGeom>
        </p:spPr>
      </p:pic>
      <p:sp>
        <p:nvSpPr>
          <p:cNvPr id="8" name="Text 5"/>
          <p:cNvSpPr txBox="1"/>
          <p:nvPr/>
        </p:nvSpPr>
        <p:spPr>
          <a:xfrm>
            <a:off x="5029200" y="4869180"/>
            <a:ext cx="6583680" cy="548640"/>
          </a:xfrm>
          <a:prstGeom prst="rect">
            <a:avLst/>
          </a:prstGeom>
          <a:noFill/>
          <a:ln/>
        </p:spPr>
        <p:txBody>
          <a:bodyPr wrap="square" lIns="0" tIns="0" rIns="0" bIns="0" rtlCol="0" anchor="t"/>
          <a:lstStyle/>
          <a:p>
            <a:pPr algn="l" indent="0" marL="0">
              <a:buNone/>
            </a:pPr>
            <a:r>
              <a:rPr lang="en-US" sz="1300" dirty="0">
                <a:solidFill>
                  <a:srgbClr val="141B26"/>
                </a:solidFill>
              </a:rPr>
              <a:t>Van Helmont's experiment, 1640s</a:t>
            </a:r>
            <a:endParaRPr lang="en-US" sz="1300" dirty="0"/>
          </a:p>
        </p:txBody>
      </p:sp>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lIns="0" tIns="0" rIns="0" bIns="0" rtlCol="0" anchor="ctr"/>
          <a:lstStyle/>
          <a:p>
            <a:pPr indent="0" marL="0">
              <a:buNone/>
            </a:pPr>
            <a:r>
              <a:rPr lang="en-US" sz="3000" b="1" dirty="0">
                <a:solidFill>
                  <a:srgbClr val="0F2A5F"/>
                </a:solidFill>
              </a:rPr>
              <a:t>Photosynthesis</a:t>
            </a:r>
            <a:endParaRPr lang="en-US" sz="3000" dirty="0"/>
          </a:p>
        </p:txBody>
      </p:sp>
      <p:sp>
        <p:nvSpPr>
          <p:cNvPr id="3" name="Shape 1"/>
          <p:cNvSpPr/>
          <p:nvPr/>
        </p:nvSpPr>
        <p:spPr>
          <a:xfrm>
            <a:off x="10454335" y="411480"/>
            <a:ext cx="1188720" cy="384048"/>
          </a:xfrm>
          <a:prstGeom prst="roundRect">
            <a:avLst>
              <a:gd name="adj" fmla="val 50000"/>
            </a:avLst>
          </a:prstGeom>
          <a:solidFill>
            <a:srgbClr val="7B3A8E"/>
          </a:solidFill>
          <a:ln w="12700">
            <a:solidFill>
              <a:srgbClr val="7B3A8E"/>
            </a:solidFill>
            <a:prstDash val="solid"/>
          </a:ln>
        </p:spPr>
      </p:sp>
      <p:sp>
        <p:nvSpPr>
          <p:cNvPr id="4" name="Text 2"/>
          <p:cNvSpPr txBox="1"/>
          <p:nvPr/>
        </p:nvSpPr>
        <p:spPr>
          <a:xfrm>
            <a:off x="10454335" y="411480"/>
            <a:ext cx="1188720" cy="384048"/>
          </a:xfrm>
          <a:prstGeom prst="rect">
            <a:avLst/>
          </a:prstGeom>
          <a:noFill/>
          <a:ln/>
        </p:spPr>
        <p:txBody>
          <a:bodyPr wrap="square" lIns="0" tIns="0" rIns="0" bIns="0" rtlCol="0" anchor="ctr"/>
          <a:lstStyle/>
          <a:p>
            <a:pPr algn="ctr" indent="0" marL="0">
              <a:buNone/>
            </a:pPr>
            <a:r>
              <a:rPr lang="en-US" sz="1100" b="1" spc="100" kern="0" dirty="0">
                <a:solidFill>
                  <a:srgbClr val="FFFFFF"/>
                </a:solidFill>
              </a:rPr>
              <a:t>LEARN</a:t>
            </a:r>
            <a:endParaRPr lang="en-US" sz="1100" dirty="0"/>
          </a:p>
        </p:txBody>
      </p:sp>
      <p:sp>
        <p:nvSpPr>
          <p:cNvPr id="5" name="Text 3"/>
          <p:cNvSpPr txBox="1"/>
          <p:nvPr/>
        </p:nvSpPr>
        <p:spPr>
          <a:xfrm>
            <a:off x="548640" y="6035040"/>
            <a:ext cx="9601200" cy="310896"/>
          </a:xfrm>
          <a:prstGeom prst="rect">
            <a:avLst/>
          </a:prstGeom>
          <a:noFill/>
          <a:ln/>
        </p:spPr>
        <p:txBody>
          <a:bodyPr wrap="square" lIns="0" tIns="0" rIns="0" bIns="0" rtlCol="0" anchor="ctr"/>
          <a:lstStyle/>
          <a:p>
            <a:pPr indent="0" marL="0">
              <a:buNone/>
            </a:pPr>
            <a:r>
              <a:rPr lang="en-US" sz="1400" b="1" dirty="0">
                <a:solidFill>
                  <a:srgbClr val="7B3A8E"/>
                </a:solidFill>
              </a:rPr>
              <a:t>Key words  </a:t>
            </a:r>
            <a:pPr indent="0" marL="0">
              <a:buNone/>
            </a:pPr>
            <a:r>
              <a:rPr lang="en-US" sz="1400" dirty="0">
                <a:solidFill>
                  <a:srgbClr val="7B3A8E"/>
                </a:solidFill>
              </a:rPr>
              <a:t>photosynthesis   ·   reactant   ·   product   ·   glucose</a:t>
            </a:r>
            <a:endParaRPr lang="en-US" sz="1400" dirty="0"/>
          </a:p>
        </p:txBody>
      </p:sp>
      <p:sp>
        <p:nvSpPr>
          <p:cNvPr id="6" name="Text 4"/>
          <p:cNvSpPr txBox="1"/>
          <p:nvPr/>
        </p:nvSpPr>
        <p:spPr>
          <a:xfrm>
            <a:off x="548640" y="1234440"/>
            <a:ext cx="10881360" cy="457200"/>
          </a:xfrm>
          <a:prstGeom prst="rect">
            <a:avLst/>
          </a:prstGeom>
          <a:noFill/>
          <a:ln/>
        </p:spPr>
        <p:txBody>
          <a:bodyPr wrap="square" lIns="0" tIns="0" rIns="0" bIns="0" rtlCol="0" anchor="ctr"/>
          <a:lstStyle/>
          <a:p>
            <a:pPr indent="0" marL="0">
              <a:buNone/>
            </a:pPr>
            <a:r>
              <a:rPr lang="en-US" sz="1500" dirty="0">
                <a:solidFill>
                  <a:srgbClr val="141B26"/>
                </a:solidFill>
              </a:rPr>
              <a:t>Plants make their own food: glucose. The reactants are carbon dioxide and water; the products are glucose and oxygen.</a:t>
            </a:r>
            <a:endParaRPr lang="en-US" sz="1500" dirty="0"/>
          </a:p>
        </p:txBody>
      </p:sp>
      <p:pic>
        <p:nvPicPr>
          <p:cNvPr id="7" name="Image 0" descr="/home/user/lessons/Y9_Exploring_Science/source/diagrams/photosynthesis_eq.png">    </p:cNvPr>
          <p:cNvPicPr>
            <a:picLocks noChangeAspect="1"/>
          </p:cNvPicPr>
          <p:nvPr/>
        </p:nvPicPr>
        <p:blipFill>
          <a:blip r:embed="rId1"/>
          <a:stretch>
            <a:fillRect/>
          </a:stretch>
        </p:blipFill>
        <p:spPr>
          <a:xfrm>
            <a:off x="764177" y="1737360"/>
            <a:ext cx="10450286" cy="3657600"/>
          </a:xfrm>
          <a:prstGeom prst="rect">
            <a:avLst/>
          </a:prstGeom>
        </p:spPr>
      </p:pic>
      <p:sp>
        <p:nvSpPr>
          <p:cNvPr id="8" name="Shape 5"/>
          <p:cNvSpPr/>
          <p:nvPr/>
        </p:nvSpPr>
        <p:spPr>
          <a:xfrm>
            <a:off x="548640" y="5532120"/>
            <a:ext cx="11094415" cy="566928"/>
          </a:xfrm>
          <a:prstGeom prst="rect">
            <a:avLst/>
          </a:prstGeom>
          <a:solidFill>
            <a:srgbClr val="F1E5F4"/>
          </a:solidFill>
          <a:ln w="12700">
            <a:solidFill>
              <a:srgbClr val="F1E5F4"/>
            </a:solidFill>
            <a:prstDash val="solid"/>
          </a:ln>
        </p:spPr>
      </p:sp>
      <p:sp>
        <p:nvSpPr>
          <p:cNvPr id="9" name="Text 6"/>
          <p:cNvSpPr txBox="1"/>
          <p:nvPr/>
        </p:nvSpPr>
        <p:spPr>
          <a:xfrm>
            <a:off x="685800" y="5532120"/>
            <a:ext cx="10820095" cy="566928"/>
          </a:xfrm>
          <a:prstGeom prst="rect">
            <a:avLst/>
          </a:prstGeom>
          <a:noFill/>
          <a:ln/>
        </p:spPr>
        <p:txBody>
          <a:bodyPr wrap="square" lIns="0" tIns="0" rIns="0" bIns="0" rtlCol="0" anchor="ctr"/>
          <a:lstStyle/>
          <a:p>
            <a:pPr indent="0" marL="0">
              <a:buNone/>
            </a:pPr>
            <a:r>
              <a:rPr lang="en-US" sz="1700" b="1" dirty="0">
                <a:solidFill>
                  <a:srgbClr val="7B3A8E"/>
                </a:solidFill>
              </a:rPr>
              <a:t>Key idea  </a:t>
            </a:r>
            <a:pPr indent="0" marL="0">
              <a:buNone/>
            </a:pPr>
            <a:r>
              <a:rPr lang="en-US" sz="1700" dirty="0">
                <a:solidFill>
                  <a:srgbClr val="141B26"/>
                </a:solidFill>
              </a:rPr>
              <a:t>Light supplies the energy and chlorophyll captures it, but light is not a substance, so it is not a reactant.</a:t>
            </a:r>
            <a:endParaRPr lang="en-US" sz="1700" dirty="0"/>
          </a:p>
        </p:txBody>
      </p:sp>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lIns="0" tIns="0" rIns="0" bIns="0" rtlCol="0" anchor="ctr"/>
          <a:lstStyle/>
          <a:p>
            <a:pPr indent="0" marL="0">
              <a:buNone/>
            </a:pPr>
            <a:r>
              <a:rPr lang="en-US" sz="3000" b="1" dirty="0">
                <a:solidFill>
                  <a:srgbClr val="0F2A5F"/>
                </a:solidFill>
              </a:rPr>
              <a:t>Light, chlorophyll and limiting factors</a:t>
            </a:r>
            <a:endParaRPr lang="en-US" sz="3000" dirty="0"/>
          </a:p>
        </p:txBody>
      </p:sp>
      <p:sp>
        <p:nvSpPr>
          <p:cNvPr id="3" name="Shape 1"/>
          <p:cNvSpPr/>
          <p:nvPr/>
        </p:nvSpPr>
        <p:spPr>
          <a:xfrm>
            <a:off x="10454335" y="411480"/>
            <a:ext cx="1188720" cy="384048"/>
          </a:xfrm>
          <a:prstGeom prst="roundRect">
            <a:avLst>
              <a:gd name="adj" fmla="val 50000"/>
            </a:avLst>
          </a:prstGeom>
          <a:solidFill>
            <a:srgbClr val="7B3A8E"/>
          </a:solidFill>
          <a:ln w="12700">
            <a:solidFill>
              <a:srgbClr val="7B3A8E"/>
            </a:solidFill>
            <a:prstDash val="solid"/>
          </a:ln>
        </p:spPr>
      </p:sp>
      <p:sp>
        <p:nvSpPr>
          <p:cNvPr id="4" name="Text 2"/>
          <p:cNvSpPr txBox="1"/>
          <p:nvPr/>
        </p:nvSpPr>
        <p:spPr>
          <a:xfrm>
            <a:off x="10454335" y="411480"/>
            <a:ext cx="1188720" cy="384048"/>
          </a:xfrm>
          <a:prstGeom prst="rect">
            <a:avLst/>
          </a:prstGeom>
          <a:noFill/>
          <a:ln/>
        </p:spPr>
        <p:txBody>
          <a:bodyPr wrap="square" lIns="0" tIns="0" rIns="0" bIns="0" rtlCol="0" anchor="ctr"/>
          <a:lstStyle/>
          <a:p>
            <a:pPr algn="ctr" indent="0" marL="0">
              <a:buNone/>
            </a:pPr>
            <a:r>
              <a:rPr lang="en-US" sz="1100" b="1" spc="100" kern="0" dirty="0">
                <a:solidFill>
                  <a:srgbClr val="FFFFFF"/>
                </a:solidFill>
              </a:rPr>
              <a:t>LEARN</a:t>
            </a:r>
            <a:endParaRPr lang="en-US" sz="1100" dirty="0"/>
          </a:p>
        </p:txBody>
      </p:sp>
      <p:sp>
        <p:nvSpPr>
          <p:cNvPr id="5" name="Text 3"/>
          <p:cNvSpPr txBox="1"/>
          <p:nvPr/>
        </p:nvSpPr>
        <p:spPr>
          <a:xfrm>
            <a:off x="548640" y="6035040"/>
            <a:ext cx="9601200" cy="310896"/>
          </a:xfrm>
          <a:prstGeom prst="rect">
            <a:avLst/>
          </a:prstGeom>
          <a:noFill/>
          <a:ln/>
        </p:spPr>
        <p:txBody>
          <a:bodyPr wrap="square" lIns="0" tIns="0" rIns="0" bIns="0" rtlCol="0" anchor="ctr"/>
          <a:lstStyle/>
          <a:p>
            <a:pPr indent="0" marL="0">
              <a:buNone/>
            </a:pPr>
            <a:r>
              <a:rPr lang="en-US" sz="1400" b="1" dirty="0">
                <a:solidFill>
                  <a:srgbClr val="7B3A8E"/>
                </a:solidFill>
              </a:rPr>
              <a:t>Key words  </a:t>
            </a:r>
            <a:pPr indent="0" marL="0">
              <a:buNone/>
            </a:pPr>
            <a:r>
              <a:rPr lang="en-US" sz="1400" dirty="0">
                <a:solidFill>
                  <a:srgbClr val="7B3A8E"/>
                </a:solidFill>
              </a:rPr>
              <a:t>chlorophyll   ·   chloroplast   ·   limiting factor</a:t>
            </a:r>
            <a:endParaRPr lang="en-US" sz="1400" dirty="0"/>
          </a:p>
        </p:txBody>
      </p:sp>
      <p:sp>
        <p:nvSpPr>
          <p:cNvPr id="6" name="Text 4"/>
          <p:cNvSpPr txBox="1"/>
          <p:nvPr/>
        </p:nvSpPr>
        <p:spPr>
          <a:xfrm>
            <a:off x="548640" y="1325880"/>
            <a:ext cx="5760720" cy="4069080"/>
          </a:xfrm>
          <a:prstGeom prst="rect">
            <a:avLst/>
          </a:prstGeom>
          <a:noFill/>
          <a:ln/>
        </p:spPr>
        <p:txBody>
          <a:bodyPr wrap="square" lIns="0" tIns="0" rIns="0" bIns="0" rtlCol="0" anchor="t"/>
          <a:lstStyle/>
          <a:p>
            <a:pPr marL="304800" indent="-304800">
              <a:spcAft>
                <a:spcPts val="800"/>
              </a:spcAft>
              <a:buSzPct val="100000"/>
              <a:buChar char="•"/>
            </a:pPr>
            <a:r>
              <a:rPr lang="en-US" sz="2000" dirty="0">
                <a:solidFill>
                  <a:srgbClr val="141B26"/>
                </a:solidFill>
              </a:rPr>
              <a:t>Chlorophyll, inside chloroplasts, captures the energy transferred by light.</a:t>
            </a:r>
            <a:endParaRPr lang="en-US" sz="2000" dirty="0"/>
          </a:p>
          <a:p>
            <a:pPr marL="304800" indent="-304800">
              <a:spcAft>
                <a:spcPts val="800"/>
              </a:spcAft>
              <a:buSzPct val="100000"/>
              <a:buChar char="•"/>
            </a:pPr>
            <a:r>
              <a:rPr lang="en-US" sz="2000" dirty="0">
                <a:solidFill>
                  <a:srgbClr val="141B26"/>
                </a:solidFill>
              </a:rPr>
              <a:t>That energy is stored in the glucose.</a:t>
            </a:r>
            <a:endParaRPr lang="en-US" sz="2000" dirty="0"/>
          </a:p>
          <a:p>
            <a:pPr marL="304800" indent="-304800">
              <a:spcAft>
                <a:spcPts val="800"/>
              </a:spcAft>
              <a:buSzPct val="100000"/>
              <a:buChar char="•"/>
            </a:pPr>
            <a:r>
              <a:rPr lang="en-US" sz="2000" dirty="0">
                <a:solidFill>
                  <a:srgbClr val="141B26"/>
                </a:solidFill>
              </a:rPr>
              <a:t>Less light, or too little carbon dioxide or water, slows photosynthesis.</a:t>
            </a:r>
            <a:endParaRPr lang="en-US" sz="2000" dirty="0"/>
          </a:p>
          <a:p>
            <a:pPr marL="304800" indent="-304800">
              <a:spcAft>
                <a:spcPts val="800"/>
              </a:spcAft>
              <a:buSzPct val="100000"/>
              <a:buChar char="•"/>
            </a:pPr>
            <a:r>
              <a:rPr lang="en-US" sz="2000" dirty="0">
                <a:solidFill>
                  <a:srgbClr val="141B26"/>
                </a:solidFill>
              </a:rPr>
              <a:t>A variable that slows the rate is a limiting factor.</a:t>
            </a:r>
            <a:endParaRPr lang="en-US" sz="2000" dirty="0"/>
          </a:p>
          <a:p>
            <a:pPr marL="304800" indent="-304800">
              <a:spcAft>
                <a:spcPts val="800"/>
              </a:spcAft>
              <a:buSzPct val="100000"/>
              <a:buChar char="•"/>
            </a:pPr>
            <a:r>
              <a:rPr lang="en-US" sz="2000" dirty="0">
                <a:solidFill>
                  <a:srgbClr val="141B26"/>
                </a:solidFill>
              </a:rPr>
              <a:t>More oxygen bubbles from pondweed means faster photosynthesis.</a:t>
            </a:r>
            <a:endParaRPr lang="en-US" sz="2000" dirty="0"/>
          </a:p>
        </p:txBody>
      </p:sp>
      <p:pic>
        <p:nvPicPr>
          <p:cNvPr id="7" name="Image 0" descr="/home/user/lessons/Y9_Exploring_Science/images/elodea_bubbles.jpg">    </p:cNvPr>
          <p:cNvPicPr>
            <a:picLocks noChangeAspect="1"/>
          </p:cNvPicPr>
          <p:nvPr/>
        </p:nvPicPr>
        <p:blipFill>
          <a:blip r:embed="rId1"/>
          <a:stretch>
            <a:fillRect/>
          </a:stretch>
        </p:blipFill>
        <p:spPr>
          <a:xfrm>
            <a:off x="6659880" y="1280160"/>
            <a:ext cx="4876800" cy="3657600"/>
          </a:xfrm>
          <a:prstGeom prst="rect">
            <a:avLst/>
          </a:prstGeom>
        </p:spPr>
      </p:pic>
      <p:sp>
        <p:nvSpPr>
          <p:cNvPr id="8" name="Text 5"/>
          <p:cNvSpPr txBox="1"/>
          <p:nvPr/>
        </p:nvSpPr>
        <p:spPr>
          <a:xfrm>
            <a:off x="6583680" y="4983480"/>
            <a:ext cx="5029200" cy="548640"/>
          </a:xfrm>
          <a:prstGeom prst="rect">
            <a:avLst/>
          </a:prstGeom>
          <a:noFill/>
          <a:ln/>
        </p:spPr>
        <p:txBody>
          <a:bodyPr wrap="square" lIns="0" tIns="0" rIns="0" bIns="0" rtlCol="0" anchor="t"/>
          <a:lstStyle/>
          <a:p>
            <a:pPr algn="l" indent="0" marL="0">
              <a:buNone/>
            </a:pPr>
            <a:r>
              <a:rPr lang="en-US" sz="1300" dirty="0">
                <a:solidFill>
                  <a:srgbClr val="141B26"/>
                </a:solidFill>
              </a:rPr>
              <a:t>Canadian pondweed (Elodea), used to measure photosynthesis by counting oxygen bubbles</a:t>
            </a:r>
            <a:pPr algn="l" indent="0" marL="0">
              <a:buNone/>
            </a:pPr>
            <a:endParaRPr lang="en-US" sz="1300" dirty="0"/>
          </a:p>
          <a:p>
            <a:pPr algn="l" indent="0" marL="0">
              <a:buNone/>
            </a:pPr>
            <a:r>
              <a:rPr lang="en-US" sz="900" dirty="0">
                <a:solidFill>
                  <a:srgbClr val="5B6574"/>
                </a:solidFill>
              </a:rPr>
              <a:t>Image: Sean Hartnett, CC BY 4.0, via Wikimedia Commons</a:t>
            </a:r>
            <a:endParaRPr lang="en-US" sz="1300" dirty="0"/>
          </a:p>
        </p:txBody>
      </p:sp>
      <p:sp>
        <p:nvSpPr>
          <p:cNvPr id="9" name="Shape 6"/>
          <p:cNvSpPr/>
          <p:nvPr/>
        </p:nvSpPr>
        <p:spPr>
          <a:xfrm>
            <a:off x="548640" y="5532120"/>
            <a:ext cx="11094415" cy="566928"/>
          </a:xfrm>
          <a:prstGeom prst="rect">
            <a:avLst/>
          </a:prstGeom>
          <a:solidFill>
            <a:srgbClr val="F1E5F4"/>
          </a:solidFill>
          <a:ln w="12700">
            <a:solidFill>
              <a:srgbClr val="F1E5F4"/>
            </a:solidFill>
            <a:prstDash val="solid"/>
          </a:ln>
        </p:spPr>
      </p:sp>
      <p:sp>
        <p:nvSpPr>
          <p:cNvPr id="10" name="Text 7"/>
          <p:cNvSpPr txBox="1"/>
          <p:nvPr/>
        </p:nvSpPr>
        <p:spPr>
          <a:xfrm>
            <a:off x="685800" y="5532120"/>
            <a:ext cx="10820095" cy="566928"/>
          </a:xfrm>
          <a:prstGeom prst="rect">
            <a:avLst/>
          </a:prstGeom>
          <a:noFill/>
          <a:ln/>
        </p:spPr>
        <p:txBody>
          <a:bodyPr wrap="square" lIns="0" tIns="0" rIns="0" bIns="0" rtlCol="0" anchor="ctr"/>
          <a:lstStyle/>
          <a:p>
            <a:pPr indent="0" marL="0">
              <a:buNone/>
            </a:pPr>
            <a:r>
              <a:rPr lang="en-US" sz="1700" b="1" dirty="0">
                <a:solidFill>
                  <a:srgbClr val="7B3A8E"/>
                </a:solidFill>
              </a:rPr>
              <a:t>Key idea  </a:t>
            </a:r>
            <a:pPr indent="0" marL="0">
              <a:buNone/>
            </a:pPr>
            <a:r>
              <a:rPr lang="en-US" sz="1700" dirty="0">
                <a:solidFill>
                  <a:srgbClr val="141B26"/>
                </a:solidFill>
              </a:rPr>
              <a:t>Rate of photosynthesis is limited by light, carbon dioxide, water and temperature.</a:t>
            </a:r>
            <a:endParaRPr lang="en-US" sz="1700" dirty="0"/>
          </a:p>
        </p:txBody>
      </p:sp>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lIns="0" tIns="0" rIns="0" bIns="0" rtlCol="0" anchor="ctr"/>
          <a:lstStyle/>
          <a:p>
            <a:pPr indent="0" marL="0">
              <a:buNone/>
            </a:pPr>
            <a:r>
              <a:rPr lang="en-US" sz="3000" b="1" dirty="0">
                <a:solidFill>
                  <a:srgbClr val="0F2A5F"/>
                </a:solidFill>
              </a:rPr>
              <a:t>Aerobic respiration</a:t>
            </a:r>
            <a:endParaRPr lang="en-US" sz="3000" dirty="0"/>
          </a:p>
        </p:txBody>
      </p:sp>
      <p:sp>
        <p:nvSpPr>
          <p:cNvPr id="3" name="Shape 1"/>
          <p:cNvSpPr/>
          <p:nvPr/>
        </p:nvSpPr>
        <p:spPr>
          <a:xfrm>
            <a:off x="10454335" y="411480"/>
            <a:ext cx="1188720" cy="384048"/>
          </a:xfrm>
          <a:prstGeom prst="roundRect">
            <a:avLst>
              <a:gd name="adj" fmla="val 50000"/>
            </a:avLst>
          </a:prstGeom>
          <a:solidFill>
            <a:srgbClr val="7B3A8E"/>
          </a:solidFill>
          <a:ln w="12700">
            <a:solidFill>
              <a:srgbClr val="7B3A8E"/>
            </a:solidFill>
            <a:prstDash val="solid"/>
          </a:ln>
        </p:spPr>
      </p:sp>
      <p:sp>
        <p:nvSpPr>
          <p:cNvPr id="4" name="Text 2"/>
          <p:cNvSpPr txBox="1"/>
          <p:nvPr/>
        </p:nvSpPr>
        <p:spPr>
          <a:xfrm>
            <a:off x="10454335" y="411480"/>
            <a:ext cx="1188720" cy="384048"/>
          </a:xfrm>
          <a:prstGeom prst="rect">
            <a:avLst/>
          </a:prstGeom>
          <a:noFill/>
          <a:ln/>
        </p:spPr>
        <p:txBody>
          <a:bodyPr wrap="square" lIns="0" tIns="0" rIns="0" bIns="0" rtlCol="0" anchor="ctr"/>
          <a:lstStyle/>
          <a:p>
            <a:pPr algn="ctr" indent="0" marL="0">
              <a:buNone/>
            </a:pPr>
            <a:r>
              <a:rPr lang="en-US" sz="1100" b="1" spc="100" kern="0" dirty="0">
                <a:solidFill>
                  <a:srgbClr val="FFFFFF"/>
                </a:solidFill>
              </a:rPr>
              <a:t>LEARN</a:t>
            </a:r>
            <a:endParaRPr lang="en-US" sz="1100" dirty="0"/>
          </a:p>
        </p:txBody>
      </p:sp>
      <p:sp>
        <p:nvSpPr>
          <p:cNvPr id="5" name="Text 3"/>
          <p:cNvSpPr txBox="1"/>
          <p:nvPr/>
        </p:nvSpPr>
        <p:spPr>
          <a:xfrm>
            <a:off x="548640" y="6035040"/>
            <a:ext cx="9601200" cy="310896"/>
          </a:xfrm>
          <a:prstGeom prst="rect">
            <a:avLst/>
          </a:prstGeom>
          <a:noFill/>
          <a:ln/>
        </p:spPr>
        <p:txBody>
          <a:bodyPr wrap="square" lIns="0" tIns="0" rIns="0" bIns="0" rtlCol="0" anchor="ctr"/>
          <a:lstStyle/>
          <a:p>
            <a:pPr indent="0" marL="0">
              <a:buNone/>
            </a:pPr>
            <a:r>
              <a:rPr lang="en-US" sz="1400" b="1" dirty="0">
                <a:solidFill>
                  <a:srgbClr val="7B3A8E"/>
                </a:solidFill>
              </a:rPr>
              <a:t>Key words  </a:t>
            </a:r>
            <a:pPr indent="0" marL="0">
              <a:buNone/>
            </a:pPr>
            <a:r>
              <a:rPr lang="en-US" sz="1400" dirty="0">
                <a:solidFill>
                  <a:srgbClr val="7B3A8E"/>
                </a:solidFill>
              </a:rPr>
              <a:t>aerobic respiration</a:t>
            </a:r>
            <a:endParaRPr lang="en-US" sz="1400" dirty="0"/>
          </a:p>
        </p:txBody>
      </p:sp>
      <p:sp>
        <p:nvSpPr>
          <p:cNvPr id="6" name="Text 4"/>
          <p:cNvSpPr txBox="1"/>
          <p:nvPr/>
        </p:nvSpPr>
        <p:spPr>
          <a:xfrm>
            <a:off x="548640" y="1234440"/>
            <a:ext cx="10881360" cy="457200"/>
          </a:xfrm>
          <a:prstGeom prst="rect">
            <a:avLst/>
          </a:prstGeom>
          <a:noFill/>
          <a:ln/>
        </p:spPr>
        <p:txBody>
          <a:bodyPr wrap="square" lIns="0" tIns="0" rIns="0" bIns="0" rtlCol="0" anchor="ctr"/>
          <a:lstStyle/>
          <a:p>
            <a:pPr indent="0" marL="0">
              <a:buNone/>
            </a:pPr>
            <a:r>
              <a:rPr lang="en-US" sz="1600" dirty="0">
                <a:solidFill>
                  <a:srgbClr val="141B26"/>
                </a:solidFill>
              </a:rPr>
              <a:t>Every living cell needs energy. Aerobic respiration releases the energy stored in glucose, using oxygen.</a:t>
            </a:r>
            <a:endParaRPr lang="en-US" sz="1600" dirty="0"/>
          </a:p>
        </p:txBody>
      </p:sp>
      <p:pic>
        <p:nvPicPr>
          <p:cNvPr id="7" name="Image 0" descr="/home/user/lessons/Y9_Exploring_Science/source/diagrams/respiration_eq.png">    </p:cNvPr>
          <p:cNvPicPr>
            <a:picLocks noChangeAspect="1"/>
          </p:cNvPicPr>
          <p:nvPr/>
        </p:nvPicPr>
        <p:blipFill>
          <a:blip r:embed="rId1"/>
          <a:stretch>
            <a:fillRect/>
          </a:stretch>
        </p:blipFill>
        <p:spPr>
          <a:xfrm>
            <a:off x="548640" y="1797939"/>
            <a:ext cx="10881360" cy="3536442"/>
          </a:xfrm>
          <a:prstGeom prst="rect">
            <a:avLst/>
          </a:prstGeom>
        </p:spPr>
      </p:pic>
      <p:sp>
        <p:nvSpPr>
          <p:cNvPr id="8" name="Shape 5"/>
          <p:cNvSpPr/>
          <p:nvPr/>
        </p:nvSpPr>
        <p:spPr>
          <a:xfrm>
            <a:off x="548640" y="5532120"/>
            <a:ext cx="11094415" cy="566928"/>
          </a:xfrm>
          <a:prstGeom prst="rect">
            <a:avLst/>
          </a:prstGeom>
          <a:solidFill>
            <a:srgbClr val="F1E5F4"/>
          </a:solidFill>
          <a:ln w="12700">
            <a:solidFill>
              <a:srgbClr val="F1E5F4"/>
            </a:solidFill>
            <a:prstDash val="solid"/>
          </a:ln>
        </p:spPr>
      </p:sp>
      <p:sp>
        <p:nvSpPr>
          <p:cNvPr id="9" name="Text 6"/>
          <p:cNvSpPr txBox="1"/>
          <p:nvPr/>
        </p:nvSpPr>
        <p:spPr>
          <a:xfrm>
            <a:off x="685800" y="5532120"/>
            <a:ext cx="10820095" cy="566928"/>
          </a:xfrm>
          <a:prstGeom prst="rect">
            <a:avLst/>
          </a:prstGeom>
          <a:noFill/>
          <a:ln/>
        </p:spPr>
        <p:txBody>
          <a:bodyPr wrap="square" lIns="0" tIns="0" rIns="0" bIns="0" rtlCol="0" anchor="ctr"/>
          <a:lstStyle/>
          <a:p>
            <a:pPr indent="0" marL="0">
              <a:buNone/>
            </a:pPr>
            <a:r>
              <a:rPr lang="en-US" sz="1700" b="1" dirty="0">
                <a:solidFill>
                  <a:srgbClr val="7B3A8E"/>
                </a:solidFill>
              </a:rPr>
              <a:t>Key idea  </a:t>
            </a:r>
            <a:pPr indent="0" marL="0">
              <a:buNone/>
            </a:pPr>
            <a:r>
              <a:rPr lang="en-US" sz="1700" dirty="0">
                <a:solidFill>
                  <a:srgbClr val="141B26"/>
                </a:solidFill>
              </a:rPr>
              <a:t>Photosynthesis only in the light, in cells with chloroplasts. Respiration in every cell, all day and all night.</a:t>
            </a:r>
            <a:endParaRPr lang="en-US" sz="1700" dirty="0"/>
          </a:p>
        </p:txBody>
      </p:sp>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lIns="0" tIns="0" rIns="0" bIns="0" rtlCol="0" anchor="ctr"/>
          <a:lstStyle/>
          <a:p>
            <a:pPr indent="0" marL="0">
              <a:buNone/>
            </a:pPr>
            <a:r>
              <a:rPr lang="en-US" sz="3000" b="1" dirty="0">
                <a:solidFill>
                  <a:srgbClr val="0F2A5F"/>
                </a:solidFill>
              </a:rPr>
              <a:t>Gases around pondweed over 18 hours</a:t>
            </a:r>
            <a:endParaRPr lang="en-US" sz="3000" dirty="0"/>
          </a:p>
        </p:txBody>
      </p:sp>
      <p:sp>
        <p:nvSpPr>
          <p:cNvPr id="3" name="Shape 1"/>
          <p:cNvSpPr/>
          <p:nvPr/>
        </p:nvSpPr>
        <p:spPr>
          <a:xfrm>
            <a:off x="10454335" y="411480"/>
            <a:ext cx="1188720" cy="384048"/>
          </a:xfrm>
          <a:prstGeom prst="roundRect">
            <a:avLst>
              <a:gd name="adj" fmla="val 50000"/>
            </a:avLst>
          </a:prstGeom>
          <a:solidFill>
            <a:srgbClr val="7B3A8E"/>
          </a:solidFill>
          <a:ln w="12700">
            <a:solidFill>
              <a:srgbClr val="7B3A8E"/>
            </a:solidFill>
            <a:prstDash val="solid"/>
          </a:ln>
        </p:spPr>
      </p:sp>
      <p:sp>
        <p:nvSpPr>
          <p:cNvPr id="4" name="Text 2"/>
          <p:cNvSpPr txBox="1"/>
          <p:nvPr/>
        </p:nvSpPr>
        <p:spPr>
          <a:xfrm>
            <a:off x="10454335" y="411480"/>
            <a:ext cx="1188720" cy="384048"/>
          </a:xfrm>
          <a:prstGeom prst="rect">
            <a:avLst/>
          </a:prstGeom>
          <a:noFill/>
          <a:ln/>
        </p:spPr>
        <p:txBody>
          <a:bodyPr wrap="square" lIns="0" tIns="0" rIns="0" bIns="0" rtlCol="0" anchor="ctr"/>
          <a:lstStyle/>
          <a:p>
            <a:pPr algn="ctr" indent="0" marL="0">
              <a:buNone/>
            </a:pPr>
            <a:r>
              <a:rPr lang="en-US" sz="1100" b="1" spc="100" kern="0" dirty="0">
                <a:solidFill>
                  <a:srgbClr val="FFFFFF"/>
                </a:solidFill>
              </a:rPr>
              <a:t>LEARN</a:t>
            </a:r>
            <a:endParaRPr lang="en-US" sz="1100" dirty="0"/>
          </a:p>
        </p:txBody>
      </p:sp>
      <p:sp>
        <p:nvSpPr>
          <p:cNvPr id="5" name="Text 3"/>
          <p:cNvSpPr txBox="1"/>
          <p:nvPr/>
        </p:nvSpPr>
        <p:spPr>
          <a:xfrm>
            <a:off x="548640" y="1234440"/>
            <a:ext cx="10881360" cy="457200"/>
          </a:xfrm>
          <a:prstGeom prst="rect">
            <a:avLst/>
          </a:prstGeom>
          <a:noFill/>
          <a:ln/>
        </p:spPr>
        <p:txBody>
          <a:bodyPr wrap="square" lIns="0" tIns="0" rIns="0" bIns="0" rtlCol="0" anchor="ctr"/>
          <a:lstStyle/>
          <a:p>
            <a:pPr indent="0" marL="0">
              <a:buNone/>
            </a:pPr>
            <a:r>
              <a:rPr lang="en-US" sz="1800" dirty="0">
                <a:solidFill>
                  <a:srgbClr val="141B26"/>
                </a:solidFill>
              </a:rPr>
              <a:t>Which line is oxygen, X or Y? Why does X rise during the day and fall after dark?</a:t>
            </a:r>
            <a:endParaRPr lang="en-US" sz="1800" dirty="0"/>
          </a:p>
        </p:txBody>
      </p:sp>
      <p:pic>
        <p:nvPicPr>
          <p:cNvPr id="6" name="Image 0" descr="/home/user/lessons/Y9_Exploring_Science/source/diagrams/pond_gas_graph.png">    </p:cNvPr>
          <p:cNvPicPr>
            <a:picLocks noChangeAspect="1"/>
          </p:cNvPicPr>
          <p:nvPr/>
        </p:nvPicPr>
        <p:blipFill>
          <a:blip r:embed="rId1"/>
          <a:stretch>
            <a:fillRect/>
          </a:stretch>
        </p:blipFill>
        <p:spPr>
          <a:xfrm>
            <a:off x="1809206" y="1737360"/>
            <a:ext cx="8360229" cy="3657600"/>
          </a:xfrm>
          <a:prstGeom prst="rect">
            <a:avLst/>
          </a:prstGeom>
        </p:spPr>
      </p:pic>
      <p:sp>
        <p:nvSpPr>
          <p:cNvPr id="7" name="Shape 4"/>
          <p:cNvSpPr/>
          <p:nvPr/>
        </p:nvSpPr>
        <p:spPr>
          <a:xfrm>
            <a:off x="548640" y="5532120"/>
            <a:ext cx="11094415" cy="566928"/>
          </a:xfrm>
          <a:prstGeom prst="rect">
            <a:avLst/>
          </a:prstGeom>
          <a:solidFill>
            <a:srgbClr val="F1E5F4"/>
          </a:solidFill>
          <a:ln w="12700">
            <a:solidFill>
              <a:srgbClr val="F1E5F4"/>
            </a:solidFill>
            <a:prstDash val="solid"/>
          </a:ln>
        </p:spPr>
      </p:sp>
      <p:sp>
        <p:nvSpPr>
          <p:cNvPr id="8" name="Text 5"/>
          <p:cNvSpPr txBox="1"/>
          <p:nvPr/>
        </p:nvSpPr>
        <p:spPr>
          <a:xfrm>
            <a:off x="685800" y="5532120"/>
            <a:ext cx="10820095" cy="566928"/>
          </a:xfrm>
          <a:prstGeom prst="rect">
            <a:avLst/>
          </a:prstGeom>
          <a:noFill/>
          <a:ln/>
        </p:spPr>
        <p:txBody>
          <a:bodyPr wrap="square" lIns="0" tIns="0" rIns="0" bIns="0" rtlCol="0" anchor="ctr"/>
          <a:lstStyle/>
          <a:p>
            <a:pPr indent="0" marL="0">
              <a:buNone/>
            </a:pPr>
            <a:r>
              <a:rPr lang="en-US" sz="1700" b="1" dirty="0">
                <a:solidFill>
                  <a:srgbClr val="7B3A8E"/>
                </a:solidFill>
              </a:rPr>
              <a:t>Key idea  </a:t>
            </a:r>
            <a:pPr indent="0" marL="0">
              <a:buNone/>
            </a:pPr>
            <a:r>
              <a:rPr lang="en-US" sz="1700" dirty="0">
                <a:solidFill>
                  <a:srgbClr val="141B26"/>
                </a:solidFill>
              </a:rPr>
              <a:t>In daylight a plant makes more oxygen than it uses, so oxygen is given off. At night it only respires, so oxygen falls and carbon dioxide rises.</a:t>
            </a:r>
            <a:endParaRPr lang="en-US" sz="1700" dirty="0"/>
          </a:p>
        </p:txBody>
      </p:sp>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lIns="0" tIns="0" rIns="0" bIns="0" rtlCol="0" anchor="ctr"/>
          <a:lstStyle/>
          <a:p>
            <a:pPr indent="0" marL="0">
              <a:buNone/>
            </a:pPr>
            <a:r>
              <a:rPr lang="en-US" sz="3000" b="1" dirty="0">
                <a:solidFill>
                  <a:srgbClr val="0F2A5F"/>
                </a:solidFill>
              </a:rPr>
              <a:t>Moving sugar, and roots that breathe</a:t>
            </a:r>
            <a:endParaRPr lang="en-US" sz="3000" dirty="0"/>
          </a:p>
        </p:txBody>
      </p:sp>
      <p:sp>
        <p:nvSpPr>
          <p:cNvPr id="3" name="Shape 1"/>
          <p:cNvSpPr/>
          <p:nvPr/>
        </p:nvSpPr>
        <p:spPr>
          <a:xfrm>
            <a:off x="10454335" y="411480"/>
            <a:ext cx="1188720" cy="384048"/>
          </a:xfrm>
          <a:prstGeom prst="roundRect">
            <a:avLst>
              <a:gd name="adj" fmla="val 50000"/>
            </a:avLst>
          </a:prstGeom>
          <a:solidFill>
            <a:srgbClr val="7B3A8E"/>
          </a:solidFill>
          <a:ln w="12700">
            <a:solidFill>
              <a:srgbClr val="7B3A8E"/>
            </a:solidFill>
            <a:prstDash val="solid"/>
          </a:ln>
        </p:spPr>
      </p:sp>
      <p:sp>
        <p:nvSpPr>
          <p:cNvPr id="4" name="Text 2"/>
          <p:cNvSpPr txBox="1"/>
          <p:nvPr/>
        </p:nvSpPr>
        <p:spPr>
          <a:xfrm>
            <a:off x="10454335" y="411480"/>
            <a:ext cx="1188720" cy="384048"/>
          </a:xfrm>
          <a:prstGeom prst="rect">
            <a:avLst/>
          </a:prstGeom>
          <a:noFill/>
          <a:ln/>
        </p:spPr>
        <p:txBody>
          <a:bodyPr wrap="square" lIns="0" tIns="0" rIns="0" bIns="0" rtlCol="0" anchor="ctr"/>
          <a:lstStyle/>
          <a:p>
            <a:pPr algn="ctr" indent="0" marL="0">
              <a:buNone/>
            </a:pPr>
            <a:r>
              <a:rPr lang="en-US" sz="1100" b="1" spc="100" kern="0" dirty="0">
                <a:solidFill>
                  <a:srgbClr val="FFFFFF"/>
                </a:solidFill>
              </a:rPr>
              <a:t>LEARN</a:t>
            </a:r>
            <a:endParaRPr lang="en-US" sz="1100" dirty="0"/>
          </a:p>
        </p:txBody>
      </p:sp>
      <p:sp>
        <p:nvSpPr>
          <p:cNvPr id="5" name="Text 3"/>
          <p:cNvSpPr txBox="1"/>
          <p:nvPr/>
        </p:nvSpPr>
        <p:spPr>
          <a:xfrm>
            <a:off x="548640" y="6035040"/>
            <a:ext cx="9601200" cy="310896"/>
          </a:xfrm>
          <a:prstGeom prst="rect">
            <a:avLst/>
          </a:prstGeom>
          <a:noFill/>
          <a:ln/>
        </p:spPr>
        <p:txBody>
          <a:bodyPr wrap="square" lIns="0" tIns="0" rIns="0" bIns="0" rtlCol="0" anchor="ctr"/>
          <a:lstStyle/>
          <a:p>
            <a:pPr indent="0" marL="0">
              <a:buNone/>
            </a:pPr>
            <a:r>
              <a:rPr lang="en-US" sz="1400" b="1" dirty="0">
                <a:solidFill>
                  <a:srgbClr val="7B3A8E"/>
                </a:solidFill>
              </a:rPr>
              <a:t>Key words  </a:t>
            </a:r>
            <a:pPr indent="0" marL="0">
              <a:buNone/>
            </a:pPr>
            <a:r>
              <a:rPr lang="en-US" sz="1400" dirty="0">
                <a:solidFill>
                  <a:srgbClr val="7B3A8E"/>
                </a:solidFill>
              </a:rPr>
              <a:t>phloem   ·   yield</a:t>
            </a:r>
            <a:endParaRPr lang="en-US" sz="1400" dirty="0"/>
          </a:p>
        </p:txBody>
      </p:sp>
      <p:sp>
        <p:nvSpPr>
          <p:cNvPr id="6" name="Text 4"/>
          <p:cNvSpPr txBox="1"/>
          <p:nvPr/>
        </p:nvSpPr>
        <p:spPr>
          <a:xfrm>
            <a:off x="548640" y="1325880"/>
            <a:ext cx="10881360" cy="4069080"/>
          </a:xfrm>
          <a:prstGeom prst="rect">
            <a:avLst/>
          </a:prstGeom>
          <a:noFill/>
          <a:ln/>
        </p:spPr>
        <p:txBody>
          <a:bodyPr wrap="square" lIns="0" tIns="0" rIns="0" bIns="0" rtlCol="0" anchor="t"/>
          <a:lstStyle/>
          <a:p>
            <a:pPr marL="304800" indent="-304800">
              <a:spcAft>
                <a:spcPts val="800"/>
              </a:spcAft>
              <a:buSzPct val="100000"/>
              <a:buChar char="•"/>
            </a:pPr>
            <a:r>
              <a:rPr lang="en-US" sz="2000" dirty="0">
                <a:solidFill>
                  <a:srgbClr val="141B26"/>
                </a:solidFill>
              </a:rPr>
              <a:t>Glucose is turned into sugars that dissolve in water.</a:t>
            </a:r>
            <a:endParaRPr lang="en-US" sz="2000" dirty="0"/>
          </a:p>
          <a:p>
            <a:pPr marL="304800" indent="-304800">
              <a:spcAft>
                <a:spcPts val="800"/>
              </a:spcAft>
              <a:buSzPct val="100000"/>
              <a:buChar char="•"/>
            </a:pPr>
            <a:r>
              <a:rPr lang="en-US" sz="2000" dirty="0">
                <a:solidFill>
                  <a:srgbClr val="141B26"/>
                </a:solidFill>
              </a:rPr>
              <a:t>Phloem vessels, chains of living cells, carry the sugar solution to every part of the plant.</a:t>
            </a:r>
            <a:endParaRPr lang="en-US" sz="2000" dirty="0"/>
          </a:p>
          <a:p>
            <a:pPr marL="304800" indent="-304800">
              <a:spcAft>
                <a:spcPts val="800"/>
              </a:spcAft>
              <a:buSzPct val="100000"/>
              <a:buChar char="•"/>
            </a:pPr>
            <a:r>
              <a:rPr lang="en-US" sz="2000" dirty="0">
                <a:solidFill>
                  <a:srgbClr val="141B26"/>
                </a:solidFill>
              </a:rPr>
              <a:t>Root cells use this sugar for respiration. They get oxygen from air spaces in the soil.</a:t>
            </a:r>
            <a:endParaRPr lang="en-US" sz="2000" dirty="0"/>
          </a:p>
          <a:p>
            <a:pPr marL="304800" indent="-304800">
              <a:spcAft>
                <a:spcPts val="800"/>
              </a:spcAft>
              <a:buSzPct val="100000"/>
              <a:buChar char="•"/>
            </a:pPr>
            <a:r>
              <a:rPr lang="en-US" sz="2000" dirty="0">
                <a:solidFill>
                  <a:srgbClr val="141B26"/>
                </a:solidFill>
              </a:rPr>
              <a:t>Waterlogged soil has no air, so roots cannot respire and the plant can die.</a:t>
            </a:r>
            <a:endParaRPr lang="en-US" sz="2000" dirty="0"/>
          </a:p>
        </p:txBody>
      </p:sp>
      <p:sp>
        <p:nvSpPr>
          <p:cNvPr id="7" name="Shape 5"/>
          <p:cNvSpPr/>
          <p:nvPr/>
        </p:nvSpPr>
        <p:spPr>
          <a:xfrm>
            <a:off x="548640" y="5532120"/>
            <a:ext cx="11094415" cy="566928"/>
          </a:xfrm>
          <a:prstGeom prst="rect">
            <a:avLst/>
          </a:prstGeom>
          <a:solidFill>
            <a:srgbClr val="F1E5F4"/>
          </a:solidFill>
          <a:ln w="12700">
            <a:solidFill>
              <a:srgbClr val="F1E5F4"/>
            </a:solidFill>
            <a:prstDash val="solid"/>
          </a:ln>
        </p:spPr>
      </p:sp>
      <p:sp>
        <p:nvSpPr>
          <p:cNvPr id="8" name="Text 6"/>
          <p:cNvSpPr txBox="1"/>
          <p:nvPr/>
        </p:nvSpPr>
        <p:spPr>
          <a:xfrm>
            <a:off x="685800" y="5532120"/>
            <a:ext cx="10820095" cy="566928"/>
          </a:xfrm>
          <a:prstGeom prst="rect">
            <a:avLst/>
          </a:prstGeom>
          <a:noFill/>
          <a:ln/>
        </p:spPr>
        <p:txBody>
          <a:bodyPr wrap="square" lIns="0" tIns="0" rIns="0" bIns="0" rtlCol="0" anchor="ctr"/>
          <a:lstStyle/>
          <a:p>
            <a:pPr indent="0" marL="0">
              <a:buNone/>
            </a:pPr>
            <a:r>
              <a:rPr lang="en-US" sz="1700" b="1" dirty="0">
                <a:solidFill>
                  <a:srgbClr val="7B3A8E"/>
                </a:solidFill>
              </a:rPr>
              <a:t>Key idea  </a:t>
            </a:r>
            <a:pPr indent="0" marL="0">
              <a:buNone/>
            </a:pPr>
            <a:r>
              <a:rPr lang="en-US" sz="1700" dirty="0">
                <a:solidFill>
                  <a:srgbClr val="141B26"/>
                </a:solidFill>
              </a:rPr>
              <a:t>Roots do not photosynthesise, but they respire, so they need sugar from the phloem and oxygen from the soil.</a:t>
            </a:r>
            <a:endParaRPr lang="en-US" sz="1700" dirty="0"/>
          </a:p>
        </p:txBody>
      </p:sp>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lIns="0" tIns="0" rIns="0" bIns="0" rtlCol="0" anchor="ctr"/>
          <a:lstStyle/>
          <a:p>
            <a:pPr indent="0" marL="0">
              <a:buNone/>
            </a:pPr>
            <a:r>
              <a:rPr lang="en-US" sz="3000" b="1" dirty="0">
                <a:solidFill>
                  <a:srgbClr val="0F2A5F"/>
                </a:solidFill>
              </a:rPr>
              <a:t>Quick check</a:t>
            </a:r>
            <a:endParaRPr lang="en-US" sz="3000" dirty="0"/>
          </a:p>
        </p:txBody>
      </p:sp>
      <p:sp>
        <p:nvSpPr>
          <p:cNvPr id="3" name="Shape 1"/>
          <p:cNvSpPr/>
          <p:nvPr/>
        </p:nvSpPr>
        <p:spPr>
          <a:xfrm>
            <a:off x="10454335" y="411480"/>
            <a:ext cx="1188720" cy="384048"/>
          </a:xfrm>
          <a:prstGeom prst="roundRect">
            <a:avLst>
              <a:gd name="adj" fmla="val 50000"/>
            </a:avLst>
          </a:prstGeom>
          <a:solidFill>
            <a:srgbClr val="7B3A8E"/>
          </a:solidFill>
          <a:ln w="12700">
            <a:solidFill>
              <a:srgbClr val="7B3A8E"/>
            </a:solidFill>
            <a:prstDash val="solid"/>
          </a:ln>
        </p:spPr>
      </p:sp>
      <p:sp>
        <p:nvSpPr>
          <p:cNvPr id="4" name="Text 2"/>
          <p:cNvSpPr txBox="1"/>
          <p:nvPr/>
        </p:nvSpPr>
        <p:spPr>
          <a:xfrm>
            <a:off x="10454335" y="411480"/>
            <a:ext cx="1188720" cy="384048"/>
          </a:xfrm>
          <a:prstGeom prst="rect">
            <a:avLst/>
          </a:prstGeom>
          <a:noFill/>
          <a:ln/>
        </p:spPr>
        <p:txBody>
          <a:bodyPr wrap="square" lIns="0" tIns="0" rIns="0" bIns="0" rtlCol="0" anchor="ctr"/>
          <a:lstStyle/>
          <a:p>
            <a:pPr algn="ctr" indent="0" marL="0">
              <a:buNone/>
            </a:pPr>
            <a:r>
              <a:rPr lang="en-US" sz="1100" b="1" spc="100" kern="0" dirty="0">
                <a:solidFill>
                  <a:srgbClr val="FFFFFF"/>
                </a:solidFill>
              </a:rPr>
              <a:t>CHECK</a:t>
            </a:r>
            <a:endParaRPr lang="en-US" sz="1100" dirty="0"/>
          </a:p>
        </p:txBody>
      </p:sp>
      <p:sp>
        <p:nvSpPr>
          <p:cNvPr id="5" name="Text 3"/>
          <p:cNvSpPr txBox="1"/>
          <p:nvPr/>
        </p:nvSpPr>
        <p:spPr>
          <a:xfrm>
            <a:off x="548640" y="1280160"/>
            <a:ext cx="10881360" cy="411480"/>
          </a:xfrm>
          <a:prstGeom prst="rect">
            <a:avLst/>
          </a:prstGeom>
          <a:noFill/>
          <a:ln/>
        </p:spPr>
        <p:txBody>
          <a:bodyPr wrap="square" lIns="0" tIns="0" rIns="0" bIns="0" rtlCol="0" anchor="ctr"/>
          <a:lstStyle/>
          <a:p>
            <a:pPr indent="0" marL="0">
              <a:buNone/>
            </a:pPr>
            <a:r>
              <a:rPr lang="en-US" sz="1600" i="1" dirty="0">
                <a:solidFill>
                  <a:srgbClr val="5B6574"/>
                </a:solidFill>
              </a:rPr>
              <a:t>Mini whiteboards. One answer each, then we check.</a:t>
            </a:r>
            <a:endParaRPr lang="en-US" sz="1600" dirty="0"/>
          </a:p>
        </p:txBody>
      </p:sp>
      <p:sp>
        <p:nvSpPr>
          <p:cNvPr id="6" name="Shape 4"/>
          <p:cNvSpPr/>
          <p:nvPr/>
        </p:nvSpPr>
        <p:spPr>
          <a:xfrm>
            <a:off x="548640" y="1783080"/>
            <a:ext cx="10881360" cy="713232"/>
          </a:xfrm>
          <a:prstGeom prst="roundRect">
            <a:avLst>
              <a:gd name="adj" fmla="val 10256"/>
            </a:avLst>
          </a:prstGeom>
          <a:solidFill>
            <a:srgbClr val="FFFFFF"/>
          </a:solidFill>
          <a:ln w="12700">
            <a:solidFill>
              <a:srgbClr val="D5DBE3"/>
            </a:solidFill>
            <a:prstDash val="solid"/>
          </a:ln>
        </p:spPr>
      </p:sp>
      <p:sp>
        <p:nvSpPr>
          <p:cNvPr id="7" name="Text 5"/>
          <p:cNvSpPr txBox="1"/>
          <p:nvPr/>
        </p:nvSpPr>
        <p:spPr>
          <a:xfrm>
            <a:off x="731520" y="1783080"/>
            <a:ext cx="10515600" cy="713232"/>
          </a:xfrm>
          <a:prstGeom prst="rect">
            <a:avLst/>
          </a:prstGeom>
          <a:noFill/>
          <a:ln/>
        </p:spPr>
        <p:txBody>
          <a:bodyPr wrap="square" lIns="0" tIns="0" rIns="0" bIns="0" rtlCol="0" anchor="ctr"/>
          <a:lstStyle/>
          <a:p>
            <a:pPr indent="0" marL="0">
              <a:buNone/>
            </a:pPr>
            <a:r>
              <a:rPr lang="en-US" sz="2000" b="1" dirty="0">
                <a:solidFill>
                  <a:srgbClr val="7B3A8E"/>
                </a:solidFill>
              </a:rPr>
              <a:t>Q1  </a:t>
            </a:r>
            <a:pPr indent="0" marL="0">
              <a:buNone/>
            </a:pPr>
            <a:r>
              <a:rPr lang="en-US" sz="2000" dirty="0">
                <a:solidFill>
                  <a:srgbClr val="141B26"/>
                </a:solidFill>
              </a:rPr>
              <a:t>Name the two reactants of photosynthesis.</a:t>
            </a:r>
            <a:endParaRPr lang="en-US" sz="2000" dirty="0"/>
          </a:p>
        </p:txBody>
      </p:sp>
      <p:sp>
        <p:nvSpPr>
          <p:cNvPr id="8" name="Shape 6"/>
          <p:cNvSpPr/>
          <p:nvPr/>
        </p:nvSpPr>
        <p:spPr>
          <a:xfrm>
            <a:off x="548640" y="2606040"/>
            <a:ext cx="10881360" cy="713232"/>
          </a:xfrm>
          <a:prstGeom prst="roundRect">
            <a:avLst>
              <a:gd name="adj" fmla="val 10256"/>
            </a:avLst>
          </a:prstGeom>
          <a:solidFill>
            <a:srgbClr val="FFFFFF"/>
          </a:solidFill>
          <a:ln w="12700">
            <a:solidFill>
              <a:srgbClr val="D5DBE3"/>
            </a:solidFill>
            <a:prstDash val="solid"/>
          </a:ln>
        </p:spPr>
      </p:sp>
      <p:sp>
        <p:nvSpPr>
          <p:cNvPr id="9" name="Text 7"/>
          <p:cNvSpPr txBox="1"/>
          <p:nvPr/>
        </p:nvSpPr>
        <p:spPr>
          <a:xfrm>
            <a:off x="731520" y="2606040"/>
            <a:ext cx="10515600" cy="713232"/>
          </a:xfrm>
          <a:prstGeom prst="rect">
            <a:avLst/>
          </a:prstGeom>
          <a:noFill/>
          <a:ln/>
        </p:spPr>
        <p:txBody>
          <a:bodyPr wrap="square" lIns="0" tIns="0" rIns="0" bIns="0" rtlCol="0" anchor="ctr"/>
          <a:lstStyle/>
          <a:p>
            <a:pPr indent="0" marL="0">
              <a:buNone/>
            </a:pPr>
            <a:r>
              <a:rPr lang="en-US" sz="2000" b="1" dirty="0">
                <a:solidFill>
                  <a:srgbClr val="7B3A8E"/>
                </a:solidFill>
              </a:rPr>
              <a:t>Q2  </a:t>
            </a:r>
            <a:pPr indent="0" marL="0">
              <a:buNone/>
            </a:pPr>
            <a:r>
              <a:rPr lang="en-US" sz="2000" dirty="0">
                <a:solidFill>
                  <a:srgbClr val="141B26"/>
                </a:solidFill>
              </a:rPr>
              <a:t>Where in a plant cell does photosynthesis happen?</a:t>
            </a:r>
            <a:endParaRPr lang="en-US" sz="2000" dirty="0"/>
          </a:p>
        </p:txBody>
      </p:sp>
      <p:sp>
        <p:nvSpPr>
          <p:cNvPr id="10" name="Shape 8"/>
          <p:cNvSpPr/>
          <p:nvPr/>
        </p:nvSpPr>
        <p:spPr>
          <a:xfrm>
            <a:off x="548640" y="3429000"/>
            <a:ext cx="10881360" cy="713232"/>
          </a:xfrm>
          <a:prstGeom prst="roundRect">
            <a:avLst>
              <a:gd name="adj" fmla="val 10256"/>
            </a:avLst>
          </a:prstGeom>
          <a:solidFill>
            <a:srgbClr val="FFFFFF"/>
          </a:solidFill>
          <a:ln w="12700">
            <a:solidFill>
              <a:srgbClr val="D5DBE3"/>
            </a:solidFill>
            <a:prstDash val="solid"/>
          </a:ln>
        </p:spPr>
      </p:sp>
      <p:sp>
        <p:nvSpPr>
          <p:cNvPr id="11" name="Text 9"/>
          <p:cNvSpPr txBox="1"/>
          <p:nvPr/>
        </p:nvSpPr>
        <p:spPr>
          <a:xfrm>
            <a:off x="731520" y="3429000"/>
            <a:ext cx="10515600" cy="713232"/>
          </a:xfrm>
          <a:prstGeom prst="rect">
            <a:avLst/>
          </a:prstGeom>
          <a:noFill/>
          <a:ln/>
        </p:spPr>
        <p:txBody>
          <a:bodyPr wrap="square" lIns="0" tIns="0" rIns="0" bIns="0" rtlCol="0" anchor="ctr"/>
          <a:lstStyle/>
          <a:p>
            <a:pPr indent="0" marL="0">
              <a:buNone/>
            </a:pPr>
            <a:r>
              <a:rPr lang="en-US" sz="2000" b="1" dirty="0">
                <a:solidFill>
                  <a:srgbClr val="7B3A8E"/>
                </a:solidFill>
              </a:rPr>
              <a:t>Q3  </a:t>
            </a:r>
            <a:pPr indent="0" marL="0">
              <a:buNone/>
            </a:pPr>
            <a:r>
              <a:rPr lang="en-US" sz="2000" dirty="0">
                <a:solidFill>
                  <a:srgbClr val="141B26"/>
                </a:solidFill>
              </a:rPr>
              <a:t>Does respiration happen in the light, in the dark, or both?</a:t>
            </a:r>
            <a:endParaRPr lang="en-US" sz="2000" dirty="0"/>
          </a:p>
        </p:txBody>
      </p:sp>
      <p:sp>
        <p:nvSpPr>
          <p:cNvPr id="12" name="Shape 10"/>
          <p:cNvSpPr/>
          <p:nvPr/>
        </p:nvSpPr>
        <p:spPr>
          <a:xfrm>
            <a:off x="548640" y="4251960"/>
            <a:ext cx="10881360" cy="713232"/>
          </a:xfrm>
          <a:prstGeom prst="roundRect">
            <a:avLst>
              <a:gd name="adj" fmla="val 10256"/>
            </a:avLst>
          </a:prstGeom>
          <a:solidFill>
            <a:srgbClr val="FFFFFF"/>
          </a:solidFill>
          <a:ln w="12700">
            <a:solidFill>
              <a:srgbClr val="D5DBE3"/>
            </a:solidFill>
            <a:prstDash val="solid"/>
          </a:ln>
        </p:spPr>
      </p:sp>
      <p:sp>
        <p:nvSpPr>
          <p:cNvPr id="13" name="Text 11"/>
          <p:cNvSpPr txBox="1"/>
          <p:nvPr/>
        </p:nvSpPr>
        <p:spPr>
          <a:xfrm>
            <a:off x="731520" y="4251960"/>
            <a:ext cx="10515600" cy="713232"/>
          </a:xfrm>
          <a:prstGeom prst="rect">
            <a:avLst/>
          </a:prstGeom>
          <a:noFill/>
          <a:ln/>
        </p:spPr>
        <p:txBody>
          <a:bodyPr wrap="square" lIns="0" tIns="0" rIns="0" bIns="0" rtlCol="0" anchor="ctr"/>
          <a:lstStyle/>
          <a:p>
            <a:pPr indent="0" marL="0">
              <a:buNone/>
            </a:pPr>
            <a:r>
              <a:rPr lang="en-US" sz="2000" b="1" dirty="0">
                <a:solidFill>
                  <a:srgbClr val="7B3A8E"/>
                </a:solidFill>
              </a:rPr>
              <a:t>Q4  </a:t>
            </a:r>
            <a:pPr indent="0" marL="0">
              <a:buNone/>
            </a:pPr>
            <a:r>
              <a:rPr lang="en-US" sz="2000" dirty="0">
                <a:solidFill>
                  <a:srgbClr val="141B26"/>
                </a:solidFill>
              </a:rPr>
              <a:t>A plant in a dim room grows slowly. Name the limiting factor.</a:t>
            </a:r>
            <a:endParaRPr lang="en-US" sz="2000" dirty="0"/>
          </a:p>
        </p:txBody>
      </p:sp>
      <p:sp>
        <p:nvSpPr>
          <p:cNvPr id="14" name="Shape 12"/>
          <p:cNvSpPr/>
          <p:nvPr/>
        </p:nvSpPr>
        <p:spPr>
          <a:xfrm>
            <a:off x="548640" y="5074920"/>
            <a:ext cx="10881360" cy="713232"/>
          </a:xfrm>
          <a:prstGeom prst="roundRect">
            <a:avLst>
              <a:gd name="adj" fmla="val 10256"/>
            </a:avLst>
          </a:prstGeom>
          <a:solidFill>
            <a:srgbClr val="FFFFFF"/>
          </a:solidFill>
          <a:ln w="12700">
            <a:solidFill>
              <a:srgbClr val="D5DBE3"/>
            </a:solidFill>
            <a:prstDash val="solid"/>
          </a:ln>
        </p:spPr>
      </p:sp>
      <p:sp>
        <p:nvSpPr>
          <p:cNvPr id="15" name="Text 13"/>
          <p:cNvSpPr txBox="1"/>
          <p:nvPr/>
        </p:nvSpPr>
        <p:spPr>
          <a:xfrm>
            <a:off x="731520" y="5074920"/>
            <a:ext cx="10515600" cy="713232"/>
          </a:xfrm>
          <a:prstGeom prst="rect">
            <a:avLst/>
          </a:prstGeom>
          <a:noFill/>
          <a:ln/>
        </p:spPr>
        <p:txBody>
          <a:bodyPr wrap="square" lIns="0" tIns="0" rIns="0" bIns="0" rtlCol="0" anchor="ctr"/>
          <a:lstStyle/>
          <a:p>
            <a:pPr indent="0" marL="0">
              <a:buNone/>
            </a:pPr>
            <a:r>
              <a:rPr lang="en-US" sz="2000" b="1" dirty="0">
                <a:solidFill>
                  <a:srgbClr val="7B3A8E"/>
                </a:solidFill>
              </a:rPr>
              <a:t>Q5  </a:t>
            </a:r>
            <a:pPr indent="0" marL="0">
              <a:buNone/>
            </a:pPr>
            <a:r>
              <a:rPr lang="en-US" sz="2000" dirty="0">
                <a:solidFill>
                  <a:srgbClr val="141B26"/>
                </a:solidFill>
              </a:rPr>
              <a:t>Which tissue carries sugar solution around a plant?</a:t>
            </a:r>
            <a:endParaRPr lang="en-US" sz="2000" dirty="0"/>
          </a:p>
        </p:txBody>
      </p:sp>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lIns="0" tIns="0" rIns="0" bIns="0" rtlCol="0" anchor="ctr"/>
          <a:lstStyle/>
          <a:p>
            <a:pPr indent="0" marL="0">
              <a:buNone/>
            </a:pPr>
            <a:r>
              <a:rPr lang="en-US" sz="3000" b="1" dirty="0">
                <a:solidFill>
                  <a:srgbClr val="0F2A5F"/>
                </a:solidFill>
              </a:rPr>
              <a:t>Your turn</a:t>
            </a:r>
            <a:endParaRPr lang="en-US" sz="3000" dirty="0"/>
          </a:p>
        </p:txBody>
      </p:sp>
      <p:sp>
        <p:nvSpPr>
          <p:cNvPr id="3" name="Shape 1"/>
          <p:cNvSpPr/>
          <p:nvPr/>
        </p:nvSpPr>
        <p:spPr>
          <a:xfrm>
            <a:off x="10454335" y="411480"/>
            <a:ext cx="1188720" cy="384048"/>
          </a:xfrm>
          <a:prstGeom prst="roundRect">
            <a:avLst>
              <a:gd name="adj" fmla="val 50000"/>
            </a:avLst>
          </a:prstGeom>
          <a:solidFill>
            <a:srgbClr val="7B3A8E"/>
          </a:solidFill>
          <a:ln w="12700">
            <a:solidFill>
              <a:srgbClr val="7B3A8E"/>
            </a:solidFill>
            <a:prstDash val="solid"/>
          </a:ln>
        </p:spPr>
      </p:sp>
      <p:sp>
        <p:nvSpPr>
          <p:cNvPr id="4" name="Text 2"/>
          <p:cNvSpPr txBox="1"/>
          <p:nvPr/>
        </p:nvSpPr>
        <p:spPr>
          <a:xfrm>
            <a:off x="10454335" y="411480"/>
            <a:ext cx="1188720" cy="384048"/>
          </a:xfrm>
          <a:prstGeom prst="rect">
            <a:avLst/>
          </a:prstGeom>
          <a:noFill/>
          <a:ln/>
        </p:spPr>
        <p:txBody>
          <a:bodyPr wrap="square" lIns="0" tIns="0" rIns="0" bIns="0" rtlCol="0" anchor="ctr"/>
          <a:lstStyle/>
          <a:p>
            <a:pPr algn="ctr" indent="0" marL="0">
              <a:buNone/>
            </a:pPr>
            <a:r>
              <a:rPr lang="en-US" sz="1100" b="1" spc="100" kern="0" dirty="0">
                <a:solidFill>
                  <a:srgbClr val="FFFFFF"/>
                </a:solidFill>
              </a:rPr>
              <a:t>DO</a:t>
            </a:r>
            <a:endParaRPr lang="en-US" sz="1100" dirty="0"/>
          </a:p>
        </p:txBody>
      </p:sp>
      <p:sp>
        <p:nvSpPr>
          <p:cNvPr id="5" name="Shape 3"/>
          <p:cNvSpPr/>
          <p:nvPr/>
        </p:nvSpPr>
        <p:spPr>
          <a:xfrm>
            <a:off x="10682935" y="914400"/>
            <a:ext cx="914400" cy="914400"/>
          </a:xfrm>
          <a:prstGeom prst="ellipse">
            <a:avLst/>
          </a:prstGeom>
          <a:solidFill>
            <a:srgbClr val="FFFFFF"/>
          </a:solidFill>
          <a:ln w="25400">
            <a:solidFill>
              <a:srgbClr val="7B3A8E"/>
            </a:solidFill>
            <a:prstDash val="solid"/>
          </a:ln>
        </p:spPr>
      </p:sp>
      <p:sp>
        <p:nvSpPr>
          <p:cNvPr id="6" name="Text 4"/>
          <p:cNvSpPr txBox="1"/>
          <p:nvPr/>
        </p:nvSpPr>
        <p:spPr>
          <a:xfrm>
            <a:off x="10682935" y="914400"/>
            <a:ext cx="914400" cy="914400"/>
          </a:xfrm>
          <a:prstGeom prst="rect">
            <a:avLst/>
          </a:prstGeom>
          <a:noFill/>
          <a:ln/>
        </p:spPr>
        <p:txBody>
          <a:bodyPr wrap="square" lIns="0" tIns="0" rIns="0" bIns="0" rtlCol="0" anchor="ctr"/>
          <a:lstStyle/>
          <a:p>
            <a:pPr algn="ctr" indent="0" marL="0">
              <a:buNone/>
            </a:pPr>
            <a:r>
              <a:rPr lang="en-US" sz="2200" b="1" dirty="0">
                <a:solidFill>
                  <a:srgbClr val="7B3A8E"/>
                </a:solidFill>
              </a:rPr>
              <a:t>14</a:t>
            </a:r>
            <a:endParaRPr lang="en-US" sz="2200" dirty="0"/>
          </a:p>
          <a:p>
            <a:pPr algn="ctr" indent="0" marL="0">
              <a:buNone/>
            </a:pPr>
            <a:r>
              <a:rPr lang="en-US" sz="1000" dirty="0">
                <a:solidFill>
                  <a:srgbClr val="5B6574"/>
                </a:solidFill>
              </a:rPr>
              <a:t>min</a:t>
            </a:r>
            <a:endParaRPr lang="en-US" sz="2200" dirty="0"/>
          </a:p>
        </p:txBody>
      </p:sp>
      <p:sp>
        <p:nvSpPr>
          <p:cNvPr id="7" name="Shape 5"/>
          <p:cNvSpPr/>
          <p:nvPr/>
        </p:nvSpPr>
        <p:spPr>
          <a:xfrm>
            <a:off x="548640" y="1417320"/>
            <a:ext cx="457200" cy="457200"/>
          </a:xfrm>
          <a:prstGeom prst="ellipse">
            <a:avLst/>
          </a:prstGeom>
          <a:solidFill>
            <a:srgbClr val="7B3A8E"/>
          </a:solidFill>
          <a:ln w="12700">
            <a:solidFill>
              <a:srgbClr val="7B3A8E"/>
            </a:solidFill>
            <a:prstDash val="solid"/>
          </a:ln>
        </p:spPr>
      </p:sp>
      <p:sp>
        <p:nvSpPr>
          <p:cNvPr id="8" name="Text 6"/>
          <p:cNvSpPr txBox="1"/>
          <p:nvPr/>
        </p:nvSpPr>
        <p:spPr>
          <a:xfrm>
            <a:off x="548640" y="141732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rPr>
              <a:t>1</a:t>
            </a:r>
            <a:endParaRPr lang="en-US" sz="1500" dirty="0"/>
          </a:p>
        </p:txBody>
      </p:sp>
      <p:sp>
        <p:nvSpPr>
          <p:cNvPr id="9" name="Text 7"/>
          <p:cNvSpPr txBox="1"/>
          <p:nvPr/>
        </p:nvSpPr>
        <p:spPr>
          <a:xfrm>
            <a:off x="1188720" y="1371600"/>
            <a:ext cx="9418320" cy="914400"/>
          </a:xfrm>
          <a:prstGeom prst="rect">
            <a:avLst/>
          </a:prstGeom>
          <a:noFill/>
          <a:ln/>
        </p:spPr>
        <p:txBody>
          <a:bodyPr wrap="square" lIns="0" tIns="0" rIns="0" bIns="0" rtlCol="0" anchor="t"/>
          <a:lstStyle/>
          <a:p>
            <a:pPr indent="0" marL="0">
              <a:buNone/>
            </a:pPr>
            <a:r>
              <a:rPr lang="en-US" sz="2000" dirty="0">
                <a:solidFill>
                  <a:srgbClr val="141B26"/>
                </a:solidFill>
              </a:rPr>
              <a:t>Core: complete both word equations, sort the statements, match the key words, then do the van Helmont calculations.</a:t>
            </a:r>
            <a:endParaRPr lang="en-US" sz="2000" dirty="0"/>
          </a:p>
        </p:txBody>
      </p:sp>
      <p:sp>
        <p:nvSpPr>
          <p:cNvPr id="10" name="Shape 8"/>
          <p:cNvSpPr/>
          <p:nvPr/>
        </p:nvSpPr>
        <p:spPr>
          <a:xfrm>
            <a:off x="548640" y="2331720"/>
            <a:ext cx="457200" cy="457200"/>
          </a:xfrm>
          <a:prstGeom prst="ellipse">
            <a:avLst/>
          </a:prstGeom>
          <a:solidFill>
            <a:srgbClr val="7B3A8E"/>
          </a:solidFill>
          <a:ln w="12700">
            <a:solidFill>
              <a:srgbClr val="7B3A8E"/>
            </a:solidFill>
            <a:prstDash val="solid"/>
          </a:ln>
        </p:spPr>
      </p:sp>
      <p:sp>
        <p:nvSpPr>
          <p:cNvPr id="11" name="Text 9"/>
          <p:cNvSpPr txBox="1"/>
          <p:nvPr/>
        </p:nvSpPr>
        <p:spPr>
          <a:xfrm>
            <a:off x="548640" y="233172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rPr>
              <a:t>2</a:t>
            </a:r>
            <a:endParaRPr lang="en-US" sz="1500" dirty="0"/>
          </a:p>
        </p:txBody>
      </p:sp>
      <p:sp>
        <p:nvSpPr>
          <p:cNvPr id="12" name="Text 10"/>
          <p:cNvSpPr txBox="1"/>
          <p:nvPr/>
        </p:nvSpPr>
        <p:spPr>
          <a:xfrm>
            <a:off x="1188720" y="2286000"/>
            <a:ext cx="9418320" cy="914400"/>
          </a:xfrm>
          <a:prstGeom prst="rect">
            <a:avLst/>
          </a:prstGeom>
          <a:noFill/>
          <a:ln/>
        </p:spPr>
        <p:txBody>
          <a:bodyPr wrap="square" lIns="0" tIns="0" rIns="0" bIns="0" rtlCol="0" anchor="t"/>
          <a:lstStyle/>
          <a:p>
            <a:pPr indent="0" marL="0">
              <a:buNone/>
            </a:pPr>
            <a:r>
              <a:rPr lang="en-US" sz="2000" dirty="0">
                <a:solidFill>
                  <a:srgbClr val="141B26"/>
                </a:solidFill>
              </a:rPr>
              <a:t>Stretch: read the pondweed graph, explain the limiting factors and the flooded roots.</a:t>
            </a:r>
            <a:endParaRPr lang="en-US" sz="2000" dirty="0"/>
          </a:p>
        </p:txBody>
      </p:sp>
      <p:sp>
        <p:nvSpPr>
          <p:cNvPr id="13" name="Shape 11"/>
          <p:cNvSpPr/>
          <p:nvPr/>
        </p:nvSpPr>
        <p:spPr>
          <a:xfrm>
            <a:off x="548640" y="3246120"/>
            <a:ext cx="457200" cy="457200"/>
          </a:xfrm>
          <a:prstGeom prst="ellipse">
            <a:avLst/>
          </a:prstGeom>
          <a:solidFill>
            <a:srgbClr val="7B3A8E"/>
          </a:solidFill>
          <a:ln w="12700">
            <a:solidFill>
              <a:srgbClr val="7B3A8E"/>
            </a:solidFill>
            <a:prstDash val="solid"/>
          </a:ln>
        </p:spPr>
      </p:sp>
      <p:sp>
        <p:nvSpPr>
          <p:cNvPr id="14" name="Text 12"/>
          <p:cNvSpPr txBox="1"/>
          <p:nvPr/>
        </p:nvSpPr>
        <p:spPr>
          <a:xfrm>
            <a:off x="548640" y="324612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rPr>
              <a:t>3</a:t>
            </a:r>
            <a:endParaRPr lang="en-US" sz="1500" dirty="0"/>
          </a:p>
        </p:txBody>
      </p:sp>
      <p:sp>
        <p:nvSpPr>
          <p:cNvPr id="15" name="Text 13"/>
          <p:cNvSpPr txBox="1"/>
          <p:nvPr/>
        </p:nvSpPr>
        <p:spPr>
          <a:xfrm>
            <a:off x="1188720" y="3200400"/>
            <a:ext cx="9418320" cy="914400"/>
          </a:xfrm>
          <a:prstGeom prst="rect">
            <a:avLst/>
          </a:prstGeom>
          <a:noFill/>
          <a:ln/>
        </p:spPr>
        <p:txBody>
          <a:bodyPr wrap="square" lIns="0" tIns="0" rIns="0" bIns="0" rtlCol="0" anchor="t"/>
          <a:lstStyle/>
          <a:p>
            <a:pPr indent="0" marL="0">
              <a:buNone/>
            </a:pPr>
            <a:r>
              <a:rPr lang="en-US" sz="2000" dirty="0">
                <a:solidFill>
                  <a:srgbClr val="141B26"/>
                </a:solidFill>
              </a:rPr>
              <a:t>Challenge: the energy flow chart and the water claim.</a:t>
            </a:r>
            <a:endParaRPr lang="en-US" sz="2000" dirty="0"/>
          </a:p>
        </p:txBody>
      </p:sp>
      <p:sp>
        <p:nvSpPr>
          <p:cNvPr id="16" name="Shape 14"/>
          <p:cNvSpPr/>
          <p:nvPr/>
        </p:nvSpPr>
        <p:spPr>
          <a:xfrm>
            <a:off x="548640" y="4160520"/>
            <a:ext cx="457200" cy="457200"/>
          </a:xfrm>
          <a:prstGeom prst="ellipse">
            <a:avLst/>
          </a:prstGeom>
          <a:solidFill>
            <a:srgbClr val="7B3A8E"/>
          </a:solidFill>
          <a:ln w="12700">
            <a:solidFill>
              <a:srgbClr val="7B3A8E"/>
            </a:solidFill>
            <a:prstDash val="solid"/>
          </a:ln>
        </p:spPr>
      </p:sp>
      <p:sp>
        <p:nvSpPr>
          <p:cNvPr id="17" name="Text 15"/>
          <p:cNvSpPr txBox="1"/>
          <p:nvPr/>
        </p:nvSpPr>
        <p:spPr>
          <a:xfrm>
            <a:off x="548640" y="416052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rPr>
              <a:t>4</a:t>
            </a:r>
            <a:endParaRPr lang="en-US" sz="1500" dirty="0"/>
          </a:p>
        </p:txBody>
      </p:sp>
      <p:sp>
        <p:nvSpPr>
          <p:cNvPr id="18" name="Text 16"/>
          <p:cNvSpPr txBox="1"/>
          <p:nvPr/>
        </p:nvSpPr>
        <p:spPr>
          <a:xfrm>
            <a:off x="1188720" y="4114800"/>
            <a:ext cx="9418320" cy="914400"/>
          </a:xfrm>
          <a:prstGeom prst="rect">
            <a:avLst/>
          </a:prstGeom>
          <a:noFill/>
          <a:ln/>
        </p:spPr>
        <p:txBody>
          <a:bodyPr wrap="square" lIns="0" tIns="0" rIns="0" bIns="0" rtlCol="0" anchor="t"/>
          <a:lstStyle/>
          <a:p>
            <a:pPr indent="0" marL="0">
              <a:buNone/>
            </a:pPr>
            <a:r>
              <a:rPr lang="en-US" sz="2000" dirty="0">
                <a:solidFill>
                  <a:srgbClr val="141B26"/>
                </a:solidFill>
              </a:rPr>
              <a:t>Finished? Write a question for the class in the My thinking box.</a:t>
            </a:r>
            <a:endParaRPr lang="en-US" sz="2000" dirty="0"/>
          </a:p>
        </p:txBody>
      </p:sp>
      <p:sp>
        <p:nvSpPr>
          <p:cNvPr id="19" name="Text 17"/>
          <p:cNvSpPr txBox="1"/>
          <p:nvPr/>
        </p:nvSpPr>
        <p:spPr>
          <a:xfrm>
            <a:off x="548640" y="5577840"/>
            <a:ext cx="10881360" cy="411480"/>
          </a:xfrm>
          <a:prstGeom prst="rect">
            <a:avLst/>
          </a:prstGeom>
          <a:noFill/>
          <a:ln/>
        </p:spPr>
        <p:txBody>
          <a:bodyPr wrap="square" lIns="0" tIns="0" rIns="0" bIns="0" rtlCol="0" anchor="ctr"/>
          <a:lstStyle/>
          <a:p>
            <a:pPr indent="0" marL="0">
              <a:buNone/>
            </a:pPr>
            <a:r>
              <a:rPr lang="en-US" sz="1500" i="1" dirty="0">
                <a:solidFill>
                  <a:srgbClr val="5B6574"/>
                </a:solidFill>
              </a:rPr>
              <a:t>Use the key words box. Check your equations with a partner before Stretch.</a:t>
            </a:r>
            <a:endParaRPr lang="en-US" sz="1500" dirty="0"/>
          </a:p>
        </p:txBody>
      </p:sp>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lIns="0" tIns="0" rIns="0" bIns="0" rtlCol="0" anchor="ctr"/>
          <a:lstStyle/>
          <a:p>
            <a:pPr indent="0" marL="0">
              <a:buNone/>
            </a:pPr>
            <a:r>
              <a:rPr lang="en-US" sz="3000" b="1" dirty="0">
                <a:solidFill>
                  <a:srgbClr val="0F2A5F"/>
                </a:solidFill>
              </a:rPr>
              <a:t>The flooded field</a:t>
            </a:r>
            <a:endParaRPr lang="en-US" sz="3000" dirty="0"/>
          </a:p>
        </p:txBody>
      </p:sp>
      <p:sp>
        <p:nvSpPr>
          <p:cNvPr id="3" name="Shape 1"/>
          <p:cNvSpPr/>
          <p:nvPr/>
        </p:nvSpPr>
        <p:spPr>
          <a:xfrm>
            <a:off x="8698687" y="411480"/>
            <a:ext cx="2944368" cy="384048"/>
          </a:xfrm>
          <a:prstGeom prst="roundRect">
            <a:avLst>
              <a:gd name="adj" fmla="val 50000"/>
            </a:avLst>
          </a:prstGeom>
          <a:solidFill>
            <a:srgbClr val="7B3A8E"/>
          </a:solidFill>
          <a:ln w="12700">
            <a:solidFill>
              <a:srgbClr val="7B3A8E"/>
            </a:solidFill>
            <a:prstDash val="solid"/>
          </a:ln>
        </p:spPr>
      </p:sp>
      <p:sp>
        <p:nvSpPr>
          <p:cNvPr id="4" name="Text 2"/>
          <p:cNvSpPr txBox="1"/>
          <p:nvPr/>
        </p:nvSpPr>
        <p:spPr>
          <a:xfrm>
            <a:off x="8698687" y="411480"/>
            <a:ext cx="2944368" cy="384048"/>
          </a:xfrm>
          <a:prstGeom prst="rect">
            <a:avLst/>
          </a:prstGeom>
          <a:noFill/>
          <a:ln/>
        </p:spPr>
        <p:txBody>
          <a:bodyPr wrap="square" lIns="0" tIns="0" rIns="0" bIns="0" rtlCol="0" anchor="ctr"/>
          <a:lstStyle/>
          <a:p>
            <a:pPr algn="ctr" indent="0" marL="0">
              <a:buNone/>
            </a:pPr>
            <a:r>
              <a:rPr lang="en-US" sz="1100" b="1" spc="100" kern="0" dirty="0">
                <a:solidFill>
                  <a:srgbClr val="FFFFFF"/>
                </a:solidFill>
              </a:rPr>
              <a:t>THINK AND REFLECT</a:t>
            </a:r>
            <a:endParaRPr lang="en-US" sz="1100" dirty="0"/>
          </a:p>
        </p:txBody>
      </p:sp>
      <p:sp>
        <p:nvSpPr>
          <p:cNvPr id="5" name="Text 3"/>
          <p:cNvSpPr txBox="1"/>
          <p:nvPr/>
        </p:nvSpPr>
        <p:spPr>
          <a:xfrm>
            <a:off x="548640" y="1325880"/>
            <a:ext cx="10881360" cy="1920240"/>
          </a:xfrm>
          <a:prstGeom prst="rect">
            <a:avLst/>
          </a:prstGeom>
          <a:noFill/>
          <a:ln/>
        </p:spPr>
        <p:txBody>
          <a:bodyPr wrap="square" lIns="0" tIns="0" rIns="0" bIns="0" rtlCol="0" anchor="t"/>
          <a:lstStyle/>
          <a:p>
            <a:pPr indent="0" marL="0">
              <a:buNone/>
            </a:pPr>
            <a:r>
              <a:rPr lang="en-US" sz="2600" b="1" dirty="0">
                <a:solidFill>
                  <a:srgbClr val="0F2A5F"/>
                </a:solidFill>
              </a:rPr>
              <a:t>A farmer's wheat field floods for two weeks in spring. Explain why the wheat plants may die. Use the words roots, oxygen and respiration.</a:t>
            </a:r>
            <a:endParaRPr lang="en-US" sz="2600" dirty="0"/>
          </a:p>
        </p:txBody>
      </p:sp>
      <p:sp>
        <p:nvSpPr>
          <p:cNvPr id="6" name="Shape 4"/>
          <p:cNvSpPr/>
          <p:nvPr/>
        </p:nvSpPr>
        <p:spPr>
          <a:xfrm>
            <a:off x="548640" y="3383280"/>
            <a:ext cx="10881360" cy="2377440"/>
          </a:xfrm>
          <a:prstGeom prst="roundRect">
            <a:avLst>
              <a:gd name="adj" fmla="val 3846"/>
            </a:avLst>
          </a:prstGeom>
          <a:solidFill>
            <a:srgbClr val="FFFFFF"/>
          </a:solidFill>
          <a:ln w="12700">
            <a:solidFill>
              <a:srgbClr val="7B3A8E"/>
            </a:solidFill>
            <a:prstDash val="dash"/>
          </a:ln>
        </p:spPr>
      </p:sp>
      <p:sp>
        <p:nvSpPr>
          <p:cNvPr id="7" name="Text 5"/>
          <p:cNvSpPr txBox="1"/>
          <p:nvPr/>
        </p:nvSpPr>
        <p:spPr>
          <a:xfrm>
            <a:off x="777240" y="3520440"/>
            <a:ext cx="10424160" cy="2148840"/>
          </a:xfrm>
          <a:prstGeom prst="rect">
            <a:avLst/>
          </a:prstGeom>
          <a:noFill/>
          <a:ln/>
        </p:spPr>
        <p:txBody>
          <a:bodyPr wrap="square" lIns="0" tIns="0" rIns="0" bIns="0" rtlCol="0" anchor="t"/>
          <a:lstStyle/>
          <a:p>
            <a:pPr indent="0" marL="0">
              <a:spcAft>
                <a:spcPts val="600"/>
              </a:spcAft>
              <a:buNone/>
            </a:pPr>
            <a:r>
              <a:rPr lang="en-US" sz="1800" b="1" dirty="0">
                <a:solidFill>
                  <a:srgbClr val="7B3A8E"/>
                </a:solidFill>
              </a:rPr>
              <a:t>Sentence frames</a:t>
            </a:r>
            <a:endParaRPr lang="en-US" sz="1800" dirty="0"/>
          </a:p>
          <a:p>
            <a:pPr indent="0" marL="0">
              <a:spcAft>
                <a:spcPts val="600"/>
              </a:spcAft>
              <a:buNone/>
            </a:pPr>
            <a:r>
              <a:rPr lang="en-US" sz="1800" dirty="0">
                <a:solidFill>
                  <a:srgbClr val="141B26"/>
                </a:solidFill>
              </a:rPr>
              <a:t>Roots need ___ for ___.</a:t>
            </a:r>
            <a:endParaRPr lang="en-US" sz="1800" dirty="0"/>
          </a:p>
          <a:p>
            <a:pPr indent="0" marL="0">
              <a:spcAft>
                <a:spcPts val="600"/>
              </a:spcAft>
              <a:buNone/>
            </a:pPr>
            <a:r>
              <a:rPr lang="en-US" sz="1800" dirty="0">
                <a:solidFill>
                  <a:srgbClr val="141B26"/>
                </a:solidFill>
              </a:rPr>
              <a:t>When the soil is flooded, ___ because ___.</a:t>
            </a:r>
            <a:endParaRPr lang="en-US" sz="1800" dirty="0"/>
          </a:p>
          <a:p>
            <a:pPr indent="0" marL="0">
              <a:spcAft>
                <a:spcPts val="600"/>
              </a:spcAft>
              <a:buNone/>
            </a:pPr>
            <a:r>
              <a:rPr lang="en-US" sz="1800" dirty="0">
                <a:solidFill>
                  <a:srgbClr val="141B26"/>
                </a:solidFill>
              </a:rPr>
              <a:t>Without energy from respiration, the root cells ___.</a:t>
            </a:r>
            <a:endParaRPr lang="en-US" sz="1800" dirty="0"/>
          </a:p>
        </p:txBody>
      </p:sp>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lIns="0" tIns="0" rIns="0" bIns="0" rtlCol="0" anchor="ctr"/>
          <a:lstStyle/>
          <a:p>
            <a:pPr indent="0" marL="0">
              <a:buNone/>
            </a:pPr>
            <a:r>
              <a:rPr lang="en-US" sz="3000" b="1" dirty="0">
                <a:solidFill>
                  <a:srgbClr val="0F2A5F"/>
                </a:solidFill>
              </a:rPr>
              <a:t>Exit ticket</a:t>
            </a:r>
            <a:endParaRPr lang="en-US" sz="3000" dirty="0"/>
          </a:p>
        </p:txBody>
      </p:sp>
      <p:sp>
        <p:nvSpPr>
          <p:cNvPr id="3" name="Shape 1"/>
          <p:cNvSpPr/>
          <p:nvPr/>
        </p:nvSpPr>
        <p:spPr>
          <a:xfrm>
            <a:off x="9576511" y="411480"/>
            <a:ext cx="2066544" cy="384048"/>
          </a:xfrm>
          <a:prstGeom prst="roundRect">
            <a:avLst>
              <a:gd name="adj" fmla="val 50000"/>
            </a:avLst>
          </a:prstGeom>
          <a:solidFill>
            <a:srgbClr val="7B3A8E"/>
          </a:solidFill>
          <a:ln w="12700">
            <a:solidFill>
              <a:srgbClr val="7B3A8E"/>
            </a:solidFill>
            <a:prstDash val="solid"/>
          </a:ln>
        </p:spPr>
      </p:sp>
      <p:sp>
        <p:nvSpPr>
          <p:cNvPr id="4" name="Text 2"/>
          <p:cNvSpPr txBox="1"/>
          <p:nvPr/>
        </p:nvSpPr>
        <p:spPr>
          <a:xfrm>
            <a:off x="9576511" y="411480"/>
            <a:ext cx="2066544" cy="384048"/>
          </a:xfrm>
          <a:prstGeom prst="rect">
            <a:avLst/>
          </a:prstGeom>
          <a:noFill/>
          <a:ln/>
        </p:spPr>
        <p:txBody>
          <a:bodyPr wrap="square" lIns="0" tIns="0" rIns="0" bIns="0" rtlCol="0" anchor="ctr"/>
          <a:lstStyle/>
          <a:p>
            <a:pPr algn="ctr" indent="0" marL="0">
              <a:buNone/>
            </a:pPr>
            <a:r>
              <a:rPr lang="en-US" sz="1100" b="1" spc="100" kern="0" dirty="0">
                <a:solidFill>
                  <a:srgbClr val="FFFFFF"/>
                </a:solidFill>
              </a:rPr>
              <a:t>EXIT TICKET</a:t>
            </a:r>
            <a:endParaRPr lang="en-US" sz="1100" dirty="0"/>
          </a:p>
        </p:txBody>
      </p:sp>
      <p:sp>
        <p:nvSpPr>
          <p:cNvPr id="5" name="Text 3"/>
          <p:cNvSpPr txBox="1"/>
          <p:nvPr/>
        </p:nvSpPr>
        <p:spPr>
          <a:xfrm>
            <a:off x="548640" y="1280160"/>
            <a:ext cx="10881360" cy="411480"/>
          </a:xfrm>
          <a:prstGeom prst="rect">
            <a:avLst/>
          </a:prstGeom>
          <a:noFill/>
          <a:ln/>
        </p:spPr>
        <p:txBody>
          <a:bodyPr wrap="square" lIns="0" tIns="0" rIns="0" bIns="0" rtlCol="0" anchor="ctr"/>
          <a:lstStyle/>
          <a:p>
            <a:pPr indent="0" marL="0">
              <a:buNone/>
            </a:pPr>
            <a:r>
              <a:rPr lang="en-US" sz="1600" i="1" dirty="0">
                <a:solidFill>
                  <a:srgbClr val="5B6574"/>
                </a:solidFill>
              </a:rPr>
              <a:t>On your worksheet exit ticket. Work alone. Hand it in as you leave.</a:t>
            </a:r>
            <a:endParaRPr lang="en-US" sz="1600" dirty="0"/>
          </a:p>
        </p:txBody>
      </p:sp>
      <p:sp>
        <p:nvSpPr>
          <p:cNvPr id="6" name="Text 4"/>
          <p:cNvSpPr txBox="1"/>
          <p:nvPr/>
        </p:nvSpPr>
        <p:spPr>
          <a:xfrm>
            <a:off x="548640" y="1828800"/>
            <a:ext cx="9692640" cy="1188720"/>
          </a:xfrm>
          <a:prstGeom prst="rect">
            <a:avLst/>
          </a:prstGeom>
          <a:noFill/>
          <a:ln/>
        </p:spPr>
        <p:txBody>
          <a:bodyPr wrap="square" lIns="0" tIns="0" rIns="0" bIns="0" rtlCol="0" anchor="t"/>
          <a:lstStyle/>
          <a:p>
            <a:pPr indent="0" marL="0">
              <a:buNone/>
            </a:pPr>
            <a:r>
              <a:rPr lang="en-US" sz="2200" b="1" dirty="0">
                <a:solidFill>
                  <a:srgbClr val="7B3A8E"/>
                </a:solidFill>
              </a:rPr>
              <a:t>1.  </a:t>
            </a:r>
            <a:pPr indent="0" marL="0">
              <a:buNone/>
            </a:pPr>
            <a:r>
              <a:rPr lang="en-US" sz="2200" dirty="0">
                <a:solidFill>
                  <a:srgbClr val="141B26"/>
                </a:solidFill>
              </a:rPr>
              <a:t>Write the word equation for photosynthesis.</a:t>
            </a:r>
            <a:endParaRPr lang="en-US" sz="2200" dirty="0"/>
          </a:p>
        </p:txBody>
      </p:sp>
      <p:sp>
        <p:nvSpPr>
          <p:cNvPr id="7" name="Text 5"/>
          <p:cNvSpPr txBox="1"/>
          <p:nvPr/>
        </p:nvSpPr>
        <p:spPr>
          <a:xfrm>
            <a:off x="548640" y="3017520"/>
            <a:ext cx="9692640" cy="1188720"/>
          </a:xfrm>
          <a:prstGeom prst="rect">
            <a:avLst/>
          </a:prstGeom>
          <a:noFill/>
          <a:ln/>
        </p:spPr>
        <p:txBody>
          <a:bodyPr wrap="square" lIns="0" tIns="0" rIns="0" bIns="0" rtlCol="0" anchor="t"/>
          <a:lstStyle/>
          <a:p>
            <a:pPr indent="0" marL="0">
              <a:buNone/>
            </a:pPr>
            <a:r>
              <a:rPr lang="en-US" sz="2200" b="1" dirty="0">
                <a:solidFill>
                  <a:srgbClr val="7B3A8E"/>
                </a:solidFill>
              </a:rPr>
              <a:t>2.  </a:t>
            </a:r>
            <a:pPr indent="0" marL="0">
              <a:buNone/>
            </a:pPr>
            <a:r>
              <a:rPr lang="en-US" sz="2200" dirty="0">
                <a:solidFill>
                  <a:srgbClr val="141B26"/>
                </a:solidFill>
              </a:rPr>
              <a:t>Where in a plant cell does photosynthesis happen?</a:t>
            </a:r>
            <a:endParaRPr lang="en-US" sz="2200" dirty="0"/>
          </a:p>
        </p:txBody>
      </p:sp>
      <p:sp>
        <p:nvSpPr>
          <p:cNvPr id="8" name="Text 6"/>
          <p:cNvSpPr txBox="1"/>
          <p:nvPr/>
        </p:nvSpPr>
        <p:spPr>
          <a:xfrm>
            <a:off x="548640" y="4206240"/>
            <a:ext cx="9692640" cy="1188720"/>
          </a:xfrm>
          <a:prstGeom prst="rect">
            <a:avLst/>
          </a:prstGeom>
          <a:noFill/>
          <a:ln/>
        </p:spPr>
        <p:txBody>
          <a:bodyPr wrap="square" lIns="0" tIns="0" rIns="0" bIns="0" rtlCol="0" anchor="t"/>
          <a:lstStyle/>
          <a:p>
            <a:pPr indent="0" marL="0">
              <a:buNone/>
            </a:pPr>
            <a:r>
              <a:rPr lang="en-US" sz="2200" b="1" dirty="0">
                <a:solidFill>
                  <a:srgbClr val="7B3A8E"/>
                </a:solidFill>
              </a:rPr>
              <a:t>3.  </a:t>
            </a:r>
            <a:pPr indent="0" marL="0">
              <a:buNone/>
            </a:pPr>
            <a:r>
              <a:rPr lang="en-US" sz="2200" dirty="0">
                <a:solidFill>
                  <a:srgbClr val="141B26"/>
                </a:solidFill>
              </a:rPr>
              <a:t>Why do plants in a field only photosynthesise during the day?</a:t>
            </a:r>
            <a:endParaRPr lang="en-US" sz="2200" dirty="0"/>
          </a:p>
        </p:txBody>
      </p:sp>
      <p:sp>
        <p:nvSpPr>
          <p:cNvPr id="9" name="Shape 7"/>
          <p:cNvSpPr/>
          <p:nvPr/>
        </p:nvSpPr>
        <p:spPr>
          <a:xfrm>
            <a:off x="10682935" y="914400"/>
            <a:ext cx="914400" cy="914400"/>
          </a:xfrm>
          <a:prstGeom prst="ellipse">
            <a:avLst/>
          </a:prstGeom>
          <a:solidFill>
            <a:srgbClr val="FFFFFF"/>
          </a:solidFill>
          <a:ln w="25400">
            <a:solidFill>
              <a:srgbClr val="7B3A8E"/>
            </a:solidFill>
            <a:prstDash val="solid"/>
          </a:ln>
        </p:spPr>
      </p:sp>
      <p:sp>
        <p:nvSpPr>
          <p:cNvPr id="10" name="Text 8"/>
          <p:cNvSpPr txBox="1"/>
          <p:nvPr/>
        </p:nvSpPr>
        <p:spPr>
          <a:xfrm>
            <a:off x="10682935" y="914400"/>
            <a:ext cx="914400" cy="914400"/>
          </a:xfrm>
          <a:prstGeom prst="rect">
            <a:avLst/>
          </a:prstGeom>
          <a:noFill/>
          <a:ln/>
        </p:spPr>
        <p:txBody>
          <a:bodyPr wrap="square" lIns="0" tIns="0" rIns="0" bIns="0" rtlCol="0" anchor="ctr"/>
          <a:lstStyle/>
          <a:p>
            <a:pPr algn="ctr" indent="0" marL="0">
              <a:buNone/>
            </a:pPr>
            <a:r>
              <a:rPr lang="en-US" sz="2200" b="1" dirty="0">
                <a:solidFill>
                  <a:srgbClr val="7B3A8E"/>
                </a:solidFill>
              </a:rPr>
              <a:t>4</a:t>
            </a:r>
            <a:endParaRPr lang="en-US" sz="2200" dirty="0"/>
          </a:p>
          <a:p>
            <a:pPr algn="ctr" indent="0" marL="0">
              <a:buNone/>
            </a:pPr>
            <a:r>
              <a:rPr lang="en-US" sz="1000" dirty="0">
                <a:solidFill>
                  <a:srgbClr val="5B6574"/>
                </a:solidFill>
              </a:rPr>
              <a:t>min</a:t>
            </a:r>
            <a:endParaRPr lang="en-US" sz="2200" dirty="0"/>
          </a:p>
        </p:txBody>
      </p:sp>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292608"/>
            <a:ext cx="9052560" cy="868680"/>
          </a:xfrm>
          <a:prstGeom prst="rect">
            <a:avLst/>
          </a:prstGeom>
          <a:noFill/>
          <a:ln/>
        </p:spPr>
        <p:txBody>
          <a:bodyPr wrap="square" lIns="0" tIns="0" rIns="0" bIns="0" rtlCol="0" anchor="ctr"/>
          <a:lstStyle/>
          <a:p>
            <a:pPr indent="0" marL="0">
              <a:buNone/>
            </a:pPr>
            <a:r>
              <a:rPr lang="en-US" sz="3000" b="1" dirty="0">
                <a:solidFill>
                  <a:srgbClr val="0F2A5F"/>
                </a:solidFill>
              </a:rPr>
              <a:t>What we learned</a:t>
            </a:r>
            <a:endParaRPr lang="en-US" sz="3000" dirty="0"/>
          </a:p>
        </p:txBody>
      </p:sp>
      <p:sp>
        <p:nvSpPr>
          <p:cNvPr id="3" name="Shape 1"/>
          <p:cNvSpPr/>
          <p:nvPr/>
        </p:nvSpPr>
        <p:spPr>
          <a:xfrm>
            <a:off x="10161727" y="411480"/>
            <a:ext cx="1481328" cy="384048"/>
          </a:xfrm>
          <a:prstGeom prst="roundRect">
            <a:avLst>
              <a:gd name="adj" fmla="val 50000"/>
            </a:avLst>
          </a:prstGeom>
          <a:solidFill>
            <a:srgbClr val="7B3A8E"/>
          </a:solidFill>
          <a:ln w="12700">
            <a:solidFill>
              <a:srgbClr val="7B3A8E"/>
            </a:solidFill>
            <a:prstDash val="solid"/>
          </a:ln>
        </p:spPr>
      </p:sp>
      <p:sp>
        <p:nvSpPr>
          <p:cNvPr id="4" name="Text 2"/>
          <p:cNvSpPr txBox="1"/>
          <p:nvPr/>
        </p:nvSpPr>
        <p:spPr>
          <a:xfrm>
            <a:off x="10161727" y="411480"/>
            <a:ext cx="1481328" cy="384048"/>
          </a:xfrm>
          <a:prstGeom prst="rect">
            <a:avLst/>
          </a:prstGeom>
          <a:noFill/>
          <a:ln/>
        </p:spPr>
        <p:txBody>
          <a:bodyPr wrap="square" lIns="0" tIns="0" rIns="0" bIns="0" rtlCol="0" anchor="ctr"/>
          <a:lstStyle/>
          <a:p>
            <a:pPr algn="ctr" indent="0" marL="0">
              <a:buNone/>
            </a:pPr>
            <a:r>
              <a:rPr lang="en-US" sz="1100" b="1" spc="100" kern="0" dirty="0">
                <a:solidFill>
                  <a:srgbClr val="FFFFFF"/>
                </a:solidFill>
              </a:rPr>
              <a:t>SUMMARY</a:t>
            </a:r>
            <a:endParaRPr lang="en-US" sz="1100" dirty="0"/>
          </a:p>
        </p:txBody>
      </p:sp>
      <p:sp>
        <p:nvSpPr>
          <p:cNvPr id="5" name="Text 3"/>
          <p:cNvSpPr txBox="1"/>
          <p:nvPr/>
        </p:nvSpPr>
        <p:spPr>
          <a:xfrm>
            <a:off x="548640" y="1371600"/>
            <a:ext cx="10881360" cy="4114800"/>
          </a:xfrm>
          <a:prstGeom prst="rect">
            <a:avLst/>
          </a:prstGeom>
          <a:noFill/>
          <a:ln/>
        </p:spPr>
        <p:txBody>
          <a:bodyPr wrap="square" lIns="0" tIns="0" rIns="0" bIns="0" rtlCol="0" anchor="t"/>
          <a:lstStyle/>
          <a:p>
            <a:pPr marL="342900" indent="-342900">
              <a:spcAft>
                <a:spcPts val="1200"/>
              </a:spcAft>
              <a:buSzPct val="100000"/>
              <a:buChar char="✓"/>
            </a:pPr>
            <a:r>
              <a:rPr lang="en-US" sz="2000" dirty="0">
                <a:solidFill>
                  <a:srgbClr val="141B26"/>
                </a:solidFill>
              </a:rPr>
              <a:t>Photosynthesis: carbon dioxide + water makes glucose + oxygen, using light energy captured by chlorophyll.</a:t>
            </a:r>
            <a:endParaRPr lang="en-US" sz="2000" dirty="0"/>
          </a:p>
          <a:p>
            <a:pPr marL="342900" indent="-342900">
              <a:spcAft>
                <a:spcPts val="1200"/>
              </a:spcAft>
              <a:buSzPct val="100000"/>
              <a:buChar char="✓"/>
            </a:pPr>
            <a:r>
              <a:rPr lang="en-US" sz="2000" dirty="0">
                <a:solidFill>
                  <a:srgbClr val="141B26"/>
                </a:solidFill>
              </a:rPr>
              <a:t>Aerobic respiration: glucose + oxygen makes carbon dioxide + water, releasing energy, in every living cell all the time.</a:t>
            </a:r>
            <a:endParaRPr lang="en-US" sz="2000" dirty="0"/>
          </a:p>
          <a:p>
            <a:pPr marL="342900" indent="-342900">
              <a:spcAft>
                <a:spcPts val="1200"/>
              </a:spcAft>
              <a:buSzPct val="100000"/>
              <a:buChar char="✓"/>
            </a:pPr>
            <a:r>
              <a:rPr lang="en-US" sz="2000" dirty="0">
                <a:solidFill>
                  <a:srgbClr val="141B26"/>
                </a:solidFill>
              </a:rPr>
              <a:t>A limiting factor (light, carbon dioxide, water, temperature) slows the rate of photosynthesis.</a:t>
            </a:r>
            <a:endParaRPr lang="en-US" sz="2000" dirty="0"/>
          </a:p>
          <a:p>
            <a:pPr marL="342900" indent="-342900">
              <a:spcAft>
                <a:spcPts val="1200"/>
              </a:spcAft>
              <a:buSzPct val="100000"/>
              <a:buChar char="✓"/>
            </a:pPr>
            <a:r>
              <a:rPr lang="en-US" sz="2000" dirty="0">
                <a:solidFill>
                  <a:srgbClr val="141B26"/>
                </a:solidFill>
              </a:rPr>
              <a:t>Phloem carries sugar solution to the roots, which also need oxygen from the soil.</a:t>
            </a:r>
            <a:endParaRPr lang="en-US" sz="2000" dirty="0"/>
          </a:p>
        </p:txBody>
      </p:sp>
      <p:sp>
        <p:nvSpPr>
          <p:cNvPr id="6" name="Text 4"/>
          <p:cNvSpPr txBox="1"/>
          <p:nvPr/>
        </p:nvSpPr>
        <p:spPr>
          <a:xfrm>
            <a:off x="548640" y="5577840"/>
            <a:ext cx="10881360" cy="411480"/>
          </a:xfrm>
          <a:prstGeom prst="rect">
            <a:avLst/>
          </a:prstGeom>
          <a:noFill/>
          <a:ln/>
        </p:spPr>
        <p:txBody>
          <a:bodyPr wrap="square" lIns="0" tIns="0" rIns="0" bIns="0" rtlCol="0" anchor="ctr"/>
          <a:lstStyle/>
          <a:p>
            <a:pPr indent="0" marL="0">
              <a:buNone/>
            </a:pPr>
            <a:r>
              <a:rPr lang="en-US" sz="1500" b="1" dirty="0">
                <a:solidFill>
                  <a:srgbClr val="7B3A8E"/>
                </a:solidFill>
              </a:rPr>
              <a:t>Next lesson  </a:t>
            </a:r>
            <a:pPr indent="0" marL="0">
              <a:buNone/>
            </a:pPr>
            <a:r>
              <a:rPr lang="en-US" sz="1500" dirty="0">
                <a:solidFill>
                  <a:srgbClr val="141B26"/>
                </a:solidFill>
              </a:rPr>
              <a:t>How roots, stems and leaves are adapted to get water, mineral salts, light and carbon dioxide.</a:t>
            </a:r>
            <a:endParaRPr lang="en-US" sz="1500" dirty="0"/>
          </a:p>
        </p:txBody>
      </p:sp>
      <p:sp>
        <p:nvSpPr>
          <p:cNvPr id="25" name="Slide Number Placeholder 0"/>
          <p:cNvSpPr>
            <a:spLocks noGrp="1"/>
          </p:cNvSpPr>
          <p:nvPr>
            <p:ph type="sldNum" sz="quarter" idx="4294967295"/>
          </p:nvPr>
        </p:nvSpPr>
        <p:spPr>
          <a:xfrm>
            <a:off x="9738360" y="6419088"/>
            <a:ext cx="6400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574"/>
                </a:solidFill>
              </a:defRPr>
            </a:lvl1pPr>
          </a:lstStyle>
          <a:p>
            <a:pPr algn="r"/>
            <a:fld id="{F7021451-1387-4CA6-816F-3879F97B5CBC}" type="slidenum">
              <a:rPr b="0" lang="en-US"/>
              <a:t>14</a:t>
            </a:fld>
            <a:endParaRPr lang="en-US"/>
          </a:p>
        </p:txBody>
      </p:sp>
    </p:spTree>
  </p:cSld>
  <p:clrMapOvr>
    <a:masterClrMapping/>
  </p:clrMapOvr>
</p:sld>
</file>

<file path=ppt/theme/theme1.xml><?xml version="1.0" encoding="utf-8"?>
<a:theme xmlns:a="http://schemas.openxmlformats.org/drawingml/2006/main" name="Year 9 Science">
  <a:themeElements>
    <a:clrScheme name="Year 9 Science">
      <a:dk1>
        <a:srgbClr val="141B26"/>
      </a:dk1>
      <a:lt1>
        <a:srgbClr val="FFFFFF"/>
      </a:lt1>
      <a:dk2>
        <a:srgbClr val="0F2A5F"/>
      </a:dk2>
      <a:lt2>
        <a:srgbClr val="EEF1F5"/>
      </a:lt2>
      <a:accent1>
        <a:srgbClr val="7B3A8E"/>
      </a:accent1>
      <a:accent2>
        <a:srgbClr val="F2CE3E"/>
      </a:accent2>
      <a:accent3>
        <a:srgbClr val="5B6574"/>
      </a:accent3>
      <a:accent4>
        <a:srgbClr val="D5DBE3"/>
      </a:accent4>
      <a:accent5>
        <a:srgbClr val="F1E5F4"/>
      </a:accent5>
      <a:accent6>
        <a:srgbClr val="1E7DB0"/>
      </a:accent6>
      <a:hlink>
        <a:srgbClr val="1E7DB0"/>
      </a:hlink>
      <a:folHlink>
        <a:srgbClr val="7B3A8E"/>
      </a:folHlink>
    </a:clrScheme>
    <a:fontScheme name="Year 9 Scien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9B Lesson 1: Reactions in plants</dc:title>
  <dc:subject>PptxGenJS Presentation</dc:subject>
  <dc:creator>Year 9 Science</dc:creator>
  <cp:lastModifiedBy>Year 9 Science</cp:lastModifiedBy>
  <cp:revision>1</cp:revision>
  <dcterms:created xsi:type="dcterms:W3CDTF">2026-10-28T09:45:05Z</dcterms:created>
  <dcterms:modified xsi:type="dcterms:W3CDTF">2026-10-28T09:45:05Z</dcterms:modified>
</cp:coreProperties>
</file>