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of 9B. Last lesson: the two reactions. This lesson: the structures that supply them, from root hair to palisade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carbon dioxide + water makes glucose + oxygen; carbon dioxide from the air, water from the soil; mineral salts such as nitrates, magnesium and potassium (accept 'nutrients'). Many students will say 'food' for question 3: challenge it, the plant makes its own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Point to the key words box on the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fly supplies mineral salts, especially nitrates (nitrogen for proteins) and potassium. The plant still makes its own glucose by photosynthesis; the fly is not its energy source. Touching twice stops the trap wasting energy shutting on raindrops or dust.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 table. Ask: what happens to photosynthesis in a plant short of magnesium? Less chlorophyll, so less energy captured, so less glucose and slower growth. This is Stretch 3 on the worksheet.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a bunch of fine string next to a single thick rope: which has more surface? Root hairs work the same way. Xylem is made of dead cells: the end walls break down, leaving a continuous 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route aloud: soil water, root hair cell, xylem in the root, xylem in the stem, leaf cells, out through the stomata as water vapour (next lesson). Show a wilted and a watered pot plant if you have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the palisade layer, just under the clear upper epidermis, because light arrives from above. The spongy layer has air spaces for gases, the vein carries water in (xylem) and sugar out (phloem), and the stomata are mostly underneath. Next lesson looks at the stomata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activity for the Do phase: trace a leaf on squared paper and count the squares to estimate its surface area. Compare a sun leaf and a shade leaf from the same tree: shade leaves are often larger and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nitrates; magnesium; a long extension gives a large surface area; xylem; palisade cells. Ask a student to say the difference between xylem (water up, dead cells) and phloem (sugar solution, living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one adaptation answer on the board: 'Root hair cells have a long thin extension (what it is like), which gives a large surface area, so water is absorbed faster (what it does).' Insist on both halves.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without water the cells sag (lose their firmness) so the leaves droop; after watering, water is absorbed by root hair cells and carried up in the xylem; the cells fill with water, become firm, and hold the leaves up. Lesson 3 adds how water leaves through the stomata.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nitrates; a long extension gives a large surface area so water is absorbed quickly; they are near the top of the leaf where there is most light, and chloroplasts are where photosynthesis happens. Collect the strips.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 17. Bring in a leaf next lesson if you want to look at its stomata under the microscope.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rtlCol="0"/>
          <a:lstStyle>
            <a:lvl1pPr indent="0" marL="0">
              <a:buNone/>
              <a:defRPr lang="en-US" sz="2000" dirty="0">
                <a:solidFill>
                  <a:srgbClr val="FFFFFF"/>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2: Plant adaptations: roots, stems and leaves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2: Plant adaptations: roots, stems and leaves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9B Plant growth  |  Lesson 2: Plant adaptations: roots, stems and leaves</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3A2E00"/>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9B Plant growth  |  Lesson 2: Plant adaptations: roots, stems and leaves</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300" b="1" spc="200" kern="0" dirty="0">
                <a:solidFill>
                  <a:srgbClr val="F2CE3E"/>
                </a:solidFill>
              </a:rPr>
              <a:t>YEAR 9 SCIENCE  ·  9B PLANT GROWTH  ·  LESSON 2 OF 7</a:t>
            </a:r>
            <a:endParaRPr lang="en-US" sz="13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Plant adaptations: roots, stems and leaves</a:t>
            </a: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lIns="0" tIns="0" rIns="0" bIns="0" rtlCol="0" anchor="t"/>
          <a:lstStyle/>
          <a:p>
            <a:pPr indent="0" marL="0">
              <a:buNone/>
            </a:pPr>
            <a:r>
              <a:rPr lang="en-US" sz="2000" dirty="0">
                <a:solidFill>
                  <a:srgbClr val="FFFFFF"/>
                </a:solidFill>
              </a:rPr>
              <a:t>How is a plant built to collect water, mineral salts, light and carbon dioxide?</a:t>
            </a:r>
            <a:endParaRPr lang="en-US" sz="20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200" dirty="0">
                <a:solidFill>
                  <a:srgbClr val="C9D3E6"/>
                </a:solidFill>
              </a:rPr>
              <a:t>Exploring Science International 9  ·  Student Book pages 24 to 25  ·  Workbook pages 17</a:t>
            </a:r>
            <a:endParaRPr lang="en-US" sz="1200" dirty="0"/>
          </a:p>
        </p:txBody>
      </p:sp>
      <p:pic>
        <p:nvPicPr>
          <p:cNvPr id="6" name="Image 0" descr="/home/user/lessons/Y9_Exploring_Science/images/venus_flytrap.jpg">    </p:cNvPr>
          <p:cNvPicPr>
            <a:picLocks noChangeAspect="1"/>
          </p:cNvPicPr>
          <p:nvPr/>
        </p:nvPicPr>
        <p:blipFill>
          <a:blip r:embed="rId1"/>
          <a:stretch>
            <a:fillRect/>
          </a:stretch>
        </p:blipFill>
        <p:spPr>
          <a:xfrm>
            <a:off x="9313817" y="4572000"/>
            <a:ext cx="1672046"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where do the reactants come from?</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9692640" cy="4480560"/>
          </a:xfrm>
          <a:prstGeom prst="rect">
            <a:avLst/>
          </a:prstGeom>
          <a:noFill/>
          <a:ln/>
        </p:spPr>
        <p:txBody>
          <a:bodyPr wrap="square" lIns="0" tIns="0" rIns="0" bIns="0" rtlCol="0" anchor="t">
            <a:normAutofit/>
          </a:bodyPr>
          <a:lstStyle/>
          <a:p>
            <a:pPr indent="0" marL="0">
              <a:spcAft>
                <a:spcPts val="1000"/>
              </a:spcAft>
              <a:buNone/>
            </a:pPr>
            <a:r>
              <a:rPr lang="en-US" sz="2000" dirty="0">
                <a:solidFill>
                  <a:srgbClr val="141B26"/>
                </a:solidFill>
              </a:rPr>
              <a:t>1. Write the word equation for photosynthesis.</a:t>
            </a:r>
            <a:endParaRPr lang="en-US" sz="2000" dirty="0"/>
          </a:p>
          <a:p>
            <a:pPr indent="0" marL="0">
              <a:spcAft>
                <a:spcPts val="1000"/>
              </a:spcAft>
              <a:buNone/>
            </a:pPr>
            <a:r>
              <a:rPr lang="en-US" sz="2000" dirty="0">
                <a:solidFill>
                  <a:srgbClr val="141B26"/>
                </a:solidFill>
              </a:rPr>
              <a:t>2. Which reactant comes from the air, and which comes from the soil?</a:t>
            </a:r>
            <a:endParaRPr lang="en-US" sz="2000" dirty="0"/>
          </a:p>
          <a:p>
            <a:pPr indent="0" marL="0">
              <a:spcAft>
                <a:spcPts val="1000"/>
              </a:spcAft>
              <a:buNone/>
            </a:pPr>
            <a:r>
              <a:rPr lang="en-US" sz="2000" dirty="0">
                <a:solidFill>
                  <a:srgbClr val="141B26"/>
                </a:solidFill>
              </a:rPr>
              <a:t>3. Name two other things a plant needs that it gets from the soil.</a:t>
            </a:r>
            <a:endParaRPr lang="en-US" sz="20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325880"/>
            <a:ext cx="5669280" cy="457200"/>
          </a:xfrm>
          <a:prstGeom prst="rect">
            <a:avLst/>
          </a:prstGeom>
          <a:noFill/>
          <a:ln/>
        </p:spPr>
        <p:txBody>
          <a:bodyPr wrap="square" lIns="0" tIns="0" rIns="0" bIns="0" rtlCol="0" anchor="ctr"/>
          <a:lstStyle/>
          <a:p>
            <a:pPr indent="0" marL="0">
              <a:buNone/>
            </a:pPr>
            <a:r>
              <a:rPr lang="en-US" sz="2000" b="1" dirty="0">
                <a:solidFill>
                  <a:srgbClr val="7B3A8E"/>
                </a:solidFill>
              </a:rPr>
              <a:t>Today I can ...</a:t>
            </a:r>
            <a:endParaRPr lang="en-US" sz="2000" dirty="0"/>
          </a:p>
        </p:txBody>
      </p:sp>
      <p:sp>
        <p:nvSpPr>
          <p:cNvPr id="6" name="Shape 4"/>
          <p:cNvSpPr/>
          <p:nvPr/>
        </p:nvSpPr>
        <p:spPr>
          <a:xfrm>
            <a:off x="594360" y="1947672"/>
            <a:ext cx="292608" cy="292608"/>
          </a:xfrm>
          <a:prstGeom prst="rect">
            <a:avLst/>
          </a:prstGeom>
          <a:solidFill>
            <a:srgbClr val="FFFFFF"/>
          </a:solidFill>
          <a:ln w="19050">
            <a:solidFill>
              <a:srgbClr val="0F2A5F"/>
            </a:solidFill>
            <a:prstDash val="solid"/>
          </a:ln>
        </p:spPr>
      </p:sp>
      <p:sp>
        <p:nvSpPr>
          <p:cNvPr id="7" name="Text 5"/>
          <p:cNvSpPr txBox="1"/>
          <p:nvPr/>
        </p:nvSpPr>
        <p:spPr>
          <a:xfrm>
            <a:off x="1051560" y="187452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describe what plants need from the soil and the air, and how roots, root hair cells and xylem are adapted to supply water and mineral salts.</a:t>
            </a:r>
            <a:endParaRPr lang="en-US" sz="1600" dirty="0"/>
          </a:p>
        </p:txBody>
      </p:sp>
      <p:sp>
        <p:nvSpPr>
          <p:cNvPr id="8" name="Shape 6"/>
          <p:cNvSpPr/>
          <p:nvPr/>
        </p:nvSpPr>
        <p:spPr>
          <a:xfrm>
            <a:off x="594360" y="2907792"/>
            <a:ext cx="292608" cy="292608"/>
          </a:xfrm>
          <a:prstGeom prst="rect">
            <a:avLst/>
          </a:prstGeom>
          <a:solidFill>
            <a:srgbClr val="FFFFFF"/>
          </a:solidFill>
          <a:ln w="19050">
            <a:solidFill>
              <a:srgbClr val="0F2A5F"/>
            </a:solidFill>
            <a:prstDash val="solid"/>
          </a:ln>
        </p:spPr>
      </p:sp>
      <p:sp>
        <p:nvSpPr>
          <p:cNvPr id="9" name="Text 7"/>
          <p:cNvSpPr txBox="1"/>
          <p:nvPr/>
        </p:nvSpPr>
        <p:spPr>
          <a:xfrm>
            <a:off x="1051560" y="283464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explain how a leaf and its palisade cells are adapted for photosynthesis.</a:t>
            </a:r>
            <a:endParaRPr lang="en-US" sz="1600" dirty="0"/>
          </a:p>
        </p:txBody>
      </p:sp>
      <p:sp>
        <p:nvSpPr>
          <p:cNvPr id="10" name="Text 8"/>
          <p:cNvSpPr txBox="1"/>
          <p:nvPr/>
        </p:nvSpPr>
        <p:spPr>
          <a:xfrm>
            <a:off x="6583680" y="1325880"/>
            <a:ext cx="5029200" cy="457200"/>
          </a:xfrm>
          <a:prstGeom prst="rect">
            <a:avLst/>
          </a:prstGeom>
          <a:noFill/>
          <a:ln/>
        </p:spPr>
        <p:txBody>
          <a:bodyPr wrap="square" lIns="0" tIns="0" rIns="0" bIns="0" rtlCol="0" anchor="ctr"/>
          <a:lstStyle/>
          <a:p>
            <a:pPr indent="0" marL="0">
              <a:buNone/>
            </a:pPr>
            <a:r>
              <a:rPr lang="en-US" sz="2000" b="1" dirty="0">
                <a:solidFill>
                  <a:srgbClr val="7B3A8E"/>
                </a:solidFill>
              </a:rPr>
              <a:t>Key words today</a:t>
            </a:r>
            <a:endParaRPr lang="en-US" sz="2000" dirty="0"/>
          </a:p>
        </p:txBody>
      </p:sp>
      <p:sp>
        <p:nvSpPr>
          <p:cNvPr id="11" name="Text 9"/>
          <p:cNvSpPr txBox="1"/>
          <p:nvPr/>
        </p:nvSpPr>
        <p:spPr>
          <a:xfrm>
            <a:off x="6583680" y="1874520"/>
            <a:ext cx="5029200" cy="40233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0F2A5F"/>
                </a:solidFill>
              </a:rPr>
              <a:t>mineral salts</a:t>
            </a:r>
            <a:pPr indent="0" marL="0">
              <a:spcAft>
                <a:spcPts val="500"/>
              </a:spcAft>
              <a:buNone/>
            </a:pPr>
            <a:r>
              <a:rPr lang="en-US" sz="1300" dirty="0">
                <a:solidFill>
                  <a:srgbClr val="141B26"/>
                </a:solidFill>
              </a:rPr>
              <a:t>  substances dissolved in soil water that plants need to stay healthy, e.g. nitrates</a:t>
            </a:r>
            <a:endParaRPr lang="en-US" sz="1300" dirty="0"/>
          </a:p>
          <a:p>
            <a:pPr indent="0" marL="0">
              <a:spcAft>
                <a:spcPts val="500"/>
              </a:spcAft>
              <a:buNone/>
            </a:pPr>
            <a:r>
              <a:rPr lang="en-US" sz="1300" b="1" dirty="0">
                <a:solidFill>
                  <a:srgbClr val="0F2A5F"/>
                </a:solidFill>
              </a:rPr>
              <a:t>nitrate</a:t>
            </a:r>
            <a:pPr indent="0" marL="0">
              <a:spcAft>
                <a:spcPts val="500"/>
              </a:spcAft>
              <a:buNone/>
            </a:pPr>
            <a:r>
              <a:rPr lang="en-US" sz="1300" dirty="0">
                <a:solidFill>
                  <a:srgbClr val="141B26"/>
                </a:solidFill>
              </a:rPr>
              <a:t>  a mineral salt that supplies nitrogen for making proteins</a:t>
            </a:r>
            <a:endParaRPr lang="en-US" sz="1300" dirty="0"/>
          </a:p>
          <a:p>
            <a:pPr indent="0" marL="0">
              <a:spcAft>
                <a:spcPts val="500"/>
              </a:spcAft>
              <a:buNone/>
            </a:pPr>
            <a:r>
              <a:rPr lang="en-US" sz="1300" b="1" dirty="0">
                <a:solidFill>
                  <a:srgbClr val="0F2A5F"/>
                </a:solidFill>
              </a:rPr>
              <a:t>magnesium</a:t>
            </a:r>
            <a:pPr indent="0" marL="0">
              <a:spcAft>
                <a:spcPts val="500"/>
              </a:spcAft>
              <a:buNone/>
            </a:pPr>
            <a:r>
              <a:rPr lang="en-US" sz="1300" dirty="0">
                <a:solidFill>
                  <a:srgbClr val="141B26"/>
                </a:solidFill>
              </a:rPr>
              <a:t>  an element plants need to make chlorophyll</a:t>
            </a:r>
            <a:endParaRPr lang="en-US" sz="1300" dirty="0"/>
          </a:p>
          <a:p>
            <a:pPr indent="0" marL="0">
              <a:spcAft>
                <a:spcPts val="500"/>
              </a:spcAft>
              <a:buNone/>
            </a:pPr>
            <a:r>
              <a:rPr lang="en-US" sz="1300" b="1" dirty="0">
                <a:solidFill>
                  <a:srgbClr val="0F2A5F"/>
                </a:solidFill>
              </a:rPr>
              <a:t>potassium</a:t>
            </a:r>
            <a:pPr indent="0" marL="0">
              <a:spcAft>
                <a:spcPts val="500"/>
              </a:spcAft>
              <a:buNone/>
            </a:pPr>
            <a:r>
              <a:rPr lang="en-US" sz="1300" dirty="0">
                <a:solidFill>
                  <a:srgbClr val="141B26"/>
                </a:solidFill>
              </a:rPr>
              <a:t>  an element root cells need to absorb water properly</a:t>
            </a:r>
            <a:endParaRPr lang="en-US" sz="1300" dirty="0"/>
          </a:p>
          <a:p>
            <a:pPr indent="0" marL="0">
              <a:spcAft>
                <a:spcPts val="500"/>
              </a:spcAft>
              <a:buNone/>
            </a:pPr>
            <a:r>
              <a:rPr lang="en-US" sz="1300" b="1" dirty="0">
                <a:solidFill>
                  <a:srgbClr val="0F2A5F"/>
                </a:solidFill>
              </a:rPr>
              <a:t>root hair cell</a:t>
            </a:r>
            <a:pPr indent="0" marL="0">
              <a:spcAft>
                <a:spcPts val="500"/>
              </a:spcAft>
              <a:buNone/>
            </a:pPr>
            <a:r>
              <a:rPr lang="en-US" sz="1300" dirty="0">
                <a:solidFill>
                  <a:srgbClr val="141B26"/>
                </a:solidFill>
              </a:rPr>
              <a:t>  a root cell with a long extension that gives a large surface area for absorbing water</a:t>
            </a:r>
            <a:endParaRPr lang="en-US" sz="1300" dirty="0"/>
          </a:p>
          <a:p>
            <a:pPr indent="0" marL="0">
              <a:spcAft>
                <a:spcPts val="500"/>
              </a:spcAft>
              <a:buNone/>
            </a:pPr>
            <a:r>
              <a:rPr lang="en-US" sz="1300" b="1" dirty="0">
                <a:solidFill>
                  <a:srgbClr val="0F2A5F"/>
                </a:solidFill>
              </a:rPr>
              <a:t>xylem</a:t>
            </a:r>
            <a:pPr indent="0" marL="0">
              <a:spcAft>
                <a:spcPts val="500"/>
              </a:spcAft>
              <a:buNone/>
            </a:pPr>
            <a:r>
              <a:rPr lang="en-US" sz="1300" dirty="0">
                <a:solidFill>
                  <a:srgbClr val="141B26"/>
                </a:solidFill>
              </a:rPr>
              <a:t>  hollow tubes made from dead cells that carry water and mineral salts up the plant</a:t>
            </a:r>
            <a:endParaRPr lang="en-US" sz="1300" dirty="0"/>
          </a:p>
          <a:p>
            <a:pPr indent="0" marL="0">
              <a:spcAft>
                <a:spcPts val="500"/>
              </a:spcAft>
              <a:buNone/>
            </a:pPr>
            <a:r>
              <a:rPr lang="en-US" sz="1300" b="1" dirty="0">
                <a:solidFill>
                  <a:srgbClr val="0F2A5F"/>
                </a:solidFill>
              </a:rPr>
              <a:t>wilt</a:t>
            </a:r>
            <a:pPr indent="0" marL="0">
              <a:spcAft>
                <a:spcPts val="500"/>
              </a:spcAft>
              <a:buNone/>
            </a:pPr>
            <a:r>
              <a:rPr lang="en-US" sz="1300" dirty="0">
                <a:solidFill>
                  <a:srgbClr val="141B26"/>
                </a:solidFill>
              </a:rPr>
              <a:t>  to droop because the cells have too little water</a:t>
            </a:r>
            <a:endParaRPr lang="en-US" sz="1300" dirty="0"/>
          </a:p>
          <a:p>
            <a:pPr indent="0" marL="0">
              <a:spcAft>
                <a:spcPts val="500"/>
              </a:spcAft>
              <a:buNone/>
            </a:pPr>
            <a:r>
              <a:rPr lang="en-US" sz="1300" b="1" dirty="0">
                <a:solidFill>
                  <a:srgbClr val="0F2A5F"/>
                </a:solidFill>
              </a:rPr>
              <a:t>palisade cell</a:t>
            </a:r>
            <a:pPr indent="0" marL="0">
              <a:spcAft>
                <a:spcPts val="500"/>
              </a:spcAft>
              <a:buNone/>
            </a:pPr>
            <a:r>
              <a:rPr lang="en-US" sz="1300" dirty="0">
                <a:solidFill>
                  <a:srgbClr val="141B26"/>
                </a:solidFill>
              </a:rPr>
              <a:t>  a leaf cell near the upper surface that is packed with chloroplasts</a:t>
            </a:r>
            <a:endParaRPr lang="en-US" sz="1300" dirty="0"/>
          </a:p>
          <a:p>
            <a:pPr indent="0" marL="0">
              <a:spcAft>
                <a:spcPts val="500"/>
              </a:spcAft>
              <a:buNone/>
            </a:pPr>
            <a:r>
              <a:rPr lang="en-US" sz="1300" b="1" dirty="0">
                <a:solidFill>
                  <a:srgbClr val="0F2A5F"/>
                </a:solidFill>
              </a:rPr>
              <a:t>epidermis</a:t>
            </a:r>
            <a:pPr indent="0" marL="0">
              <a:spcAft>
                <a:spcPts val="500"/>
              </a:spcAft>
              <a:buNone/>
            </a:pPr>
            <a:r>
              <a:rPr lang="en-US" sz="1300" dirty="0">
                <a:solidFill>
                  <a:srgbClr val="141B26"/>
                </a:solidFill>
              </a:rPr>
              <a:t>  the outer layer of cells of a leaf</a:t>
            </a:r>
            <a:endParaRPr lang="en-US" sz="1300" dirty="0"/>
          </a:p>
          <a:p>
            <a:pPr indent="0" marL="0">
              <a:spcAft>
                <a:spcPts val="500"/>
              </a:spcAft>
              <a:buNone/>
            </a:pPr>
            <a:r>
              <a:rPr lang="en-US" sz="1300" b="1" dirty="0">
                <a:solidFill>
                  <a:srgbClr val="0F2A5F"/>
                </a:solidFill>
              </a:rPr>
              <a:t>cuticle</a:t>
            </a:r>
            <a:pPr indent="0" marL="0">
              <a:spcAft>
                <a:spcPts val="500"/>
              </a:spcAft>
              <a:buNone/>
            </a:pPr>
            <a:r>
              <a:rPr lang="en-US" sz="1300" dirty="0">
                <a:solidFill>
                  <a:srgbClr val="141B26"/>
                </a:solidFill>
              </a:rPr>
              <a:t>  the waxy layer on a leaf that stops it losing too much water</a:t>
            </a:r>
            <a:endParaRPr lang="en-US" sz="1300" dirty="0"/>
          </a:p>
          <a:p>
            <a:pPr indent="0" marL="0">
              <a:spcAft>
                <a:spcPts val="500"/>
              </a:spcAft>
              <a:buNone/>
            </a:pPr>
            <a:r>
              <a:rPr lang="en-US" sz="1300" b="1" dirty="0">
                <a:solidFill>
                  <a:srgbClr val="0F2A5F"/>
                </a:solidFill>
              </a:rPr>
              <a:t>surface area</a:t>
            </a:r>
            <a:pPr indent="0" marL="0">
              <a:spcAft>
                <a:spcPts val="500"/>
              </a:spcAft>
              <a:buNone/>
            </a:pPr>
            <a:r>
              <a:rPr lang="en-US" sz="1300" dirty="0">
                <a:solidFill>
                  <a:srgbClr val="141B26"/>
                </a:solidFill>
              </a:rPr>
              <a:t>  the total area of the outside of something</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Why does a plant eat flies?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5394960" cy="2377440"/>
          </a:xfrm>
          <a:prstGeom prst="rect">
            <a:avLst/>
          </a:prstGeom>
          <a:noFill/>
          <a:ln/>
        </p:spPr>
        <p:txBody>
          <a:bodyPr wrap="square" lIns="0" tIns="0" rIns="0" bIns="0" rtlCol="0" anchor="t">
            <a:normAutofit/>
          </a:bodyPr>
          <a:lstStyle/>
          <a:p>
            <a:pPr indent="0" marL="0">
              <a:buNone/>
            </a:pPr>
            <a:r>
              <a:rPr lang="en-US" sz="2800" b="1" dirty="0">
                <a:solidFill>
                  <a:srgbClr val="0F2A5F"/>
                </a:solidFill>
              </a:rPr>
              <a:t>The Venus flytrap grows in bogs where the soil contains very few mineral salts. What does it get from a fly that it cannot get from the soil?</a:t>
            </a:r>
            <a:endParaRPr lang="en-US" sz="2800" dirty="0"/>
          </a:p>
        </p:txBody>
      </p:sp>
      <p:sp>
        <p:nvSpPr>
          <p:cNvPr id="6" name="Text 4"/>
          <p:cNvSpPr txBox="1"/>
          <p:nvPr/>
        </p:nvSpPr>
        <p:spPr>
          <a:xfrm>
            <a:off x="548640" y="3794760"/>
            <a:ext cx="5394960"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41B26"/>
                </a:solidFill>
              </a:rPr>
              <a:t>Talk to a partner. Then: suggest why a hair has to be touched more than once before the trap shuts.</a:t>
            </a:r>
            <a:endParaRPr lang="en-US" sz="1600" dirty="0"/>
          </a:p>
        </p:txBody>
      </p:sp>
      <p:pic>
        <p:nvPicPr>
          <p:cNvPr id="7" name="Image 0" descr="/home/user/lessons/Y9_Exploring_Science/images/venus_flytrap.jpg">    </p:cNvPr>
          <p:cNvPicPr>
            <a:picLocks noChangeAspect="1"/>
          </p:cNvPicPr>
          <p:nvPr/>
        </p:nvPicPr>
        <p:blipFill>
          <a:blip r:embed="rId1"/>
          <a:stretch>
            <a:fillRect/>
          </a:stretch>
        </p:blipFill>
        <p:spPr>
          <a:xfrm>
            <a:off x="7038267" y="1280160"/>
            <a:ext cx="3845705" cy="4206240"/>
          </a:xfrm>
          <a:prstGeom prst="rect">
            <a:avLst/>
          </a:prstGeom>
        </p:spPr>
      </p:pic>
      <p:sp>
        <p:nvSpPr>
          <p:cNvPr id="8" name="Text 5"/>
          <p:cNvSpPr txBox="1"/>
          <p:nvPr/>
        </p:nvSpPr>
        <p:spPr>
          <a:xfrm>
            <a:off x="6309360" y="5532120"/>
            <a:ext cx="5303520" cy="502920"/>
          </a:xfrm>
          <a:prstGeom prst="rect">
            <a:avLst/>
          </a:prstGeom>
          <a:noFill/>
          <a:ln/>
        </p:spPr>
        <p:txBody>
          <a:bodyPr wrap="square" lIns="0" tIns="0" rIns="0" bIns="0" rtlCol="0" anchor="t"/>
          <a:lstStyle/>
          <a:p>
            <a:pPr algn="l" indent="0" marL="0">
              <a:buNone/>
            </a:pPr>
            <a:r>
              <a:rPr lang="en-US" sz="1100" dirty="0">
                <a:solidFill>
                  <a:srgbClr val="141B26"/>
                </a:solidFill>
              </a:rPr>
              <a:t>A Venus flytrap. The trap shuts when a hair is touched twice.</a:t>
            </a:r>
            <a:pPr algn="l" indent="0" marL="0">
              <a:buNone/>
            </a:pPr>
            <a:endParaRPr lang="en-US" sz="1100" dirty="0"/>
          </a:p>
          <a:p>
            <a:pPr algn="l" indent="0" marL="0">
              <a:buNone/>
            </a:pPr>
            <a:r>
              <a:rPr lang="en-US" sz="800" dirty="0">
                <a:solidFill>
                  <a:srgbClr val="5B6574"/>
                </a:solidFill>
              </a:rPr>
              <a:t>Image: Noah Elhardt, CC BY-SA 2.5, via Wikimedia Commons</a:t>
            </a:r>
            <a:endParaRPr lang="en-US" sz="11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plants need from mineral salts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mineral salts   ·   nitrate   ·   magnesium   ·   potassium</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949440" cy="914400"/>
        </p:xfrm>
        <a:graphic>
          <a:graphicData uri="http://schemas.openxmlformats.org/drawingml/2006/table">
            <a:tbl>
              <a:tblPr/>
              <a:tblGrid>
                <a:gridCol w="2194560"/>
                <a:gridCol w="3291840"/>
                <a:gridCol w="237744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Mineral salt</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solidFill>
                      <a:srgbClr val="0F2A5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the plant uses it for</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solidFill>
                      <a:srgbClr val="0F2A5F"/>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Sign of shortage</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solidFill>
                      <a:srgbClr val="0F2A5F"/>
                    </a:solidFill>
                  </a:tcPr>
                </a:tc>
              </a:tr>
              <a:tr h="384048">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nitrates (nitrogen)</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making proteins, so cells can grow</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small, poor growth</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r h="384048">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magnesium</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making chlorophyll</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yellow leaves</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r h="384048">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potassium</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root cells absorbing water properly</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1B26"/>
                          </a:solidFill>
                          <a:latin typeface="Calibri" pitchFamily="34" charset="0"/>
                          <a:ea typeface="Calibri" pitchFamily="34" charset="-122"/>
                          <a:cs typeface="Calibri" pitchFamily="34" charset="-120"/>
                        </a:rPr>
                        <a:t>weak growth, wilting</a:t>
                      </a:r>
                      <a:endParaRPr lang="en-US" sz="1300" dirty="0">
                        <a:latin typeface="Calibri" charset="0"/>
                        <a:ea typeface="Calibri" charset="0"/>
                        <a:cs typeface="Calibri" charset="0"/>
                      </a:endParaRPr>
                    </a:p>
                  </a:txBody>
                  <a:tcPr marL="54864" marR="54864" marT="54864" marB="54864" anchor="ctr">
                    <a:lnL w="12700" cap="flat" cmpd="sng" algn="ctr">
                      <a:solidFill>
                        <a:srgbClr val="D5DBE3"/>
                      </a:solidFill>
                      <a:prstDash val="solid"/>
                      <a:round/>
                      <a:headEnd type="none" w="med" len="med"/>
                      <a:tailEnd type="none" w="med" len="med"/>
                    </a:lnL>
                    <a:lnR w="12700" cap="flat" cmpd="sng" algn="ctr">
                      <a:solidFill>
                        <a:srgbClr val="D5DBE3"/>
                      </a:solidFill>
                      <a:prstDash val="solid"/>
                      <a:round/>
                      <a:headEnd type="none" w="med" len="med"/>
                      <a:tailEnd type="none" w="med" len="med"/>
                    </a:lnR>
                    <a:lnT w="12700" cap="flat" cmpd="sng" algn="ctr">
                      <a:solidFill>
                        <a:srgbClr val="D5DBE3"/>
                      </a:solidFill>
                      <a:prstDash val="solid"/>
                      <a:round/>
                      <a:headEnd type="none" w="med" len="med"/>
                      <a:tailEnd type="none" w="med" len="med"/>
                    </a:lnT>
                    <a:lnB w="12700" cap="flat" cmpd="sng" algn="ctr">
                      <a:solidFill>
                        <a:srgbClr val="D5DBE3"/>
                      </a:solidFill>
                      <a:prstDash val="solid"/>
                      <a:round/>
                      <a:headEnd type="none" w="med" len="med"/>
                      <a:tailEnd type="none" w="med" len="med"/>
                    </a:lnB>
                  </a:tcPr>
                </a:tc>
              </a:tr>
            </a:tbl>
          </a:graphicData>
        </a:graphic>
      </p:graphicFrame>
      <p:sp>
        <p:nvSpPr>
          <p:cNvPr id="7" name="Text 4"/>
          <p:cNvSpPr txBox="1"/>
          <p:nvPr/>
        </p:nvSpPr>
        <p:spPr>
          <a:xfrm>
            <a:off x="7772400" y="1371600"/>
            <a:ext cx="3840480" cy="438912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500" dirty="0">
                <a:solidFill>
                  <a:srgbClr val="141B26"/>
                </a:solidFill>
              </a:rPr>
              <a:t>Carbon, hydrogen and oxygen come from water and carbon dioxide.</a:t>
            </a:r>
            <a:endParaRPr lang="en-US" sz="1500" dirty="0"/>
          </a:p>
          <a:p>
            <a:pPr marL="228600" indent="-228600">
              <a:spcAft>
                <a:spcPts val="600"/>
              </a:spcAft>
              <a:buSzPct val="100000"/>
              <a:buChar char="•"/>
            </a:pPr>
            <a:r>
              <a:rPr lang="en-US" sz="1500" dirty="0">
                <a:solidFill>
                  <a:srgbClr val="141B26"/>
                </a:solidFill>
              </a:rPr>
              <a:t>Mineral salts dissolve in soil water and enter through the roots.</a:t>
            </a:r>
            <a:endParaRPr lang="en-US" sz="1500" dirty="0"/>
          </a:p>
        </p:txBody>
      </p:sp>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Mineral salts are not food: they are building materials. Nitrates build proteins; magnesium builds chlorophyll.</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Roots: collecting water and mineral salts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root hair cell   ·   xylem   ·   surface area</a:t>
            </a:r>
            <a:endParaRPr lang="en-US" sz="1200" dirty="0"/>
          </a:p>
        </p:txBody>
      </p:sp>
      <p:sp>
        <p:nvSpPr>
          <p:cNvPr id="6" name="Text 4"/>
          <p:cNvSpPr txBox="1"/>
          <p:nvPr/>
        </p:nvSpPr>
        <p:spPr>
          <a:xfrm>
            <a:off x="548640" y="1325880"/>
            <a:ext cx="576072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Roots hold the plant in place and absorb water with dissolved mineral salts.</a:t>
            </a:r>
            <a:endParaRPr lang="en-US" sz="1700" dirty="0"/>
          </a:p>
          <a:p>
            <a:pPr marL="228600" indent="-228600">
              <a:spcAft>
                <a:spcPts val="600"/>
              </a:spcAft>
              <a:buSzPct val="100000"/>
              <a:buChar char="•"/>
            </a:pPr>
            <a:r>
              <a:rPr lang="en-US" sz="1700" dirty="0">
                <a:solidFill>
                  <a:srgbClr val="141B26"/>
                </a:solidFill>
              </a:rPr>
              <a:t>Roots are branched and spread out to reach water in a large volume of soil.</a:t>
            </a:r>
            <a:endParaRPr lang="en-US" sz="1700" dirty="0"/>
          </a:p>
          <a:p>
            <a:pPr marL="228600" indent="-228600">
              <a:spcAft>
                <a:spcPts val="600"/>
              </a:spcAft>
              <a:buSzPct val="100000"/>
              <a:buChar char="•"/>
            </a:pPr>
            <a:r>
              <a:rPr lang="en-US" sz="1700" dirty="0">
                <a:solidFill>
                  <a:srgbClr val="141B26"/>
                </a:solidFill>
              </a:rPr>
              <a:t>Root hair cells have a long extension: a large surface area to absorb water quickly.</a:t>
            </a:r>
            <a:endParaRPr lang="en-US" sz="1700" dirty="0"/>
          </a:p>
          <a:p>
            <a:pPr marL="228600" indent="-228600">
              <a:spcAft>
                <a:spcPts val="600"/>
              </a:spcAft>
              <a:buSzPct val="100000"/>
              <a:buChar char="•"/>
            </a:pPr>
            <a:r>
              <a:rPr lang="en-US" sz="1700" dirty="0">
                <a:solidFill>
                  <a:srgbClr val="141B26"/>
                </a:solidFill>
              </a:rPr>
              <a:t>Water passes to xylem vessels: long hollow tubes formed when chains of xylem cells die.</a:t>
            </a:r>
            <a:endParaRPr lang="en-US" sz="1700" dirty="0"/>
          </a:p>
          <a:p>
            <a:pPr marL="228600" indent="-228600">
              <a:spcAft>
                <a:spcPts val="600"/>
              </a:spcAft>
              <a:buSzPct val="100000"/>
              <a:buChar char="•"/>
            </a:pPr>
            <a:r>
              <a:rPr lang="en-US" sz="1700" dirty="0">
                <a:solidFill>
                  <a:srgbClr val="141B26"/>
                </a:solidFill>
              </a:rPr>
              <a:t>Xylem carries water and mineral salts up to the leaves.</a:t>
            </a:r>
            <a:endParaRPr lang="en-US" sz="1700" dirty="0"/>
          </a:p>
        </p:txBody>
      </p:sp>
      <p:pic>
        <p:nvPicPr>
          <p:cNvPr id="7" name="Image 0" descr="/home/user/lessons/Y9_Exploring_Science/images/root_hairs.jpg">    </p:cNvPr>
          <p:cNvPicPr>
            <a:picLocks noChangeAspect="1"/>
          </p:cNvPicPr>
          <p:nvPr/>
        </p:nvPicPr>
        <p:blipFill>
          <a:blip r:embed="rId1"/>
          <a:stretch>
            <a:fillRect/>
          </a:stretch>
        </p:blipFill>
        <p:spPr>
          <a:xfrm>
            <a:off x="6583680" y="1690657"/>
            <a:ext cx="5029200" cy="2836606"/>
          </a:xfrm>
          <a:prstGeom prst="rect">
            <a:avLst/>
          </a:prstGeom>
        </p:spPr>
      </p:pic>
      <p:sp>
        <p:nvSpPr>
          <p:cNvPr id="8" name="Text 5"/>
          <p:cNvSpPr txBox="1"/>
          <p:nvPr/>
        </p:nvSpPr>
        <p:spPr>
          <a:xfrm>
            <a:off x="6583680" y="4572983"/>
            <a:ext cx="5029200" cy="502920"/>
          </a:xfrm>
          <a:prstGeom prst="rect">
            <a:avLst/>
          </a:prstGeom>
          <a:noFill/>
          <a:ln/>
        </p:spPr>
        <p:txBody>
          <a:bodyPr wrap="square" lIns="0" tIns="0" rIns="0" bIns="0" rtlCol="0" anchor="t"/>
          <a:lstStyle/>
          <a:p>
            <a:pPr algn="l" indent="0" marL="0">
              <a:buNone/>
            </a:pPr>
            <a:r>
              <a:rPr lang="en-US" sz="1100" dirty="0">
                <a:solidFill>
                  <a:srgbClr val="141B26"/>
                </a:solidFill>
              </a:rPr>
              <a:t>Root hairs on a seedling</a:t>
            </a:r>
            <a:pPr algn="l" indent="0" marL="0">
              <a:buNone/>
            </a:pPr>
            <a:endParaRPr lang="en-US" sz="1100" dirty="0"/>
          </a:p>
          <a:p>
            <a:pPr algn="l" indent="0" marL="0">
              <a:buNone/>
            </a:pPr>
            <a:r>
              <a:rPr lang="en-US" sz="800" dirty="0">
                <a:solidFill>
                  <a:srgbClr val="5B6574"/>
                </a:solidFill>
              </a:rPr>
              <a:t>Image: bccoer, CC0, via Wikimedia Commons</a:t>
            </a:r>
            <a:endParaRPr lang="en-US" sz="11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Large surface area = faster absorption. Hollow dead cells = a pipe.</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The route of water through a plant</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xylem   ·   wilt</a:t>
            </a:r>
            <a:endParaRPr lang="en-US" sz="1200" dirty="0"/>
          </a:p>
        </p:txBody>
      </p:sp>
      <p:sp>
        <p:nvSpPr>
          <p:cNvPr id="6" name="Text 4"/>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600" dirty="0">
                <a:solidFill>
                  <a:srgbClr val="141B26"/>
                </a:solidFill>
              </a:rPr>
              <a:t>Water is needed for photosynthesis, to keep leaves cool, and to fill cells so they stay firm.</a:t>
            </a:r>
            <a:endParaRPr lang="en-US" sz="1600" dirty="0"/>
          </a:p>
        </p:txBody>
      </p:sp>
      <p:pic>
        <p:nvPicPr>
          <p:cNvPr id="7" name="Image 0" descr="/home/user/lessons/Y9_Exploring_Science/source/diagrams/water_route.png">    </p:cNvPr>
          <p:cNvPicPr>
            <a:picLocks noChangeAspect="1"/>
          </p:cNvPicPr>
          <p:nvPr/>
        </p:nvPicPr>
        <p:blipFill>
          <a:blip r:embed="rId1"/>
          <a:stretch>
            <a:fillRect/>
          </a:stretch>
        </p:blipFill>
        <p:spPr>
          <a:xfrm>
            <a:off x="764177" y="1737360"/>
            <a:ext cx="10450286" cy="3657600"/>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Too little water: the cells sag, the leaves droop and the plant wilts. Water the plant and the cells fill again.</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Inside a leaf</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palisade cell   ·   epidermis   ·   cuticle</a:t>
            </a:r>
            <a:endParaRPr lang="en-US" sz="1200" dirty="0"/>
          </a:p>
        </p:txBody>
      </p:sp>
      <p:sp>
        <p:nvSpPr>
          <p:cNvPr id="6" name="Text 4"/>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600" dirty="0">
                <a:solidFill>
                  <a:srgbClr val="141B26"/>
                </a:solidFill>
              </a:rPr>
              <a:t>Leaves are broad and thin. Which layer has the most chloroplasts, and why is it near the top?</a:t>
            </a:r>
            <a:endParaRPr lang="en-US" sz="1600" dirty="0"/>
          </a:p>
        </p:txBody>
      </p:sp>
      <p:pic>
        <p:nvPicPr>
          <p:cNvPr id="7" name="Image 0" descr="/home/user/lessons/Y9_Exploring_Science/source/diagrams/leaf_section.png">    </p:cNvPr>
          <p:cNvPicPr>
            <a:picLocks noChangeAspect="1"/>
          </p:cNvPicPr>
          <p:nvPr/>
        </p:nvPicPr>
        <p:blipFill>
          <a:blip r:embed="rId1"/>
          <a:stretch>
            <a:fillRect/>
          </a:stretch>
        </p:blipFill>
        <p:spPr>
          <a:xfrm>
            <a:off x="2738120" y="1737360"/>
            <a:ext cx="6502400" cy="3657600"/>
          </a:xfrm>
          <a:prstGeom prst="rect">
            <a:avLst/>
          </a:prstGeom>
        </p:spPr>
      </p:pic>
      <p:sp>
        <p:nvSpPr>
          <p:cNvPr id="8" name="Shape 5"/>
          <p:cNvSpPr/>
          <p:nvPr/>
        </p:nvSpPr>
        <p:spPr>
          <a:xfrm>
            <a:off x="548640" y="5532120"/>
            <a:ext cx="11094415" cy="566928"/>
          </a:xfrm>
          <a:prstGeom prst="rect">
            <a:avLst/>
          </a:prstGeom>
          <a:solidFill>
            <a:srgbClr val="F1E5F4"/>
          </a:solidFill>
          <a:ln w="12700">
            <a:solidFill>
              <a:srgbClr val="F1E5F4"/>
            </a:solidFill>
            <a:prstDash val="solid"/>
          </a:ln>
        </p:spPr>
      </p:sp>
      <p:sp>
        <p:nvSpPr>
          <p:cNvPr id="9" name="Text 6"/>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Palisade cells sit near the upper surface, where there is most light, and are packed with chloroplasts.</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Leaves: catching light</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palisade cell   ·   cuticle   ·   surface area</a:t>
            </a:r>
            <a:endParaRPr lang="en-US" sz="1200" dirty="0"/>
          </a:p>
        </p:txBody>
      </p:sp>
      <p:sp>
        <p:nvSpPr>
          <p:cNvPr id="6" name="Text 4"/>
          <p:cNvSpPr txBox="1"/>
          <p:nvPr/>
        </p:nvSpPr>
        <p:spPr>
          <a:xfrm>
            <a:off x="548640" y="1325880"/>
            <a:ext cx="576072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Broad leaves have a large surface area to trap light.</a:t>
            </a:r>
            <a:endParaRPr lang="en-US" sz="1700" dirty="0"/>
          </a:p>
          <a:p>
            <a:pPr marL="228600" indent="-228600">
              <a:spcAft>
                <a:spcPts val="600"/>
              </a:spcAft>
              <a:buSzPct val="100000"/>
              <a:buChar char="•"/>
            </a:pPr>
            <a:r>
              <a:rPr lang="en-US" sz="1700" dirty="0">
                <a:solidFill>
                  <a:srgbClr val="141B26"/>
                </a:solidFill>
              </a:rPr>
              <a:t>Leaves are arranged so the upper ones do not shade the lower ones too much.</a:t>
            </a:r>
            <a:endParaRPr lang="en-US" sz="1700" dirty="0"/>
          </a:p>
          <a:p>
            <a:pPr marL="228600" indent="-228600">
              <a:spcAft>
                <a:spcPts val="600"/>
              </a:spcAft>
              <a:buSzPct val="100000"/>
              <a:buChar char="•"/>
            </a:pPr>
            <a:r>
              <a:rPr lang="en-US" sz="1700" dirty="0">
                <a:solidFill>
                  <a:srgbClr val="141B26"/>
                </a:solidFill>
              </a:rPr>
              <a:t>The epidermis makes a waxy cuticle that stops the leaf losing too much water.</a:t>
            </a:r>
            <a:endParaRPr lang="en-US" sz="1700" dirty="0"/>
          </a:p>
          <a:p>
            <a:pPr marL="228600" indent="-228600">
              <a:spcAft>
                <a:spcPts val="600"/>
              </a:spcAft>
              <a:buSzPct val="100000"/>
              <a:buChar char="•"/>
            </a:pPr>
            <a:r>
              <a:rPr lang="en-US" sz="1700" dirty="0">
                <a:solidFill>
                  <a:srgbClr val="141B26"/>
                </a:solidFill>
              </a:rPr>
              <a:t>Palisade cells contain many chloroplasts, where photosynthesis happens.</a:t>
            </a:r>
            <a:endParaRPr lang="en-US" sz="1700" dirty="0"/>
          </a:p>
          <a:p>
            <a:pPr marL="228600" indent="-228600">
              <a:spcAft>
                <a:spcPts val="600"/>
              </a:spcAft>
              <a:buSzPct val="100000"/>
              <a:buChar char="•"/>
            </a:pPr>
            <a:r>
              <a:rPr lang="en-US" sz="1700" dirty="0">
                <a:solidFill>
                  <a:srgbClr val="141B26"/>
                </a:solidFill>
              </a:rPr>
              <a:t>In dim light the chloroplasts move nearer the surface; in bright light they move away to avoid damage.</a:t>
            </a:r>
            <a:endParaRPr lang="en-US" sz="1700" dirty="0"/>
          </a:p>
        </p:txBody>
      </p:sp>
      <p:pic>
        <p:nvPicPr>
          <p:cNvPr id="7" name="Image 0" descr="/home/user/lessons/Y9_Exploring_Science/images/chloroplasts.jpg">    </p:cNvPr>
          <p:cNvPicPr>
            <a:picLocks noChangeAspect="1"/>
          </p:cNvPicPr>
          <p:nvPr/>
        </p:nvPicPr>
        <p:blipFill>
          <a:blip r:embed="rId1"/>
          <a:stretch>
            <a:fillRect/>
          </a:stretch>
        </p:blipFill>
        <p:spPr>
          <a:xfrm>
            <a:off x="6583680" y="1690657"/>
            <a:ext cx="5029200" cy="2836606"/>
          </a:xfrm>
          <a:prstGeom prst="rect">
            <a:avLst/>
          </a:prstGeom>
        </p:spPr>
      </p:pic>
      <p:sp>
        <p:nvSpPr>
          <p:cNvPr id="8" name="Text 5"/>
          <p:cNvSpPr txBox="1"/>
          <p:nvPr/>
        </p:nvSpPr>
        <p:spPr>
          <a:xfrm>
            <a:off x="6583680" y="4572983"/>
            <a:ext cx="5029200" cy="502920"/>
          </a:xfrm>
          <a:prstGeom prst="rect">
            <a:avLst/>
          </a:prstGeom>
          <a:noFill/>
          <a:ln/>
        </p:spPr>
        <p:txBody>
          <a:bodyPr wrap="square" lIns="0" tIns="0" rIns="0" bIns="0" rtlCol="0" anchor="t"/>
          <a:lstStyle/>
          <a:p>
            <a:pPr algn="l" indent="0" marL="0">
              <a:buNone/>
            </a:pPr>
            <a:r>
              <a:rPr lang="en-US" sz="1100" dirty="0">
                <a:solidFill>
                  <a:srgbClr val="141B26"/>
                </a:solidFill>
              </a:rPr>
              <a:t>Chloroplasts inside leaf cells (microscope)</a:t>
            </a:r>
            <a:pPr algn="l" indent="0" marL="0">
              <a:buNone/>
            </a:pPr>
            <a:endParaRPr lang="en-US" sz="1100" dirty="0"/>
          </a:p>
          <a:p>
            <a:pPr algn="l" indent="0" marL="0">
              <a:buNone/>
            </a:pPr>
            <a:r>
              <a:rPr lang="en-US" sz="800" dirty="0">
                <a:solidFill>
                  <a:srgbClr val="5B6574"/>
                </a:solidFill>
              </a:rPr>
              <a:t>Image: bccoer, CC0, via Wikimedia Commons</a:t>
            </a:r>
            <a:endParaRPr lang="en-US" sz="11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Shape fits function: broad and thin for light, a cuticle to keep water in, palisade cells full of chloroplasts.</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Mini whiteboards. One answer each, then we check.</a:t>
            </a:r>
            <a:endParaRPr lang="en-US" sz="14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Q1  </a:t>
            </a:r>
            <a:pPr indent="0" marL="0">
              <a:buNone/>
            </a:pPr>
            <a:r>
              <a:rPr lang="en-US" sz="1600" dirty="0">
                <a:solidFill>
                  <a:srgbClr val="141B26"/>
                </a:solidFill>
              </a:rPr>
              <a:t>Which mineral salt supplies nitrogen for making proteins?</a:t>
            </a:r>
            <a:endParaRPr lang="en-US" sz="16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Q2  </a:t>
            </a:r>
            <a:pPr indent="0" marL="0">
              <a:buNone/>
            </a:pPr>
            <a:r>
              <a:rPr lang="en-US" sz="1600" dirty="0">
                <a:solidFill>
                  <a:srgbClr val="141B26"/>
                </a:solidFill>
              </a:rPr>
              <a:t>A plant has yellow leaves. Which element is it short of?</a:t>
            </a:r>
            <a:endParaRPr lang="en-US" sz="16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Q3  </a:t>
            </a:r>
            <a:pPr indent="0" marL="0">
              <a:buNone/>
            </a:pPr>
            <a:r>
              <a:rPr lang="en-US" sz="1600" dirty="0">
                <a:solidFill>
                  <a:srgbClr val="141B26"/>
                </a:solidFill>
              </a:rPr>
              <a:t>How are root hair cells adapted to absorb water quickly?</a:t>
            </a:r>
            <a:endParaRPr lang="en-US" sz="16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Q4  </a:t>
            </a:r>
            <a:pPr indent="0" marL="0">
              <a:buNone/>
            </a:pPr>
            <a:r>
              <a:rPr lang="en-US" sz="1600" dirty="0">
                <a:solidFill>
                  <a:srgbClr val="141B26"/>
                </a:solidFill>
              </a:rPr>
              <a:t>Which tissue carries water up the stem, xylem or phloem?</a:t>
            </a:r>
            <a:endParaRPr lang="en-US" sz="16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Q5  </a:t>
            </a:r>
            <a:pPr indent="0" marL="0">
              <a:buNone/>
            </a:pPr>
            <a:r>
              <a:rPr lang="en-US" sz="1600" dirty="0">
                <a:solidFill>
                  <a:srgbClr val="141B26"/>
                </a:solidFill>
              </a:rPr>
              <a:t>Which leaf cells contain the most chloroplasts?</a:t>
            </a:r>
            <a:endParaRPr lang="en-US" sz="16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Your turn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14</a:t>
            </a:r>
            <a:endParaRPr lang="en-US" sz="2200" dirty="0"/>
          </a:p>
          <a:p>
            <a:pPr algn="ctr" indent="0" marL="0">
              <a:buNone/>
            </a:pPr>
            <a:r>
              <a:rPr lang="en-US" sz="1000" dirty="0">
                <a:solidFill>
                  <a:srgbClr val="5B6574"/>
                </a:solidFill>
              </a:rPr>
              <a:t>min</a:t>
            </a:r>
            <a:endParaRPr lang="en-US" sz="2200" dirty="0"/>
          </a:p>
        </p:txBody>
      </p:sp>
      <p:sp>
        <p:nvSpPr>
          <p:cNvPr id="7" name="Shape 5"/>
          <p:cNvSpPr/>
          <p:nvPr/>
        </p:nvSpPr>
        <p:spPr>
          <a:xfrm>
            <a:off x="548640" y="1417320"/>
            <a:ext cx="457200" cy="457200"/>
          </a:xfrm>
          <a:prstGeom prst="ellipse">
            <a:avLst/>
          </a:prstGeom>
          <a:solidFill>
            <a:srgbClr val="7B3A8E"/>
          </a:solidFill>
          <a:ln w="12700">
            <a:solidFill>
              <a:srgbClr val="7B3A8E"/>
            </a:solidFill>
            <a:prstDash val="solid"/>
          </a:ln>
        </p:spPr>
      </p:sp>
      <p:sp>
        <p:nvSpPr>
          <p:cNvPr id="8" name="Text 6"/>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7"/>
          <p:cNvSpPr txBox="1"/>
          <p:nvPr/>
        </p:nvSpPr>
        <p:spPr>
          <a:xfrm>
            <a:off x="1188720" y="13716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Core: complete the table of what plants need, match the leaf parts, then fill the gaps on the route of water.</a:t>
            </a:r>
            <a:endParaRPr lang="en-US" sz="1700" dirty="0"/>
          </a:p>
        </p:txBody>
      </p:sp>
      <p:sp>
        <p:nvSpPr>
          <p:cNvPr id="10" name="Shape 8"/>
          <p:cNvSpPr/>
          <p:nvPr/>
        </p:nvSpPr>
        <p:spPr>
          <a:xfrm>
            <a:off x="548640" y="2331720"/>
            <a:ext cx="457200" cy="457200"/>
          </a:xfrm>
          <a:prstGeom prst="ellipse">
            <a:avLst/>
          </a:prstGeom>
          <a:solidFill>
            <a:srgbClr val="7B3A8E"/>
          </a:solidFill>
          <a:ln w="12700">
            <a:solidFill>
              <a:srgbClr val="7B3A8E"/>
            </a:solidFill>
            <a:prstDash val="solid"/>
          </a:ln>
        </p:spPr>
      </p:sp>
      <p:sp>
        <p:nvSpPr>
          <p:cNvPr id="11" name="Text 9"/>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1188720" y="22860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Stretch: explain the adaptations of xylem and root hair cells, wilting and recovery, and the yellow leaves.</a:t>
            </a:r>
            <a:endParaRPr lang="en-US" sz="1700" dirty="0"/>
          </a:p>
        </p:txBody>
      </p:sp>
      <p:sp>
        <p:nvSpPr>
          <p:cNvPr id="13" name="Shape 11"/>
          <p:cNvSpPr/>
          <p:nvPr/>
        </p:nvSpPr>
        <p:spPr>
          <a:xfrm>
            <a:off x="548640" y="3246120"/>
            <a:ext cx="457200" cy="457200"/>
          </a:xfrm>
          <a:prstGeom prst="ellipse">
            <a:avLst/>
          </a:prstGeom>
          <a:solidFill>
            <a:srgbClr val="7B3A8E"/>
          </a:solidFill>
          <a:ln w="12700">
            <a:solidFill>
              <a:srgbClr val="7B3A8E"/>
            </a:solidFill>
            <a:prstDash val="solid"/>
          </a:ln>
        </p:spPr>
      </p:sp>
      <p:sp>
        <p:nvSpPr>
          <p:cNvPr id="14" name="Text 12"/>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3"/>
          <p:cNvSpPr txBox="1"/>
          <p:nvPr/>
        </p:nvSpPr>
        <p:spPr>
          <a:xfrm>
            <a:off x="1188720" y="32004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Challenge: the Venus flytrap and how a leaf supplies its palisade cells.</a:t>
            </a:r>
            <a:endParaRPr lang="en-US" sz="1700" dirty="0"/>
          </a:p>
        </p:txBody>
      </p:sp>
      <p:sp>
        <p:nvSpPr>
          <p:cNvPr id="16" name="Shape 14"/>
          <p:cNvSpPr/>
          <p:nvPr/>
        </p:nvSpPr>
        <p:spPr>
          <a:xfrm>
            <a:off x="548640" y="4160520"/>
            <a:ext cx="457200" cy="457200"/>
          </a:xfrm>
          <a:prstGeom prst="ellipse">
            <a:avLst/>
          </a:prstGeom>
          <a:solidFill>
            <a:srgbClr val="7B3A8E"/>
          </a:solidFill>
          <a:ln w="12700">
            <a:solidFill>
              <a:srgbClr val="7B3A8E"/>
            </a:solidFill>
            <a:prstDash val="solid"/>
          </a:ln>
        </p:spPr>
      </p:sp>
      <p:sp>
        <p:nvSpPr>
          <p:cNvPr id="17" name="Text 15"/>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6"/>
          <p:cNvSpPr txBox="1"/>
          <p:nvPr/>
        </p:nvSpPr>
        <p:spPr>
          <a:xfrm>
            <a:off x="1188720" y="41148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Optional with your partner: trace a leaf on squared paper and estimate its surface area in cm².</a:t>
            </a:r>
            <a:endParaRPr lang="en-US" sz="1700" dirty="0"/>
          </a:p>
        </p:txBody>
      </p:sp>
      <p:sp>
        <p:nvSpPr>
          <p:cNvPr id="19" name="Text 17"/>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i="1" dirty="0">
                <a:solidFill>
                  <a:srgbClr val="5B6574"/>
                </a:solidFill>
              </a:rPr>
              <a:t>Use the key words box. Every answer about an adaptation should say what the structure is like AND what that lets it do.</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Wilt and recover</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normAutofit/>
          </a:bodyPr>
          <a:lstStyle/>
          <a:p>
            <a:pPr indent="0" marL="0">
              <a:buNone/>
            </a:pPr>
            <a:r>
              <a:rPr lang="en-US" sz="2200" b="1" dirty="0">
                <a:solidFill>
                  <a:srgbClr val="0F2A5F"/>
                </a:solidFill>
              </a:rPr>
              <a:t>A pot plant is left without water for a week and wilts. Two hours after watering it stands up straight again. Explain both changes.</a:t>
            </a:r>
            <a:endParaRPr lang="en-US" sz="22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normAutofit/>
          </a:bodyPr>
          <a:lstStyle/>
          <a:p>
            <a:pPr indent="0" marL="0">
              <a:spcAft>
                <a:spcPts val="600"/>
              </a:spcAft>
              <a:buNone/>
            </a:pPr>
            <a:r>
              <a:rPr lang="en-US" sz="1500" b="1" dirty="0">
                <a:solidFill>
                  <a:srgbClr val="7B3A8E"/>
                </a:solidFill>
              </a:rPr>
              <a:t>Sentence frames</a:t>
            </a:r>
            <a:endParaRPr lang="en-US" sz="1500" dirty="0"/>
          </a:p>
          <a:p>
            <a:pPr indent="0" marL="0">
              <a:spcAft>
                <a:spcPts val="600"/>
              </a:spcAft>
              <a:buNone/>
            </a:pPr>
            <a:r>
              <a:rPr lang="en-US" sz="1500" dirty="0">
                <a:solidFill>
                  <a:srgbClr val="141B26"/>
                </a:solidFill>
              </a:rPr>
              <a:t>Without water, the cells ___ so the leaves ___.</a:t>
            </a:r>
            <a:endParaRPr lang="en-US" sz="1500" dirty="0"/>
          </a:p>
          <a:p>
            <a:pPr indent="0" marL="0">
              <a:spcAft>
                <a:spcPts val="600"/>
              </a:spcAft>
              <a:buNone/>
            </a:pPr>
            <a:r>
              <a:rPr lang="en-US" sz="1500" dirty="0">
                <a:solidFill>
                  <a:srgbClr val="141B26"/>
                </a:solidFill>
              </a:rPr>
              <a:t>After watering, water travels from the ___ through the ___ to the leaves.</a:t>
            </a:r>
            <a:endParaRPr lang="en-US" sz="1500" dirty="0"/>
          </a:p>
          <a:p>
            <a:pPr indent="0" marL="0">
              <a:spcAft>
                <a:spcPts val="600"/>
              </a:spcAft>
              <a:buNone/>
            </a:pPr>
            <a:r>
              <a:rPr lang="en-US" sz="1500" dirty="0">
                <a:solidFill>
                  <a:srgbClr val="141B26"/>
                </a:solidFill>
              </a:rPr>
              <a:t>The cells fill up again and become ___.</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On your worksheet exit ticket. Work alone. Hand it in as you leave.</a:t>
            </a:r>
            <a:endParaRPr lang="en-US" sz="1400" dirty="0"/>
          </a:p>
        </p:txBody>
      </p:sp>
      <p:sp>
        <p:nvSpPr>
          <p:cNvPr id="6" name="Text 4"/>
          <p:cNvSpPr txBox="1"/>
          <p:nvPr/>
        </p:nvSpPr>
        <p:spPr>
          <a:xfrm>
            <a:off x="548640" y="182880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1.  </a:t>
            </a:r>
            <a:pPr indent="0" marL="0">
              <a:buNone/>
            </a:pPr>
            <a:r>
              <a:rPr lang="en-US" sz="1800" dirty="0">
                <a:solidFill>
                  <a:srgbClr val="141B26"/>
                </a:solidFill>
              </a:rPr>
              <a:t>Name the mineral salt a plant needs to make proteins.</a:t>
            </a:r>
            <a:endParaRPr lang="en-US" sz="1800" dirty="0"/>
          </a:p>
        </p:txBody>
      </p:sp>
      <p:sp>
        <p:nvSpPr>
          <p:cNvPr id="7" name="Text 5"/>
          <p:cNvSpPr txBox="1"/>
          <p:nvPr/>
        </p:nvSpPr>
        <p:spPr>
          <a:xfrm>
            <a:off x="548640" y="301752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2.  </a:t>
            </a:r>
            <a:pPr indent="0" marL="0">
              <a:buNone/>
            </a:pPr>
            <a:r>
              <a:rPr lang="en-US" sz="1800" dirty="0">
                <a:solidFill>
                  <a:srgbClr val="141B26"/>
                </a:solidFill>
              </a:rPr>
              <a:t>How are root hair cells adapted to absorb water?</a:t>
            </a:r>
            <a:endParaRPr lang="en-US" sz="1800" dirty="0"/>
          </a:p>
        </p:txBody>
      </p:sp>
      <p:sp>
        <p:nvSpPr>
          <p:cNvPr id="8" name="Text 6"/>
          <p:cNvSpPr txBox="1"/>
          <p:nvPr/>
        </p:nvSpPr>
        <p:spPr>
          <a:xfrm>
            <a:off x="548640" y="420624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3.  </a:t>
            </a:r>
            <a:pPr indent="0" marL="0">
              <a:buNone/>
            </a:pPr>
            <a:r>
              <a:rPr lang="en-US" sz="1800" dirty="0">
                <a:solidFill>
                  <a:srgbClr val="141B26"/>
                </a:solidFill>
              </a:rPr>
              <a:t>Why do palisade cells contain so many chloroplasts?</a:t>
            </a:r>
            <a:endParaRPr lang="en-US" sz="18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48056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41B26"/>
                </a:solidFill>
              </a:rPr>
              <a:t>Plants need nitrates (proteins), magnesium (chlorophyll) and potassium (absorbing water) from mineral salts in the soil.</a:t>
            </a:r>
            <a:endParaRPr lang="en-US" sz="1700" dirty="0"/>
          </a:p>
          <a:p>
            <a:pPr marL="342900" indent="-342900">
              <a:spcAft>
                <a:spcPts val="1000"/>
              </a:spcAft>
              <a:buSzPct val="100000"/>
              <a:buChar char="✓"/>
            </a:pPr>
            <a:r>
              <a:rPr lang="en-US" sz="1700" dirty="0">
                <a:solidFill>
                  <a:srgbClr val="141B26"/>
                </a:solidFill>
              </a:rPr>
              <a:t>Root hair cells have a large surface area; xylem vessels are hollow tubes of dead cells that carry water and mineral salts up.</a:t>
            </a:r>
            <a:endParaRPr lang="en-US" sz="1700" dirty="0"/>
          </a:p>
          <a:p>
            <a:pPr marL="342900" indent="-342900">
              <a:spcAft>
                <a:spcPts val="1000"/>
              </a:spcAft>
              <a:buSzPct val="100000"/>
              <a:buChar char="✓"/>
            </a:pPr>
            <a:r>
              <a:rPr lang="en-US" sz="1700" dirty="0">
                <a:solidFill>
                  <a:srgbClr val="141B26"/>
                </a:solidFill>
              </a:rPr>
              <a:t>Water is needed for photosynthesis, cooling and keeping cells firm; too little and the plant wilts.</a:t>
            </a:r>
            <a:endParaRPr lang="en-US" sz="1700" dirty="0"/>
          </a:p>
          <a:p>
            <a:pPr marL="342900" indent="-342900">
              <a:spcAft>
                <a:spcPts val="1000"/>
              </a:spcAft>
              <a:buSzPct val="100000"/>
              <a:buChar char="✓"/>
            </a:pPr>
            <a:r>
              <a:rPr lang="en-US" sz="1700" dirty="0">
                <a:solidFill>
                  <a:srgbClr val="141B26"/>
                </a:solidFill>
              </a:rPr>
              <a:t>Leaves are broad and thin, with a waxy cuticle and palisade cells packed with chloroplasts near the top.</a:t>
            </a:r>
            <a:endParaRPr lang="en-US" sz="17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b="1" dirty="0">
                <a:solidFill>
                  <a:srgbClr val="7B3A8E"/>
                </a:solidFill>
              </a:rPr>
              <a:t>Next lesson  </a:t>
            </a:r>
            <a:pPr indent="0" marL="0">
              <a:buNone/>
            </a:pPr>
            <a:r>
              <a:rPr lang="en-US" sz="1300" dirty="0">
                <a:solidFill>
                  <a:srgbClr val="141B26"/>
                </a:solidFill>
              </a:rPr>
              <a:t>Gas exchange: how stomata let carbon dioxide in and oxygen and water vapour out.</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9B Lesson 2: Plant adaptations: roots, stems and leaves</dc:title>
  <dc:subject>PptxGenJS Presentation</dc:subject>
  <dc:creator>Year 9 Science</dc:creator>
  <cp:lastModifiedBy>Year 9 Science</cp:lastModifiedBy>
  <cp:revision>1</cp:revision>
  <dcterms:created xsi:type="dcterms:W3CDTF">2026-10-28T01:48:32Z</dcterms:created>
  <dcterms:modified xsi:type="dcterms:W3CDTF">2026-10-28T01:48:32Z</dcterms:modified>
</cp:coreProperties>
</file>