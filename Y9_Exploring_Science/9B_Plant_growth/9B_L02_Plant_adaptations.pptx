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of 9B. Last lesson: the two reactions. This lesson: the structures that supply them, from root hair to palisade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carbon dioxide + water makes glucose + oxygen; carbon dioxide from the air, water from the soil; mineral salts such as nitrates, magnesium and potassium (accept 'nutrients'). Many students will say 'food' for question 3: challenge it, the plant makes its own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to the key words box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fly supplies mineral salts, especially nitrates (nitrogen for proteins) and potassium. The plant still makes its own glucose by photosynthesis; the fly is not its energy source. Touching twice stops the trap wasting energy shutting on raindrops or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table. Ask: what happens to photosynthesis in a plant short of magnesium? Less chlorophyll, so less energy captured, so less glucose and slower growth. This is Stretch 3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a bunch of fine string next to a single thick rope: which has more surface? Root hairs work the same way. Xylem is made of dead cells: the end walls break down, leaving a continuous 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route aloud: soil water, root hair cell, xylem in the root, xylem in the stem, leaf cells, out through the stomata as water vapour (next lesson). Show a wilted and a watered pot plant if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palisade layer, just under the clear upper epidermis, because light arrives from above. The spongy layer has air spaces for gases, the vein carries water in (xylem) and sugar out (phloem), and the stomata are mostly underneath. Next lesson looks at the stomata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activity for the Do phase: trace a leaf on squared paper and count the squares to estimate its surface area. Compare a sun leaf and a shade leaf from the same tree: shade leaves are often larger and thinner.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nitrates; magnesium; a long extension gives a large surface area; xylem; palisade cells. Ask a student to say the difference between xylem (water up, dead cells) and phloem (sugar solution, living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adaptation answer on the board: 'Root hair cells have a long thin extension (what it is like), which gives a large surface area, so water is absorbed faster (what it does).' Insist on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without water the cells sag (lose their firmness) so the leaves droop; after watering, water is absorbed by root hair cells and carried up in the xylem; the cells fill with water, become firm, and hold the leaves up. Lesson 3 adds how water leaves through the stomata.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nitrates; a long extension gives a large surface area so water is absorbed quickly; they are near the top of the leaf where there is most light, and chloroplasts are where photosynthesis happens. Collect the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17. Bring in a leaf next lesson if you want to look at its stomata under the microscope.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2: Plant adaptations: roots, stems and leaves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2: Plant adaptations: roots, stems and leaves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2: Plant adaptations: roots, stems and leaves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9B Plant growth  |  Lesson 2: Plant adaptations: roots, stems and leaves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9B PLANT GROWTH  ·  LESSON 2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Plant adaptations: roots, stems and leaves</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How is a plant built to collect water, mineral salts, light and carbon dioxide?</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24 to 25  ·  Workbook pages 17</a:t>
            </a:r>
            <a:endParaRPr lang="en-US" sz="1400" dirty="0"/>
          </a:p>
        </p:txBody>
      </p:sp>
      <p:pic>
        <p:nvPicPr>
          <p:cNvPr id="6" name="Image 0" descr="/home/user/lessons/Y9_Exploring_Science/images/venus_flytrap.jpg">    </p:cNvPr>
          <p:cNvPicPr>
            <a:picLocks noChangeAspect="1"/>
          </p:cNvPicPr>
          <p:nvPr/>
        </p:nvPicPr>
        <p:blipFill>
          <a:blip r:embed="rId1"/>
          <a:stretch>
            <a:fillRect/>
          </a:stretch>
        </p:blipFill>
        <p:spPr>
          <a:xfrm>
            <a:off x="9313817" y="4572000"/>
            <a:ext cx="1672046"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where do the reactants come from?</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1. Write the word equation for photosynthesis.</a:t>
            </a:r>
            <a:endParaRPr lang="en-US" sz="2400" dirty="0"/>
          </a:p>
          <a:p>
            <a:pPr indent="0" marL="0">
              <a:spcAft>
                <a:spcPts val="1200"/>
              </a:spcAft>
              <a:buNone/>
            </a:pPr>
            <a:r>
              <a:rPr lang="en-US" sz="2400" dirty="0">
                <a:solidFill>
                  <a:srgbClr val="141B26"/>
                </a:solidFill>
              </a:rPr>
              <a:t>2. Which reactant comes from the air, and which comes from the soil?</a:t>
            </a:r>
            <a:endParaRPr lang="en-US" sz="2400" dirty="0"/>
          </a:p>
          <a:p>
            <a:pPr indent="0" marL="0">
              <a:spcAft>
                <a:spcPts val="1200"/>
              </a:spcAft>
              <a:buNone/>
            </a:pPr>
            <a:r>
              <a:rPr lang="en-US" sz="2400" dirty="0">
                <a:solidFill>
                  <a:srgbClr val="141B26"/>
                </a:solidFill>
              </a:rPr>
              <a:t>3. Name two other things a plant needs that it gets from the soil.</a:t>
            </a:r>
            <a:endParaRPr lang="en-US" sz="2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describe what plants need from the soil and the air, and how roots, root hair cells and xylem are adapted to supply water and mineral salts.</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explain how a leaf and its palisade cells are adapted for photosynthesis.</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mineral salts</a:t>
            </a:r>
            <a:endParaRPr lang="en-US" sz="2100" dirty="0"/>
          </a:p>
          <a:p>
            <a:pPr marL="304800" indent="-304800">
              <a:spcAft>
                <a:spcPts val="600"/>
              </a:spcAft>
              <a:buSzPct val="100000"/>
              <a:buChar char="•"/>
            </a:pPr>
            <a:r>
              <a:rPr lang="en-US" sz="2100" b="1" dirty="0">
                <a:solidFill>
                  <a:srgbClr val="0F2A5F"/>
                </a:solidFill>
              </a:rPr>
              <a:t>nitrate</a:t>
            </a:r>
            <a:endParaRPr lang="en-US" sz="2100" dirty="0"/>
          </a:p>
          <a:p>
            <a:pPr marL="304800" indent="-304800">
              <a:spcAft>
                <a:spcPts val="600"/>
              </a:spcAft>
              <a:buSzPct val="100000"/>
              <a:buChar char="•"/>
            </a:pPr>
            <a:r>
              <a:rPr lang="en-US" sz="2100" b="1" dirty="0">
                <a:solidFill>
                  <a:srgbClr val="0F2A5F"/>
                </a:solidFill>
              </a:rPr>
              <a:t>magnesium</a:t>
            </a:r>
            <a:endParaRPr lang="en-US" sz="2100" dirty="0"/>
          </a:p>
          <a:p>
            <a:pPr marL="304800" indent="-304800">
              <a:spcAft>
                <a:spcPts val="600"/>
              </a:spcAft>
              <a:buSzPct val="100000"/>
              <a:buChar char="•"/>
            </a:pPr>
            <a:r>
              <a:rPr lang="en-US" sz="2100" b="1" dirty="0">
                <a:solidFill>
                  <a:srgbClr val="0F2A5F"/>
                </a:solidFill>
              </a:rPr>
              <a:t>potassium</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root hair cell</a:t>
            </a:r>
            <a:endParaRPr lang="en-US" sz="2100" dirty="0"/>
          </a:p>
          <a:p>
            <a:pPr marL="304800" indent="-304800">
              <a:spcAft>
                <a:spcPts val="600"/>
              </a:spcAft>
              <a:buSzPct val="100000"/>
              <a:buChar char="•"/>
            </a:pPr>
            <a:r>
              <a:rPr lang="en-US" sz="2100" b="1" dirty="0">
                <a:solidFill>
                  <a:srgbClr val="0F2A5F"/>
                </a:solidFill>
              </a:rPr>
              <a:t>xylem</a:t>
            </a:r>
            <a:endParaRPr lang="en-US" sz="2100" dirty="0"/>
          </a:p>
          <a:p>
            <a:pPr marL="304800" indent="-304800">
              <a:spcAft>
                <a:spcPts val="600"/>
              </a:spcAft>
              <a:buSzPct val="100000"/>
              <a:buChar char="•"/>
            </a:pPr>
            <a:r>
              <a:rPr lang="en-US" sz="2100" b="1" dirty="0">
                <a:solidFill>
                  <a:srgbClr val="0F2A5F"/>
                </a:solidFill>
              </a:rPr>
              <a:t>wilt</a:t>
            </a:r>
            <a:endParaRPr lang="en-US" sz="2100" dirty="0"/>
          </a:p>
          <a:p>
            <a:pPr marL="304800" indent="-304800">
              <a:spcAft>
                <a:spcPts val="600"/>
              </a:spcAft>
              <a:buSzPct val="100000"/>
              <a:buChar char="•"/>
            </a:pPr>
            <a:r>
              <a:rPr lang="en-US" sz="2100" b="1" dirty="0">
                <a:solidFill>
                  <a:srgbClr val="0F2A5F"/>
                </a:solidFill>
              </a:rPr>
              <a:t>palisade cell</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epidermis</a:t>
            </a:r>
            <a:endParaRPr lang="en-US" sz="2200" dirty="0"/>
          </a:p>
          <a:p>
            <a:pPr marL="304800" indent="-304800">
              <a:spcAft>
                <a:spcPts val="600"/>
              </a:spcAft>
              <a:buSzPct val="100000"/>
              <a:buChar char="•"/>
            </a:pPr>
            <a:r>
              <a:rPr lang="en-US" sz="2200" b="1" dirty="0">
                <a:solidFill>
                  <a:srgbClr val="0F2A5F"/>
                </a:solidFill>
              </a:rPr>
              <a:t>cuticle</a:t>
            </a:r>
            <a:endParaRPr lang="en-US" sz="2200" dirty="0"/>
          </a:p>
          <a:p>
            <a:pPr marL="304800" indent="-304800">
              <a:spcAft>
                <a:spcPts val="600"/>
              </a:spcAft>
              <a:buSzPct val="100000"/>
              <a:buChar char="•"/>
            </a:pPr>
            <a:r>
              <a:rPr lang="en-US" sz="2200" b="1" dirty="0">
                <a:solidFill>
                  <a:srgbClr val="0F2A5F"/>
                </a:solidFill>
              </a:rPr>
              <a:t>surface area</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Why does a plant eat flies?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2900" b="1" dirty="0">
                <a:solidFill>
                  <a:srgbClr val="0F2A5F"/>
                </a:solidFill>
              </a:rPr>
              <a:t>The Venus flytrap grows in bogs where the soil contains very few mineral salts. What does it get from a fly that it cannot get from the soil?</a:t>
            </a:r>
            <a:endParaRPr lang="en-US" sz="29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Then: suggest why a hair has to be touched more than once before the trap shuts.</a:t>
            </a:r>
            <a:endParaRPr lang="en-US" sz="2000" dirty="0"/>
          </a:p>
        </p:txBody>
      </p:sp>
      <p:pic>
        <p:nvPicPr>
          <p:cNvPr id="7" name="Image 0" descr="/home/user/lessons/Y9_Exploring_Science/images/venus_flytrap.jpg">    </p:cNvPr>
          <p:cNvPicPr>
            <a:picLocks noChangeAspect="1"/>
          </p:cNvPicPr>
          <p:nvPr/>
        </p:nvPicPr>
        <p:blipFill>
          <a:blip r:embed="rId1"/>
          <a:stretch>
            <a:fillRect/>
          </a:stretch>
        </p:blipFill>
        <p:spPr>
          <a:xfrm>
            <a:off x="7038267" y="1280160"/>
            <a:ext cx="3845705" cy="4206240"/>
          </a:xfrm>
          <a:prstGeom prst="rect">
            <a:avLst/>
          </a:prstGeom>
        </p:spPr>
      </p:pic>
      <p:sp>
        <p:nvSpPr>
          <p:cNvPr id="8" name="Text 5"/>
          <p:cNvSpPr txBox="1"/>
          <p:nvPr/>
        </p:nvSpPr>
        <p:spPr>
          <a:xfrm>
            <a:off x="6309360" y="5532120"/>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A Venus flytrap. The trap shuts when a hair is touched twice.</a:t>
            </a:r>
            <a:pPr algn="l" indent="0" marL="0">
              <a:buNone/>
            </a:pPr>
            <a:endParaRPr lang="en-US" sz="1300" dirty="0"/>
          </a:p>
          <a:p>
            <a:pPr algn="l" indent="0" marL="0">
              <a:buNone/>
            </a:pPr>
            <a:r>
              <a:rPr lang="en-US" sz="900" dirty="0">
                <a:solidFill>
                  <a:srgbClr val="5B6574"/>
                </a:solidFill>
              </a:rPr>
              <a:t>Image: Noah Elhardt, CC BY-SA 2.5,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plants need from mineral salts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mineral salts   ·   nitrate   ·   magnesium   ·   potassium</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194560"/>
                <a:gridCol w="3291840"/>
                <a:gridCol w="2377440"/>
              </a:tblGrid>
              <a:tr h="38404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Mineral salt</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 plant uses it for</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 of shortage</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r>
              <a:tr h="384048">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nitrates (nitrogen)</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making proteins, so cells can grow</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small, poor growth</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magnesium</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making chlorophyll</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yellow leaves</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potassium</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root cells absorbing water properly</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41B26"/>
                          </a:solidFill>
                          <a:latin typeface="Calibri" pitchFamily="34" charset="0"/>
                          <a:ea typeface="Calibri" pitchFamily="34" charset="-122"/>
                          <a:cs typeface="Calibri" pitchFamily="34" charset="-120"/>
                        </a:rPr>
                        <a:t>weak growth, wilting</a:t>
                      </a:r>
                      <a:endParaRPr lang="en-US" sz="15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7772400" y="1371600"/>
            <a:ext cx="3840480" cy="438912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Carbon, hydrogen and oxygen come from water and carbon dioxide.</a:t>
            </a:r>
            <a:endParaRPr lang="en-US" sz="1800" dirty="0"/>
          </a:p>
          <a:p>
            <a:pPr marL="304800" indent="-304800">
              <a:spcAft>
                <a:spcPts val="800"/>
              </a:spcAft>
              <a:buSzPct val="100000"/>
              <a:buChar char="•"/>
            </a:pPr>
            <a:r>
              <a:rPr lang="en-US" sz="1800" dirty="0">
                <a:solidFill>
                  <a:srgbClr val="141B26"/>
                </a:solidFill>
              </a:rPr>
              <a:t>Mineral salts dissolve in soil water and enter through the roots.</a:t>
            </a:r>
            <a:endParaRPr lang="en-US" sz="1800" dirty="0"/>
          </a:p>
        </p:txBody>
      </p:sp>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Mineral salts are not food: they are building materials. Nitrates build proteins; magnesium builds chlorophyll.</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Roots: collecting water and mineral salts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root hair cell   ·   xylem   ·   surface area</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Roots hold the plant in place and absorb water with dissolved mineral salts.</a:t>
            </a:r>
            <a:endParaRPr lang="en-US" sz="2000" dirty="0"/>
          </a:p>
          <a:p>
            <a:pPr marL="304800" indent="-304800">
              <a:spcAft>
                <a:spcPts val="800"/>
              </a:spcAft>
              <a:buSzPct val="100000"/>
              <a:buChar char="•"/>
            </a:pPr>
            <a:r>
              <a:rPr lang="en-US" sz="2000" dirty="0">
                <a:solidFill>
                  <a:srgbClr val="141B26"/>
                </a:solidFill>
              </a:rPr>
              <a:t>Roots are branched and spread out to reach water in a large volume of soil.</a:t>
            </a:r>
            <a:endParaRPr lang="en-US" sz="2000" dirty="0"/>
          </a:p>
          <a:p>
            <a:pPr marL="304800" indent="-304800">
              <a:spcAft>
                <a:spcPts val="800"/>
              </a:spcAft>
              <a:buSzPct val="100000"/>
              <a:buChar char="•"/>
            </a:pPr>
            <a:r>
              <a:rPr lang="en-US" sz="2000" dirty="0">
                <a:solidFill>
                  <a:srgbClr val="141B26"/>
                </a:solidFill>
              </a:rPr>
              <a:t>Root hair cells have a long extension: a large surface area to absorb water quickly.</a:t>
            </a:r>
            <a:endParaRPr lang="en-US" sz="2000" dirty="0"/>
          </a:p>
          <a:p>
            <a:pPr marL="304800" indent="-304800">
              <a:spcAft>
                <a:spcPts val="800"/>
              </a:spcAft>
              <a:buSzPct val="100000"/>
              <a:buChar char="•"/>
            </a:pPr>
            <a:r>
              <a:rPr lang="en-US" sz="2000" dirty="0">
                <a:solidFill>
                  <a:srgbClr val="141B26"/>
                </a:solidFill>
              </a:rPr>
              <a:t>Water passes to xylem vessels: long hollow tubes formed when chains of xylem cells die.</a:t>
            </a:r>
            <a:endParaRPr lang="en-US" sz="2000" dirty="0"/>
          </a:p>
          <a:p>
            <a:pPr marL="304800" indent="-304800">
              <a:spcAft>
                <a:spcPts val="800"/>
              </a:spcAft>
              <a:buSzPct val="100000"/>
              <a:buChar char="•"/>
            </a:pPr>
            <a:r>
              <a:rPr lang="en-US" sz="2000" dirty="0">
                <a:solidFill>
                  <a:srgbClr val="141B26"/>
                </a:solidFill>
              </a:rPr>
              <a:t>Xylem carries water and mineral salts up to the leaves.</a:t>
            </a:r>
            <a:endParaRPr lang="en-US" sz="2000" dirty="0"/>
          </a:p>
        </p:txBody>
      </p:sp>
      <p:pic>
        <p:nvPicPr>
          <p:cNvPr id="7" name="Image 0" descr="/home/user/lessons/Y9_Exploring_Science/images/root_hairs.jpg">    </p:cNvPr>
          <p:cNvPicPr>
            <a:picLocks noChangeAspect="1"/>
          </p:cNvPicPr>
          <p:nvPr/>
        </p:nvPicPr>
        <p:blipFill>
          <a:blip r:embed="rId1"/>
          <a:stretch>
            <a:fillRect/>
          </a:stretch>
        </p:blipFill>
        <p:spPr>
          <a:xfrm>
            <a:off x="6583680" y="1690657"/>
            <a:ext cx="5029200" cy="2836606"/>
          </a:xfrm>
          <a:prstGeom prst="rect">
            <a:avLst/>
          </a:prstGeom>
        </p:spPr>
      </p:pic>
      <p:sp>
        <p:nvSpPr>
          <p:cNvPr id="8" name="Text 5"/>
          <p:cNvSpPr txBox="1"/>
          <p:nvPr/>
        </p:nvSpPr>
        <p:spPr>
          <a:xfrm>
            <a:off x="6583680" y="4572983"/>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Root hairs on a seedling</a:t>
            </a:r>
            <a:pPr algn="l" indent="0" marL="0">
              <a:buNone/>
            </a:pPr>
            <a:endParaRPr lang="en-US" sz="1300" dirty="0"/>
          </a:p>
          <a:p>
            <a:pPr algn="l" indent="0" marL="0">
              <a:buNone/>
            </a:pPr>
            <a:r>
              <a:rPr lang="en-US" sz="900" dirty="0">
                <a:solidFill>
                  <a:srgbClr val="5B6574"/>
                </a:solidFill>
              </a:rPr>
              <a:t>Image: bccoer, CC0,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Large surface area = faster absorption. Hollow dead cells = a pipe.</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route of water through a plant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xylem   ·   wilt</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700" dirty="0">
                <a:solidFill>
                  <a:srgbClr val="141B26"/>
                </a:solidFill>
              </a:rPr>
              <a:t>Water is needed for photosynthesis, to keep leaves cool, and to fill cells so they stay firm.</a:t>
            </a:r>
            <a:endParaRPr lang="en-US" sz="1700" dirty="0"/>
          </a:p>
        </p:txBody>
      </p:sp>
      <p:pic>
        <p:nvPicPr>
          <p:cNvPr id="7" name="Image 0" descr="/home/user/lessons/Y9_Exploring_Science/source/diagrams/water_route.png">    </p:cNvPr>
          <p:cNvPicPr>
            <a:picLocks noChangeAspect="1"/>
          </p:cNvPicPr>
          <p:nvPr/>
        </p:nvPicPr>
        <p:blipFill>
          <a:blip r:embed="rId1"/>
          <a:stretch>
            <a:fillRect/>
          </a:stretch>
        </p:blipFill>
        <p:spPr>
          <a:xfrm>
            <a:off x="764177" y="1737360"/>
            <a:ext cx="10450286"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Too little water: the cells sag, the leaves droop and the plant wilts. Water the plant and the cells fill again.</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Inside a leaf</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palisade cell   ·   epidermis   ·   cuticle</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700" dirty="0">
                <a:solidFill>
                  <a:srgbClr val="141B26"/>
                </a:solidFill>
              </a:rPr>
              <a:t>Leaves are broad and thin. Which layer has the most chloroplasts, and why is it near the top?</a:t>
            </a:r>
            <a:endParaRPr lang="en-US" sz="1700" dirty="0"/>
          </a:p>
        </p:txBody>
      </p:sp>
      <p:pic>
        <p:nvPicPr>
          <p:cNvPr id="7" name="Image 0" descr="/home/user/lessons/Y9_Exploring_Science/source/diagrams/leaf_section.png">    </p:cNvPr>
          <p:cNvPicPr>
            <a:picLocks noChangeAspect="1"/>
          </p:cNvPicPr>
          <p:nvPr/>
        </p:nvPicPr>
        <p:blipFill>
          <a:blip r:embed="rId1"/>
          <a:stretch>
            <a:fillRect/>
          </a:stretch>
        </p:blipFill>
        <p:spPr>
          <a:xfrm>
            <a:off x="2129056" y="1737360"/>
            <a:ext cx="7720528"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Palisade cells sit near the upper surface, where there is most light, and are packed with chloroplasts.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Leaves: catching light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palisade cell   ·   cuticle   ·   surface area</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Broad leaves have a large surface area to trap light.</a:t>
            </a:r>
            <a:endParaRPr lang="en-US" sz="2000" dirty="0"/>
          </a:p>
          <a:p>
            <a:pPr marL="304800" indent="-304800">
              <a:spcAft>
                <a:spcPts val="800"/>
              </a:spcAft>
              <a:buSzPct val="100000"/>
              <a:buChar char="•"/>
            </a:pPr>
            <a:r>
              <a:rPr lang="en-US" sz="2000" dirty="0">
                <a:solidFill>
                  <a:srgbClr val="141B26"/>
                </a:solidFill>
              </a:rPr>
              <a:t>Leaves are arranged so the upper ones do not shade the lower ones too much.</a:t>
            </a:r>
            <a:endParaRPr lang="en-US" sz="2000" dirty="0"/>
          </a:p>
          <a:p>
            <a:pPr marL="304800" indent="-304800">
              <a:spcAft>
                <a:spcPts val="800"/>
              </a:spcAft>
              <a:buSzPct val="100000"/>
              <a:buChar char="•"/>
            </a:pPr>
            <a:r>
              <a:rPr lang="en-US" sz="2000" dirty="0">
                <a:solidFill>
                  <a:srgbClr val="141B26"/>
                </a:solidFill>
              </a:rPr>
              <a:t>The epidermis makes a waxy cuticle that stops the leaf losing too much water.</a:t>
            </a:r>
            <a:endParaRPr lang="en-US" sz="2000" dirty="0"/>
          </a:p>
          <a:p>
            <a:pPr marL="304800" indent="-304800">
              <a:spcAft>
                <a:spcPts val="800"/>
              </a:spcAft>
              <a:buSzPct val="100000"/>
              <a:buChar char="•"/>
            </a:pPr>
            <a:r>
              <a:rPr lang="en-US" sz="2000" dirty="0">
                <a:solidFill>
                  <a:srgbClr val="141B26"/>
                </a:solidFill>
              </a:rPr>
              <a:t>Palisade cells contain many chloroplasts, where photosynthesis happens.</a:t>
            </a:r>
            <a:endParaRPr lang="en-US" sz="2000" dirty="0"/>
          </a:p>
          <a:p>
            <a:pPr marL="304800" indent="-304800">
              <a:spcAft>
                <a:spcPts val="800"/>
              </a:spcAft>
              <a:buSzPct val="100000"/>
              <a:buChar char="•"/>
            </a:pPr>
            <a:r>
              <a:rPr lang="en-US" sz="2000" dirty="0">
                <a:solidFill>
                  <a:srgbClr val="141B26"/>
                </a:solidFill>
              </a:rPr>
              <a:t>In dim light the chloroplasts move nearer the surface; in bright light they move away to avoid damage.</a:t>
            </a:r>
            <a:endParaRPr lang="en-US" sz="2000" dirty="0"/>
          </a:p>
        </p:txBody>
      </p:sp>
      <p:pic>
        <p:nvPicPr>
          <p:cNvPr id="7" name="Image 0" descr="/home/user/lessons/Y9_Exploring_Science/images/chloroplasts.jpg">    </p:cNvPr>
          <p:cNvPicPr>
            <a:picLocks noChangeAspect="1"/>
          </p:cNvPicPr>
          <p:nvPr/>
        </p:nvPicPr>
        <p:blipFill>
          <a:blip r:embed="rId1"/>
          <a:stretch>
            <a:fillRect/>
          </a:stretch>
        </p:blipFill>
        <p:spPr>
          <a:xfrm>
            <a:off x="6583680" y="1690657"/>
            <a:ext cx="5029200" cy="2836606"/>
          </a:xfrm>
          <a:prstGeom prst="rect">
            <a:avLst/>
          </a:prstGeom>
        </p:spPr>
      </p:pic>
      <p:sp>
        <p:nvSpPr>
          <p:cNvPr id="8" name="Text 5"/>
          <p:cNvSpPr txBox="1"/>
          <p:nvPr/>
        </p:nvSpPr>
        <p:spPr>
          <a:xfrm>
            <a:off x="6583680" y="4572983"/>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Chloroplasts inside leaf cells (microscope)</a:t>
            </a:r>
            <a:pPr algn="l" indent="0" marL="0">
              <a:buNone/>
            </a:pPr>
            <a:endParaRPr lang="en-US" sz="1300" dirty="0"/>
          </a:p>
          <a:p>
            <a:pPr algn="l" indent="0" marL="0">
              <a:buNone/>
            </a:pPr>
            <a:r>
              <a:rPr lang="en-US" sz="900" dirty="0">
                <a:solidFill>
                  <a:srgbClr val="5B6574"/>
                </a:solidFill>
              </a:rPr>
              <a:t>Image: bccoer, CC0,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Shape fits function: broad and thin for light, a cuticle to keep water in, palisade cells full of chloroplasts.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One answer each, then we check.</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Which mineral salt supplies nitrogen for making proteins?</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A plant has yellow leaves. Which element is it short of?</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How are root hair cells adapted to absorb water quickly?</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Which tissue carries water up the stem, xylem or phloem?</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Which leaf cells contain the most chloroplasts?</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lstStyle/>
          <a:p>
            <a:pPr indent="0" marL="0">
              <a:buNone/>
            </a:pPr>
            <a:r>
              <a:rPr lang="en-US" sz="2000" dirty="0">
                <a:solidFill>
                  <a:srgbClr val="141B26"/>
                </a:solidFill>
              </a:rPr>
              <a:t>Core: complete the table of what plants need, match the leaf parts, then fill the gaps on the route of water.</a:t>
            </a:r>
            <a:endParaRPr lang="en-US" sz="20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lstStyle/>
          <a:p>
            <a:pPr indent="0" marL="0">
              <a:buNone/>
            </a:pPr>
            <a:r>
              <a:rPr lang="en-US" sz="2000" dirty="0">
                <a:solidFill>
                  <a:srgbClr val="141B26"/>
                </a:solidFill>
              </a:rPr>
              <a:t>Stretch: explain the adaptations of xylem and root hair cells, wilting and recovery, and the yellow leaves.</a:t>
            </a:r>
            <a:endParaRPr lang="en-US" sz="20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lstStyle/>
          <a:p>
            <a:pPr indent="0" marL="0">
              <a:buNone/>
            </a:pPr>
            <a:r>
              <a:rPr lang="en-US" sz="2000" dirty="0">
                <a:solidFill>
                  <a:srgbClr val="141B26"/>
                </a:solidFill>
              </a:rPr>
              <a:t>Challenge: the Venus flytrap and how a leaf supplies its palisade cells.</a:t>
            </a:r>
            <a:endParaRPr lang="en-US" sz="20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lstStyle/>
          <a:p>
            <a:pPr indent="0" marL="0">
              <a:buNone/>
            </a:pPr>
            <a:r>
              <a:rPr lang="en-US" sz="2000" dirty="0">
                <a:solidFill>
                  <a:srgbClr val="141B26"/>
                </a:solidFill>
              </a:rPr>
              <a:t>Optional with your partner: trace a leaf on squared paper and estimate its surface area in cm².</a:t>
            </a:r>
            <a:endParaRPr lang="en-US" sz="20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Use the key words box. Every answer about an adaptation should say what the structure is like AND what that lets it do.</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Wilt and recover</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A pot plant is left without water for a week and wilts. Two hours after watering it stands up straight again. Explain both changes.</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Without water, the cells ___ so the leaves ___.</a:t>
            </a:r>
            <a:endParaRPr lang="en-US" sz="1800" dirty="0"/>
          </a:p>
          <a:p>
            <a:pPr indent="0" marL="0">
              <a:spcAft>
                <a:spcPts val="600"/>
              </a:spcAft>
              <a:buNone/>
            </a:pPr>
            <a:r>
              <a:rPr lang="en-US" sz="1800" dirty="0">
                <a:solidFill>
                  <a:srgbClr val="141B26"/>
                </a:solidFill>
              </a:rPr>
              <a:t>After watering, water travels from the ___ through the ___ to the leaves.</a:t>
            </a:r>
            <a:endParaRPr lang="en-US" sz="1800" dirty="0"/>
          </a:p>
          <a:p>
            <a:pPr indent="0" marL="0">
              <a:spcAft>
                <a:spcPts val="600"/>
              </a:spcAft>
              <a:buNone/>
            </a:pPr>
            <a:r>
              <a:rPr lang="en-US" sz="1800" dirty="0">
                <a:solidFill>
                  <a:srgbClr val="141B26"/>
                </a:solidFill>
              </a:rPr>
              <a:t>The cells fill up again and become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Name the mineral salt a plant needs to make proteins.</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How are root hair cells adapted to absorb water?</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Why do palisade cells contain so many chloroplasts?</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Plants need nitrates (proteins), magnesium (chlorophyll) and potassium (absorbing water) from mineral salts in the soil.</a:t>
            </a:r>
            <a:endParaRPr lang="en-US" sz="2000" dirty="0"/>
          </a:p>
          <a:p>
            <a:pPr marL="342900" indent="-342900">
              <a:spcAft>
                <a:spcPts val="1200"/>
              </a:spcAft>
              <a:buSzPct val="100000"/>
              <a:buChar char="✓"/>
            </a:pPr>
            <a:r>
              <a:rPr lang="en-US" sz="2000" dirty="0">
                <a:solidFill>
                  <a:srgbClr val="141B26"/>
                </a:solidFill>
              </a:rPr>
              <a:t>Root hair cells have a large surface area; xylem vessels are hollow tubes of dead cells that carry water and mineral salts up.</a:t>
            </a:r>
            <a:endParaRPr lang="en-US" sz="2000" dirty="0"/>
          </a:p>
          <a:p>
            <a:pPr marL="342900" indent="-342900">
              <a:spcAft>
                <a:spcPts val="1200"/>
              </a:spcAft>
              <a:buSzPct val="100000"/>
              <a:buChar char="✓"/>
            </a:pPr>
            <a:r>
              <a:rPr lang="en-US" sz="2000" dirty="0">
                <a:solidFill>
                  <a:srgbClr val="141B26"/>
                </a:solidFill>
              </a:rPr>
              <a:t>Water is needed for photosynthesis, cooling and keeping cells firm; too little and the plant wilts.</a:t>
            </a:r>
            <a:endParaRPr lang="en-US" sz="2000" dirty="0"/>
          </a:p>
          <a:p>
            <a:pPr marL="342900" indent="-342900">
              <a:spcAft>
                <a:spcPts val="1200"/>
              </a:spcAft>
              <a:buSzPct val="100000"/>
              <a:buChar char="✓"/>
            </a:pPr>
            <a:r>
              <a:rPr lang="en-US" sz="2000" dirty="0">
                <a:solidFill>
                  <a:srgbClr val="141B26"/>
                </a:solidFill>
              </a:rPr>
              <a:t>Leaves are broad and thin, with a waxy cuticle and palisade cells packed with chloroplasts near the top.</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b="1" dirty="0">
                <a:solidFill>
                  <a:srgbClr val="7B3A8E"/>
                </a:solidFill>
              </a:rPr>
              <a:t>Next lesson  </a:t>
            </a:r>
            <a:pPr indent="0" marL="0">
              <a:buNone/>
            </a:pPr>
            <a:r>
              <a:rPr lang="en-US" sz="1500" dirty="0">
                <a:solidFill>
                  <a:srgbClr val="141B26"/>
                </a:solidFill>
              </a:rPr>
              <a:t>Gas exchange: how stomata let carbon dioxide in and oxygen and water vapour out.</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9B Lesson 2: Plant adaptations: roots, stems and leaves</dc:title>
  <dc:subject>PptxGenJS Presentation</dc:subject>
  <dc:creator>Year 9 Science</dc:creator>
  <cp:lastModifiedBy>Year 9 Science</cp:lastModifiedBy>
  <cp:revision>1</cp:revision>
  <dcterms:created xsi:type="dcterms:W3CDTF">2026-10-28T09:45:10Z</dcterms:created>
  <dcterms:modified xsi:type="dcterms:W3CDTF">2026-10-28T09:45:10Z</dcterms:modified>
</cp:coreProperties>
</file>