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4 of 9B. Photosynthesis makes glucose; this lesson follows what the plant builds from it, and we test a leaf for starch.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orange-brown to blue-black; starch; glucose. Show the real thing if you have a potato: it takes ten seconds and every student remembers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goal aloud. Point out the safety slide later: hot water and ethanol.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ideas: the plant joins glucose molecules into long chains (polymers), changes them into other substances, and adds elements from mineral salts, especially nitrogen from nitrates for proteins. All life on Earth depends on this: photosynthetic organisms also keep the balance of carbon dioxide and oxygen in the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when is starch broken down in the chloroplasts, day or night? At night, when photosynthesis has stopped and the sugar is needed elsewhere. Starch does not dissolve, so it does not draw water into the cell; that is why plants store starch rather than glucose.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Humans use plant lipids too: cooking oil, margarine, biodiesel. Why do fruits contain oils? To encourage animals to eat the fruit and spread the seeds. Seeds store lipids and protein to supply the seedling before its leaves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steps. Ask: why do gardeners sow seeds in spring, not winter? Warmth makes the enzymes work faster. Why does a seed need oxygen? For aerobic respiration to release energy for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practical they are about to do: the leaf is boiled briefly to kill it, the chlorophyll is removed with warm ethanol so the colour change shows, then iodine is added. Benedict's must be heated in a water bath; it is on the Stretch questions, not done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starch; cellulose; amino acids; nitrates; blue-black. Then the safety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every line aloud. Check there are no flames anywhere in the room before any ethanol is poured. Fill the beakers with hot (not boiling) water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result: the parts that were green turn blue-black (starch present); the white parts stay orange-brown (no chlorophyll, no photosynthesis, no starch). While tubes stand in the hot water, students do Core 2 and 3. Everything in the tray at the end; ethanol back in the labelled container.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it can make glucose, but glucose is not enough to build new cells; without nitrates it cannot make amino acids, so no proteins; enzymes are proteins, so even photosynthesis and respiration slow down. This is why farmers add nitrate fertiliser, which is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iodine solution, blue-black; the starch is digested to glucose for respiration and growth until the seedling's leaves can photosynthesise; enzymes are proteins, made from amino acids, which need nitrogen from nitrates. Collect the strips.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 Workbook page 19. Remind students to finish the leaf drawing with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2A5F"/>
        </a:solidFill>
      </p:bgPr>
    </p:bg>
    <p:spTree>
      <p:nvGrpSpPr>
        <p:cNvPr id="1" name=""/>
        <p:cNvGrpSpPr/>
        <p:nvPr/>
      </p:nvGrpSpPr>
      <p:grpSpPr>
        <a:xfrm>
          <a:off x="0" y="0"/>
          <a:ext cx="0" cy="0"/>
          <a:chOff x="0" y="0"/>
          <a:chExt cx="0" cy="0"/>
        </a:xfrm>
      </p:grpSpPr>
      <p:pic>
        <p:nvPicPr>
          <p:cNvPr id="2" name="Image 0" descr="/home/user/lessons/design/assets/school_logo_horizontal_white.png">    </p:cNvPr>
          <p:cNvPicPr>
            <a:picLocks noChangeAspect="1"/>
          </p:cNvPicPr>
          <p:nvPr/>
        </p:nvPicPr>
        <p:blipFill>
          <a:blip r:embed="rId1"/>
          <a:stretch>
            <a:fillRect/>
          </a:stretch>
        </p:blipFill>
        <p:spPr>
          <a:xfrm>
            <a:off x="548640" y="5715000"/>
            <a:ext cx="2011680" cy="832104"/>
          </a:xfrm>
          <a:prstGeom prst="rect">
            <a:avLst/>
          </a:prstGeom>
        </p:spPr>
      </p:pic>
      <p:sp>
        <p:nvSpPr>
          <p:cNvPr id="3" name="Text 0"/>
          <p:cNvSpPr/>
          <p:nvPr>
            <p:ph idx="101" type="title" hasCustomPrompt="1"/>
          </p:nvPr>
        </p:nvSpPr>
        <p:spPr>
          <a:xfrm>
            <a:off x="548640" y="2103120"/>
            <a:ext cx="10515600" cy="1463040"/>
          </a:xfrm>
          <a:prstGeom prst="rect">
            <a:avLst/>
          </a:prstGeom>
          <a:noFill/>
          <a:ln/>
        </p:spPr>
        <p:txBody>
          <a:bodyPr wrap="square" rtlCol="0"/>
          <a:lstStyle>
            <a:lvl1pPr indent="0" marL="0">
              <a:buNone/>
              <a:defRPr lang="en-US" sz="4400" b="1" dirty="0">
                <a:solidFill>
                  <a:srgbClr val="FFFFFF"/>
                </a:solidFill>
              </a:defRPr>
            </a:lvl1pPr>
          </a:lstStyle>
          <a:p>
            <a:pPr indent="0" marL="0">
              <a:buNone/>
            </a:pPr>
            <a:endParaRPr lang="en-US" sz="4400" dirty="0"/>
          </a:p>
        </p:txBody>
      </p:sp>
      <p:sp>
        <p:nvSpPr>
          <p:cNvPr id="4" name="Text 0"/>
          <p:cNvSpPr/>
          <p:nvPr>
            <p:ph idx="102" type="body" hasCustomPrompt="1"/>
          </p:nvPr>
        </p:nvSpPr>
        <p:spPr>
          <a:xfrm>
            <a:off x="548640" y="3657600"/>
            <a:ext cx="10515600" cy="1097280"/>
          </a:xfrm>
          <a:prstGeom prst="rect">
            <a:avLst/>
          </a:prstGeom>
          <a:noFill/>
          <a:ln/>
        </p:spPr>
        <p:txBody>
          <a:bodyPr wrap="square" rtlCol="0"/>
          <a:lstStyle>
            <a:lvl1pPr indent="0" marL="0">
              <a:buNone/>
              <a:defRPr lang="en-US" sz="2400" dirty="0">
                <a:solidFill>
                  <a:srgbClr val="FFFFFF"/>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1000" dirty="0">
                <a:solidFill>
                  <a:srgbClr val="5B6574"/>
                </a:solidFill>
              </a:rPr>
              <a:t>Year 9 Science  |  9B Plant growth  |  Lesson 4: Plant products: starch, lipids and proteins</a:t>
            </a:r>
            <a:endParaRPr lang="en-US" sz="10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NT">
    <p:bg>
      <p:bgPr>
        <a:solidFill>
          <a:srgbClr val="F1E5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1000" dirty="0">
                <a:solidFill>
                  <a:srgbClr val="5B6574"/>
                </a:solidFill>
              </a:rPr>
              <a:t>Year 9 Science  |  9B Plant growth  |  Lesson 4: Plant products: starch, lipids and proteins</a:t>
            </a:r>
            <a:endParaRPr lang="en-US" sz="10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AGE">
    <p:bg>
      <p:bgPr>
        <a:solidFill>
          <a:srgbClr val="EEF1F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1000" dirty="0">
                <a:solidFill>
                  <a:srgbClr val="5B6574"/>
                </a:solidFill>
              </a:rPr>
              <a:t>Year 9 Science  |  9B Plant growth  |  Lesson 4: Plant products: starch, lipids and proteins</a:t>
            </a:r>
            <a:endParaRPr lang="en-US" sz="10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AFETY">
    <p:bg>
      <p:bgPr>
        <a:solidFill>
          <a:srgbClr val="F2CE3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400" b="1" dirty="0">
                <a:solidFill>
                  <a:srgbClr val="3A2E00"/>
                </a:solidFill>
              </a:defRPr>
            </a:lvl1pPr>
          </a:lstStyle>
          <a:p>
            <a:pPr indent="0" marL="0">
              <a:buNone/>
            </a:pPr>
            <a:endParaRPr lang="en-US" sz="34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3A2E00"/>
                </a:solidFill>
              </a:rPr>
              <a:t>Year 9 Science  |  9B Plant growth  |  Lesson 4: Plant products: starch, lipids and proteins</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10515600" cy="457200"/>
          </a:xfrm>
          <a:prstGeom prst="rect">
            <a:avLst/>
          </a:prstGeom>
          <a:noFill/>
          <a:ln/>
        </p:spPr>
        <p:txBody>
          <a:bodyPr wrap="square" lIns="0" tIns="0" rIns="0" bIns="0" rtlCol="0" anchor="ctr"/>
          <a:lstStyle/>
          <a:p>
            <a:pPr indent="0" marL="0">
              <a:buNone/>
            </a:pPr>
            <a:r>
              <a:rPr lang="en-US" sz="1400" b="1" spc="200" kern="0" dirty="0">
                <a:solidFill>
                  <a:srgbClr val="F2CE3E"/>
                </a:solidFill>
              </a:rPr>
              <a:t>YEAR 9 SCIENCE  ·  9B PLANT GROWTH  ·  LESSON 4 OF 7</a:t>
            </a:r>
            <a:endParaRPr lang="en-US" sz="1400" dirty="0"/>
          </a:p>
        </p:txBody>
      </p:sp>
      <p:sp>
        <p:nvSpPr>
          <p:cNvPr id="3" name="Text 0"/>
          <p:cNvSpPr/>
          <p:nvPr>
            <p:ph idx="101" type="title" hasCustomPrompt="1"/>
          </p:nvPr>
        </p:nvSpPr>
        <p:spPr>
          <a:xfrm>
            <a:off x="548640" y="2103120"/>
            <a:ext cx="10515600" cy="1463040"/>
          </a:xfrm>
          <a:prstGeom prst="rect">
            <a:avLst/>
          </a:prstGeom>
          <a:noFill/>
          <a:ln/>
        </p:spPr>
        <p:txBody>
          <a:bodyPr wrap="square" lIns="0" tIns="0" rIns="0" bIns="0" rtlCol="0" anchor="b"/>
          <a:lstStyle/>
          <a:p>
            <a:pPr indent="0" marL="0">
              <a:buNone/>
            </a:pPr>
            <a:r>
              <a:rPr lang="en-US" sz="4400" b="1" dirty="0">
                <a:solidFill>
                  <a:srgbClr val="FFFFFF"/>
                </a:solidFill>
              </a:rPr>
              <a:t>Plant products: starch, lipids and proteins</a:t>
            </a:r>
            <a:endParaRPr lang="en-US" sz="4400" dirty="0"/>
          </a:p>
        </p:txBody>
      </p:sp>
      <p:sp>
        <p:nvSpPr>
          <p:cNvPr id="4" name="Text 0"/>
          <p:cNvSpPr/>
          <p:nvPr>
            <p:ph idx="102" type="body" hasCustomPrompt="1"/>
          </p:nvPr>
        </p:nvSpPr>
        <p:spPr>
          <a:xfrm>
            <a:off x="548640" y="3657600"/>
            <a:ext cx="10515600" cy="1097280"/>
          </a:xfrm>
          <a:prstGeom prst="rect">
            <a:avLst/>
          </a:prstGeom>
          <a:noFill/>
          <a:ln/>
        </p:spPr>
        <p:txBody>
          <a:bodyPr wrap="square" lIns="0" tIns="0" rIns="0" bIns="0" rtlCol="0" anchor="t"/>
          <a:lstStyle/>
          <a:p>
            <a:pPr indent="0" marL="0">
              <a:buNone/>
            </a:pPr>
            <a:r>
              <a:rPr lang="en-US" sz="2400" dirty="0">
                <a:solidFill>
                  <a:srgbClr val="FFFFFF"/>
                </a:solidFill>
              </a:rPr>
              <a:t>Wood, oil, protein, starch: how can one sugar become all of them?</a:t>
            </a:r>
            <a:endParaRPr lang="en-US" sz="2400" dirty="0"/>
          </a:p>
        </p:txBody>
      </p:sp>
      <p:sp>
        <p:nvSpPr>
          <p:cNvPr id="5" name="Text 3"/>
          <p:cNvSpPr txBox="1"/>
          <p:nvPr/>
        </p:nvSpPr>
        <p:spPr>
          <a:xfrm>
            <a:off x="548640" y="5074920"/>
            <a:ext cx="10515600" cy="365760"/>
          </a:xfrm>
          <a:prstGeom prst="rect">
            <a:avLst/>
          </a:prstGeom>
          <a:noFill/>
          <a:ln/>
        </p:spPr>
        <p:txBody>
          <a:bodyPr wrap="square" lIns="0" tIns="0" rIns="0" bIns="0" rtlCol="0" anchor="ctr"/>
          <a:lstStyle/>
          <a:p>
            <a:pPr indent="0" marL="0">
              <a:buNone/>
            </a:pPr>
            <a:r>
              <a:rPr lang="en-US" sz="1400" dirty="0">
                <a:solidFill>
                  <a:srgbClr val="C9D3E6"/>
                </a:solidFill>
              </a:rPr>
              <a:t>Exploring Science International 9  ·  Student Book pages 26 to 27  ·  Workbook pages 19</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Do Now: potato and iodine</a:t>
            </a:r>
            <a:endParaRPr lang="en-US" sz="3000" dirty="0"/>
          </a:p>
        </p:txBody>
      </p:sp>
      <p:sp>
        <p:nvSpPr>
          <p:cNvPr id="3" name="Shape 1"/>
          <p:cNvSpPr/>
          <p:nvPr/>
        </p:nvSpPr>
        <p:spPr>
          <a:xfrm>
            <a:off x="10308031" y="411480"/>
            <a:ext cx="133502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308031" y="411480"/>
            <a:ext cx="133502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DO NOW</a:t>
            </a:r>
            <a:endParaRPr lang="en-US" sz="1100" dirty="0"/>
          </a:p>
        </p:txBody>
      </p:sp>
      <p:sp>
        <p:nvSpPr>
          <p:cNvPr id="5" name="Shape 3"/>
          <p:cNvSpPr/>
          <p:nvPr/>
        </p:nvSpPr>
        <p:spPr>
          <a:xfrm>
            <a:off x="10682935" y="914400"/>
            <a:ext cx="914400" cy="914400"/>
          </a:xfrm>
          <a:prstGeom prst="ellipse">
            <a:avLst/>
          </a:prstGeom>
          <a:solidFill>
            <a:srgbClr val="FFFFFF"/>
          </a:solidFill>
          <a:ln w="25400">
            <a:solidFill>
              <a:srgbClr val="7B3A8E"/>
            </a:solidFill>
            <a:prstDash val="solid"/>
          </a:ln>
        </p:spPr>
      </p:sp>
      <p:sp>
        <p:nvSpPr>
          <p:cNvPr id="6" name="Text 4"/>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4</a:t>
            </a:r>
            <a:endParaRPr lang="en-US" sz="2200" dirty="0"/>
          </a:p>
          <a:p>
            <a:pPr algn="ctr" indent="0" marL="0">
              <a:buNone/>
            </a:pPr>
            <a:r>
              <a:rPr lang="en-US" sz="1000" dirty="0">
                <a:solidFill>
                  <a:srgbClr val="5B6574"/>
                </a:solidFill>
              </a:rPr>
              <a:t>min</a:t>
            </a:r>
            <a:endParaRPr lang="en-US" sz="2200" dirty="0"/>
          </a:p>
        </p:txBody>
      </p:sp>
      <p:sp>
        <p:nvSpPr>
          <p:cNvPr id="7" name="Text 5"/>
          <p:cNvSpPr txBox="1"/>
          <p:nvPr/>
        </p:nvSpPr>
        <p:spPr>
          <a:xfrm>
            <a:off x="548640" y="1371600"/>
            <a:ext cx="9692640" cy="4480560"/>
          </a:xfrm>
          <a:prstGeom prst="rect">
            <a:avLst/>
          </a:prstGeom>
          <a:noFill/>
          <a:ln/>
        </p:spPr>
        <p:txBody>
          <a:bodyPr wrap="square" lIns="0" tIns="0" rIns="0" bIns="0" rtlCol="0" anchor="t"/>
          <a:lstStyle/>
          <a:p>
            <a:pPr indent="0" marL="0">
              <a:spcAft>
                <a:spcPts val="1200"/>
              </a:spcAft>
              <a:buNone/>
            </a:pPr>
            <a:r>
              <a:rPr lang="en-US" sz="2400" dirty="0">
                <a:solidFill>
                  <a:srgbClr val="141B26"/>
                </a:solidFill>
              </a:rPr>
              <a:t>1. What colour change would you see if you added iodine solution to a slice of potato?</a:t>
            </a:r>
            <a:endParaRPr lang="en-US" sz="2400" dirty="0"/>
          </a:p>
          <a:p>
            <a:pPr indent="0" marL="0">
              <a:spcAft>
                <a:spcPts val="1200"/>
              </a:spcAft>
              <a:buNone/>
            </a:pPr>
            <a:r>
              <a:rPr lang="en-US" sz="2400" dirty="0">
                <a:solidFill>
                  <a:srgbClr val="141B26"/>
                </a:solidFill>
              </a:rPr>
              <a:t>2. Which substance in the potato causes this change?</a:t>
            </a:r>
            <a:endParaRPr lang="en-US" sz="2400" dirty="0"/>
          </a:p>
          <a:p>
            <a:pPr indent="0" marL="0">
              <a:spcAft>
                <a:spcPts val="1200"/>
              </a:spcAft>
              <a:buNone/>
            </a:pPr>
            <a:r>
              <a:rPr lang="en-US" sz="2400" dirty="0">
                <a:solidFill>
                  <a:srgbClr val="141B26"/>
                </a:solidFill>
              </a:rPr>
              <a:t>3. Which substance made in photosynthesis was used to make it?</a:t>
            </a:r>
            <a:endParaRPr lang="en-US" sz="2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Today</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TODAY</a:t>
            </a:r>
            <a:endParaRPr lang="en-US" sz="1100" dirty="0"/>
          </a:p>
        </p:txBody>
      </p:sp>
      <p:sp>
        <p:nvSpPr>
          <p:cNvPr id="5" name="Text 3"/>
          <p:cNvSpPr txBox="1"/>
          <p:nvPr/>
        </p:nvSpPr>
        <p:spPr>
          <a:xfrm>
            <a:off x="548640" y="1280160"/>
            <a:ext cx="5486400" cy="411480"/>
          </a:xfrm>
          <a:prstGeom prst="rect">
            <a:avLst/>
          </a:prstGeom>
          <a:noFill/>
          <a:ln/>
        </p:spPr>
        <p:txBody>
          <a:bodyPr wrap="square" lIns="0" tIns="0" rIns="0" bIns="0" rtlCol="0" anchor="ctr"/>
          <a:lstStyle/>
          <a:p>
            <a:pPr indent="0" marL="0">
              <a:buNone/>
            </a:pPr>
            <a:r>
              <a:rPr lang="en-US" sz="2200" b="1" dirty="0">
                <a:solidFill>
                  <a:srgbClr val="7B3A8E"/>
                </a:solidFill>
              </a:rPr>
              <a:t>Today I can ...</a:t>
            </a:r>
            <a:endParaRPr lang="en-US" sz="2200" dirty="0"/>
          </a:p>
        </p:txBody>
      </p:sp>
      <p:sp>
        <p:nvSpPr>
          <p:cNvPr id="6" name="Shape 4"/>
          <p:cNvSpPr/>
          <p:nvPr/>
        </p:nvSpPr>
        <p:spPr>
          <a:xfrm>
            <a:off x="594360" y="1810512"/>
            <a:ext cx="310896" cy="310896"/>
          </a:xfrm>
          <a:prstGeom prst="rect">
            <a:avLst/>
          </a:prstGeom>
          <a:solidFill>
            <a:srgbClr val="FFFFFF"/>
          </a:solidFill>
          <a:ln w="19050">
            <a:solidFill>
              <a:srgbClr val="0F2A5F"/>
            </a:solidFill>
            <a:prstDash val="solid"/>
          </a:ln>
        </p:spPr>
      </p:sp>
      <p:sp>
        <p:nvSpPr>
          <p:cNvPr id="7" name="Text 5"/>
          <p:cNvSpPr txBox="1"/>
          <p:nvPr/>
        </p:nvSpPr>
        <p:spPr>
          <a:xfrm>
            <a:off x="1097280" y="1737360"/>
            <a:ext cx="10332720" cy="868680"/>
          </a:xfrm>
          <a:prstGeom prst="rect">
            <a:avLst/>
          </a:prstGeom>
          <a:noFill/>
          <a:ln/>
        </p:spPr>
        <p:txBody>
          <a:bodyPr wrap="square" lIns="0" tIns="0" rIns="0" bIns="0" rtlCol="0" anchor="t"/>
          <a:lstStyle/>
          <a:p>
            <a:pPr indent="0" marL="0">
              <a:buNone/>
            </a:pPr>
            <a:r>
              <a:rPr lang="en-US" sz="2000" dirty="0">
                <a:solidFill>
                  <a:srgbClr val="141B26"/>
                </a:solidFill>
              </a:rPr>
              <a:t>I can describe how plants use glucose to make starch, cellulose, lipids and proteins, and explain why nitrates are needed.</a:t>
            </a:r>
            <a:endParaRPr lang="en-US" sz="2000" dirty="0"/>
          </a:p>
        </p:txBody>
      </p:sp>
      <p:sp>
        <p:nvSpPr>
          <p:cNvPr id="8" name="Shape 6"/>
          <p:cNvSpPr/>
          <p:nvPr/>
        </p:nvSpPr>
        <p:spPr>
          <a:xfrm>
            <a:off x="594360" y="2679192"/>
            <a:ext cx="310896" cy="310896"/>
          </a:xfrm>
          <a:prstGeom prst="rect">
            <a:avLst/>
          </a:prstGeom>
          <a:solidFill>
            <a:srgbClr val="FFFFFF"/>
          </a:solidFill>
          <a:ln w="19050">
            <a:solidFill>
              <a:srgbClr val="0F2A5F"/>
            </a:solidFill>
            <a:prstDash val="solid"/>
          </a:ln>
        </p:spPr>
      </p:sp>
      <p:sp>
        <p:nvSpPr>
          <p:cNvPr id="9" name="Text 7"/>
          <p:cNvSpPr txBox="1"/>
          <p:nvPr/>
        </p:nvSpPr>
        <p:spPr>
          <a:xfrm>
            <a:off x="1097280" y="2606040"/>
            <a:ext cx="10332720" cy="868680"/>
          </a:xfrm>
          <a:prstGeom prst="rect">
            <a:avLst/>
          </a:prstGeom>
          <a:noFill/>
          <a:ln/>
        </p:spPr>
        <p:txBody>
          <a:bodyPr wrap="square" lIns="0" tIns="0" rIns="0" bIns="0" rtlCol="0" anchor="t"/>
          <a:lstStyle/>
          <a:p>
            <a:pPr indent="0" marL="0">
              <a:buNone/>
            </a:pPr>
            <a:r>
              <a:rPr lang="en-US" sz="2000" dirty="0">
                <a:solidFill>
                  <a:srgbClr val="141B26"/>
                </a:solidFill>
              </a:rPr>
              <a:t>I can test a leaf for starch and explain what happens when a seed germinates.</a:t>
            </a:r>
            <a:endParaRPr lang="en-US" sz="2000" dirty="0"/>
          </a:p>
        </p:txBody>
      </p:sp>
      <p:sp>
        <p:nvSpPr>
          <p:cNvPr id="10" name="Text 8"/>
          <p:cNvSpPr txBox="1"/>
          <p:nvPr/>
        </p:nvSpPr>
        <p:spPr>
          <a:xfrm>
            <a:off x="548640" y="3611880"/>
            <a:ext cx="5486400" cy="411480"/>
          </a:xfrm>
          <a:prstGeom prst="rect">
            <a:avLst/>
          </a:prstGeom>
          <a:noFill/>
          <a:ln/>
        </p:spPr>
        <p:txBody>
          <a:bodyPr wrap="square" lIns="0" tIns="0" rIns="0" bIns="0" rtlCol="0" anchor="ctr"/>
          <a:lstStyle/>
          <a:p>
            <a:pPr indent="0" marL="0">
              <a:buNone/>
            </a:pPr>
            <a:r>
              <a:rPr lang="en-US" sz="2200" b="1" dirty="0">
                <a:solidFill>
                  <a:srgbClr val="7B3A8E"/>
                </a:solidFill>
              </a:rPr>
              <a:t>Key words today</a:t>
            </a:r>
            <a:endParaRPr lang="en-US" sz="2200" dirty="0"/>
          </a:p>
        </p:txBody>
      </p:sp>
      <p:sp>
        <p:nvSpPr>
          <p:cNvPr id="11" name="Text 9"/>
          <p:cNvSpPr txBox="1"/>
          <p:nvPr/>
        </p:nvSpPr>
        <p:spPr>
          <a:xfrm>
            <a:off x="548640" y="4069080"/>
            <a:ext cx="3515258" cy="1920240"/>
          </a:xfrm>
          <a:prstGeom prst="rect">
            <a:avLst/>
          </a:prstGeom>
          <a:noFill/>
          <a:ln/>
        </p:spPr>
        <p:txBody>
          <a:bodyPr wrap="square" lIns="0" tIns="0" rIns="0" bIns="0" rtlCol="0" anchor="t"/>
          <a:lstStyle/>
          <a:p>
            <a:pPr marL="304800" indent="-304800">
              <a:spcAft>
                <a:spcPts val="600"/>
              </a:spcAft>
              <a:buSzPct val="100000"/>
              <a:buChar char="•"/>
            </a:pPr>
            <a:r>
              <a:rPr lang="en-US" sz="2100" b="1" dirty="0">
                <a:solidFill>
                  <a:srgbClr val="0F2A5F"/>
                </a:solidFill>
              </a:rPr>
              <a:t>starch</a:t>
            </a:r>
            <a:endParaRPr lang="en-US" sz="2100" dirty="0"/>
          </a:p>
          <a:p>
            <a:pPr marL="304800" indent="-304800">
              <a:spcAft>
                <a:spcPts val="600"/>
              </a:spcAft>
              <a:buSzPct val="100000"/>
              <a:buChar char="•"/>
            </a:pPr>
            <a:r>
              <a:rPr lang="en-US" sz="2100" b="1" dirty="0">
                <a:solidFill>
                  <a:srgbClr val="0F2A5F"/>
                </a:solidFill>
              </a:rPr>
              <a:t>polymer</a:t>
            </a:r>
            <a:endParaRPr lang="en-US" sz="2100" dirty="0"/>
          </a:p>
          <a:p>
            <a:pPr marL="304800" indent="-304800">
              <a:spcAft>
                <a:spcPts val="600"/>
              </a:spcAft>
              <a:buSzPct val="100000"/>
              <a:buChar char="•"/>
            </a:pPr>
            <a:r>
              <a:rPr lang="en-US" sz="2100" b="1" dirty="0">
                <a:solidFill>
                  <a:srgbClr val="0F2A5F"/>
                </a:solidFill>
              </a:rPr>
              <a:t>cellulose</a:t>
            </a:r>
            <a:endParaRPr lang="en-US" sz="2100" dirty="0"/>
          </a:p>
          <a:p>
            <a:pPr marL="304800" indent="-304800">
              <a:spcAft>
                <a:spcPts val="600"/>
              </a:spcAft>
              <a:buSzPct val="100000"/>
              <a:buChar char="•"/>
            </a:pPr>
            <a:r>
              <a:rPr lang="en-US" sz="2100" b="1" dirty="0">
                <a:solidFill>
                  <a:srgbClr val="0F2A5F"/>
                </a:solidFill>
              </a:rPr>
              <a:t>lipid</a:t>
            </a:r>
            <a:endParaRPr lang="en-US" sz="2100" dirty="0"/>
          </a:p>
        </p:txBody>
      </p:sp>
      <p:sp>
        <p:nvSpPr>
          <p:cNvPr id="12" name="Text 10"/>
          <p:cNvSpPr txBox="1"/>
          <p:nvPr/>
        </p:nvSpPr>
        <p:spPr>
          <a:xfrm>
            <a:off x="4338218" y="4069080"/>
            <a:ext cx="3515258" cy="1920240"/>
          </a:xfrm>
          <a:prstGeom prst="rect">
            <a:avLst/>
          </a:prstGeom>
          <a:noFill/>
          <a:ln/>
        </p:spPr>
        <p:txBody>
          <a:bodyPr wrap="square" lIns="0" tIns="0" rIns="0" bIns="0" rtlCol="0" anchor="t"/>
          <a:lstStyle/>
          <a:p>
            <a:pPr marL="304800" indent="-304800">
              <a:spcAft>
                <a:spcPts val="600"/>
              </a:spcAft>
              <a:buSzPct val="100000"/>
              <a:buChar char="•"/>
            </a:pPr>
            <a:r>
              <a:rPr lang="en-US" sz="2100" b="1" dirty="0">
                <a:solidFill>
                  <a:srgbClr val="0F2A5F"/>
                </a:solidFill>
              </a:rPr>
              <a:t>protein</a:t>
            </a:r>
            <a:endParaRPr lang="en-US" sz="2100" dirty="0"/>
          </a:p>
          <a:p>
            <a:pPr marL="304800" indent="-304800">
              <a:spcAft>
                <a:spcPts val="600"/>
              </a:spcAft>
              <a:buSzPct val="100000"/>
              <a:buChar char="•"/>
            </a:pPr>
            <a:r>
              <a:rPr lang="en-US" sz="2100" b="1" dirty="0">
                <a:solidFill>
                  <a:srgbClr val="0F2A5F"/>
                </a:solidFill>
              </a:rPr>
              <a:t>amino acid</a:t>
            </a:r>
            <a:endParaRPr lang="en-US" sz="2100" dirty="0"/>
          </a:p>
          <a:p>
            <a:pPr marL="304800" indent="-304800">
              <a:spcAft>
                <a:spcPts val="600"/>
              </a:spcAft>
              <a:buSzPct val="100000"/>
              <a:buChar char="•"/>
            </a:pPr>
            <a:r>
              <a:rPr lang="en-US" sz="2100" b="1" dirty="0">
                <a:solidFill>
                  <a:srgbClr val="0F2A5F"/>
                </a:solidFill>
              </a:rPr>
              <a:t>enzyme</a:t>
            </a:r>
            <a:endParaRPr lang="en-US" sz="2100" dirty="0"/>
          </a:p>
          <a:p>
            <a:pPr marL="304800" indent="-304800">
              <a:spcAft>
                <a:spcPts val="600"/>
              </a:spcAft>
              <a:buSzPct val="100000"/>
              <a:buChar char="•"/>
            </a:pPr>
            <a:r>
              <a:rPr lang="en-US" sz="2100" b="1" dirty="0">
                <a:solidFill>
                  <a:srgbClr val="0F2A5F"/>
                </a:solidFill>
              </a:rPr>
              <a:t>nitrate</a:t>
            </a:r>
            <a:endParaRPr lang="en-US" sz="2100" dirty="0"/>
          </a:p>
        </p:txBody>
      </p:sp>
      <p:sp>
        <p:nvSpPr>
          <p:cNvPr id="13" name="Text 11"/>
          <p:cNvSpPr txBox="1"/>
          <p:nvPr/>
        </p:nvSpPr>
        <p:spPr>
          <a:xfrm>
            <a:off x="8127797" y="4069080"/>
            <a:ext cx="3515258" cy="1920240"/>
          </a:xfrm>
          <a:prstGeom prst="rect">
            <a:avLst/>
          </a:prstGeom>
          <a:noFill/>
          <a:ln/>
        </p:spPr>
        <p:txBody>
          <a:bodyPr wrap="square" lIns="0" tIns="0" rIns="0" bIns="0" rtlCol="0" anchor="t"/>
          <a:lstStyle/>
          <a:p>
            <a:pPr marL="304800" indent="-304800">
              <a:spcAft>
                <a:spcPts val="600"/>
              </a:spcAft>
              <a:buSzPct val="100000"/>
              <a:buChar char="•"/>
            </a:pPr>
            <a:r>
              <a:rPr lang="en-US" sz="2200" b="1" dirty="0">
                <a:solidFill>
                  <a:srgbClr val="0F2A5F"/>
                </a:solidFill>
              </a:rPr>
              <a:t>germination</a:t>
            </a:r>
            <a:endParaRPr lang="en-US" sz="2200" dirty="0"/>
          </a:p>
          <a:p>
            <a:pPr marL="304800" indent="-304800">
              <a:spcAft>
                <a:spcPts val="600"/>
              </a:spcAft>
              <a:buSzPct val="100000"/>
              <a:buChar char="•"/>
            </a:pPr>
            <a:r>
              <a:rPr lang="en-US" sz="2200" b="1" dirty="0">
                <a:solidFill>
                  <a:srgbClr val="0F2A5F"/>
                </a:solidFill>
              </a:rPr>
              <a:t>iodine solution</a:t>
            </a:r>
            <a:endParaRPr lang="en-US" sz="2200" dirty="0"/>
          </a:p>
          <a:p>
            <a:pPr marL="304800" indent="-304800">
              <a:spcAft>
                <a:spcPts val="600"/>
              </a:spcAft>
              <a:buSzPct val="100000"/>
              <a:buChar char="•"/>
            </a:pPr>
            <a:r>
              <a:rPr lang="en-US" sz="2200" b="1" dirty="0">
                <a:solidFill>
                  <a:srgbClr val="0F2A5F"/>
                </a:solidFill>
              </a:rPr>
              <a:t>Benedict's solution</a:t>
            </a:r>
            <a:endParaRPr lang="en-US" sz="2200" dirty="0"/>
          </a:p>
        </p:txBody>
      </p:sp>
      <p:sp>
        <p:nvSpPr>
          <p:cNvPr id="14" name="Text 12"/>
          <p:cNvSpPr txBox="1"/>
          <p:nvPr/>
        </p:nvSpPr>
        <p:spPr>
          <a:xfrm>
            <a:off x="548640" y="6035040"/>
            <a:ext cx="10881360" cy="320040"/>
          </a:xfrm>
          <a:prstGeom prst="rect">
            <a:avLst/>
          </a:prstGeom>
          <a:noFill/>
          <a:ln/>
        </p:spPr>
        <p:txBody>
          <a:bodyPr wrap="square" lIns="0" tIns="0" rIns="0" bIns="0" rtlCol="0" anchor="ctr"/>
          <a:lstStyle/>
          <a:p>
            <a:pPr indent="0" marL="0">
              <a:buNone/>
            </a:pPr>
            <a:r>
              <a:rPr lang="en-US" sz="1400" i="1" dirty="0">
                <a:solidFill>
                  <a:srgbClr val="5B6574"/>
                </a:solidFill>
              </a:rPr>
              <a:t>Meanings are in the key words box on your worksheet.</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One sugar, a whole plant</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HOOK</a:t>
            </a:r>
            <a:endParaRPr lang="en-US" sz="1100" dirty="0"/>
          </a:p>
        </p:txBody>
      </p:sp>
      <p:sp>
        <p:nvSpPr>
          <p:cNvPr id="5" name="Text 3"/>
          <p:cNvSpPr txBox="1"/>
          <p:nvPr/>
        </p:nvSpPr>
        <p:spPr>
          <a:xfrm>
            <a:off x="548640" y="1371600"/>
            <a:ext cx="5394960" cy="2651760"/>
          </a:xfrm>
          <a:prstGeom prst="rect">
            <a:avLst/>
          </a:prstGeom>
          <a:noFill/>
          <a:ln/>
        </p:spPr>
        <p:txBody>
          <a:bodyPr wrap="square" lIns="0" tIns="0" rIns="0" bIns="0" rtlCol="0" anchor="t"/>
          <a:lstStyle/>
          <a:p>
            <a:pPr indent="0" marL="0">
              <a:buNone/>
            </a:pPr>
            <a:r>
              <a:rPr lang="en-US" sz="2400" b="1" dirty="0">
                <a:solidFill>
                  <a:srgbClr val="0F2A5F"/>
                </a:solidFill>
              </a:rPr>
              <a:t>The wood of a tree, the oil in a sunflower seed, the protein in a bean, the starch in a potato: all of it was built from glucose made in photosynthesis. How can one sugar become so many different things?</a:t>
            </a:r>
            <a:endParaRPr lang="en-US" sz="2400" dirty="0"/>
          </a:p>
        </p:txBody>
      </p:sp>
      <p:sp>
        <p:nvSpPr>
          <p:cNvPr id="6" name="Text 4"/>
          <p:cNvSpPr txBox="1"/>
          <p:nvPr/>
        </p:nvSpPr>
        <p:spPr>
          <a:xfrm>
            <a:off x="548640" y="4114800"/>
            <a:ext cx="5394960" cy="1828800"/>
          </a:xfrm>
          <a:prstGeom prst="rect">
            <a:avLst/>
          </a:prstGeom>
          <a:noFill/>
          <a:ln/>
        </p:spPr>
        <p:txBody>
          <a:bodyPr wrap="square" lIns="0" tIns="0" rIns="0" bIns="0" rtlCol="0" anchor="t"/>
          <a:lstStyle/>
          <a:p>
            <a:pPr indent="0" marL="0">
              <a:spcAft>
                <a:spcPts val="800"/>
              </a:spcAft>
              <a:buNone/>
            </a:pPr>
            <a:r>
              <a:rPr lang="en-US" sz="2000" dirty="0">
                <a:solidFill>
                  <a:srgbClr val="141B26"/>
                </a:solidFill>
              </a:rPr>
              <a:t>Talk to a partner: what else does the plant need, apart from glucose?</a:t>
            </a:r>
            <a:endParaRPr lang="en-US" sz="2000" dirty="0"/>
          </a:p>
        </p:txBody>
      </p:sp>
      <p:pic>
        <p:nvPicPr>
          <p:cNvPr id="7" name="Image 0" descr="/home/user/lessons/Y9_Exploring_Science/images/germination.jpg">    </p:cNvPr>
          <p:cNvPicPr>
            <a:picLocks noChangeAspect="1"/>
          </p:cNvPicPr>
          <p:nvPr/>
        </p:nvPicPr>
        <p:blipFill>
          <a:blip r:embed="rId1"/>
          <a:stretch>
            <a:fillRect/>
          </a:stretch>
        </p:blipFill>
        <p:spPr>
          <a:xfrm>
            <a:off x="7683639" y="1280160"/>
            <a:ext cx="2554962" cy="4206240"/>
          </a:xfrm>
          <a:prstGeom prst="rect">
            <a:avLst/>
          </a:prstGeom>
        </p:spPr>
      </p:pic>
      <p:sp>
        <p:nvSpPr>
          <p:cNvPr id="8" name="Text 5"/>
          <p:cNvSpPr txBox="1"/>
          <p:nvPr/>
        </p:nvSpPr>
        <p:spPr>
          <a:xfrm>
            <a:off x="6309360" y="5532120"/>
            <a:ext cx="5303520" cy="548640"/>
          </a:xfrm>
          <a:prstGeom prst="rect">
            <a:avLst/>
          </a:prstGeom>
          <a:noFill/>
          <a:ln/>
        </p:spPr>
        <p:txBody>
          <a:bodyPr wrap="square" lIns="0" tIns="0" rIns="0" bIns="0" rtlCol="0" anchor="t"/>
          <a:lstStyle/>
          <a:p>
            <a:pPr algn="l" indent="0" marL="0">
              <a:buNone/>
            </a:pPr>
            <a:r>
              <a:rPr lang="en-US" sz="1300" dirty="0">
                <a:solidFill>
                  <a:srgbClr val="141B26"/>
                </a:solidFill>
              </a:rPr>
              <a:t>Germinating seeds (botanical drawing)</a:t>
            </a:r>
            <a:pPr algn="l" indent="0" marL="0">
              <a:buNone/>
            </a:pPr>
            <a:endParaRPr lang="en-US" sz="1300" dirty="0"/>
          </a:p>
          <a:p>
            <a:pPr algn="l" indent="0" marL="0">
              <a:buNone/>
            </a:pPr>
            <a:r>
              <a:rPr lang="en-US" sz="900" dirty="0">
                <a:solidFill>
                  <a:srgbClr val="5B6574"/>
                </a:solidFill>
              </a:rPr>
              <a:t>Image: unknown, CC0, via Wikimedia Commons</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Carbohydrates: starch and cellulose</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starch   ·   polymer   ·   cellulose</a:t>
            </a:r>
            <a:endParaRPr lang="en-US" sz="1400" dirty="0"/>
          </a:p>
        </p:txBody>
      </p:sp>
      <p:sp>
        <p:nvSpPr>
          <p:cNvPr id="6" name="Text 4"/>
          <p:cNvSpPr txBox="1"/>
          <p:nvPr/>
        </p:nvSpPr>
        <p:spPr>
          <a:xfrm>
            <a:off x="548640" y="1325880"/>
            <a:ext cx="10881360" cy="4069080"/>
          </a:xfrm>
          <a:prstGeom prst="rect">
            <a:avLst/>
          </a:prstGeom>
          <a:noFill/>
          <a:ln/>
        </p:spPr>
        <p:txBody>
          <a:bodyPr wrap="square" lIns="0" tIns="0" rIns="0" bIns="0" rtlCol="0" anchor="t"/>
          <a:lstStyle/>
          <a:p>
            <a:pPr marL="304800" indent="-304800">
              <a:spcAft>
                <a:spcPts val="800"/>
              </a:spcAft>
              <a:buSzPct val="100000"/>
              <a:buChar char="•"/>
            </a:pPr>
            <a:r>
              <a:rPr lang="en-US" sz="2000" dirty="0">
                <a:solidFill>
                  <a:srgbClr val="141B26"/>
                </a:solidFill>
              </a:rPr>
              <a:t>Glucose molecules are linked together to form starch, a polymer.</a:t>
            </a:r>
            <a:endParaRPr lang="en-US" sz="2000" dirty="0"/>
          </a:p>
          <a:p>
            <a:pPr marL="304800" indent="-304800">
              <a:spcAft>
                <a:spcPts val="800"/>
              </a:spcAft>
              <a:buSzPct val="100000"/>
              <a:buChar char="•"/>
            </a:pPr>
            <a:r>
              <a:rPr lang="en-US" sz="2000" dirty="0">
                <a:solidFill>
                  <a:srgbClr val="141B26"/>
                </a:solidFill>
              </a:rPr>
              <a:t>Starch stays in the chloroplasts until photosynthesis stops, then it is broken down into sugars and carried in the phloem.</a:t>
            </a:r>
            <a:endParaRPr lang="en-US" sz="2000" dirty="0"/>
          </a:p>
          <a:p>
            <a:pPr marL="304800" indent="-304800">
              <a:spcAft>
                <a:spcPts val="800"/>
              </a:spcAft>
              <a:buSzPct val="100000"/>
              <a:buChar char="•"/>
            </a:pPr>
            <a:r>
              <a:rPr lang="en-US" sz="2000" dirty="0">
                <a:solidFill>
                  <a:srgbClr val="141B26"/>
                </a:solidFill>
              </a:rPr>
              <a:t>In storage organs such as potatoes, and in seeds, sugars are turned back into starch.</a:t>
            </a:r>
            <a:endParaRPr lang="en-US" sz="2000" dirty="0"/>
          </a:p>
          <a:p>
            <a:pPr marL="304800" indent="-304800">
              <a:spcAft>
                <a:spcPts val="800"/>
              </a:spcAft>
              <a:buSzPct val="100000"/>
              <a:buChar char="•"/>
            </a:pPr>
            <a:r>
              <a:rPr lang="en-US" sz="2000" dirty="0">
                <a:solidFill>
                  <a:srgbClr val="141B26"/>
                </a:solidFill>
              </a:rPr>
              <a:t>Sugars are also used to make cellulose, the polymer that builds cell walls.</a:t>
            </a:r>
            <a:endParaRPr lang="en-US" sz="2000" dirty="0"/>
          </a:p>
        </p:txBody>
      </p:sp>
      <p:sp>
        <p:nvSpPr>
          <p:cNvPr id="7" name="Shape 5"/>
          <p:cNvSpPr/>
          <p:nvPr/>
        </p:nvSpPr>
        <p:spPr>
          <a:xfrm>
            <a:off x="548640" y="5532120"/>
            <a:ext cx="11094415" cy="566928"/>
          </a:xfrm>
          <a:prstGeom prst="rect">
            <a:avLst/>
          </a:prstGeom>
          <a:solidFill>
            <a:srgbClr val="F1E5F4"/>
          </a:solidFill>
          <a:ln w="12700">
            <a:solidFill>
              <a:srgbClr val="F1E5F4"/>
            </a:solidFill>
            <a:prstDash val="solid"/>
          </a:ln>
        </p:spPr>
      </p:sp>
      <p:sp>
        <p:nvSpPr>
          <p:cNvPr id="8" name="Text 6"/>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Starch is insoluble, so it is a good store; sugars are soluble, so they can be transported.</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Lipids and proteins</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lipid   ·   protein   ·   amino acid   ·   enzyme   ·   nitrate</a:t>
            </a:r>
            <a:endParaRPr lang="en-US" sz="1400" dirty="0"/>
          </a:p>
        </p:txBody>
      </p:sp>
      <p:sp>
        <p:nvSpPr>
          <p:cNvPr id="6" name="Text 4"/>
          <p:cNvSpPr txBox="1"/>
          <p:nvPr/>
        </p:nvSpPr>
        <p:spPr>
          <a:xfrm>
            <a:off x="548640" y="1325880"/>
            <a:ext cx="10881360" cy="4069080"/>
          </a:xfrm>
          <a:prstGeom prst="rect">
            <a:avLst/>
          </a:prstGeom>
          <a:noFill/>
          <a:ln/>
        </p:spPr>
        <p:txBody>
          <a:bodyPr wrap="square" lIns="0" tIns="0" rIns="0" bIns="0" rtlCol="0" anchor="t"/>
          <a:lstStyle/>
          <a:p>
            <a:pPr marL="304800" indent="-304800">
              <a:spcAft>
                <a:spcPts val="800"/>
              </a:spcAft>
              <a:buSzPct val="100000"/>
              <a:buChar char="•"/>
            </a:pPr>
            <a:r>
              <a:rPr lang="en-US" sz="2000" dirty="0">
                <a:solidFill>
                  <a:srgbClr val="141B26"/>
                </a:solidFill>
              </a:rPr>
              <a:t>Lipids are fats and oils. They do not dissolve in water.</a:t>
            </a:r>
            <a:endParaRPr lang="en-US" sz="2000" dirty="0"/>
          </a:p>
          <a:p>
            <a:pPr marL="304800" indent="-304800">
              <a:spcAft>
                <a:spcPts val="800"/>
              </a:spcAft>
              <a:buSzPct val="100000"/>
              <a:buChar char="•"/>
            </a:pPr>
            <a:r>
              <a:rPr lang="en-US" sz="2000" dirty="0">
                <a:solidFill>
                  <a:srgbClr val="141B26"/>
                </a:solidFill>
              </a:rPr>
              <a:t>Plants use lipids for the waterproof cuticle, for cell membranes, and as energy stores in seeds and in fruits such as avocado.</a:t>
            </a:r>
            <a:endParaRPr lang="en-US" sz="2000" dirty="0"/>
          </a:p>
          <a:p>
            <a:pPr marL="304800" indent="-304800">
              <a:spcAft>
                <a:spcPts val="800"/>
              </a:spcAft>
              <a:buSzPct val="100000"/>
              <a:buChar char="•"/>
            </a:pPr>
            <a:r>
              <a:rPr lang="en-US" sz="2000" dirty="0">
                <a:solidFill>
                  <a:srgbClr val="141B26"/>
                </a:solidFill>
              </a:rPr>
              <a:t>Proteins are polymers: long chains of amino acids.</a:t>
            </a:r>
            <a:endParaRPr lang="en-US" sz="2000" dirty="0"/>
          </a:p>
          <a:p>
            <a:pPr marL="304800" indent="-304800">
              <a:spcAft>
                <a:spcPts val="800"/>
              </a:spcAft>
              <a:buSzPct val="100000"/>
              <a:buChar char="•"/>
            </a:pPr>
            <a:r>
              <a:rPr lang="en-US" sz="2000" dirty="0">
                <a:solidFill>
                  <a:srgbClr val="141B26"/>
                </a:solidFill>
              </a:rPr>
              <a:t>To make amino acids a plant needs nitrogen, which comes from nitrates in the soil.</a:t>
            </a:r>
            <a:endParaRPr lang="en-US" sz="2000" dirty="0"/>
          </a:p>
          <a:p>
            <a:pPr marL="304800" indent="-304800">
              <a:spcAft>
                <a:spcPts val="800"/>
              </a:spcAft>
              <a:buSzPct val="100000"/>
              <a:buChar char="•"/>
            </a:pPr>
            <a:r>
              <a:rPr lang="en-US" sz="2000" dirty="0">
                <a:solidFill>
                  <a:srgbClr val="141B26"/>
                </a:solidFill>
              </a:rPr>
              <a:t>All enzymes are proteins, including the enzymes for photosynthesis and respiration.</a:t>
            </a:r>
            <a:endParaRPr lang="en-US" sz="2000" dirty="0"/>
          </a:p>
        </p:txBody>
      </p:sp>
      <p:sp>
        <p:nvSpPr>
          <p:cNvPr id="7" name="Shape 5"/>
          <p:cNvSpPr/>
          <p:nvPr/>
        </p:nvSpPr>
        <p:spPr>
          <a:xfrm>
            <a:off x="548640" y="5532120"/>
            <a:ext cx="11094415" cy="566928"/>
          </a:xfrm>
          <a:prstGeom prst="rect">
            <a:avLst/>
          </a:prstGeom>
          <a:solidFill>
            <a:srgbClr val="F1E5F4"/>
          </a:solidFill>
          <a:ln w="12700">
            <a:solidFill>
              <a:srgbClr val="F1E5F4"/>
            </a:solidFill>
            <a:prstDash val="solid"/>
          </a:ln>
        </p:spPr>
      </p:sp>
      <p:sp>
        <p:nvSpPr>
          <p:cNvPr id="8" name="Text 6"/>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No nitrates, no amino acids, no proteins, no enzymes: the plant cannot grow.</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A seed germinates</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germination   ·   enzyme</a:t>
            </a:r>
            <a:endParaRPr lang="en-US" sz="1400" dirty="0"/>
          </a:p>
        </p:txBody>
      </p:sp>
      <p:sp>
        <p:nvSpPr>
          <p:cNvPr id="6" name="Text 4"/>
          <p:cNvSpPr txBox="1"/>
          <p:nvPr/>
        </p:nvSpPr>
        <p:spPr>
          <a:xfrm>
            <a:off x="548640" y="1234440"/>
            <a:ext cx="10881360" cy="457200"/>
          </a:xfrm>
          <a:prstGeom prst="rect">
            <a:avLst/>
          </a:prstGeom>
          <a:noFill/>
          <a:ln/>
        </p:spPr>
        <p:txBody>
          <a:bodyPr wrap="square" lIns="0" tIns="0" rIns="0" bIns="0" rtlCol="0" anchor="ctr"/>
          <a:lstStyle/>
          <a:p>
            <a:pPr indent="0" marL="0">
              <a:buNone/>
            </a:pPr>
            <a:r>
              <a:rPr lang="en-US" sz="1800" dirty="0">
                <a:solidFill>
                  <a:srgbClr val="141B26"/>
                </a:solidFill>
              </a:rPr>
              <a:t>A seed stores starch and protein. What has to happen before the embryo can use the store?</a:t>
            </a:r>
            <a:endParaRPr lang="en-US" sz="1800" dirty="0"/>
          </a:p>
        </p:txBody>
      </p:sp>
      <p:pic>
        <p:nvPicPr>
          <p:cNvPr id="7" name="Image 0" descr="/home/user/lessons/Y9_Exploring_Science/source/diagrams/germination.png">    </p:cNvPr>
          <p:cNvPicPr>
            <a:picLocks noChangeAspect="1"/>
          </p:cNvPicPr>
          <p:nvPr/>
        </p:nvPicPr>
        <p:blipFill>
          <a:blip r:embed="rId1"/>
          <a:stretch>
            <a:fillRect/>
          </a:stretch>
        </p:blipFill>
        <p:spPr>
          <a:xfrm>
            <a:off x="2139215" y="1737360"/>
            <a:ext cx="7700211" cy="3657600"/>
          </a:xfrm>
          <a:prstGeom prst="rect">
            <a:avLst/>
          </a:prstGeom>
        </p:spPr>
      </p:pic>
      <p:sp>
        <p:nvSpPr>
          <p:cNvPr id="8" name="Shape 5"/>
          <p:cNvSpPr/>
          <p:nvPr/>
        </p:nvSpPr>
        <p:spPr>
          <a:xfrm>
            <a:off x="548640" y="5532120"/>
            <a:ext cx="11094415" cy="566928"/>
          </a:xfrm>
          <a:prstGeom prst="rect">
            <a:avLst/>
          </a:prstGeom>
          <a:solidFill>
            <a:srgbClr val="F1E5F4"/>
          </a:solidFill>
          <a:ln w="12700">
            <a:solidFill>
              <a:srgbClr val="F1E5F4"/>
            </a:solidFill>
            <a:prstDash val="solid"/>
          </a:ln>
        </p:spPr>
      </p:sp>
      <p:sp>
        <p:nvSpPr>
          <p:cNvPr id="9" name="Text 6"/>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Water starts everything: enzymes digest the starch to glucose, the embryo respires and grows. Enzymes work faster when it is warm.</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Testing for starch and glucose</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iodine solution   ·   Benedict's solution</a:t>
            </a:r>
            <a:endParaRPr lang="en-US" sz="1400" dirty="0"/>
          </a:p>
        </p:txBody>
      </p:sp>
      <p:sp>
        <p:nvSpPr>
          <p:cNvPr id="6" name="Text 4"/>
          <p:cNvSpPr txBox="1"/>
          <p:nvPr/>
        </p:nvSpPr>
        <p:spPr>
          <a:xfrm>
            <a:off x="548640" y="1325880"/>
            <a:ext cx="10881360" cy="4069080"/>
          </a:xfrm>
          <a:prstGeom prst="rect">
            <a:avLst/>
          </a:prstGeom>
          <a:noFill/>
          <a:ln/>
        </p:spPr>
        <p:txBody>
          <a:bodyPr wrap="square" lIns="0" tIns="0" rIns="0" bIns="0" rtlCol="0" anchor="t"/>
          <a:lstStyle/>
          <a:p>
            <a:pPr marL="304800" indent="-304800">
              <a:spcAft>
                <a:spcPts val="800"/>
              </a:spcAft>
              <a:buSzPct val="100000"/>
              <a:buChar char="•"/>
            </a:pPr>
            <a:r>
              <a:rPr lang="en-US" sz="2000" dirty="0">
                <a:solidFill>
                  <a:srgbClr val="141B26"/>
                </a:solidFill>
              </a:rPr>
              <a:t>Iodine solution turns from orange-brown to blue-black with starch.</a:t>
            </a:r>
            <a:endParaRPr lang="en-US" sz="2000" dirty="0"/>
          </a:p>
          <a:p>
            <a:pPr marL="304800" indent="-304800">
              <a:spcAft>
                <a:spcPts val="800"/>
              </a:spcAft>
              <a:buSzPct val="100000"/>
              <a:buChar char="•"/>
            </a:pPr>
            <a:r>
              <a:rPr lang="en-US" sz="2000" dirty="0">
                <a:solidFill>
                  <a:srgbClr val="141B26"/>
                </a:solidFill>
              </a:rPr>
              <a:t>Only the green parts of a variegated leaf go blue-black: starch is made where there is chlorophyll.</a:t>
            </a:r>
            <a:endParaRPr lang="en-US" sz="2000" dirty="0"/>
          </a:p>
          <a:p>
            <a:pPr marL="304800" indent="-304800">
              <a:spcAft>
                <a:spcPts val="800"/>
              </a:spcAft>
              <a:buSzPct val="100000"/>
              <a:buChar char="•"/>
            </a:pPr>
            <a:r>
              <a:rPr lang="en-US" sz="2000" dirty="0">
                <a:solidFill>
                  <a:srgbClr val="141B26"/>
                </a:solidFill>
              </a:rPr>
              <a:t>Benedict's solution is blue. Heated with glucose it turns green, then orange-red.</a:t>
            </a:r>
            <a:endParaRPr lang="en-US" sz="2000" dirty="0"/>
          </a:p>
          <a:p>
            <a:pPr marL="304800" indent="-304800">
              <a:spcAft>
                <a:spcPts val="800"/>
              </a:spcAft>
              <a:buSzPct val="100000"/>
              <a:buChar char="•"/>
            </a:pPr>
            <a:r>
              <a:rPr lang="en-US" sz="2000" dirty="0">
                <a:solidFill>
                  <a:srgbClr val="141B26"/>
                </a:solidFill>
              </a:rPr>
              <a:t>Both tests are used to check what a seed or a leaf contains.</a:t>
            </a:r>
            <a:endParaRPr lang="en-US" sz="2000" dirty="0"/>
          </a:p>
        </p:txBody>
      </p:sp>
      <p:sp>
        <p:nvSpPr>
          <p:cNvPr id="7" name="Shape 5"/>
          <p:cNvSpPr/>
          <p:nvPr/>
        </p:nvSpPr>
        <p:spPr>
          <a:xfrm>
            <a:off x="548640" y="5532120"/>
            <a:ext cx="11094415" cy="566928"/>
          </a:xfrm>
          <a:prstGeom prst="rect">
            <a:avLst/>
          </a:prstGeom>
          <a:solidFill>
            <a:srgbClr val="F1E5F4"/>
          </a:solidFill>
          <a:ln w="12700">
            <a:solidFill>
              <a:srgbClr val="F1E5F4"/>
            </a:solidFill>
            <a:prstDash val="solid"/>
          </a:ln>
        </p:spPr>
      </p:sp>
      <p:sp>
        <p:nvSpPr>
          <p:cNvPr id="8" name="Text 6"/>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Starch: iodine, blue-black. Glucose: Benedict's, heated, orange-red.</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Quick check</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CHECK</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600" i="1" dirty="0">
                <a:solidFill>
                  <a:srgbClr val="5B6574"/>
                </a:solidFill>
              </a:rPr>
              <a:t>Mini whiteboards. One answer each, then we check.</a:t>
            </a:r>
            <a:endParaRPr lang="en-US" sz="1600" dirty="0"/>
          </a:p>
        </p:txBody>
      </p:sp>
      <p:sp>
        <p:nvSpPr>
          <p:cNvPr id="6" name="Shape 4"/>
          <p:cNvSpPr/>
          <p:nvPr/>
        </p:nvSpPr>
        <p:spPr>
          <a:xfrm>
            <a:off x="548640" y="1783080"/>
            <a:ext cx="10881360" cy="713232"/>
          </a:xfrm>
          <a:prstGeom prst="roundRect">
            <a:avLst>
              <a:gd name="adj" fmla="val 10256"/>
            </a:avLst>
          </a:prstGeom>
          <a:solidFill>
            <a:srgbClr val="FFFFFF"/>
          </a:solidFill>
          <a:ln w="12700">
            <a:solidFill>
              <a:srgbClr val="D5DBE3"/>
            </a:solidFill>
            <a:prstDash val="solid"/>
          </a:ln>
        </p:spPr>
      </p:sp>
      <p:sp>
        <p:nvSpPr>
          <p:cNvPr id="7" name="Text 5"/>
          <p:cNvSpPr txBox="1"/>
          <p:nvPr/>
        </p:nvSpPr>
        <p:spPr>
          <a:xfrm>
            <a:off x="731520" y="178308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Q1  </a:t>
            </a:r>
            <a:pPr indent="0" marL="0">
              <a:buNone/>
            </a:pPr>
            <a:r>
              <a:rPr lang="en-US" sz="2000" dirty="0">
                <a:solidFill>
                  <a:srgbClr val="141B26"/>
                </a:solidFill>
              </a:rPr>
              <a:t>Which polymer do plants make from glucose as an energy store?</a:t>
            </a:r>
            <a:endParaRPr lang="en-US" sz="2000" dirty="0"/>
          </a:p>
        </p:txBody>
      </p:sp>
      <p:sp>
        <p:nvSpPr>
          <p:cNvPr id="8" name="Shape 6"/>
          <p:cNvSpPr/>
          <p:nvPr/>
        </p:nvSpPr>
        <p:spPr>
          <a:xfrm>
            <a:off x="548640" y="2606040"/>
            <a:ext cx="10881360" cy="713232"/>
          </a:xfrm>
          <a:prstGeom prst="roundRect">
            <a:avLst>
              <a:gd name="adj" fmla="val 10256"/>
            </a:avLst>
          </a:prstGeom>
          <a:solidFill>
            <a:srgbClr val="FFFFFF"/>
          </a:solidFill>
          <a:ln w="12700">
            <a:solidFill>
              <a:srgbClr val="D5DBE3"/>
            </a:solidFill>
            <a:prstDash val="solid"/>
          </a:ln>
        </p:spPr>
      </p:sp>
      <p:sp>
        <p:nvSpPr>
          <p:cNvPr id="9" name="Text 7"/>
          <p:cNvSpPr txBox="1"/>
          <p:nvPr/>
        </p:nvSpPr>
        <p:spPr>
          <a:xfrm>
            <a:off x="731520" y="260604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Q2  </a:t>
            </a:r>
            <a:pPr indent="0" marL="0">
              <a:buNone/>
            </a:pPr>
            <a:r>
              <a:rPr lang="en-US" sz="2000" dirty="0">
                <a:solidFill>
                  <a:srgbClr val="141B26"/>
                </a:solidFill>
              </a:rPr>
              <a:t>Which polymer builds plant cell walls?</a:t>
            </a:r>
            <a:endParaRPr lang="en-US" sz="2000" dirty="0"/>
          </a:p>
        </p:txBody>
      </p:sp>
      <p:sp>
        <p:nvSpPr>
          <p:cNvPr id="10" name="Shape 8"/>
          <p:cNvSpPr/>
          <p:nvPr/>
        </p:nvSpPr>
        <p:spPr>
          <a:xfrm>
            <a:off x="548640" y="3429000"/>
            <a:ext cx="10881360" cy="713232"/>
          </a:xfrm>
          <a:prstGeom prst="roundRect">
            <a:avLst>
              <a:gd name="adj" fmla="val 10256"/>
            </a:avLst>
          </a:prstGeom>
          <a:solidFill>
            <a:srgbClr val="FFFFFF"/>
          </a:solidFill>
          <a:ln w="12700">
            <a:solidFill>
              <a:srgbClr val="D5DBE3"/>
            </a:solidFill>
            <a:prstDash val="solid"/>
          </a:ln>
        </p:spPr>
      </p:sp>
      <p:sp>
        <p:nvSpPr>
          <p:cNvPr id="11" name="Text 9"/>
          <p:cNvSpPr txBox="1"/>
          <p:nvPr/>
        </p:nvSpPr>
        <p:spPr>
          <a:xfrm>
            <a:off x="731520" y="342900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Q3  </a:t>
            </a:r>
            <a:pPr indent="0" marL="0">
              <a:buNone/>
            </a:pPr>
            <a:r>
              <a:rPr lang="en-US" sz="2000" dirty="0">
                <a:solidFill>
                  <a:srgbClr val="141B26"/>
                </a:solidFill>
              </a:rPr>
              <a:t>What are proteins made of?</a:t>
            </a:r>
            <a:endParaRPr lang="en-US" sz="2000" dirty="0"/>
          </a:p>
        </p:txBody>
      </p:sp>
      <p:sp>
        <p:nvSpPr>
          <p:cNvPr id="12" name="Shape 10"/>
          <p:cNvSpPr/>
          <p:nvPr/>
        </p:nvSpPr>
        <p:spPr>
          <a:xfrm>
            <a:off x="548640" y="4251960"/>
            <a:ext cx="10881360" cy="713232"/>
          </a:xfrm>
          <a:prstGeom prst="roundRect">
            <a:avLst>
              <a:gd name="adj" fmla="val 10256"/>
            </a:avLst>
          </a:prstGeom>
          <a:solidFill>
            <a:srgbClr val="FFFFFF"/>
          </a:solidFill>
          <a:ln w="12700">
            <a:solidFill>
              <a:srgbClr val="D5DBE3"/>
            </a:solidFill>
            <a:prstDash val="solid"/>
          </a:ln>
        </p:spPr>
      </p:sp>
      <p:sp>
        <p:nvSpPr>
          <p:cNvPr id="13" name="Text 11"/>
          <p:cNvSpPr txBox="1"/>
          <p:nvPr/>
        </p:nvSpPr>
        <p:spPr>
          <a:xfrm>
            <a:off x="731520" y="425196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Q4  </a:t>
            </a:r>
            <a:pPr indent="0" marL="0">
              <a:buNone/>
            </a:pPr>
            <a:r>
              <a:rPr lang="en-US" sz="2000" dirty="0">
                <a:solidFill>
                  <a:srgbClr val="141B26"/>
                </a:solidFill>
              </a:rPr>
              <a:t>Which mineral salt supplies the nitrogen for amino acids?</a:t>
            </a:r>
            <a:endParaRPr lang="en-US" sz="2000" dirty="0"/>
          </a:p>
        </p:txBody>
      </p:sp>
      <p:sp>
        <p:nvSpPr>
          <p:cNvPr id="14" name="Shape 12"/>
          <p:cNvSpPr/>
          <p:nvPr/>
        </p:nvSpPr>
        <p:spPr>
          <a:xfrm>
            <a:off x="548640" y="5074920"/>
            <a:ext cx="10881360" cy="713232"/>
          </a:xfrm>
          <a:prstGeom prst="roundRect">
            <a:avLst>
              <a:gd name="adj" fmla="val 10256"/>
            </a:avLst>
          </a:prstGeom>
          <a:solidFill>
            <a:srgbClr val="FFFFFF"/>
          </a:solidFill>
          <a:ln w="12700">
            <a:solidFill>
              <a:srgbClr val="D5DBE3"/>
            </a:solidFill>
            <a:prstDash val="solid"/>
          </a:ln>
        </p:spPr>
      </p:sp>
      <p:sp>
        <p:nvSpPr>
          <p:cNvPr id="15" name="Text 13"/>
          <p:cNvSpPr txBox="1"/>
          <p:nvPr/>
        </p:nvSpPr>
        <p:spPr>
          <a:xfrm>
            <a:off x="731520" y="507492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Q5  </a:t>
            </a:r>
            <a:pPr indent="0" marL="0">
              <a:buNone/>
            </a:pPr>
            <a:r>
              <a:rPr lang="en-US" sz="2000" dirty="0">
                <a:solidFill>
                  <a:srgbClr val="141B26"/>
                </a:solidFill>
              </a:rPr>
              <a:t>What colour does iodine solution turn with starch?</a:t>
            </a:r>
            <a:endParaRPr lang="en-US" sz="20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400" b="1" dirty="0">
                <a:solidFill>
                  <a:srgbClr val="3A2E00"/>
                </a:solidFill>
              </a:rPr>
              <a:t>Safety: testing a leaf for starch</a:t>
            </a:r>
            <a:endParaRPr lang="en-US" sz="3400" dirty="0"/>
          </a:p>
        </p:txBody>
      </p:sp>
      <p:sp>
        <p:nvSpPr>
          <p:cNvPr id="3" name="Shape 1"/>
          <p:cNvSpPr/>
          <p:nvPr/>
        </p:nvSpPr>
        <p:spPr>
          <a:xfrm>
            <a:off x="10308031" y="411480"/>
            <a:ext cx="1335024" cy="384048"/>
          </a:xfrm>
          <a:prstGeom prst="roundRect">
            <a:avLst>
              <a:gd name="adj" fmla="val 50000"/>
            </a:avLst>
          </a:prstGeom>
          <a:solidFill>
            <a:srgbClr val="3A2E00"/>
          </a:solidFill>
          <a:ln w="12700">
            <a:solidFill>
              <a:srgbClr val="3A2E00"/>
            </a:solidFill>
            <a:prstDash val="solid"/>
          </a:ln>
        </p:spPr>
      </p:sp>
      <p:sp>
        <p:nvSpPr>
          <p:cNvPr id="4" name="Text 2"/>
          <p:cNvSpPr txBox="1"/>
          <p:nvPr/>
        </p:nvSpPr>
        <p:spPr>
          <a:xfrm>
            <a:off x="10308031" y="411480"/>
            <a:ext cx="133502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SAFETY</a:t>
            </a:r>
            <a:endParaRPr lang="en-US" sz="1100" dirty="0"/>
          </a:p>
        </p:txBody>
      </p:sp>
      <p:sp>
        <p:nvSpPr>
          <p:cNvPr id="5" name="Text 3"/>
          <p:cNvSpPr txBox="1"/>
          <p:nvPr/>
        </p:nvSpPr>
        <p:spPr>
          <a:xfrm>
            <a:off x="548640" y="1371600"/>
            <a:ext cx="10881360" cy="4572000"/>
          </a:xfrm>
          <a:prstGeom prst="rect">
            <a:avLst/>
          </a:prstGeom>
          <a:noFill/>
          <a:ln/>
        </p:spPr>
        <p:txBody>
          <a:bodyPr wrap="square" lIns="0" tIns="0" rIns="0" bIns="0" rtlCol="0" anchor="t"/>
          <a:lstStyle/>
          <a:p>
            <a:pPr marL="304800" indent="-304800">
              <a:spcAft>
                <a:spcPts val="800"/>
              </a:spcAft>
              <a:buSzPct val="100000"/>
              <a:buChar char="•"/>
            </a:pPr>
            <a:r>
              <a:rPr lang="en-US" sz="2600" dirty="0">
                <a:solidFill>
                  <a:srgbClr val="3A2E00"/>
                </a:solidFill>
              </a:rPr>
              <a:t>Goggles on for the whole practical. Iodine stains skin and clothes and irritates eyes.</a:t>
            </a:r>
            <a:endParaRPr lang="en-US" sz="2600" dirty="0"/>
          </a:p>
          <a:p>
            <a:pPr marL="304800" indent="-304800">
              <a:spcAft>
                <a:spcPts val="800"/>
              </a:spcAft>
              <a:buSzPct val="100000"/>
              <a:buChar char="•"/>
            </a:pPr>
            <a:r>
              <a:rPr lang="en-US" sz="2600" dirty="0">
                <a:solidFill>
                  <a:srgbClr val="3A2E00"/>
                </a:solidFill>
              </a:rPr>
              <a:t>Hot water comes from the kettle. Carry the beaker with two hands and keep it on the bench.</a:t>
            </a:r>
            <a:endParaRPr lang="en-US" sz="2600" dirty="0"/>
          </a:p>
          <a:p>
            <a:pPr marL="304800" indent="-304800">
              <a:spcAft>
                <a:spcPts val="800"/>
              </a:spcAft>
              <a:buSzPct val="100000"/>
              <a:buChar char="•"/>
            </a:pPr>
            <a:r>
              <a:rPr lang="en-US" sz="2600" dirty="0">
                <a:solidFill>
                  <a:srgbClr val="3A2E00"/>
                </a:solidFill>
              </a:rPr>
              <a:t>Ethanol is flammable. Heat it ONLY by standing the boiling tube in the hot water. No Bunsen burners in the room today.</a:t>
            </a:r>
            <a:endParaRPr lang="en-US" sz="2600" dirty="0"/>
          </a:p>
          <a:p>
            <a:pPr marL="304800" indent="-304800">
              <a:spcAft>
                <a:spcPts val="800"/>
              </a:spcAft>
              <a:buSzPct val="100000"/>
              <a:buChar char="•"/>
            </a:pPr>
            <a:r>
              <a:rPr lang="en-US" sz="2600" dirty="0">
                <a:solidFill>
                  <a:srgbClr val="3A2E00"/>
                </a:solidFill>
              </a:rPr>
              <a:t>Use forceps to move the leaf. Do not touch the hot leaf or the hot tube.</a:t>
            </a:r>
            <a:endParaRPr lang="en-US" sz="2600" dirty="0"/>
          </a:p>
          <a:p>
            <a:pPr marL="304800" indent="-304800">
              <a:spcAft>
                <a:spcPts val="800"/>
              </a:spcAft>
              <a:buSzPct val="100000"/>
              <a:buChar char="•"/>
            </a:pPr>
            <a:r>
              <a:rPr lang="en-US" sz="2600" dirty="0">
                <a:solidFill>
                  <a:srgbClr val="3A2E00"/>
                </a:solidFill>
              </a:rPr>
              <a:t>Wash your hands at the end and report any spill at once.</a:t>
            </a:r>
            <a:endParaRPr lang="en-US" sz="2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Testing a variegated leaf for starch</a:t>
            </a:r>
            <a:endParaRPr lang="en-US" sz="3000" dirty="0"/>
          </a:p>
        </p:txBody>
      </p:sp>
      <p:sp>
        <p:nvSpPr>
          <p:cNvPr id="3" name="Shape 1"/>
          <p:cNvSpPr/>
          <p:nvPr/>
        </p:nvSpPr>
        <p:spPr>
          <a:xfrm>
            <a:off x="9869119" y="411480"/>
            <a:ext cx="1773936"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9869119" y="411480"/>
            <a:ext cx="1773936"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PRACTICAL</a:t>
            </a:r>
            <a:endParaRPr lang="en-US" sz="1100" dirty="0"/>
          </a:p>
        </p:txBody>
      </p:sp>
      <p:sp>
        <p:nvSpPr>
          <p:cNvPr id="5" name="Text 3"/>
          <p:cNvSpPr txBox="1"/>
          <p:nvPr/>
        </p:nvSpPr>
        <p:spPr>
          <a:xfrm>
            <a:off x="548640" y="1280160"/>
            <a:ext cx="10881360" cy="457200"/>
          </a:xfrm>
          <a:prstGeom prst="rect">
            <a:avLst/>
          </a:prstGeom>
          <a:noFill/>
          <a:ln/>
        </p:spPr>
        <p:txBody>
          <a:bodyPr wrap="square" lIns="0" tIns="0" rIns="0" bIns="0" rtlCol="0" anchor="ctr"/>
          <a:lstStyle/>
          <a:p>
            <a:pPr indent="0" marL="0">
              <a:buNone/>
            </a:pPr>
            <a:r>
              <a:rPr lang="en-US" sz="1800" b="1" dirty="0">
                <a:solidFill>
                  <a:srgbClr val="7B3A8E"/>
                </a:solidFill>
              </a:rPr>
              <a:t>Aim  </a:t>
            </a:r>
            <a:pPr indent="0" marL="0">
              <a:buNone/>
            </a:pPr>
            <a:r>
              <a:rPr lang="en-US" sz="1800" dirty="0">
                <a:solidFill>
                  <a:srgbClr val="141B26"/>
                </a:solidFill>
              </a:rPr>
              <a:t>To find out which parts of a variegated leaf contain starch.</a:t>
            </a:r>
            <a:endParaRPr lang="en-US" sz="1800" dirty="0"/>
          </a:p>
        </p:txBody>
      </p:sp>
      <p:sp>
        <p:nvSpPr>
          <p:cNvPr id="6" name="Text 4"/>
          <p:cNvSpPr txBox="1"/>
          <p:nvPr/>
        </p:nvSpPr>
        <p:spPr>
          <a:xfrm>
            <a:off x="548640" y="1828800"/>
            <a:ext cx="4023360" cy="365760"/>
          </a:xfrm>
          <a:prstGeom prst="rect">
            <a:avLst/>
          </a:prstGeom>
          <a:noFill/>
          <a:ln/>
        </p:spPr>
        <p:txBody>
          <a:bodyPr wrap="square" lIns="0" tIns="0" rIns="0" bIns="0" rtlCol="0" anchor="ctr"/>
          <a:lstStyle/>
          <a:p>
            <a:pPr indent="0" marL="0">
              <a:buNone/>
            </a:pPr>
            <a:r>
              <a:rPr lang="en-US" sz="1800" b="1" dirty="0">
                <a:solidFill>
                  <a:srgbClr val="0F2A5F"/>
                </a:solidFill>
              </a:rPr>
              <a:t>Equipment</a:t>
            </a:r>
            <a:endParaRPr lang="en-US" sz="1800" dirty="0"/>
          </a:p>
        </p:txBody>
      </p:sp>
      <p:sp>
        <p:nvSpPr>
          <p:cNvPr id="7" name="Text 5"/>
          <p:cNvSpPr txBox="1"/>
          <p:nvPr/>
        </p:nvSpPr>
        <p:spPr>
          <a:xfrm>
            <a:off x="548640" y="2240280"/>
            <a:ext cx="4023360" cy="3200400"/>
          </a:xfrm>
          <a:prstGeom prst="rect">
            <a:avLst/>
          </a:prstGeom>
          <a:noFill/>
          <a:ln/>
        </p:spPr>
        <p:txBody>
          <a:bodyPr wrap="square" lIns="0" tIns="0" rIns="0" bIns="0" rtlCol="0" anchor="t"/>
          <a:lstStyle/>
          <a:p>
            <a:pPr marL="304800" indent="-304800">
              <a:spcAft>
                <a:spcPts val="800"/>
              </a:spcAft>
              <a:buSzPct val="100000"/>
              <a:buChar char="•"/>
            </a:pPr>
            <a:r>
              <a:rPr lang="en-US" sz="1500" dirty="0">
                <a:solidFill>
                  <a:srgbClr val="141B26"/>
                </a:solidFill>
              </a:rPr>
              <a:t>variegated leaf from a plant kept in bright light</a:t>
            </a:r>
            <a:endParaRPr lang="en-US" sz="1500" dirty="0"/>
          </a:p>
          <a:p>
            <a:pPr marL="304800" indent="-304800">
              <a:spcAft>
                <a:spcPts val="800"/>
              </a:spcAft>
              <a:buSzPct val="100000"/>
              <a:buChar char="•"/>
            </a:pPr>
            <a:r>
              <a:rPr lang="en-US" sz="1500" dirty="0">
                <a:solidFill>
                  <a:srgbClr val="141B26"/>
                </a:solidFill>
              </a:rPr>
              <a:t>beaker of hot water</a:t>
            </a:r>
            <a:endParaRPr lang="en-US" sz="1500" dirty="0"/>
          </a:p>
          <a:p>
            <a:pPr marL="304800" indent="-304800">
              <a:spcAft>
                <a:spcPts val="800"/>
              </a:spcAft>
              <a:buSzPct val="100000"/>
              <a:buChar char="•"/>
            </a:pPr>
            <a:r>
              <a:rPr lang="en-US" sz="1500" dirty="0">
                <a:solidFill>
                  <a:srgbClr val="141B26"/>
                </a:solidFill>
              </a:rPr>
              <a:t>boiling tube with about 2 cm depth of ethanol</a:t>
            </a:r>
            <a:endParaRPr lang="en-US" sz="1500" dirty="0"/>
          </a:p>
          <a:p>
            <a:pPr marL="304800" indent="-304800">
              <a:spcAft>
                <a:spcPts val="800"/>
              </a:spcAft>
              <a:buSzPct val="100000"/>
              <a:buChar char="•"/>
            </a:pPr>
            <a:r>
              <a:rPr lang="en-US" sz="1500" dirty="0">
                <a:solidFill>
                  <a:srgbClr val="141B26"/>
                </a:solidFill>
              </a:rPr>
              <a:t>forceps</a:t>
            </a:r>
            <a:endParaRPr lang="en-US" sz="1500" dirty="0"/>
          </a:p>
          <a:p>
            <a:pPr marL="304800" indent="-304800">
              <a:spcAft>
                <a:spcPts val="800"/>
              </a:spcAft>
              <a:buSzPct val="100000"/>
              <a:buChar char="•"/>
            </a:pPr>
            <a:r>
              <a:rPr lang="en-US" sz="1500" dirty="0">
                <a:solidFill>
                  <a:srgbClr val="141B26"/>
                </a:solidFill>
              </a:rPr>
              <a:t>white tile</a:t>
            </a:r>
            <a:endParaRPr lang="en-US" sz="1500" dirty="0"/>
          </a:p>
          <a:p>
            <a:pPr marL="304800" indent="-304800">
              <a:spcAft>
                <a:spcPts val="800"/>
              </a:spcAft>
              <a:buSzPct val="100000"/>
              <a:buChar char="•"/>
            </a:pPr>
            <a:r>
              <a:rPr lang="en-US" sz="1500" dirty="0">
                <a:solidFill>
                  <a:srgbClr val="141B26"/>
                </a:solidFill>
              </a:rPr>
              <a:t>iodine solution and dropper</a:t>
            </a:r>
            <a:endParaRPr lang="en-US" sz="1500" dirty="0"/>
          </a:p>
          <a:p>
            <a:pPr marL="304800" indent="-304800">
              <a:spcAft>
                <a:spcPts val="800"/>
              </a:spcAft>
              <a:buSzPct val="100000"/>
              <a:buChar char="•"/>
            </a:pPr>
            <a:r>
              <a:rPr lang="en-US" sz="1500" dirty="0">
                <a:solidFill>
                  <a:srgbClr val="141B26"/>
                </a:solidFill>
              </a:rPr>
              <a:t>goggles</a:t>
            </a:r>
            <a:endParaRPr lang="en-US" sz="1500" dirty="0"/>
          </a:p>
          <a:p>
            <a:pPr marL="304800" indent="-304800">
              <a:spcAft>
                <a:spcPts val="800"/>
              </a:spcAft>
              <a:buSzPct val="100000"/>
              <a:buChar char="•"/>
            </a:pPr>
            <a:r>
              <a:rPr lang="en-US" sz="1500" dirty="0">
                <a:solidFill>
                  <a:srgbClr val="141B26"/>
                </a:solidFill>
              </a:rPr>
              <a:t>worksheet</a:t>
            </a:r>
            <a:endParaRPr lang="en-US" sz="1500" dirty="0"/>
          </a:p>
        </p:txBody>
      </p:sp>
      <p:sp>
        <p:nvSpPr>
          <p:cNvPr id="8" name="Text 6"/>
          <p:cNvSpPr txBox="1"/>
          <p:nvPr/>
        </p:nvSpPr>
        <p:spPr>
          <a:xfrm>
            <a:off x="4937760" y="1828800"/>
            <a:ext cx="6675120" cy="365760"/>
          </a:xfrm>
          <a:prstGeom prst="rect">
            <a:avLst/>
          </a:prstGeom>
          <a:noFill/>
          <a:ln/>
        </p:spPr>
        <p:txBody>
          <a:bodyPr wrap="square" lIns="0" tIns="0" rIns="0" bIns="0" rtlCol="0" anchor="ctr"/>
          <a:lstStyle/>
          <a:p>
            <a:pPr indent="0" marL="0">
              <a:buNone/>
            </a:pPr>
            <a:r>
              <a:rPr lang="en-US" sz="1800" b="1" dirty="0">
                <a:solidFill>
                  <a:srgbClr val="0F2A5F"/>
                </a:solidFill>
              </a:rPr>
              <a:t>Method</a:t>
            </a:r>
            <a:endParaRPr lang="en-US" sz="1800" dirty="0"/>
          </a:p>
        </p:txBody>
      </p:sp>
      <p:sp>
        <p:nvSpPr>
          <p:cNvPr id="9" name="Text 7"/>
          <p:cNvSpPr txBox="1"/>
          <p:nvPr/>
        </p:nvSpPr>
        <p:spPr>
          <a:xfrm>
            <a:off x="4937760" y="2240280"/>
            <a:ext cx="6675120" cy="320040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400" dirty="0">
                <a:solidFill>
                  <a:srgbClr val="141B26"/>
                </a:solidFill>
              </a:rPr>
              <a:t>Draw the leaf on the worksheet. Mark which parts are green and which are white.</a:t>
            </a:r>
            <a:endParaRPr lang="en-US" sz="1400" dirty="0"/>
          </a:p>
          <a:p>
            <a:pPr marL="342900" indent="-342900">
              <a:spcAft>
                <a:spcPts val="600"/>
              </a:spcAft>
              <a:buSzPct val="100000"/>
              <a:buFont typeface="+mj-lt"/>
              <a:buAutoNum type="arabicPeriod" startAt="1"/>
            </a:pPr>
            <a:r>
              <a:rPr lang="en-US" sz="1400" dirty="0">
                <a:solidFill>
                  <a:srgbClr val="141B26"/>
                </a:solidFill>
              </a:rPr>
              <a:t>Hold the leaf with forceps and dip it in the hot water for 30 seconds. This kills the leaf and softens it.</a:t>
            </a:r>
            <a:endParaRPr lang="en-US" sz="1400" dirty="0"/>
          </a:p>
          <a:p>
            <a:pPr marL="342900" indent="-342900">
              <a:spcAft>
                <a:spcPts val="600"/>
              </a:spcAft>
              <a:buSzPct val="100000"/>
              <a:buFont typeface="+mj-lt"/>
              <a:buAutoNum type="arabicPeriod" startAt="1"/>
            </a:pPr>
            <a:r>
              <a:rPr lang="en-US" sz="1400" dirty="0">
                <a:solidFill>
                  <a:srgbClr val="141B26"/>
                </a:solidFill>
              </a:rPr>
              <a:t>Put the leaf in the boiling tube of ethanol. Stand the tube in the beaker of hot water for about 5 minutes, until the leaf is pale and the ethanol is green.</a:t>
            </a:r>
            <a:endParaRPr lang="en-US" sz="1400" dirty="0"/>
          </a:p>
          <a:p>
            <a:pPr marL="342900" indent="-342900">
              <a:spcAft>
                <a:spcPts val="600"/>
              </a:spcAft>
              <a:buSzPct val="100000"/>
              <a:buFont typeface="+mj-lt"/>
              <a:buAutoNum type="arabicPeriod" startAt="1"/>
            </a:pPr>
            <a:r>
              <a:rPr lang="en-US" sz="1400" dirty="0">
                <a:solidFill>
                  <a:srgbClr val="141B26"/>
                </a:solidFill>
              </a:rPr>
              <a:t>Take the leaf out with forceps and dip it in the hot water again to soften it.</a:t>
            </a:r>
            <a:endParaRPr lang="en-US" sz="1400" dirty="0"/>
          </a:p>
          <a:p>
            <a:pPr marL="342900" indent="-342900">
              <a:spcAft>
                <a:spcPts val="600"/>
              </a:spcAft>
              <a:buSzPct val="100000"/>
              <a:buFont typeface="+mj-lt"/>
              <a:buAutoNum type="arabicPeriod" startAt="1"/>
            </a:pPr>
            <a:r>
              <a:rPr lang="en-US" sz="1400" dirty="0">
                <a:solidFill>
                  <a:srgbClr val="141B26"/>
                </a:solidFill>
              </a:rPr>
              <a:t>Spread the leaf on the white tile. Cover it with drops of iodine solution.</a:t>
            </a:r>
            <a:endParaRPr lang="en-US" sz="1400" dirty="0"/>
          </a:p>
          <a:p>
            <a:pPr marL="342900" indent="-342900">
              <a:spcAft>
                <a:spcPts val="600"/>
              </a:spcAft>
              <a:buSzPct val="100000"/>
              <a:buFont typeface="+mj-lt"/>
              <a:buAutoNum type="arabicPeriod" startAt="1"/>
            </a:pPr>
            <a:r>
              <a:rPr lang="en-US" sz="1400" dirty="0">
                <a:solidFill>
                  <a:srgbClr val="141B26"/>
                </a:solidFill>
              </a:rPr>
              <a:t>Wait one minute. Draw the result and label where it went blue-black.</a:t>
            </a:r>
            <a:endParaRPr lang="en-US" sz="1400" dirty="0"/>
          </a:p>
        </p:txBody>
      </p:sp>
      <p:sp>
        <p:nvSpPr>
          <p:cNvPr id="10" name="Shape 8"/>
          <p:cNvSpPr/>
          <p:nvPr/>
        </p:nvSpPr>
        <p:spPr>
          <a:xfrm>
            <a:off x="548640" y="5532120"/>
            <a:ext cx="10881360" cy="502920"/>
          </a:xfrm>
          <a:prstGeom prst="rect">
            <a:avLst/>
          </a:prstGeom>
          <a:solidFill>
            <a:srgbClr val="F2CE3E"/>
          </a:solidFill>
          <a:ln w="12700">
            <a:solidFill>
              <a:srgbClr val="F2CE3E"/>
            </a:solidFill>
            <a:prstDash val="solid"/>
          </a:ln>
        </p:spPr>
      </p:sp>
      <p:sp>
        <p:nvSpPr>
          <p:cNvPr id="11" name="Text 9"/>
          <p:cNvSpPr txBox="1"/>
          <p:nvPr/>
        </p:nvSpPr>
        <p:spPr>
          <a:xfrm>
            <a:off x="685800" y="5532120"/>
            <a:ext cx="10607040" cy="502920"/>
          </a:xfrm>
          <a:prstGeom prst="rect">
            <a:avLst/>
          </a:prstGeom>
          <a:noFill/>
          <a:ln/>
        </p:spPr>
        <p:txBody>
          <a:bodyPr wrap="square" lIns="0" tIns="0" rIns="0" bIns="0" rtlCol="0" anchor="ctr"/>
          <a:lstStyle/>
          <a:p>
            <a:pPr indent="0" marL="0">
              <a:buNone/>
            </a:pPr>
            <a:r>
              <a:rPr lang="en-US" sz="1500" b="1" dirty="0">
                <a:solidFill>
                  <a:srgbClr val="3A2E00"/>
                </a:solidFill>
              </a:rPr>
              <a:t>Safety  </a:t>
            </a:r>
            <a:pPr indent="0" marL="0">
              <a:buNone/>
            </a:pPr>
            <a:r>
              <a:rPr lang="en-US" sz="1500" dirty="0">
                <a:solidFill>
                  <a:srgbClr val="3A2E00"/>
                </a:solidFill>
              </a:rPr>
              <a:t>Goggles on. Ethanol only in the water bath, never near a flame. Forceps for the leaf.</a:t>
            </a:r>
            <a:endParaRPr lang="en-US" sz="15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Plenty of light, still not growing</a:t>
            </a:r>
            <a:endParaRPr lang="en-US" sz="3000" dirty="0"/>
          </a:p>
        </p:txBody>
      </p:sp>
      <p:sp>
        <p:nvSpPr>
          <p:cNvPr id="3" name="Shape 1"/>
          <p:cNvSpPr/>
          <p:nvPr/>
        </p:nvSpPr>
        <p:spPr>
          <a:xfrm>
            <a:off x="8698687" y="411480"/>
            <a:ext cx="294436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8698687" y="411480"/>
            <a:ext cx="294436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THINK AND REFLECT</a:t>
            </a:r>
            <a:endParaRPr lang="en-US" sz="1100" dirty="0"/>
          </a:p>
        </p:txBody>
      </p:sp>
      <p:sp>
        <p:nvSpPr>
          <p:cNvPr id="5" name="Text 3"/>
          <p:cNvSpPr txBox="1"/>
          <p:nvPr/>
        </p:nvSpPr>
        <p:spPr>
          <a:xfrm>
            <a:off x="548640" y="1325880"/>
            <a:ext cx="10881360" cy="1920240"/>
          </a:xfrm>
          <a:prstGeom prst="rect">
            <a:avLst/>
          </a:prstGeom>
          <a:noFill/>
          <a:ln/>
        </p:spPr>
        <p:txBody>
          <a:bodyPr wrap="square" lIns="0" tIns="0" rIns="0" bIns="0" rtlCol="0" anchor="t"/>
          <a:lstStyle/>
          <a:p>
            <a:pPr indent="0" marL="0">
              <a:buNone/>
            </a:pPr>
            <a:r>
              <a:rPr lang="en-US" sz="2600" b="1" dirty="0">
                <a:solidFill>
                  <a:srgbClr val="0F2A5F"/>
                </a:solidFill>
              </a:rPr>
              <a:t>A tomato plant in a greenhouse gets lots of light, water and carbon dioxide, but the soil has very few nitrates. Explain why it grows badly even though it photosynthesises well.</a:t>
            </a:r>
            <a:endParaRPr lang="en-US" sz="2600" dirty="0"/>
          </a:p>
        </p:txBody>
      </p:sp>
      <p:sp>
        <p:nvSpPr>
          <p:cNvPr id="6" name="Shape 4"/>
          <p:cNvSpPr/>
          <p:nvPr/>
        </p:nvSpPr>
        <p:spPr>
          <a:xfrm>
            <a:off x="548640" y="3383280"/>
            <a:ext cx="10881360" cy="2377440"/>
          </a:xfrm>
          <a:prstGeom prst="roundRect">
            <a:avLst>
              <a:gd name="adj" fmla="val 3846"/>
            </a:avLst>
          </a:prstGeom>
          <a:solidFill>
            <a:srgbClr val="FFFFFF"/>
          </a:solidFill>
          <a:ln w="12700">
            <a:solidFill>
              <a:srgbClr val="7B3A8E"/>
            </a:solidFill>
            <a:prstDash val="dash"/>
          </a:ln>
        </p:spPr>
      </p:sp>
      <p:sp>
        <p:nvSpPr>
          <p:cNvPr id="7" name="Text 5"/>
          <p:cNvSpPr txBox="1"/>
          <p:nvPr/>
        </p:nvSpPr>
        <p:spPr>
          <a:xfrm>
            <a:off x="777240" y="3520440"/>
            <a:ext cx="10424160" cy="2148840"/>
          </a:xfrm>
          <a:prstGeom prst="rect">
            <a:avLst/>
          </a:prstGeom>
          <a:noFill/>
          <a:ln/>
        </p:spPr>
        <p:txBody>
          <a:bodyPr wrap="square" lIns="0" tIns="0" rIns="0" bIns="0" rtlCol="0" anchor="t"/>
          <a:lstStyle/>
          <a:p>
            <a:pPr indent="0" marL="0">
              <a:spcAft>
                <a:spcPts val="600"/>
              </a:spcAft>
              <a:buNone/>
            </a:pPr>
            <a:r>
              <a:rPr lang="en-US" sz="1800" b="1" dirty="0">
                <a:solidFill>
                  <a:srgbClr val="7B3A8E"/>
                </a:solidFill>
              </a:rPr>
              <a:t>Sentence frames</a:t>
            </a:r>
            <a:endParaRPr lang="en-US" sz="1800" dirty="0"/>
          </a:p>
          <a:p>
            <a:pPr indent="0" marL="0">
              <a:spcAft>
                <a:spcPts val="600"/>
              </a:spcAft>
              <a:buNone/>
            </a:pPr>
            <a:r>
              <a:rPr lang="en-US" sz="1800" dirty="0">
                <a:solidFill>
                  <a:srgbClr val="141B26"/>
                </a:solidFill>
              </a:rPr>
              <a:t>The plant can make ___ by photosynthesis, but ___.</a:t>
            </a:r>
            <a:endParaRPr lang="en-US" sz="1800" dirty="0"/>
          </a:p>
          <a:p>
            <a:pPr indent="0" marL="0">
              <a:spcAft>
                <a:spcPts val="600"/>
              </a:spcAft>
              <a:buNone/>
            </a:pPr>
            <a:r>
              <a:rPr lang="en-US" sz="1800" dirty="0">
                <a:solidFill>
                  <a:srgbClr val="141B26"/>
                </a:solidFill>
              </a:rPr>
              <a:t>Without nitrates it cannot make ___, so it cannot make ___.</a:t>
            </a:r>
            <a:endParaRPr lang="en-US" sz="1800" dirty="0"/>
          </a:p>
          <a:p>
            <a:pPr indent="0" marL="0">
              <a:spcAft>
                <a:spcPts val="600"/>
              </a:spcAft>
              <a:buNone/>
            </a:pPr>
            <a:r>
              <a:rPr lang="en-US" sz="1800" dirty="0">
                <a:solidFill>
                  <a:srgbClr val="141B26"/>
                </a:solidFill>
              </a:rPr>
              <a:t>Enzymes are ___, so ___.</a:t>
            </a:r>
            <a:endParaRPr lang="en-US" sz="18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Exit ticket</a:t>
            </a:r>
            <a:endParaRPr lang="en-US" sz="3000" dirty="0"/>
          </a:p>
        </p:txBody>
      </p:sp>
      <p:sp>
        <p:nvSpPr>
          <p:cNvPr id="3" name="Shape 1"/>
          <p:cNvSpPr/>
          <p:nvPr/>
        </p:nvSpPr>
        <p:spPr>
          <a:xfrm>
            <a:off x="9576511" y="411480"/>
            <a:ext cx="206654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9576511" y="411480"/>
            <a:ext cx="206654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EXIT TICKET</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600" i="1" dirty="0">
                <a:solidFill>
                  <a:srgbClr val="5B6574"/>
                </a:solidFill>
              </a:rPr>
              <a:t>On your worksheet exit ticket. Work alone. Hand it in as you leave.</a:t>
            </a:r>
            <a:endParaRPr lang="en-US" sz="1600" dirty="0"/>
          </a:p>
        </p:txBody>
      </p:sp>
      <p:sp>
        <p:nvSpPr>
          <p:cNvPr id="6" name="Text 4"/>
          <p:cNvSpPr txBox="1"/>
          <p:nvPr/>
        </p:nvSpPr>
        <p:spPr>
          <a:xfrm>
            <a:off x="548640" y="1828800"/>
            <a:ext cx="9692640" cy="1188720"/>
          </a:xfrm>
          <a:prstGeom prst="rect">
            <a:avLst/>
          </a:prstGeom>
          <a:noFill/>
          <a:ln/>
        </p:spPr>
        <p:txBody>
          <a:bodyPr wrap="square" lIns="0" tIns="0" rIns="0" bIns="0" rtlCol="0" anchor="t"/>
          <a:lstStyle/>
          <a:p>
            <a:pPr indent="0" marL="0">
              <a:buNone/>
            </a:pPr>
            <a:r>
              <a:rPr lang="en-US" sz="2200" b="1" dirty="0">
                <a:solidFill>
                  <a:srgbClr val="7B3A8E"/>
                </a:solidFill>
              </a:rPr>
              <a:t>1.  </a:t>
            </a:r>
            <a:pPr indent="0" marL="0">
              <a:buNone/>
            </a:pPr>
            <a:r>
              <a:rPr lang="en-US" sz="2200" dirty="0">
                <a:solidFill>
                  <a:srgbClr val="141B26"/>
                </a:solidFill>
              </a:rPr>
              <a:t>Which solution tests for starch, and what colour does it turn?</a:t>
            </a:r>
            <a:endParaRPr lang="en-US" sz="2200" dirty="0"/>
          </a:p>
        </p:txBody>
      </p:sp>
      <p:sp>
        <p:nvSpPr>
          <p:cNvPr id="7" name="Text 5"/>
          <p:cNvSpPr txBox="1"/>
          <p:nvPr/>
        </p:nvSpPr>
        <p:spPr>
          <a:xfrm>
            <a:off x="548640" y="3017520"/>
            <a:ext cx="9692640" cy="1188720"/>
          </a:xfrm>
          <a:prstGeom prst="rect">
            <a:avLst/>
          </a:prstGeom>
          <a:noFill/>
          <a:ln/>
        </p:spPr>
        <p:txBody>
          <a:bodyPr wrap="square" lIns="0" tIns="0" rIns="0" bIns="0" rtlCol="0" anchor="t"/>
          <a:lstStyle/>
          <a:p>
            <a:pPr indent="0" marL="0">
              <a:buNone/>
            </a:pPr>
            <a:r>
              <a:rPr lang="en-US" sz="2200" b="1" dirty="0">
                <a:solidFill>
                  <a:srgbClr val="7B3A8E"/>
                </a:solidFill>
              </a:rPr>
              <a:t>2.  </a:t>
            </a:r>
            <a:pPr indent="0" marL="0">
              <a:buNone/>
            </a:pPr>
            <a:r>
              <a:rPr lang="en-US" sz="2200" dirty="0">
                <a:solidFill>
                  <a:srgbClr val="141B26"/>
                </a:solidFill>
              </a:rPr>
              <a:t>Why do seeds need a store of starch?</a:t>
            </a:r>
            <a:endParaRPr lang="en-US" sz="2200" dirty="0"/>
          </a:p>
        </p:txBody>
      </p:sp>
      <p:sp>
        <p:nvSpPr>
          <p:cNvPr id="8" name="Text 6"/>
          <p:cNvSpPr txBox="1"/>
          <p:nvPr/>
        </p:nvSpPr>
        <p:spPr>
          <a:xfrm>
            <a:off x="548640" y="4206240"/>
            <a:ext cx="9692640" cy="1188720"/>
          </a:xfrm>
          <a:prstGeom prst="rect">
            <a:avLst/>
          </a:prstGeom>
          <a:noFill/>
          <a:ln/>
        </p:spPr>
        <p:txBody>
          <a:bodyPr wrap="square" lIns="0" tIns="0" rIns="0" bIns="0" rtlCol="0" anchor="t"/>
          <a:lstStyle/>
          <a:p>
            <a:pPr indent="0" marL="0">
              <a:buNone/>
            </a:pPr>
            <a:r>
              <a:rPr lang="en-US" sz="2200" b="1" dirty="0">
                <a:solidFill>
                  <a:srgbClr val="7B3A8E"/>
                </a:solidFill>
              </a:rPr>
              <a:t>3.  </a:t>
            </a:r>
            <a:pPr indent="0" marL="0">
              <a:buNone/>
            </a:pPr>
            <a:r>
              <a:rPr lang="en-US" sz="2200" dirty="0">
                <a:solidFill>
                  <a:srgbClr val="141B26"/>
                </a:solidFill>
              </a:rPr>
              <a:t>What are enzymes made of, and which mineral salt do plants need to make them?</a:t>
            </a:r>
            <a:endParaRPr lang="en-US" sz="2200" dirty="0"/>
          </a:p>
        </p:txBody>
      </p:sp>
      <p:sp>
        <p:nvSpPr>
          <p:cNvPr id="9" name="Shape 7"/>
          <p:cNvSpPr/>
          <p:nvPr/>
        </p:nvSpPr>
        <p:spPr>
          <a:xfrm>
            <a:off x="10682935" y="914400"/>
            <a:ext cx="914400" cy="914400"/>
          </a:xfrm>
          <a:prstGeom prst="ellipse">
            <a:avLst/>
          </a:prstGeom>
          <a:solidFill>
            <a:srgbClr val="FFFFFF"/>
          </a:solidFill>
          <a:ln w="25400">
            <a:solidFill>
              <a:srgbClr val="7B3A8E"/>
            </a:solidFill>
            <a:prstDash val="solid"/>
          </a:ln>
        </p:spPr>
      </p:sp>
      <p:sp>
        <p:nvSpPr>
          <p:cNvPr id="10" name="Text 8"/>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4</a:t>
            </a:r>
            <a:endParaRPr lang="en-US" sz="2200" dirty="0"/>
          </a:p>
          <a:p>
            <a:pPr algn="ctr" indent="0" marL="0">
              <a:buNone/>
            </a:pPr>
            <a:r>
              <a:rPr lang="en-US" sz="1000" dirty="0">
                <a:solidFill>
                  <a:srgbClr val="5B6574"/>
                </a:solidFill>
              </a:rPr>
              <a:t>min</a:t>
            </a:r>
            <a:endParaRPr lang="en-US" sz="22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What we learned</a:t>
            </a:r>
            <a:endParaRPr lang="en-US" sz="3000" dirty="0"/>
          </a:p>
        </p:txBody>
      </p:sp>
      <p:sp>
        <p:nvSpPr>
          <p:cNvPr id="3" name="Shape 1"/>
          <p:cNvSpPr/>
          <p:nvPr/>
        </p:nvSpPr>
        <p:spPr>
          <a:xfrm>
            <a:off x="10161727" y="411480"/>
            <a:ext cx="148132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161727" y="411480"/>
            <a:ext cx="148132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SUMMARY</a:t>
            </a:r>
            <a:endParaRPr lang="en-US" sz="1100" dirty="0"/>
          </a:p>
        </p:txBody>
      </p:sp>
      <p:sp>
        <p:nvSpPr>
          <p:cNvPr id="5" name="Text 3"/>
          <p:cNvSpPr txBox="1"/>
          <p:nvPr/>
        </p:nvSpPr>
        <p:spPr>
          <a:xfrm>
            <a:off x="548640" y="1371600"/>
            <a:ext cx="10881360" cy="411480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141B26"/>
                </a:solidFill>
              </a:rPr>
              <a:t>Glucose is joined into starch (an energy store) and cellulose (cell walls); sugars are moved in the phloem.</a:t>
            </a:r>
            <a:endParaRPr lang="en-US" sz="2000" dirty="0"/>
          </a:p>
          <a:p>
            <a:pPr marL="342900" indent="-342900">
              <a:spcAft>
                <a:spcPts val="1200"/>
              </a:spcAft>
              <a:buSzPct val="100000"/>
              <a:buChar char="✓"/>
            </a:pPr>
            <a:r>
              <a:rPr lang="en-US" sz="2000" dirty="0">
                <a:solidFill>
                  <a:srgbClr val="141B26"/>
                </a:solidFill>
              </a:rPr>
              <a:t>Lipids make the cuticle, cell membranes and energy stores in seeds and fruits.</a:t>
            </a:r>
            <a:endParaRPr lang="en-US" sz="2000" dirty="0"/>
          </a:p>
          <a:p>
            <a:pPr marL="342900" indent="-342900">
              <a:spcAft>
                <a:spcPts val="1200"/>
              </a:spcAft>
              <a:buSzPct val="100000"/>
              <a:buChar char="✓"/>
            </a:pPr>
            <a:r>
              <a:rPr lang="en-US" sz="2000" dirty="0">
                <a:solidFill>
                  <a:srgbClr val="141B26"/>
                </a:solidFill>
              </a:rPr>
              <a:t>Proteins are chains of amino acids, which need nitrogen from nitrates; all enzymes are proteins.</a:t>
            </a:r>
            <a:endParaRPr lang="en-US" sz="2000" dirty="0"/>
          </a:p>
          <a:p>
            <a:pPr marL="342900" indent="-342900">
              <a:spcAft>
                <a:spcPts val="1200"/>
              </a:spcAft>
              <a:buSzPct val="100000"/>
              <a:buChar char="✓"/>
            </a:pPr>
            <a:r>
              <a:rPr lang="en-US" sz="2000" dirty="0">
                <a:solidFill>
                  <a:srgbClr val="141B26"/>
                </a:solidFill>
              </a:rPr>
              <a:t>A germinating seed uses water, enzymes and respiration to turn its stored starch into growth.</a:t>
            </a:r>
            <a:endParaRPr lang="en-US" sz="2000" dirty="0"/>
          </a:p>
          <a:p>
            <a:pPr marL="342900" indent="-342900">
              <a:spcAft>
                <a:spcPts val="1200"/>
              </a:spcAft>
              <a:buSzPct val="100000"/>
              <a:buChar char="✓"/>
            </a:pPr>
            <a:r>
              <a:rPr lang="en-US" sz="2000" dirty="0">
                <a:solidFill>
                  <a:srgbClr val="141B26"/>
                </a:solidFill>
              </a:rPr>
              <a:t>Iodine tests for starch (blue-black); Benedict's tests for glucose (orange-red when heated).</a:t>
            </a:r>
            <a:endParaRPr lang="en-US" sz="2000" dirty="0"/>
          </a:p>
        </p:txBody>
      </p:sp>
      <p:sp>
        <p:nvSpPr>
          <p:cNvPr id="6" name="Text 4"/>
          <p:cNvSpPr txBox="1"/>
          <p:nvPr/>
        </p:nvSpPr>
        <p:spPr>
          <a:xfrm>
            <a:off x="548640" y="5577840"/>
            <a:ext cx="10881360" cy="411480"/>
          </a:xfrm>
          <a:prstGeom prst="rect">
            <a:avLst/>
          </a:prstGeom>
          <a:noFill/>
          <a:ln/>
        </p:spPr>
        <p:txBody>
          <a:bodyPr wrap="square" lIns="0" tIns="0" rIns="0" bIns="0" rtlCol="0" anchor="ctr"/>
          <a:lstStyle/>
          <a:p>
            <a:pPr indent="0" marL="0">
              <a:buNone/>
            </a:pPr>
            <a:r>
              <a:rPr lang="en-US" sz="1500" b="1" dirty="0">
                <a:solidFill>
                  <a:srgbClr val="7B3A8E"/>
                </a:solidFill>
              </a:rPr>
              <a:t>Next lesson  </a:t>
            </a:r>
            <a:pPr indent="0" marL="0">
              <a:buNone/>
            </a:pPr>
            <a:r>
              <a:rPr lang="en-US" sz="1500" dirty="0">
                <a:solidFill>
                  <a:srgbClr val="141B26"/>
                </a:solidFill>
              </a:rPr>
              <a:t>Growing crops: how farmers use fertilisers, pesticides and new varieties to get a bigger yield.</a:t>
            </a:r>
            <a:endParaRPr lang="en-US" sz="15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Year 9 Science">
  <a:themeElements>
    <a:clrScheme name="Year 9 Science">
      <a:dk1>
        <a:srgbClr val="141B26"/>
      </a:dk1>
      <a:lt1>
        <a:srgbClr val="FFFFFF"/>
      </a:lt1>
      <a:dk2>
        <a:srgbClr val="0F2A5F"/>
      </a:dk2>
      <a:lt2>
        <a:srgbClr val="EEF1F5"/>
      </a:lt2>
      <a:accent1>
        <a:srgbClr val="7B3A8E"/>
      </a:accent1>
      <a:accent2>
        <a:srgbClr val="F2CE3E"/>
      </a:accent2>
      <a:accent3>
        <a:srgbClr val="5B6574"/>
      </a:accent3>
      <a:accent4>
        <a:srgbClr val="D5DBE3"/>
      </a:accent4>
      <a:accent5>
        <a:srgbClr val="F1E5F4"/>
      </a:accent5>
      <a:accent6>
        <a:srgbClr val="1E7DB0"/>
      </a:accent6>
      <a:hlink>
        <a:srgbClr val="1E7DB0"/>
      </a:hlink>
      <a:folHlink>
        <a:srgbClr val="7B3A8E"/>
      </a:folHlink>
    </a:clrScheme>
    <a:fontScheme name="Year 9 Sci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9B Lesson 4: Plant products: starch, lipids and proteins</dc:title>
  <dc:subject>PptxGenJS Presentation</dc:subject>
  <dc:creator>Year 9 Science</dc:creator>
  <cp:lastModifiedBy>Year 9 Science</cp:lastModifiedBy>
  <cp:revision>1</cp:revision>
  <dcterms:created xsi:type="dcterms:W3CDTF">2026-10-28T09:45:19Z</dcterms:created>
  <dcterms:modified xsi:type="dcterms:W3CDTF">2026-10-28T09:45:19Z</dcterms:modified>
</cp:coreProperties>
</file>