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of 9B. Photosynthesis makes glucose; this lesson follows what the plant builds from it, and we test a leaf for starch.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orange-brown to blue-black; starch; glucose. Show the real thing if you have a potato: it takes ten seconds and every student remembers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safety slide later: hot water and ethanol.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ideas: the plant joins glucose molecules into long chains (polymers), changes them into other substances, and adds elements from mineral salts, especially nitrogen from nitrates for proteins. All life on Earth depends on this: photosynthetic organisms also keep the balance of carbon dioxide and oxygen in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when is starch broken down in the chloroplasts, day or night? At night, when photosynthesis has stopped and the sugar is needed elsewhere. Starch does not dissolve, so it does not draw water into the cell; that is why plants store starch rather than glucose.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Humans use plant lipids too: cooking oil, margarine, biodiesel. Why do fruits contain oils? To encourage animals to eat the fruit and spread the seeds. Seeds store lipids and protein to supply the seedling before its leaves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Ask: why do gardeners sow seeds in spring, not winter? Warmth makes the enzymes work faster. Why does a seed need oxygen? For aerobic respiration to release energy for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practical they are about to do: the leaf is boiled briefly to kill it, the chlorophyll is removed with warm ethanol so the colour change shows, then iodine is added. Benedict's must be heated in a water bath; it is on the Stretch questions, not done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starch; cellulose; amino acids; nitrates; blue-black. Then the safety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every line aloud. Check there are no flames anywhere in the room before any ethanol is poured. Fill the beakers with hot (not boiling) water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result: the parts that were green turn blue-black (starch present); the white parts stay orange-brown (no chlorophyll, no photosynthesis, no starch). While tubes stand in the hot water, students do Core 2 and 3. Everything in the tray at the end; ethanol back in the labelled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it can make glucose, but glucose is not enough to build new cells; without nitrates it cannot make amino acids, so no proteins; enzymes are proteins, so even photosynthesis and respiration slow down. This is why farmers add nitrate fertiliser, which is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iodine solution, blue-black; the starch is digested to glucose for respiration and growth until the seedling's leaves can photosynthesise; enzymes are proteins, made from amino acids, which need nitrogen from nitrates. Collect the strips.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 19. Remind students to finish the leaf drawing with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4: Plant products: starch, lipids and proteins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4: Plant products: starch, lipids and proteins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4: Plant products: starch, lipids and proteins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9B Plant growth  |  Lesson 4: Plant products: starch, lipids and proteins</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9B PLANT GROWTH  ·  LESSON 4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Plant products: starch, lipids and proteins</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Wood, oil, protein, starch: how can one sugar become all of them?</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26 to 27  ·  Workbook pages 19</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potato and iodine</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1. What colour change would you see if you added iodine solution to a slice of potato?</a:t>
            </a:r>
            <a:endParaRPr lang="en-US" sz="2000" dirty="0"/>
          </a:p>
          <a:p>
            <a:pPr indent="0" marL="0">
              <a:spcAft>
                <a:spcPts val="1000"/>
              </a:spcAft>
              <a:buNone/>
            </a:pPr>
            <a:r>
              <a:rPr lang="en-US" sz="2000" dirty="0">
                <a:solidFill>
                  <a:srgbClr val="141B26"/>
                </a:solidFill>
              </a:rPr>
              <a:t>2. Which substance in the potato causes this change?</a:t>
            </a:r>
            <a:endParaRPr lang="en-US" sz="2000" dirty="0"/>
          </a:p>
          <a:p>
            <a:pPr indent="0" marL="0">
              <a:spcAft>
                <a:spcPts val="1000"/>
              </a:spcAft>
              <a:buNone/>
            </a:pPr>
            <a:r>
              <a:rPr lang="en-US" sz="2000" dirty="0">
                <a:solidFill>
                  <a:srgbClr val="141B26"/>
                </a:solidFill>
              </a:rPr>
              <a:t>3. Which substance made in photosynthesis was used to make it?</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describe how plants use glucose to make starch, cellulose, lipids and proteins, and explain why nitrates are needed.</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test a leaf for starch and explain what happens when a seed germinates.</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starch</a:t>
            </a:r>
            <a:pPr indent="0" marL="0">
              <a:spcAft>
                <a:spcPts val="500"/>
              </a:spcAft>
              <a:buNone/>
            </a:pPr>
            <a:r>
              <a:rPr lang="en-US" sz="1300" dirty="0">
                <a:solidFill>
                  <a:srgbClr val="141B26"/>
                </a:solidFill>
              </a:rPr>
              <a:t>  a polymer made of many glucose molecules joined together; a plant's energy store</a:t>
            </a:r>
            <a:endParaRPr lang="en-US" sz="1300" dirty="0"/>
          </a:p>
          <a:p>
            <a:pPr indent="0" marL="0">
              <a:spcAft>
                <a:spcPts val="500"/>
              </a:spcAft>
              <a:buNone/>
            </a:pPr>
            <a:r>
              <a:rPr lang="en-US" sz="1300" b="1" dirty="0">
                <a:solidFill>
                  <a:srgbClr val="0F2A5F"/>
                </a:solidFill>
              </a:rPr>
              <a:t>polymer</a:t>
            </a:r>
            <a:pPr indent="0" marL="0">
              <a:spcAft>
                <a:spcPts val="500"/>
              </a:spcAft>
              <a:buNone/>
            </a:pPr>
            <a:r>
              <a:rPr lang="en-US" sz="1300" dirty="0">
                <a:solidFill>
                  <a:srgbClr val="141B26"/>
                </a:solidFill>
              </a:rPr>
              <a:t>  a long molecule made of many small molecules joined in a chain</a:t>
            </a:r>
            <a:endParaRPr lang="en-US" sz="1300" dirty="0"/>
          </a:p>
          <a:p>
            <a:pPr indent="0" marL="0">
              <a:spcAft>
                <a:spcPts val="500"/>
              </a:spcAft>
              <a:buNone/>
            </a:pPr>
            <a:r>
              <a:rPr lang="en-US" sz="1300" b="1" dirty="0">
                <a:solidFill>
                  <a:srgbClr val="0F2A5F"/>
                </a:solidFill>
              </a:rPr>
              <a:t>cellulose</a:t>
            </a:r>
            <a:pPr indent="0" marL="0">
              <a:spcAft>
                <a:spcPts val="500"/>
              </a:spcAft>
              <a:buNone/>
            </a:pPr>
            <a:r>
              <a:rPr lang="en-US" sz="1300" dirty="0">
                <a:solidFill>
                  <a:srgbClr val="141B26"/>
                </a:solidFill>
              </a:rPr>
              <a:t>  a polymer of glucose used to make plant cell walls</a:t>
            </a:r>
            <a:endParaRPr lang="en-US" sz="1300" dirty="0"/>
          </a:p>
          <a:p>
            <a:pPr indent="0" marL="0">
              <a:spcAft>
                <a:spcPts val="500"/>
              </a:spcAft>
              <a:buNone/>
            </a:pPr>
            <a:r>
              <a:rPr lang="en-US" sz="1300" b="1" dirty="0">
                <a:solidFill>
                  <a:srgbClr val="0F2A5F"/>
                </a:solidFill>
              </a:rPr>
              <a:t>lipid</a:t>
            </a:r>
            <a:pPr indent="0" marL="0">
              <a:spcAft>
                <a:spcPts val="500"/>
              </a:spcAft>
              <a:buNone/>
            </a:pPr>
            <a:r>
              <a:rPr lang="en-US" sz="1300" dirty="0">
                <a:solidFill>
                  <a:srgbClr val="141B26"/>
                </a:solidFill>
              </a:rPr>
              <a:t>  a fat or oil; insoluble in water</a:t>
            </a:r>
            <a:endParaRPr lang="en-US" sz="1300" dirty="0"/>
          </a:p>
          <a:p>
            <a:pPr indent="0" marL="0">
              <a:spcAft>
                <a:spcPts val="500"/>
              </a:spcAft>
              <a:buNone/>
            </a:pPr>
            <a:r>
              <a:rPr lang="en-US" sz="1300" b="1" dirty="0">
                <a:solidFill>
                  <a:srgbClr val="0F2A5F"/>
                </a:solidFill>
              </a:rPr>
              <a:t>protein</a:t>
            </a:r>
            <a:pPr indent="0" marL="0">
              <a:spcAft>
                <a:spcPts val="500"/>
              </a:spcAft>
              <a:buNone/>
            </a:pPr>
            <a:r>
              <a:rPr lang="en-US" sz="1300" dirty="0">
                <a:solidFill>
                  <a:srgbClr val="141B26"/>
                </a:solidFill>
              </a:rPr>
              <a:t>  a polymer made of amino acids; enzymes are proteins</a:t>
            </a:r>
            <a:endParaRPr lang="en-US" sz="1300" dirty="0"/>
          </a:p>
          <a:p>
            <a:pPr indent="0" marL="0">
              <a:spcAft>
                <a:spcPts val="500"/>
              </a:spcAft>
              <a:buNone/>
            </a:pPr>
            <a:r>
              <a:rPr lang="en-US" sz="1300" b="1" dirty="0">
                <a:solidFill>
                  <a:srgbClr val="0F2A5F"/>
                </a:solidFill>
              </a:rPr>
              <a:t>amino acid</a:t>
            </a:r>
            <a:pPr indent="0" marL="0">
              <a:spcAft>
                <a:spcPts val="500"/>
              </a:spcAft>
              <a:buNone/>
            </a:pPr>
            <a:r>
              <a:rPr lang="en-US" sz="1300" dirty="0">
                <a:solidFill>
                  <a:srgbClr val="141B26"/>
                </a:solidFill>
              </a:rPr>
              <a:t>  a small molecule that proteins are built from; needs nitrogen</a:t>
            </a:r>
            <a:endParaRPr lang="en-US" sz="1300" dirty="0"/>
          </a:p>
          <a:p>
            <a:pPr indent="0" marL="0">
              <a:spcAft>
                <a:spcPts val="500"/>
              </a:spcAft>
              <a:buNone/>
            </a:pPr>
            <a:r>
              <a:rPr lang="en-US" sz="1300" b="1" dirty="0">
                <a:solidFill>
                  <a:srgbClr val="0F2A5F"/>
                </a:solidFill>
              </a:rPr>
              <a:t>enzyme</a:t>
            </a:r>
            <a:pPr indent="0" marL="0">
              <a:spcAft>
                <a:spcPts val="500"/>
              </a:spcAft>
              <a:buNone/>
            </a:pPr>
            <a:r>
              <a:rPr lang="en-US" sz="1300" dirty="0">
                <a:solidFill>
                  <a:srgbClr val="141B26"/>
                </a:solidFill>
              </a:rPr>
              <a:t>  a protein that speeds up a reaction in a living thing</a:t>
            </a:r>
            <a:endParaRPr lang="en-US" sz="1300" dirty="0"/>
          </a:p>
          <a:p>
            <a:pPr indent="0" marL="0">
              <a:spcAft>
                <a:spcPts val="500"/>
              </a:spcAft>
              <a:buNone/>
            </a:pPr>
            <a:r>
              <a:rPr lang="en-US" sz="1300" b="1" dirty="0">
                <a:solidFill>
                  <a:srgbClr val="0F2A5F"/>
                </a:solidFill>
              </a:rPr>
              <a:t>nitrate</a:t>
            </a:r>
            <a:pPr indent="0" marL="0">
              <a:spcAft>
                <a:spcPts val="500"/>
              </a:spcAft>
              <a:buNone/>
            </a:pPr>
            <a:r>
              <a:rPr lang="en-US" sz="1300" dirty="0">
                <a:solidFill>
                  <a:srgbClr val="141B26"/>
                </a:solidFill>
              </a:rPr>
              <a:t>  a mineral salt that supplies nitrogen for making amino acids</a:t>
            </a:r>
            <a:endParaRPr lang="en-US" sz="1300" dirty="0"/>
          </a:p>
          <a:p>
            <a:pPr indent="0" marL="0">
              <a:spcAft>
                <a:spcPts val="500"/>
              </a:spcAft>
              <a:buNone/>
            </a:pPr>
            <a:r>
              <a:rPr lang="en-US" sz="1300" b="1" dirty="0">
                <a:solidFill>
                  <a:srgbClr val="0F2A5F"/>
                </a:solidFill>
              </a:rPr>
              <a:t>germination</a:t>
            </a:r>
            <a:pPr indent="0" marL="0">
              <a:spcAft>
                <a:spcPts val="500"/>
              </a:spcAft>
              <a:buNone/>
            </a:pPr>
            <a:r>
              <a:rPr lang="en-US" sz="1300" dirty="0">
                <a:solidFill>
                  <a:srgbClr val="141B26"/>
                </a:solidFill>
              </a:rPr>
              <a:t>  when a seed starts to grow into a seedling</a:t>
            </a:r>
            <a:endParaRPr lang="en-US" sz="1300" dirty="0"/>
          </a:p>
          <a:p>
            <a:pPr indent="0" marL="0">
              <a:spcAft>
                <a:spcPts val="500"/>
              </a:spcAft>
              <a:buNone/>
            </a:pPr>
            <a:r>
              <a:rPr lang="en-US" sz="1300" b="1" dirty="0">
                <a:solidFill>
                  <a:srgbClr val="0F2A5F"/>
                </a:solidFill>
              </a:rPr>
              <a:t>iodine solution</a:t>
            </a:r>
            <a:pPr indent="0" marL="0">
              <a:spcAft>
                <a:spcPts val="500"/>
              </a:spcAft>
              <a:buNone/>
            </a:pPr>
            <a:r>
              <a:rPr lang="en-US" sz="1300" dirty="0">
                <a:solidFill>
                  <a:srgbClr val="141B26"/>
                </a:solidFill>
              </a:rPr>
              <a:t>  an orange-brown liquid that turns blue-black with starch</a:t>
            </a:r>
            <a:endParaRPr lang="en-US" sz="1300" dirty="0"/>
          </a:p>
          <a:p>
            <a:pPr indent="0" marL="0">
              <a:spcAft>
                <a:spcPts val="500"/>
              </a:spcAft>
              <a:buNone/>
            </a:pPr>
            <a:r>
              <a:rPr lang="en-US" sz="1300" b="1" dirty="0">
                <a:solidFill>
                  <a:srgbClr val="0F2A5F"/>
                </a:solidFill>
              </a:rPr>
              <a:t>Benedict's solution</a:t>
            </a:r>
            <a:pPr indent="0" marL="0">
              <a:spcAft>
                <a:spcPts val="500"/>
              </a:spcAft>
              <a:buNone/>
            </a:pPr>
            <a:r>
              <a:rPr lang="en-US" sz="1300" dirty="0">
                <a:solidFill>
                  <a:srgbClr val="141B26"/>
                </a:solidFill>
              </a:rPr>
              <a:t>  a blue liquid that turns orange-red when heated with glucose</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One sugar, a whole plant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377440"/>
          </a:xfrm>
          <a:prstGeom prst="rect">
            <a:avLst/>
          </a:prstGeom>
          <a:noFill/>
          <a:ln/>
        </p:spPr>
        <p:txBody>
          <a:bodyPr wrap="square" lIns="0" tIns="0" rIns="0" bIns="0" rtlCol="0" anchor="t">
            <a:normAutofit/>
          </a:bodyPr>
          <a:lstStyle/>
          <a:p>
            <a:pPr indent="0" marL="0">
              <a:buNone/>
            </a:pPr>
            <a:r>
              <a:rPr lang="en-US" sz="2800" b="1" dirty="0">
                <a:solidFill>
                  <a:srgbClr val="0F2A5F"/>
                </a:solidFill>
              </a:rPr>
              <a:t>The wood of a tree, the oil in a sunflower seed, the protein in a bean, the starch in a potato: all of it was built from glucose made in photosynthesis. How can one sugar become so many different things?</a:t>
            </a:r>
            <a:endParaRPr lang="en-US" sz="2800" dirty="0"/>
          </a:p>
        </p:txBody>
      </p:sp>
      <p:sp>
        <p:nvSpPr>
          <p:cNvPr id="6" name="Text 4"/>
          <p:cNvSpPr txBox="1"/>
          <p:nvPr/>
        </p:nvSpPr>
        <p:spPr>
          <a:xfrm>
            <a:off x="548640" y="3794760"/>
            <a:ext cx="539496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Talk to a partner: what else does the plant need, apart from glucose?</a:t>
            </a:r>
            <a:endParaRPr lang="en-US" sz="1600" dirty="0"/>
          </a:p>
        </p:txBody>
      </p:sp>
      <p:pic>
        <p:nvPicPr>
          <p:cNvPr id="7" name="Image 0" descr="/home/user/lessons/Y9_Exploring_Science/images/germination.jpg">    </p:cNvPr>
          <p:cNvPicPr>
            <a:picLocks noChangeAspect="1"/>
          </p:cNvPicPr>
          <p:nvPr/>
        </p:nvPicPr>
        <p:blipFill>
          <a:blip r:embed="rId1"/>
          <a:stretch>
            <a:fillRect/>
          </a:stretch>
        </p:blipFill>
        <p:spPr>
          <a:xfrm>
            <a:off x="7683639" y="1280160"/>
            <a:ext cx="2554962" cy="4206240"/>
          </a:xfrm>
          <a:prstGeom prst="rect">
            <a:avLst/>
          </a:prstGeom>
        </p:spPr>
      </p:pic>
      <p:sp>
        <p:nvSpPr>
          <p:cNvPr id="8" name="Text 5"/>
          <p:cNvSpPr txBox="1"/>
          <p:nvPr/>
        </p:nvSpPr>
        <p:spPr>
          <a:xfrm>
            <a:off x="6309360" y="5532120"/>
            <a:ext cx="5303520" cy="502920"/>
          </a:xfrm>
          <a:prstGeom prst="rect">
            <a:avLst/>
          </a:prstGeom>
          <a:noFill/>
          <a:ln/>
        </p:spPr>
        <p:txBody>
          <a:bodyPr wrap="square" lIns="0" tIns="0" rIns="0" bIns="0" rtlCol="0" anchor="t"/>
          <a:lstStyle/>
          <a:p>
            <a:pPr algn="l" indent="0" marL="0">
              <a:buNone/>
            </a:pPr>
            <a:r>
              <a:rPr lang="en-US" sz="1100" dirty="0">
                <a:solidFill>
                  <a:srgbClr val="141B26"/>
                </a:solidFill>
              </a:rPr>
              <a:t>Germinating seeds (botanical drawing)</a:t>
            </a:r>
            <a:pPr algn="l" indent="0" marL="0">
              <a:buNone/>
            </a:pPr>
            <a:endParaRPr lang="en-US" sz="1100" dirty="0"/>
          </a:p>
          <a:p>
            <a:pPr algn="l" indent="0" marL="0">
              <a:buNone/>
            </a:pPr>
            <a:r>
              <a:rPr lang="en-US" sz="800" dirty="0">
                <a:solidFill>
                  <a:srgbClr val="5B6574"/>
                </a:solidFill>
              </a:rPr>
              <a:t>Image: unknown, CC0,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Carbohydrates: starch and cellulose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starch   ·   polymer   ·   cellulose</a:t>
            </a:r>
            <a:endParaRPr lang="en-US" sz="1200" dirty="0"/>
          </a:p>
        </p:txBody>
      </p:sp>
      <p:sp>
        <p:nvSpPr>
          <p:cNvPr id="6" name="Text 4"/>
          <p:cNvSpPr txBox="1"/>
          <p:nvPr/>
        </p:nvSpPr>
        <p:spPr>
          <a:xfrm>
            <a:off x="548640" y="1325880"/>
            <a:ext cx="1088136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Glucose molecules are linked together to form starch, a polymer.</a:t>
            </a:r>
            <a:endParaRPr lang="en-US" sz="1700" dirty="0"/>
          </a:p>
          <a:p>
            <a:pPr marL="228600" indent="-228600">
              <a:spcAft>
                <a:spcPts val="600"/>
              </a:spcAft>
              <a:buSzPct val="100000"/>
              <a:buChar char="•"/>
            </a:pPr>
            <a:r>
              <a:rPr lang="en-US" sz="1700" dirty="0">
                <a:solidFill>
                  <a:srgbClr val="141B26"/>
                </a:solidFill>
              </a:rPr>
              <a:t>Starch stays in the chloroplasts until photosynthesis stops, then it is broken down into sugars and carried in the phloem.</a:t>
            </a:r>
            <a:endParaRPr lang="en-US" sz="1700" dirty="0"/>
          </a:p>
          <a:p>
            <a:pPr marL="228600" indent="-228600">
              <a:spcAft>
                <a:spcPts val="600"/>
              </a:spcAft>
              <a:buSzPct val="100000"/>
              <a:buChar char="•"/>
            </a:pPr>
            <a:r>
              <a:rPr lang="en-US" sz="1700" dirty="0">
                <a:solidFill>
                  <a:srgbClr val="141B26"/>
                </a:solidFill>
              </a:rPr>
              <a:t>In storage organs such as potatoes, and in seeds, sugars are turned back into starch.</a:t>
            </a:r>
            <a:endParaRPr lang="en-US" sz="1700" dirty="0"/>
          </a:p>
          <a:p>
            <a:pPr marL="228600" indent="-228600">
              <a:spcAft>
                <a:spcPts val="600"/>
              </a:spcAft>
              <a:buSzPct val="100000"/>
              <a:buChar char="•"/>
            </a:pPr>
            <a:r>
              <a:rPr lang="en-US" sz="1700" dirty="0">
                <a:solidFill>
                  <a:srgbClr val="141B26"/>
                </a:solidFill>
              </a:rPr>
              <a:t>Sugars are also used to make cellulose, the polymer that builds cell walls.</a:t>
            </a:r>
            <a:endParaRPr lang="en-US" sz="17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Starch is insoluble, so it is a good store; sugars are soluble, so they can be transported.</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Lipids and proteins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lipid   ·   protein   ·   amino acid   ·   enzyme   ·   nitrate</a:t>
            </a:r>
            <a:endParaRPr lang="en-US" sz="1200" dirty="0"/>
          </a:p>
        </p:txBody>
      </p:sp>
      <p:sp>
        <p:nvSpPr>
          <p:cNvPr id="6" name="Text 4"/>
          <p:cNvSpPr txBox="1"/>
          <p:nvPr/>
        </p:nvSpPr>
        <p:spPr>
          <a:xfrm>
            <a:off x="548640" y="1325880"/>
            <a:ext cx="1088136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Lipids are fats and oils. They do not dissolve in water.</a:t>
            </a:r>
            <a:endParaRPr lang="en-US" sz="1700" dirty="0"/>
          </a:p>
          <a:p>
            <a:pPr marL="228600" indent="-228600">
              <a:spcAft>
                <a:spcPts val="600"/>
              </a:spcAft>
              <a:buSzPct val="100000"/>
              <a:buChar char="•"/>
            </a:pPr>
            <a:r>
              <a:rPr lang="en-US" sz="1700" dirty="0">
                <a:solidFill>
                  <a:srgbClr val="141B26"/>
                </a:solidFill>
              </a:rPr>
              <a:t>Plants use lipids for the waterproof cuticle, for cell membranes, and as energy stores in seeds and in fruits such as avocado.</a:t>
            </a:r>
            <a:endParaRPr lang="en-US" sz="1700" dirty="0"/>
          </a:p>
          <a:p>
            <a:pPr marL="228600" indent="-228600">
              <a:spcAft>
                <a:spcPts val="600"/>
              </a:spcAft>
              <a:buSzPct val="100000"/>
              <a:buChar char="•"/>
            </a:pPr>
            <a:r>
              <a:rPr lang="en-US" sz="1700" dirty="0">
                <a:solidFill>
                  <a:srgbClr val="141B26"/>
                </a:solidFill>
              </a:rPr>
              <a:t>Proteins are polymers: long chains of amino acids.</a:t>
            </a:r>
            <a:endParaRPr lang="en-US" sz="1700" dirty="0"/>
          </a:p>
          <a:p>
            <a:pPr marL="228600" indent="-228600">
              <a:spcAft>
                <a:spcPts val="600"/>
              </a:spcAft>
              <a:buSzPct val="100000"/>
              <a:buChar char="•"/>
            </a:pPr>
            <a:r>
              <a:rPr lang="en-US" sz="1700" dirty="0">
                <a:solidFill>
                  <a:srgbClr val="141B26"/>
                </a:solidFill>
              </a:rPr>
              <a:t>To make amino acids a plant needs nitrogen, which comes from nitrates in the soil.</a:t>
            </a:r>
            <a:endParaRPr lang="en-US" sz="1700" dirty="0"/>
          </a:p>
          <a:p>
            <a:pPr marL="228600" indent="-228600">
              <a:spcAft>
                <a:spcPts val="600"/>
              </a:spcAft>
              <a:buSzPct val="100000"/>
              <a:buChar char="•"/>
            </a:pPr>
            <a:r>
              <a:rPr lang="en-US" sz="1700" dirty="0">
                <a:solidFill>
                  <a:srgbClr val="141B26"/>
                </a:solidFill>
              </a:rPr>
              <a:t>All enzymes are proteins, including the enzymes for photosynthesis and respiration.</a:t>
            </a:r>
            <a:endParaRPr lang="en-US" sz="17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No nitrates, no amino acids, no proteins, no enzymes: the plant cannot grow.</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A seed germinates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germination   ·   enzyme</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A seed stores starch and protein. What has to happen before the embryo can use the store?</a:t>
            </a:r>
            <a:endParaRPr lang="en-US" sz="1600" dirty="0"/>
          </a:p>
        </p:txBody>
      </p:sp>
      <p:pic>
        <p:nvPicPr>
          <p:cNvPr id="7" name="Image 0" descr="/home/user/lessons/Y9_Exploring_Science/source/diagrams/germination.png">    </p:cNvPr>
          <p:cNvPicPr>
            <a:picLocks noChangeAspect="1"/>
          </p:cNvPicPr>
          <p:nvPr/>
        </p:nvPicPr>
        <p:blipFill>
          <a:blip r:embed="rId1"/>
          <a:stretch>
            <a:fillRect/>
          </a:stretch>
        </p:blipFill>
        <p:spPr>
          <a:xfrm>
            <a:off x="2139215" y="1737360"/>
            <a:ext cx="7700211"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Water starts everything: enzymes digest the starch to glucose, the embryo respires and grows. Enzymes work faster when it is warm.</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Testing for starch and glucose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iodine solution   ·   Benedict's solution</a:t>
            </a:r>
            <a:endParaRPr lang="en-US" sz="1200" dirty="0"/>
          </a:p>
        </p:txBody>
      </p:sp>
      <p:sp>
        <p:nvSpPr>
          <p:cNvPr id="6" name="Text 4"/>
          <p:cNvSpPr txBox="1"/>
          <p:nvPr/>
        </p:nvSpPr>
        <p:spPr>
          <a:xfrm>
            <a:off x="548640" y="1325880"/>
            <a:ext cx="1088136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Iodine solution turns from orange-brown to blue-black with starch.</a:t>
            </a:r>
            <a:endParaRPr lang="en-US" sz="1700" dirty="0"/>
          </a:p>
          <a:p>
            <a:pPr marL="228600" indent="-228600">
              <a:spcAft>
                <a:spcPts val="600"/>
              </a:spcAft>
              <a:buSzPct val="100000"/>
              <a:buChar char="•"/>
            </a:pPr>
            <a:r>
              <a:rPr lang="en-US" sz="1700" dirty="0">
                <a:solidFill>
                  <a:srgbClr val="141B26"/>
                </a:solidFill>
              </a:rPr>
              <a:t>Only the green parts of a variegated leaf go blue-black: starch is made where there is chlorophyll.</a:t>
            </a:r>
            <a:endParaRPr lang="en-US" sz="1700" dirty="0"/>
          </a:p>
          <a:p>
            <a:pPr marL="228600" indent="-228600">
              <a:spcAft>
                <a:spcPts val="600"/>
              </a:spcAft>
              <a:buSzPct val="100000"/>
              <a:buChar char="•"/>
            </a:pPr>
            <a:r>
              <a:rPr lang="en-US" sz="1700" dirty="0">
                <a:solidFill>
                  <a:srgbClr val="141B26"/>
                </a:solidFill>
              </a:rPr>
              <a:t>Benedict's solution is blue. Heated with glucose it turns green, then orange-red.</a:t>
            </a:r>
            <a:endParaRPr lang="en-US" sz="1700" dirty="0"/>
          </a:p>
          <a:p>
            <a:pPr marL="228600" indent="-228600">
              <a:spcAft>
                <a:spcPts val="600"/>
              </a:spcAft>
              <a:buSzPct val="100000"/>
              <a:buChar char="•"/>
            </a:pPr>
            <a:r>
              <a:rPr lang="en-US" sz="1700" dirty="0">
                <a:solidFill>
                  <a:srgbClr val="141B26"/>
                </a:solidFill>
              </a:rPr>
              <a:t>Both tests are used to check what a seed or a leaf contains.</a:t>
            </a:r>
            <a:endParaRPr lang="en-US" sz="17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Starch: iodine, blue-black. Glucose: Benedict's, heated, orange-red.</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Mini whiteboards. One answer each, then we check.</a:t>
            </a:r>
            <a:endParaRPr lang="en-US" sz="14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Which polymer do plants make from glucose as an energy store?</a:t>
            </a:r>
            <a:endParaRPr lang="en-US" sz="16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Which polymer builds plant cell walls?</a:t>
            </a:r>
            <a:endParaRPr lang="en-US" sz="16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What are proteins made of?</a:t>
            </a:r>
            <a:endParaRPr lang="en-US" sz="16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Which mineral salt supplies the nitrogen for amino acids?</a:t>
            </a:r>
            <a:endParaRPr lang="en-US" sz="16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What colour does iodine solution turn with starch?</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3A2E00"/>
                </a:solidFill>
              </a:rPr>
              <a:t>Safety: testing a leaf for starch</a:t>
            </a:r>
            <a:endParaRPr lang="en-US" sz="3000" dirty="0"/>
          </a:p>
        </p:txBody>
      </p:sp>
      <p:sp>
        <p:nvSpPr>
          <p:cNvPr id="3" name="Shape 1"/>
          <p:cNvSpPr/>
          <p:nvPr/>
        </p:nvSpPr>
        <p:spPr>
          <a:xfrm>
            <a:off x="10308031" y="411480"/>
            <a:ext cx="1335024" cy="384048"/>
          </a:xfrm>
          <a:prstGeom prst="roundRect">
            <a:avLst>
              <a:gd name="adj" fmla="val 50000"/>
            </a:avLst>
          </a:prstGeom>
          <a:solidFill>
            <a:srgbClr val="3A2E00"/>
          </a:solidFill>
          <a:ln w="12700">
            <a:solidFill>
              <a:srgbClr val="3A2E00"/>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SAFETY</a:t>
            </a:r>
            <a:endParaRPr lang="en-US" sz="1100" dirty="0"/>
          </a:p>
        </p:txBody>
      </p:sp>
      <p:sp>
        <p:nvSpPr>
          <p:cNvPr id="5" name="Text 3"/>
          <p:cNvSpPr txBox="1"/>
          <p:nvPr/>
        </p:nvSpPr>
        <p:spPr>
          <a:xfrm>
            <a:off x="548640" y="1371600"/>
            <a:ext cx="10881360" cy="4572000"/>
          </a:xfrm>
          <a:prstGeom prst="rect">
            <a:avLst/>
          </a:prstGeom>
          <a:noFill/>
          <a:ln/>
        </p:spPr>
        <p:txBody>
          <a:bodyPr wrap="square" lIns="0" tIns="0" rIns="0" bIns="0" rtlCol="0" anchor="t"/>
          <a:lstStyle/>
          <a:p>
            <a:pPr marL="228600" indent="-228600">
              <a:spcAft>
                <a:spcPts val="600"/>
              </a:spcAft>
              <a:buSzPct val="100000"/>
              <a:buChar char="•"/>
            </a:pPr>
            <a:r>
              <a:rPr lang="en-US" sz="2000" dirty="0">
                <a:solidFill>
                  <a:srgbClr val="3A2E00"/>
                </a:solidFill>
              </a:rPr>
              <a:t>Goggles on for the whole practical. Iodine stains skin and clothes and irritates eyes.</a:t>
            </a:r>
            <a:endParaRPr lang="en-US" sz="2000" dirty="0"/>
          </a:p>
          <a:p>
            <a:pPr marL="228600" indent="-228600">
              <a:spcAft>
                <a:spcPts val="600"/>
              </a:spcAft>
              <a:buSzPct val="100000"/>
              <a:buChar char="•"/>
            </a:pPr>
            <a:r>
              <a:rPr lang="en-US" sz="2000" dirty="0">
                <a:solidFill>
                  <a:srgbClr val="3A2E00"/>
                </a:solidFill>
              </a:rPr>
              <a:t>Hot water comes from the kettle. Carry the beaker with two hands and keep it on the bench.</a:t>
            </a:r>
            <a:endParaRPr lang="en-US" sz="2000" dirty="0"/>
          </a:p>
          <a:p>
            <a:pPr marL="228600" indent="-228600">
              <a:spcAft>
                <a:spcPts val="600"/>
              </a:spcAft>
              <a:buSzPct val="100000"/>
              <a:buChar char="•"/>
            </a:pPr>
            <a:r>
              <a:rPr lang="en-US" sz="2000" dirty="0">
                <a:solidFill>
                  <a:srgbClr val="3A2E00"/>
                </a:solidFill>
              </a:rPr>
              <a:t>Ethanol is flammable. Heat it ONLY by standing the boiling tube in the hot water. No Bunsen burners in the room today.</a:t>
            </a:r>
            <a:endParaRPr lang="en-US" sz="2000" dirty="0"/>
          </a:p>
          <a:p>
            <a:pPr marL="228600" indent="-228600">
              <a:spcAft>
                <a:spcPts val="600"/>
              </a:spcAft>
              <a:buSzPct val="100000"/>
              <a:buChar char="•"/>
            </a:pPr>
            <a:r>
              <a:rPr lang="en-US" sz="2000" dirty="0">
                <a:solidFill>
                  <a:srgbClr val="3A2E00"/>
                </a:solidFill>
              </a:rPr>
              <a:t>Use forceps to move the leaf. Do not touch the hot leaf or the hot tube.</a:t>
            </a:r>
            <a:endParaRPr lang="en-US" sz="2000" dirty="0"/>
          </a:p>
          <a:p>
            <a:pPr marL="228600" indent="-228600">
              <a:spcAft>
                <a:spcPts val="600"/>
              </a:spcAft>
              <a:buSzPct val="100000"/>
              <a:buChar char="•"/>
            </a:pPr>
            <a:r>
              <a:rPr lang="en-US" sz="2000" dirty="0">
                <a:solidFill>
                  <a:srgbClr val="3A2E00"/>
                </a:solidFill>
              </a:rPr>
              <a:t>Wash your hands at the end and report any spill at once.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Testing a variegated leaf for starch</a:t>
            </a:r>
            <a:endParaRPr lang="en-US" sz="3000" dirty="0"/>
          </a:p>
        </p:txBody>
      </p:sp>
      <p:sp>
        <p:nvSpPr>
          <p:cNvPr id="3" name="Shape 1"/>
          <p:cNvSpPr/>
          <p:nvPr/>
        </p:nvSpPr>
        <p:spPr>
          <a:xfrm>
            <a:off x="9869119" y="411480"/>
            <a:ext cx="1773936"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869119" y="411480"/>
            <a:ext cx="177393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PRACTICAL</a:t>
            </a:r>
            <a:endParaRPr lang="en-US" sz="1100" dirty="0"/>
          </a:p>
        </p:txBody>
      </p:sp>
      <p:sp>
        <p:nvSpPr>
          <p:cNvPr id="5" name="Text 3"/>
          <p:cNvSpPr txBox="1"/>
          <p:nvPr/>
        </p:nvSpPr>
        <p:spPr>
          <a:xfrm>
            <a:off x="548640" y="1280160"/>
            <a:ext cx="10881360" cy="457200"/>
          </a:xfrm>
          <a:prstGeom prst="rect">
            <a:avLst/>
          </a:prstGeom>
          <a:noFill/>
          <a:ln/>
        </p:spPr>
        <p:txBody>
          <a:bodyPr wrap="square" lIns="0" tIns="0" rIns="0" bIns="0" rtlCol="0" anchor="ctr"/>
          <a:lstStyle/>
          <a:p>
            <a:pPr indent="0" marL="0">
              <a:buNone/>
            </a:pPr>
            <a:r>
              <a:rPr lang="en-US" sz="1500" b="1" dirty="0">
                <a:solidFill>
                  <a:srgbClr val="7B3A8E"/>
                </a:solidFill>
              </a:rPr>
              <a:t>Aim  </a:t>
            </a:r>
            <a:pPr indent="0" marL="0">
              <a:buNone/>
            </a:pPr>
            <a:r>
              <a:rPr lang="en-US" sz="1500" dirty="0">
                <a:solidFill>
                  <a:srgbClr val="141B26"/>
                </a:solidFill>
              </a:rPr>
              <a:t>To find out which parts of a variegated leaf contain starch.</a:t>
            </a:r>
            <a:endParaRPr lang="en-US" sz="1500" dirty="0"/>
          </a:p>
        </p:txBody>
      </p:sp>
      <p:sp>
        <p:nvSpPr>
          <p:cNvPr id="6" name="Text 4"/>
          <p:cNvSpPr txBox="1"/>
          <p:nvPr/>
        </p:nvSpPr>
        <p:spPr>
          <a:xfrm>
            <a:off x="548640" y="1828800"/>
            <a:ext cx="4023360" cy="365760"/>
          </a:xfrm>
          <a:prstGeom prst="rect">
            <a:avLst/>
          </a:prstGeom>
          <a:noFill/>
          <a:ln/>
        </p:spPr>
        <p:txBody>
          <a:bodyPr wrap="square" lIns="0" tIns="0" rIns="0" bIns="0" rtlCol="0" anchor="ctr"/>
          <a:lstStyle/>
          <a:p>
            <a:pPr indent="0" marL="0">
              <a:buNone/>
            </a:pPr>
            <a:r>
              <a:rPr lang="en-US" sz="1600" b="1" dirty="0">
                <a:solidFill>
                  <a:srgbClr val="0F2A5F"/>
                </a:solidFill>
              </a:rPr>
              <a:t>Equipment</a:t>
            </a:r>
            <a:endParaRPr lang="en-US" sz="1600" dirty="0"/>
          </a:p>
        </p:txBody>
      </p:sp>
      <p:sp>
        <p:nvSpPr>
          <p:cNvPr id="7" name="Text 5"/>
          <p:cNvSpPr txBox="1"/>
          <p:nvPr/>
        </p:nvSpPr>
        <p:spPr>
          <a:xfrm>
            <a:off x="548640" y="2240280"/>
            <a:ext cx="4023360" cy="320040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300" dirty="0">
                <a:solidFill>
                  <a:srgbClr val="141B26"/>
                </a:solidFill>
              </a:rPr>
              <a:t>variegated leaf from a plant kept in bright light</a:t>
            </a:r>
            <a:endParaRPr lang="en-US" sz="1300" dirty="0"/>
          </a:p>
          <a:p>
            <a:pPr marL="228600" indent="-228600">
              <a:spcAft>
                <a:spcPts val="600"/>
              </a:spcAft>
              <a:buSzPct val="100000"/>
              <a:buChar char="•"/>
            </a:pPr>
            <a:r>
              <a:rPr lang="en-US" sz="1300" dirty="0">
                <a:solidFill>
                  <a:srgbClr val="141B26"/>
                </a:solidFill>
              </a:rPr>
              <a:t>beaker of hot water</a:t>
            </a:r>
            <a:endParaRPr lang="en-US" sz="1300" dirty="0"/>
          </a:p>
          <a:p>
            <a:pPr marL="228600" indent="-228600">
              <a:spcAft>
                <a:spcPts val="600"/>
              </a:spcAft>
              <a:buSzPct val="100000"/>
              <a:buChar char="•"/>
            </a:pPr>
            <a:r>
              <a:rPr lang="en-US" sz="1300" dirty="0">
                <a:solidFill>
                  <a:srgbClr val="141B26"/>
                </a:solidFill>
              </a:rPr>
              <a:t>boiling tube with about 2 cm depth of ethanol</a:t>
            </a:r>
            <a:endParaRPr lang="en-US" sz="1300" dirty="0"/>
          </a:p>
          <a:p>
            <a:pPr marL="228600" indent="-228600">
              <a:spcAft>
                <a:spcPts val="600"/>
              </a:spcAft>
              <a:buSzPct val="100000"/>
              <a:buChar char="•"/>
            </a:pPr>
            <a:r>
              <a:rPr lang="en-US" sz="1300" dirty="0">
                <a:solidFill>
                  <a:srgbClr val="141B26"/>
                </a:solidFill>
              </a:rPr>
              <a:t>forceps</a:t>
            </a:r>
            <a:endParaRPr lang="en-US" sz="1300" dirty="0"/>
          </a:p>
          <a:p>
            <a:pPr marL="228600" indent="-228600">
              <a:spcAft>
                <a:spcPts val="600"/>
              </a:spcAft>
              <a:buSzPct val="100000"/>
              <a:buChar char="•"/>
            </a:pPr>
            <a:r>
              <a:rPr lang="en-US" sz="1300" dirty="0">
                <a:solidFill>
                  <a:srgbClr val="141B26"/>
                </a:solidFill>
              </a:rPr>
              <a:t>white tile</a:t>
            </a:r>
            <a:endParaRPr lang="en-US" sz="1300" dirty="0"/>
          </a:p>
          <a:p>
            <a:pPr marL="228600" indent="-228600">
              <a:spcAft>
                <a:spcPts val="600"/>
              </a:spcAft>
              <a:buSzPct val="100000"/>
              <a:buChar char="•"/>
            </a:pPr>
            <a:r>
              <a:rPr lang="en-US" sz="1300" dirty="0">
                <a:solidFill>
                  <a:srgbClr val="141B26"/>
                </a:solidFill>
              </a:rPr>
              <a:t>iodine solution and dropper</a:t>
            </a:r>
            <a:endParaRPr lang="en-US" sz="1300" dirty="0"/>
          </a:p>
          <a:p>
            <a:pPr marL="228600" indent="-228600">
              <a:spcAft>
                <a:spcPts val="600"/>
              </a:spcAft>
              <a:buSzPct val="100000"/>
              <a:buChar char="•"/>
            </a:pPr>
            <a:r>
              <a:rPr lang="en-US" sz="1300" dirty="0">
                <a:solidFill>
                  <a:srgbClr val="141B26"/>
                </a:solidFill>
              </a:rPr>
              <a:t>goggles</a:t>
            </a:r>
            <a:endParaRPr lang="en-US" sz="1300" dirty="0"/>
          </a:p>
          <a:p>
            <a:pPr marL="228600" indent="-228600">
              <a:spcAft>
                <a:spcPts val="600"/>
              </a:spcAft>
              <a:buSzPct val="100000"/>
              <a:buChar char="•"/>
            </a:pPr>
            <a:r>
              <a:rPr lang="en-US" sz="1300" dirty="0">
                <a:solidFill>
                  <a:srgbClr val="141B26"/>
                </a:solidFill>
              </a:rPr>
              <a:t>worksheet</a:t>
            </a:r>
            <a:endParaRPr lang="en-US" sz="1300" dirty="0"/>
          </a:p>
        </p:txBody>
      </p:sp>
      <p:sp>
        <p:nvSpPr>
          <p:cNvPr id="8" name="Text 6"/>
          <p:cNvSpPr txBox="1"/>
          <p:nvPr/>
        </p:nvSpPr>
        <p:spPr>
          <a:xfrm>
            <a:off x="4937760" y="1828800"/>
            <a:ext cx="6675120" cy="365760"/>
          </a:xfrm>
          <a:prstGeom prst="rect">
            <a:avLst/>
          </a:prstGeom>
          <a:noFill/>
          <a:ln/>
        </p:spPr>
        <p:txBody>
          <a:bodyPr wrap="square" lIns="0" tIns="0" rIns="0" bIns="0" rtlCol="0" anchor="ctr"/>
          <a:lstStyle/>
          <a:p>
            <a:pPr indent="0" marL="0">
              <a:buNone/>
            </a:pPr>
            <a:r>
              <a:rPr lang="en-US" sz="1600" b="1" dirty="0">
                <a:solidFill>
                  <a:srgbClr val="0F2A5F"/>
                </a:solidFill>
              </a:rPr>
              <a:t>Method</a:t>
            </a:r>
            <a:endParaRPr lang="en-US" sz="1600" dirty="0"/>
          </a:p>
        </p:txBody>
      </p:sp>
      <p:sp>
        <p:nvSpPr>
          <p:cNvPr id="9" name="Text 7"/>
          <p:cNvSpPr txBox="1"/>
          <p:nvPr/>
        </p:nvSpPr>
        <p:spPr>
          <a:xfrm>
            <a:off x="4937760" y="2240280"/>
            <a:ext cx="6675120" cy="3200400"/>
          </a:xfrm>
          <a:prstGeom prst="rect">
            <a:avLst/>
          </a:prstGeom>
          <a:noFill/>
          <a:ln/>
        </p:spPr>
        <p:txBody>
          <a:bodyPr wrap="square" lIns="0" tIns="0" rIns="0" bIns="0" rtlCol="0" anchor="t">
            <a:normAutofit/>
          </a:bodyPr>
          <a:lstStyle/>
          <a:p>
            <a:pPr marL="342900" indent="-342900">
              <a:spcAft>
                <a:spcPts val="500"/>
              </a:spcAft>
              <a:buSzPct val="100000"/>
              <a:buFont typeface="+mj-lt"/>
              <a:buAutoNum type="arabicPeriod" startAt="1"/>
            </a:pPr>
            <a:r>
              <a:rPr lang="en-US" sz="1300" dirty="0">
                <a:solidFill>
                  <a:srgbClr val="141B26"/>
                </a:solidFill>
              </a:rPr>
              <a:t>Draw the leaf on the worksheet. Mark which parts are green and which are white.</a:t>
            </a:r>
            <a:endParaRPr lang="en-US" sz="1300" dirty="0"/>
          </a:p>
          <a:p>
            <a:pPr marL="342900" indent="-342900">
              <a:spcAft>
                <a:spcPts val="500"/>
              </a:spcAft>
              <a:buSzPct val="100000"/>
              <a:buFont typeface="+mj-lt"/>
              <a:buAutoNum type="arabicPeriod" startAt="1"/>
            </a:pPr>
            <a:r>
              <a:rPr lang="en-US" sz="1300" dirty="0">
                <a:solidFill>
                  <a:srgbClr val="141B26"/>
                </a:solidFill>
              </a:rPr>
              <a:t>Hold the leaf with forceps and dip it in the hot water for 30 seconds. This kills the leaf and softens it.</a:t>
            </a:r>
            <a:endParaRPr lang="en-US" sz="1300" dirty="0"/>
          </a:p>
          <a:p>
            <a:pPr marL="342900" indent="-342900">
              <a:spcAft>
                <a:spcPts val="500"/>
              </a:spcAft>
              <a:buSzPct val="100000"/>
              <a:buFont typeface="+mj-lt"/>
              <a:buAutoNum type="arabicPeriod" startAt="1"/>
            </a:pPr>
            <a:r>
              <a:rPr lang="en-US" sz="1300" dirty="0">
                <a:solidFill>
                  <a:srgbClr val="141B26"/>
                </a:solidFill>
              </a:rPr>
              <a:t>Put the leaf in the boiling tube of ethanol. Stand the tube in the beaker of hot water for about 5 minutes, until the leaf is pale and the ethanol is green.</a:t>
            </a:r>
            <a:endParaRPr lang="en-US" sz="1300" dirty="0"/>
          </a:p>
          <a:p>
            <a:pPr marL="342900" indent="-342900">
              <a:spcAft>
                <a:spcPts val="500"/>
              </a:spcAft>
              <a:buSzPct val="100000"/>
              <a:buFont typeface="+mj-lt"/>
              <a:buAutoNum type="arabicPeriod" startAt="1"/>
            </a:pPr>
            <a:r>
              <a:rPr lang="en-US" sz="1300" dirty="0">
                <a:solidFill>
                  <a:srgbClr val="141B26"/>
                </a:solidFill>
              </a:rPr>
              <a:t>Take the leaf out with forceps and dip it in the hot water again to soften it.</a:t>
            </a:r>
            <a:endParaRPr lang="en-US" sz="1300" dirty="0"/>
          </a:p>
          <a:p>
            <a:pPr marL="342900" indent="-342900">
              <a:spcAft>
                <a:spcPts val="500"/>
              </a:spcAft>
              <a:buSzPct val="100000"/>
              <a:buFont typeface="+mj-lt"/>
              <a:buAutoNum type="arabicPeriod" startAt="1"/>
            </a:pPr>
            <a:r>
              <a:rPr lang="en-US" sz="1300" dirty="0">
                <a:solidFill>
                  <a:srgbClr val="141B26"/>
                </a:solidFill>
              </a:rPr>
              <a:t>Spread the leaf on the white tile. Cover it with drops of iodine solution.</a:t>
            </a:r>
            <a:endParaRPr lang="en-US" sz="1300" dirty="0"/>
          </a:p>
          <a:p>
            <a:pPr marL="342900" indent="-342900">
              <a:spcAft>
                <a:spcPts val="500"/>
              </a:spcAft>
              <a:buSzPct val="100000"/>
              <a:buFont typeface="+mj-lt"/>
              <a:buAutoNum type="arabicPeriod" startAt="1"/>
            </a:pPr>
            <a:r>
              <a:rPr lang="en-US" sz="1300" dirty="0">
                <a:solidFill>
                  <a:srgbClr val="141B26"/>
                </a:solidFill>
              </a:rPr>
              <a:t>Wait one minute. Draw the result and label where it went blue-black.</a:t>
            </a:r>
            <a:endParaRPr lang="en-US" sz="1300" dirty="0"/>
          </a:p>
        </p:txBody>
      </p:sp>
      <p:sp>
        <p:nvSpPr>
          <p:cNvPr id="10" name="Shape 8"/>
          <p:cNvSpPr/>
          <p:nvPr/>
        </p:nvSpPr>
        <p:spPr>
          <a:xfrm>
            <a:off x="548640" y="5532120"/>
            <a:ext cx="10881360" cy="502920"/>
          </a:xfrm>
          <a:prstGeom prst="rect">
            <a:avLst/>
          </a:prstGeom>
          <a:solidFill>
            <a:srgbClr val="F2CE3E"/>
          </a:solidFill>
          <a:ln w="12700">
            <a:solidFill>
              <a:srgbClr val="F2CE3E"/>
            </a:solidFill>
            <a:prstDash val="solid"/>
          </a:ln>
        </p:spPr>
      </p:sp>
      <p:sp>
        <p:nvSpPr>
          <p:cNvPr id="11" name="Text 9"/>
          <p:cNvSpPr txBox="1"/>
          <p:nvPr/>
        </p:nvSpPr>
        <p:spPr>
          <a:xfrm>
            <a:off x="685800" y="5532120"/>
            <a:ext cx="10607040" cy="502920"/>
          </a:xfrm>
          <a:prstGeom prst="rect">
            <a:avLst/>
          </a:prstGeom>
          <a:noFill/>
          <a:ln/>
        </p:spPr>
        <p:txBody>
          <a:bodyPr wrap="square" lIns="0" tIns="0" rIns="0" bIns="0" rtlCol="0" anchor="ctr">
            <a:normAutofit/>
          </a:bodyPr>
          <a:lstStyle/>
          <a:p>
            <a:pPr indent="0" marL="0">
              <a:buNone/>
            </a:pPr>
            <a:r>
              <a:rPr lang="en-US" sz="1300" b="1" dirty="0">
                <a:solidFill>
                  <a:srgbClr val="3A2E00"/>
                </a:solidFill>
              </a:rPr>
              <a:t>Safety  </a:t>
            </a:r>
            <a:pPr indent="0" marL="0">
              <a:buNone/>
            </a:pPr>
            <a:r>
              <a:rPr lang="en-US" sz="1300" dirty="0">
                <a:solidFill>
                  <a:srgbClr val="3A2E00"/>
                </a:solidFill>
              </a:rPr>
              <a:t>Goggles on. Ethanol only in the water bath, never near a flame. Forceps for the leaf.</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Plenty of light, still not growing</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A tomato plant in a greenhouse gets lots of light, water and carbon dioxide, but the soil has very few nitrates. Explain why it grows badly even though it photosynthesises well.</a:t>
            </a:r>
            <a:endParaRPr lang="en-US" sz="22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The plant can make ___ by photosynthesis, but ___.</a:t>
            </a:r>
            <a:endParaRPr lang="en-US" sz="1500" dirty="0"/>
          </a:p>
          <a:p>
            <a:pPr indent="0" marL="0">
              <a:spcAft>
                <a:spcPts val="600"/>
              </a:spcAft>
              <a:buNone/>
            </a:pPr>
            <a:r>
              <a:rPr lang="en-US" sz="1500" dirty="0">
                <a:solidFill>
                  <a:srgbClr val="141B26"/>
                </a:solidFill>
              </a:rPr>
              <a:t>Without nitrates it cannot make ___, so it cannot make ___.</a:t>
            </a:r>
            <a:endParaRPr lang="en-US" sz="1500" dirty="0"/>
          </a:p>
          <a:p>
            <a:pPr indent="0" marL="0">
              <a:spcAft>
                <a:spcPts val="600"/>
              </a:spcAft>
              <a:buNone/>
            </a:pPr>
            <a:r>
              <a:rPr lang="en-US" sz="1500" dirty="0">
                <a:solidFill>
                  <a:srgbClr val="141B26"/>
                </a:solidFill>
              </a:rPr>
              <a:t>Enzymes are ___, so ___.</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Which solution tests for starch, and what colour does it turn?</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Why do seeds need a store of starch?</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What are enzymes made of, and which mineral salt do plants need to make them?</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Glucose is joined into starch (an energy store) and cellulose (cell walls); sugars are moved in the phloem.</a:t>
            </a:r>
            <a:endParaRPr lang="en-US" sz="1700" dirty="0"/>
          </a:p>
          <a:p>
            <a:pPr marL="342900" indent="-342900">
              <a:spcAft>
                <a:spcPts val="1000"/>
              </a:spcAft>
              <a:buSzPct val="100000"/>
              <a:buChar char="✓"/>
            </a:pPr>
            <a:r>
              <a:rPr lang="en-US" sz="1700" dirty="0">
                <a:solidFill>
                  <a:srgbClr val="141B26"/>
                </a:solidFill>
              </a:rPr>
              <a:t>Lipids make the cuticle, cell membranes and energy stores in seeds and fruits.</a:t>
            </a:r>
            <a:endParaRPr lang="en-US" sz="1700" dirty="0"/>
          </a:p>
          <a:p>
            <a:pPr marL="342900" indent="-342900">
              <a:spcAft>
                <a:spcPts val="1000"/>
              </a:spcAft>
              <a:buSzPct val="100000"/>
              <a:buChar char="✓"/>
            </a:pPr>
            <a:r>
              <a:rPr lang="en-US" sz="1700" dirty="0">
                <a:solidFill>
                  <a:srgbClr val="141B26"/>
                </a:solidFill>
              </a:rPr>
              <a:t>Proteins are chains of amino acids, which need nitrogen from nitrates; all enzymes are proteins.</a:t>
            </a:r>
            <a:endParaRPr lang="en-US" sz="1700" dirty="0"/>
          </a:p>
          <a:p>
            <a:pPr marL="342900" indent="-342900">
              <a:spcAft>
                <a:spcPts val="1000"/>
              </a:spcAft>
              <a:buSzPct val="100000"/>
              <a:buChar char="✓"/>
            </a:pPr>
            <a:r>
              <a:rPr lang="en-US" sz="1700" dirty="0">
                <a:solidFill>
                  <a:srgbClr val="141B26"/>
                </a:solidFill>
              </a:rPr>
              <a:t>A germinating seed uses water, enzymes and respiration to turn its stored starch into growth.</a:t>
            </a:r>
            <a:endParaRPr lang="en-US" sz="1700" dirty="0"/>
          </a:p>
          <a:p>
            <a:pPr marL="342900" indent="-342900">
              <a:spcAft>
                <a:spcPts val="1000"/>
              </a:spcAft>
              <a:buSzPct val="100000"/>
              <a:buChar char="✓"/>
            </a:pPr>
            <a:r>
              <a:rPr lang="en-US" sz="1700" dirty="0">
                <a:solidFill>
                  <a:srgbClr val="141B26"/>
                </a:solidFill>
              </a:rPr>
              <a:t>Iodine tests for starch (blue-black); Benedict's tests for glucose (orange-red when heated).</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Growing crops: how farmers use fertilisers, pesticides and new varieties to get a bigger yield.</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9B Lesson 4: Plant products: starch, lipids and proteins</dc:title>
  <dc:subject>PptxGenJS Presentation</dc:subject>
  <dc:creator>Year 9 Science</dc:creator>
  <cp:lastModifiedBy>Year 9 Science</cp:lastModifiedBy>
  <cp:revision>1</cp:revision>
  <dcterms:created xsi:type="dcterms:W3CDTF">2026-10-28T01:48:40Z</dcterms:created>
  <dcterms:modified xsi:type="dcterms:W3CDTF">2026-10-28T01:48:40Z</dcterms:modified>
</cp:coreProperties>
</file>