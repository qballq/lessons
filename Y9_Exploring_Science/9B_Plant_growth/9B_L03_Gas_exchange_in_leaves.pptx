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of 9B. Last lesson: water, mineral salts and light. Today: carbon dioxide in, oxygen and water vapour out, through stomata.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stoma (plural stomata); carbon dioxide and oxygen (also water vapour); shut at night. Most students will have met stomata in Year 8. The two curved cells either side are the guard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that today has a short practical, so the Do phase is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answer yet. Expected by the end: at a higher temperature particles move faster, so water evaporates faster inside the leaf and water vapour diffuses out faster through the stomata; the roots cannot replace it fast enough, so the cells sag and the plant wilts.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 cells swell with water and curve apart in the light, opening the pore; they lose water and straighten at night, closing it. Ask: why would a plant want its stomata shut at night? No photosynthesis, so no need for carbon dioxide, and shutting saves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Spray a little scent at the front and ask who smells it first. No one pulls the particles across the room: they spread by themselves. Stress that particles still move once they are evenly spread; there is just no overall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carbon dioxide molecule: air, through a stoma, into an air space in the spongy layer, into a palisade cell, into a chloroplast. Ask: what happens to the direction of oxygen movement at night? Reversed: the plant respires, so oxygen diffuses in and carbon dioxide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hook. Why does wind speed up water loss? It blows away the water vapour near the leaf, so the concentration outside stays low and the difference stays large. The waxy cuticle stops water leaving anywhere except the stomata.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guard cells; shut; high to low; higher temperature and a bigger concentration difference; carbon dioxide. Then the safety slide before the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line aloud. One bottle of varnish per pair, lids on between uses. Nobody with a strong reaction to solvents should paint; they view the prepared slide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peel is a print of the epidermis: the stomata show as pairs of sausage-shaped guard cells. If a pair cannot get a clear peel, use the prepared slide. Counts in the field of view vary; the mean goes into Challenge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varnish on by minute 2, viewing by minute 8, questions from minute 10. Keep the prepared slide on a spare microscope so everyone sees a clear stoma.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faster; faster, faster; sag, wilts. Push further: what could the plant do to reduce the loss? Close its stomata, which also stops carbon dioxide getting in, so photosynthesis slows.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they open and close the stomata; carbon dioxide and oxygen (or water vapour); at a higher temperature particles move faster, so evaporation and diffusion of water vapour out of the stomata are faster. Collect the strips.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 18. Remind students the stoma drawing needs a label for the guard cells and the pore.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rtlCol="0"/>
          <a:lstStyle>
            <a:lvl1pPr indent="0" marL="0">
              <a:buNone/>
              <a:defRPr lang="en-US" sz="2400" dirty="0">
                <a:solidFill>
                  <a:srgbClr val="FFFFFF"/>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3: Gas exchange in leaves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3: Gas exchange in leaves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3: Gas exchange in leaves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400" b="1" dirty="0">
                <a:solidFill>
                  <a:srgbClr val="3A2E00"/>
                </a:solidFill>
              </a:defRPr>
            </a:lvl1pPr>
          </a:lstStyle>
          <a:p>
            <a:pPr indent="0" marL="0">
              <a:buNone/>
            </a:pPr>
            <a:endParaRPr lang="en-US" sz="34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9B Plant growth  |  Lesson 3: Gas exchange in leaves</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400" b="1" spc="200" kern="0" dirty="0">
                <a:solidFill>
                  <a:srgbClr val="F2CE3E"/>
                </a:solidFill>
              </a:rPr>
              <a:t>YEAR 9 SCIENCE  ·  9B PLANT GROWTH  ·  LESSON 3 OF 7</a:t>
            </a:r>
            <a:endParaRPr lang="en-US" sz="14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Gas exchange in leaves</a:t>
            </a: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lIns="0" tIns="0" rIns="0" bIns="0" rtlCol="0" anchor="t"/>
          <a:lstStyle/>
          <a:p>
            <a:pPr indent="0" marL="0">
              <a:buNone/>
            </a:pPr>
            <a:r>
              <a:rPr lang="en-US" sz="2400" dirty="0">
                <a:solidFill>
                  <a:srgbClr val="FFFFFF"/>
                </a:solidFill>
              </a:rPr>
              <a:t>A leaf has thousands of tiny doors. Who opens them, and what goes in and out?</a:t>
            </a:r>
            <a:endParaRPr lang="en-US" sz="24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400" dirty="0">
                <a:solidFill>
                  <a:srgbClr val="C9D3E6"/>
                </a:solidFill>
              </a:rPr>
              <a:t>Exploring Science International 9  ·  Student Book pages 25  ·  Workbook pages 18</a:t>
            </a:r>
            <a:endParaRPr lang="en-US" sz="1400" dirty="0"/>
          </a:p>
        </p:txBody>
      </p:sp>
      <p:pic>
        <p:nvPicPr>
          <p:cNvPr id="6" name="Image 0" descr="/home/user/lessons/Y9_Exploring_Science/images/stoma.jpg">    </p:cNvPr>
          <p:cNvPicPr>
            <a:picLocks noChangeAspect="1"/>
          </p:cNvPicPr>
          <p:nvPr/>
        </p:nvPicPr>
        <p:blipFill>
          <a:blip r:embed="rId1"/>
          <a:stretch>
            <a:fillRect/>
          </a:stretch>
        </p:blipFill>
        <p:spPr>
          <a:xfrm>
            <a:off x="9257232" y="4572000"/>
            <a:ext cx="1785216"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a leaf under the microscope</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6035040" cy="4480560"/>
          </a:xfrm>
          <a:prstGeom prst="rect">
            <a:avLst/>
          </a:prstGeom>
          <a:noFill/>
          <a:ln/>
        </p:spPr>
        <p:txBody>
          <a:bodyPr wrap="square" lIns="0" tIns="0" rIns="0" bIns="0" rtlCol="0" anchor="t"/>
          <a:lstStyle/>
          <a:p>
            <a:pPr indent="0" marL="0">
              <a:spcAft>
                <a:spcPts val="1200"/>
              </a:spcAft>
              <a:buNone/>
            </a:pPr>
            <a:r>
              <a:rPr lang="en-US" sz="2400" dirty="0">
                <a:solidFill>
                  <a:srgbClr val="141B26"/>
                </a:solidFill>
              </a:rPr>
              <a:t>1. What is this hole in the leaf surface called?</a:t>
            </a:r>
            <a:endParaRPr lang="en-US" sz="2400" dirty="0"/>
          </a:p>
          <a:p>
            <a:pPr indent="0" marL="0">
              <a:spcAft>
                <a:spcPts val="1200"/>
              </a:spcAft>
              <a:buNone/>
            </a:pPr>
            <a:r>
              <a:rPr lang="en-US" sz="2400" dirty="0">
                <a:solidFill>
                  <a:srgbClr val="141B26"/>
                </a:solidFill>
              </a:rPr>
              <a:t>2. Name two gases that pass through it.</a:t>
            </a:r>
            <a:endParaRPr lang="en-US" sz="2400" dirty="0"/>
          </a:p>
          <a:p>
            <a:pPr indent="0" marL="0">
              <a:spcAft>
                <a:spcPts val="1200"/>
              </a:spcAft>
              <a:buNone/>
            </a:pPr>
            <a:r>
              <a:rPr lang="en-US" sz="2400" dirty="0">
                <a:solidFill>
                  <a:srgbClr val="141B26"/>
                </a:solidFill>
              </a:rPr>
              <a:t>3. Predict when the hole is shut: day or night?</a:t>
            </a:r>
            <a:endParaRPr lang="en-US" sz="2400" dirty="0"/>
          </a:p>
        </p:txBody>
      </p:sp>
      <p:pic>
        <p:nvPicPr>
          <p:cNvPr id="8" name="Image 0" descr="/home/user/lessons/Y9_Exploring_Science/images/stoma.jpg">    </p:cNvPr>
          <p:cNvPicPr>
            <a:picLocks noChangeAspect="1"/>
          </p:cNvPicPr>
          <p:nvPr/>
        </p:nvPicPr>
        <p:blipFill>
          <a:blip r:embed="rId1"/>
          <a:stretch>
            <a:fillRect/>
          </a:stretch>
        </p:blipFill>
        <p:spPr>
          <a:xfrm>
            <a:off x="7316333" y="1371600"/>
            <a:ext cx="3838214" cy="3931920"/>
          </a:xfrm>
          <a:prstGeom prst="rect">
            <a:avLst/>
          </a:prstGeom>
        </p:spPr>
      </p:pic>
      <p:sp>
        <p:nvSpPr>
          <p:cNvPr id="9" name="Text 6"/>
          <p:cNvSpPr txBox="1"/>
          <p:nvPr/>
        </p:nvSpPr>
        <p:spPr>
          <a:xfrm>
            <a:off x="6858000" y="5349240"/>
            <a:ext cx="4754880" cy="548640"/>
          </a:xfrm>
          <a:prstGeom prst="rect">
            <a:avLst/>
          </a:prstGeom>
          <a:noFill/>
          <a:ln/>
        </p:spPr>
        <p:txBody>
          <a:bodyPr wrap="square" lIns="0" tIns="0" rIns="0" bIns="0" rtlCol="0" anchor="t"/>
          <a:lstStyle/>
          <a:p>
            <a:pPr algn="l" indent="0" marL="0">
              <a:buNone/>
            </a:pPr>
            <a:r>
              <a:rPr lang="en-US" sz="1300" dirty="0">
                <a:solidFill>
                  <a:srgbClr val="141B26"/>
                </a:solidFill>
              </a:rPr>
              <a:t>A hole in the lower surface of a tomato leaf</a:t>
            </a:r>
            <a:pPr algn="l" indent="0" marL="0">
              <a:buNone/>
            </a:pPr>
            <a:endParaRPr lang="en-US" sz="1300" dirty="0"/>
          </a:p>
          <a:p>
            <a:pPr algn="l" indent="0" marL="0">
              <a:buNone/>
            </a:pPr>
            <a:r>
              <a:rPr lang="en-US" sz="900" dirty="0">
                <a:solidFill>
                  <a:srgbClr val="5B6574"/>
                </a:solidFill>
              </a:rPr>
              <a:t>Image: Photohound, Public domain,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28016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Today I can ...</a:t>
            </a:r>
            <a:endParaRPr lang="en-US" sz="2200" dirty="0"/>
          </a:p>
        </p:txBody>
      </p:sp>
      <p:sp>
        <p:nvSpPr>
          <p:cNvPr id="6" name="Shape 4"/>
          <p:cNvSpPr/>
          <p:nvPr/>
        </p:nvSpPr>
        <p:spPr>
          <a:xfrm>
            <a:off x="594360" y="1810512"/>
            <a:ext cx="310896" cy="310896"/>
          </a:xfrm>
          <a:prstGeom prst="rect">
            <a:avLst/>
          </a:prstGeom>
          <a:solidFill>
            <a:srgbClr val="FFFFFF"/>
          </a:solidFill>
          <a:ln w="19050">
            <a:solidFill>
              <a:srgbClr val="0F2A5F"/>
            </a:solidFill>
            <a:prstDash val="solid"/>
          </a:ln>
        </p:spPr>
      </p:sp>
      <p:sp>
        <p:nvSpPr>
          <p:cNvPr id="7" name="Text 5"/>
          <p:cNvSpPr txBox="1"/>
          <p:nvPr/>
        </p:nvSpPr>
        <p:spPr>
          <a:xfrm>
            <a:off x="1097280" y="173736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describe how stomata and guard cells control gas exchange in a leaf.</a:t>
            </a:r>
            <a:endParaRPr lang="en-US" sz="2000" dirty="0"/>
          </a:p>
        </p:txBody>
      </p:sp>
      <p:sp>
        <p:nvSpPr>
          <p:cNvPr id="8" name="Shape 6"/>
          <p:cNvSpPr/>
          <p:nvPr/>
        </p:nvSpPr>
        <p:spPr>
          <a:xfrm>
            <a:off x="594360" y="2679192"/>
            <a:ext cx="310896" cy="310896"/>
          </a:xfrm>
          <a:prstGeom prst="rect">
            <a:avLst/>
          </a:prstGeom>
          <a:solidFill>
            <a:srgbClr val="FFFFFF"/>
          </a:solidFill>
          <a:ln w="19050">
            <a:solidFill>
              <a:srgbClr val="0F2A5F"/>
            </a:solidFill>
            <a:prstDash val="solid"/>
          </a:ln>
        </p:spPr>
      </p:sp>
      <p:sp>
        <p:nvSpPr>
          <p:cNvPr id="9" name="Text 7"/>
          <p:cNvSpPr txBox="1"/>
          <p:nvPr/>
        </p:nvSpPr>
        <p:spPr>
          <a:xfrm>
            <a:off x="1097280" y="260604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explain how temperature and concentration difference affect diffusion, and why a plant loses more water on a hot day.</a:t>
            </a:r>
            <a:endParaRPr lang="en-US" sz="2000" dirty="0"/>
          </a:p>
        </p:txBody>
      </p:sp>
      <p:sp>
        <p:nvSpPr>
          <p:cNvPr id="10" name="Text 8"/>
          <p:cNvSpPr txBox="1"/>
          <p:nvPr/>
        </p:nvSpPr>
        <p:spPr>
          <a:xfrm>
            <a:off x="548640" y="361188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Key words today</a:t>
            </a:r>
            <a:endParaRPr lang="en-US" sz="2200" dirty="0"/>
          </a:p>
        </p:txBody>
      </p:sp>
      <p:sp>
        <p:nvSpPr>
          <p:cNvPr id="11" name="Text 9"/>
          <p:cNvSpPr txBox="1"/>
          <p:nvPr/>
        </p:nvSpPr>
        <p:spPr>
          <a:xfrm>
            <a:off x="548640"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200" b="1" dirty="0">
                <a:solidFill>
                  <a:srgbClr val="0F2A5F"/>
                </a:solidFill>
              </a:rPr>
              <a:t>stomata</a:t>
            </a:r>
            <a:endParaRPr lang="en-US" sz="2200" dirty="0"/>
          </a:p>
          <a:p>
            <a:pPr marL="304800" indent="-304800">
              <a:spcAft>
                <a:spcPts val="600"/>
              </a:spcAft>
              <a:buSzPct val="100000"/>
              <a:buChar char="•"/>
            </a:pPr>
            <a:r>
              <a:rPr lang="en-US" sz="2200" b="1" dirty="0">
                <a:solidFill>
                  <a:srgbClr val="0F2A5F"/>
                </a:solidFill>
              </a:rPr>
              <a:t>guard cell</a:t>
            </a:r>
            <a:endParaRPr lang="en-US" sz="2200" dirty="0"/>
          </a:p>
          <a:p>
            <a:pPr marL="304800" indent="-304800">
              <a:spcAft>
                <a:spcPts val="600"/>
              </a:spcAft>
              <a:buSzPct val="100000"/>
              <a:buChar char="•"/>
            </a:pPr>
            <a:r>
              <a:rPr lang="en-US" sz="2200" b="1" dirty="0">
                <a:solidFill>
                  <a:srgbClr val="0F2A5F"/>
                </a:solidFill>
              </a:rPr>
              <a:t>diffusion</a:t>
            </a:r>
            <a:endParaRPr lang="en-US" sz="2200" dirty="0"/>
          </a:p>
        </p:txBody>
      </p:sp>
      <p:sp>
        <p:nvSpPr>
          <p:cNvPr id="12" name="Text 10"/>
          <p:cNvSpPr txBox="1"/>
          <p:nvPr/>
        </p:nvSpPr>
        <p:spPr>
          <a:xfrm>
            <a:off x="4338218"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200" b="1" dirty="0">
                <a:solidFill>
                  <a:srgbClr val="0F2A5F"/>
                </a:solidFill>
              </a:rPr>
              <a:t>concentration</a:t>
            </a:r>
            <a:endParaRPr lang="en-US" sz="2200" dirty="0"/>
          </a:p>
          <a:p>
            <a:pPr marL="304800" indent="-304800">
              <a:spcAft>
                <a:spcPts val="600"/>
              </a:spcAft>
              <a:buSzPct val="100000"/>
              <a:buChar char="•"/>
            </a:pPr>
            <a:r>
              <a:rPr lang="en-US" sz="2200" b="1" dirty="0">
                <a:solidFill>
                  <a:srgbClr val="0F2A5F"/>
                </a:solidFill>
              </a:rPr>
              <a:t>gas exchange</a:t>
            </a:r>
            <a:endParaRPr lang="en-US" sz="2200" dirty="0"/>
          </a:p>
          <a:p>
            <a:pPr marL="304800" indent="-304800">
              <a:spcAft>
                <a:spcPts val="600"/>
              </a:spcAft>
              <a:buSzPct val="100000"/>
              <a:buChar char="•"/>
            </a:pPr>
            <a:r>
              <a:rPr lang="en-US" sz="2200" b="1" dirty="0">
                <a:solidFill>
                  <a:srgbClr val="0F2A5F"/>
                </a:solidFill>
              </a:rPr>
              <a:t>water vapour</a:t>
            </a:r>
            <a:endParaRPr lang="en-US" sz="2200" dirty="0"/>
          </a:p>
        </p:txBody>
      </p:sp>
      <p:sp>
        <p:nvSpPr>
          <p:cNvPr id="13" name="Text 11"/>
          <p:cNvSpPr txBox="1"/>
          <p:nvPr/>
        </p:nvSpPr>
        <p:spPr>
          <a:xfrm>
            <a:off x="8127797"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200" b="1" dirty="0">
                <a:solidFill>
                  <a:srgbClr val="0F2A5F"/>
                </a:solidFill>
              </a:rPr>
              <a:t>evaporation</a:t>
            </a:r>
            <a:endParaRPr lang="en-US" sz="2200" dirty="0"/>
          </a:p>
          <a:p>
            <a:pPr marL="304800" indent="-304800">
              <a:spcAft>
                <a:spcPts val="600"/>
              </a:spcAft>
              <a:buSzPct val="100000"/>
              <a:buChar char="•"/>
            </a:pPr>
            <a:r>
              <a:rPr lang="en-US" sz="2200" b="1" dirty="0">
                <a:solidFill>
                  <a:srgbClr val="0F2A5F"/>
                </a:solidFill>
              </a:rPr>
              <a:t>wilt</a:t>
            </a:r>
            <a:endParaRPr lang="en-US" sz="2200" dirty="0"/>
          </a:p>
          <a:p>
            <a:pPr marL="304800" indent="-304800">
              <a:spcAft>
                <a:spcPts val="600"/>
              </a:spcAft>
              <a:buSzPct val="100000"/>
              <a:buChar char="•"/>
            </a:pPr>
            <a:r>
              <a:rPr lang="en-US" sz="2200" b="1" dirty="0">
                <a:solidFill>
                  <a:srgbClr val="0F2A5F"/>
                </a:solidFill>
              </a:rPr>
              <a:t>epidermis</a:t>
            </a:r>
            <a:endParaRPr lang="en-US" sz="2200" dirty="0"/>
          </a:p>
        </p:txBody>
      </p:sp>
      <p:sp>
        <p:nvSpPr>
          <p:cNvPr id="14" name="Text 12"/>
          <p:cNvSpPr txBox="1"/>
          <p:nvPr/>
        </p:nvSpPr>
        <p:spPr>
          <a:xfrm>
            <a:off x="548640" y="6035040"/>
            <a:ext cx="10881360" cy="320040"/>
          </a:xfrm>
          <a:prstGeom prst="rect">
            <a:avLst/>
          </a:prstGeom>
          <a:noFill/>
          <a:ln/>
        </p:spPr>
        <p:txBody>
          <a:bodyPr wrap="square" lIns="0" tIns="0" rIns="0" bIns="0" rtlCol="0" anchor="ctr"/>
          <a:lstStyle/>
          <a:p>
            <a:pPr indent="0" marL="0">
              <a:buNone/>
            </a:pPr>
            <a:r>
              <a:rPr lang="en-US" sz="1400" i="1" dirty="0">
                <a:solidFill>
                  <a:srgbClr val="5B6574"/>
                </a:solidFill>
              </a:rPr>
              <a:t>Meanings are in the key words box on your worksheet.</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Same water, same light. Why did this one wilt?</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10881360" cy="2651760"/>
          </a:xfrm>
          <a:prstGeom prst="rect">
            <a:avLst/>
          </a:prstGeom>
          <a:noFill/>
          <a:ln/>
        </p:spPr>
        <p:txBody>
          <a:bodyPr wrap="square" lIns="0" tIns="0" rIns="0" bIns="0" rtlCol="0" anchor="t"/>
          <a:lstStyle/>
          <a:p>
            <a:pPr indent="0" marL="0">
              <a:buNone/>
            </a:pPr>
            <a:r>
              <a:rPr lang="en-US" sz="3000" b="1" dirty="0">
                <a:solidFill>
                  <a:srgbClr val="0F2A5F"/>
                </a:solidFill>
              </a:rPr>
              <a:t>Two identical pot plants were given the same light and the same water. One was kept in a cool room and one in a hot room. The one in the hot room wilted. Why?</a:t>
            </a:r>
            <a:endParaRPr lang="en-US" sz="3000" dirty="0"/>
          </a:p>
        </p:txBody>
      </p:sp>
      <p:sp>
        <p:nvSpPr>
          <p:cNvPr id="6" name="Text 4"/>
          <p:cNvSpPr txBox="1"/>
          <p:nvPr/>
        </p:nvSpPr>
        <p:spPr>
          <a:xfrm>
            <a:off x="548640" y="4114800"/>
            <a:ext cx="10881360" cy="1828800"/>
          </a:xfrm>
          <a:prstGeom prst="rect">
            <a:avLst/>
          </a:prstGeom>
          <a:noFill/>
          <a:ln/>
        </p:spPr>
        <p:txBody>
          <a:bodyPr wrap="square" lIns="0" tIns="0" rIns="0" bIns="0" rtlCol="0" anchor="t"/>
          <a:lstStyle/>
          <a:p>
            <a:pPr indent="0" marL="0">
              <a:spcAft>
                <a:spcPts val="800"/>
              </a:spcAft>
              <a:buNone/>
            </a:pPr>
            <a:r>
              <a:rPr lang="en-US" sz="2000" dirty="0">
                <a:solidFill>
                  <a:srgbClr val="141B26"/>
                </a:solidFill>
              </a:rPr>
              <a:t>Talk to a partner. We come back to this at the end.</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Stomata and guard cells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stomata   ·   guard cell   ·   epidermis</a:t>
            </a:r>
            <a:endParaRPr lang="en-US" sz="1400" dirty="0"/>
          </a:p>
        </p:txBody>
      </p:sp>
      <p:sp>
        <p:nvSpPr>
          <p:cNvPr id="6" name="Text 4"/>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500" dirty="0">
                <a:solidFill>
                  <a:srgbClr val="141B26"/>
                </a:solidFill>
              </a:rPr>
              <a:t>Stomata are tiny holes in the epidermis, mostly on the lower surface. Each is opened and closed by a pair of guard cells.</a:t>
            </a:r>
            <a:endParaRPr lang="en-US" sz="1500" dirty="0"/>
          </a:p>
        </p:txBody>
      </p:sp>
      <p:pic>
        <p:nvPicPr>
          <p:cNvPr id="7" name="Image 0" descr="/home/user/lessons/Y9_Exploring_Science/source/diagrams/stoma_open_closed.png">    </p:cNvPr>
          <p:cNvPicPr>
            <a:picLocks noChangeAspect="1"/>
          </p:cNvPicPr>
          <p:nvPr/>
        </p:nvPicPr>
        <p:blipFill>
          <a:blip r:embed="rId1"/>
          <a:stretch>
            <a:fillRect/>
          </a:stretch>
        </p:blipFill>
        <p:spPr>
          <a:xfrm>
            <a:off x="1809206" y="1737360"/>
            <a:ext cx="8360229" cy="3657600"/>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Open in the light, when the plant needs carbon dioxide for photosynthesis. Shut at night, which saves water.</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Diffusion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diffusion   ·   concentration</a:t>
            </a:r>
            <a:endParaRPr lang="en-US" sz="1400" dirty="0"/>
          </a:p>
        </p:txBody>
      </p:sp>
      <p:sp>
        <p:nvSpPr>
          <p:cNvPr id="6" name="Text 4"/>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500" dirty="0">
                <a:solidFill>
                  <a:srgbClr val="141B26"/>
                </a:solidFill>
              </a:rPr>
              <a:t>Particles move randomly all the time. Overall they spread from where they are more concentrated to where they are less concentrated.</a:t>
            </a:r>
            <a:endParaRPr lang="en-US" sz="1500" dirty="0"/>
          </a:p>
        </p:txBody>
      </p:sp>
      <p:pic>
        <p:nvPicPr>
          <p:cNvPr id="7" name="Image 0" descr="/home/user/lessons/Y9_Exploring_Science/source/diagrams/diffusion_gradient.png">    </p:cNvPr>
          <p:cNvPicPr>
            <a:picLocks noChangeAspect="1"/>
          </p:cNvPicPr>
          <p:nvPr/>
        </p:nvPicPr>
        <p:blipFill>
          <a:blip r:embed="rId1"/>
          <a:stretch>
            <a:fillRect/>
          </a:stretch>
        </p:blipFill>
        <p:spPr>
          <a:xfrm>
            <a:off x="1112520" y="1737360"/>
            <a:ext cx="9753600" cy="3657600"/>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Diffusion is faster at higher temperatures (particles move faster) and when the concentration difference is bigger.</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Gas exchange in a leaf</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gas exchange   ·   stomata   ·   diffusion</a:t>
            </a:r>
            <a:endParaRPr lang="en-US" sz="1400" dirty="0"/>
          </a:p>
        </p:txBody>
      </p:sp>
      <p:sp>
        <p:nvSpPr>
          <p:cNvPr id="6" name="Text 4"/>
          <p:cNvSpPr txBox="1"/>
          <p:nvPr/>
        </p:nvSpPr>
        <p:spPr>
          <a:xfrm>
            <a:off x="548640" y="1325880"/>
            <a:ext cx="4297680" cy="4069080"/>
          </a:xfrm>
          <a:prstGeom prst="rect">
            <a:avLst/>
          </a:prstGeom>
          <a:noFill/>
          <a:ln/>
        </p:spPr>
        <p:txBody>
          <a:bodyPr wrap="square" lIns="0" tIns="0" rIns="0" bIns="0" rtlCol="0" anchor="t"/>
          <a:lstStyle/>
          <a:p>
            <a:pPr marL="304800" indent="-304800">
              <a:spcAft>
                <a:spcPts val="800"/>
              </a:spcAft>
              <a:buSzPct val="100000"/>
              <a:buChar char="•"/>
            </a:pPr>
            <a:r>
              <a:rPr lang="en-US" sz="1800" dirty="0">
                <a:solidFill>
                  <a:srgbClr val="141B26"/>
                </a:solidFill>
              </a:rPr>
              <a:t>In the light, photosynthesis uses up carbon dioxide inside the leaf, so its concentration falls.</a:t>
            </a:r>
            <a:endParaRPr lang="en-US" sz="1800" dirty="0"/>
          </a:p>
          <a:p>
            <a:pPr marL="304800" indent="-304800">
              <a:spcAft>
                <a:spcPts val="800"/>
              </a:spcAft>
              <a:buSzPct val="100000"/>
              <a:buChar char="•"/>
            </a:pPr>
            <a:r>
              <a:rPr lang="en-US" sz="1800" dirty="0">
                <a:solidFill>
                  <a:srgbClr val="141B26"/>
                </a:solidFill>
              </a:rPr>
              <a:t>Carbon dioxide diffuses in from the air through open stomata.</a:t>
            </a:r>
            <a:endParaRPr lang="en-US" sz="1800" dirty="0"/>
          </a:p>
          <a:p>
            <a:pPr marL="304800" indent="-304800">
              <a:spcAft>
                <a:spcPts val="800"/>
              </a:spcAft>
              <a:buSzPct val="100000"/>
              <a:buChar char="•"/>
            </a:pPr>
            <a:r>
              <a:rPr lang="en-US" sz="1800" dirty="0">
                <a:solidFill>
                  <a:srgbClr val="141B26"/>
                </a:solidFill>
              </a:rPr>
              <a:t>Oxygen made by photosynthesis builds up and diffuses out.</a:t>
            </a:r>
            <a:endParaRPr lang="en-US" sz="1800" dirty="0"/>
          </a:p>
          <a:p>
            <a:pPr marL="304800" indent="-304800">
              <a:spcAft>
                <a:spcPts val="800"/>
              </a:spcAft>
              <a:buSzPct val="100000"/>
              <a:buChar char="•"/>
            </a:pPr>
            <a:r>
              <a:rPr lang="en-US" sz="1800" dirty="0">
                <a:solidFill>
                  <a:srgbClr val="141B26"/>
                </a:solidFill>
              </a:rPr>
              <a:t>Leaves are thin, so gases do not have to diffuse far to reach every cell.</a:t>
            </a:r>
            <a:endParaRPr lang="en-US" sz="1800" dirty="0"/>
          </a:p>
          <a:p>
            <a:pPr marL="304800" indent="-304800">
              <a:spcAft>
                <a:spcPts val="800"/>
              </a:spcAft>
              <a:buSzPct val="100000"/>
              <a:buChar char="•"/>
            </a:pPr>
            <a:r>
              <a:rPr lang="en-US" sz="1800" dirty="0">
                <a:solidFill>
                  <a:srgbClr val="141B26"/>
                </a:solidFill>
              </a:rPr>
              <a:t>This swapping of gases is gas exchange.</a:t>
            </a:r>
            <a:endParaRPr lang="en-US" sz="1800" dirty="0"/>
          </a:p>
        </p:txBody>
      </p:sp>
      <p:pic>
        <p:nvPicPr>
          <p:cNvPr id="7" name="Image 0" descr="/home/user/lessons/Y9_Exploring_Science/source/diagrams/leaf_section.png">    </p:cNvPr>
          <p:cNvPicPr>
            <a:picLocks noChangeAspect="1"/>
          </p:cNvPicPr>
          <p:nvPr/>
        </p:nvPicPr>
        <p:blipFill>
          <a:blip r:embed="rId1"/>
          <a:stretch>
            <a:fillRect/>
          </a:stretch>
        </p:blipFill>
        <p:spPr>
          <a:xfrm>
            <a:off x="5029200" y="1549451"/>
            <a:ext cx="6583680" cy="3119018"/>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Photosynthesis keeps the carbon dioxide concentration inside the leaf low, so carbon dioxide keeps diffusing in.</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Losing water</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water vapour   ·   evaporation   ·   wilt</a:t>
            </a:r>
            <a:endParaRPr lang="en-US" sz="1400" dirty="0"/>
          </a:p>
        </p:txBody>
      </p:sp>
      <p:sp>
        <p:nvSpPr>
          <p:cNvPr id="6" name="Text 4"/>
          <p:cNvSpPr txBox="1"/>
          <p:nvPr/>
        </p:nvSpPr>
        <p:spPr>
          <a:xfrm>
            <a:off x="548640" y="1325880"/>
            <a:ext cx="1088136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Water evaporates from the cells inside the leaf.</a:t>
            </a:r>
            <a:endParaRPr lang="en-US" sz="2000" dirty="0"/>
          </a:p>
          <a:p>
            <a:pPr marL="304800" indent="-304800">
              <a:spcAft>
                <a:spcPts val="800"/>
              </a:spcAft>
              <a:buSzPct val="100000"/>
              <a:buChar char="•"/>
            </a:pPr>
            <a:r>
              <a:rPr lang="en-US" sz="2000" dirty="0">
                <a:solidFill>
                  <a:srgbClr val="141B26"/>
                </a:solidFill>
              </a:rPr>
              <a:t>Water vapour diffuses out through open stomata.</a:t>
            </a:r>
            <a:endParaRPr lang="en-US" sz="2000" dirty="0"/>
          </a:p>
          <a:p>
            <a:pPr marL="304800" indent="-304800">
              <a:spcAft>
                <a:spcPts val="800"/>
              </a:spcAft>
              <a:buSzPct val="100000"/>
              <a:buChar char="•"/>
            </a:pPr>
            <a:r>
              <a:rPr lang="en-US" sz="2000" dirty="0">
                <a:solidFill>
                  <a:srgbClr val="141B26"/>
                </a:solidFill>
              </a:rPr>
              <a:t>This is faster when it is hot (particles move faster) and when the air outside is dry or windy (bigger concentration difference).</a:t>
            </a:r>
            <a:endParaRPr lang="en-US" sz="2000" dirty="0"/>
          </a:p>
          <a:p>
            <a:pPr marL="304800" indent="-304800">
              <a:spcAft>
                <a:spcPts val="800"/>
              </a:spcAft>
              <a:buSzPct val="100000"/>
              <a:buChar char="•"/>
            </a:pPr>
            <a:r>
              <a:rPr lang="en-US" sz="2000" dirty="0">
                <a:solidFill>
                  <a:srgbClr val="141B26"/>
                </a:solidFill>
              </a:rPr>
              <a:t>If the roots cannot replace the water, the cells sag and the plant wilts.</a:t>
            </a:r>
            <a:endParaRPr lang="en-US" sz="2000" dirty="0"/>
          </a:p>
        </p:txBody>
      </p:sp>
      <p:sp>
        <p:nvSpPr>
          <p:cNvPr id="7"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Open stomata let carbon dioxide in but water out. Closing them at night saves water.</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Mini whiteboards. One answer each, then we check.</a:t>
            </a:r>
            <a:endParaRPr lang="en-US" sz="16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Q1  </a:t>
            </a:r>
            <a:pPr indent="0" marL="0">
              <a:buNone/>
            </a:pPr>
            <a:r>
              <a:rPr lang="en-US" sz="2000" dirty="0">
                <a:solidFill>
                  <a:srgbClr val="141B26"/>
                </a:solidFill>
              </a:rPr>
              <a:t>Which cells open and close a stoma?</a:t>
            </a:r>
            <a:endParaRPr lang="en-US" sz="20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Q2  </a:t>
            </a:r>
            <a:pPr indent="0" marL="0">
              <a:buNone/>
            </a:pPr>
            <a:r>
              <a:rPr lang="en-US" sz="2000" dirty="0">
                <a:solidFill>
                  <a:srgbClr val="141B26"/>
                </a:solidFill>
              </a:rPr>
              <a:t>Is a stoma usually open or shut at night?</a:t>
            </a:r>
            <a:endParaRPr lang="en-US" sz="20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Q3  </a:t>
            </a:r>
            <a:pPr indent="0" marL="0">
              <a:buNone/>
            </a:pPr>
            <a:r>
              <a:rPr lang="en-US" sz="2000" dirty="0">
                <a:solidFill>
                  <a:srgbClr val="141B26"/>
                </a:solidFill>
              </a:rPr>
              <a:t>Diffusion: from low to high concentration, or high to low?</a:t>
            </a:r>
            <a:endParaRPr lang="en-US" sz="20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Q4  </a:t>
            </a:r>
            <a:pPr indent="0" marL="0">
              <a:buNone/>
            </a:pPr>
            <a:r>
              <a:rPr lang="en-US" sz="2000" dirty="0">
                <a:solidFill>
                  <a:srgbClr val="141B26"/>
                </a:solidFill>
              </a:rPr>
              <a:t>Name two things that make diffusion faster.</a:t>
            </a:r>
            <a:endParaRPr lang="en-US" sz="20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Q5  </a:t>
            </a:r>
            <a:pPr indent="0" marL="0">
              <a:buNone/>
            </a:pPr>
            <a:r>
              <a:rPr lang="en-US" sz="2000" dirty="0">
                <a:solidFill>
                  <a:srgbClr val="141B26"/>
                </a:solidFill>
              </a:rPr>
              <a:t>In the light, which gas diffuses INTO a leaf?</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400" b="1" dirty="0">
                <a:solidFill>
                  <a:srgbClr val="3A2E00"/>
                </a:solidFill>
              </a:rPr>
              <a:t>Safety: nail varnish peel</a:t>
            </a:r>
            <a:endParaRPr lang="en-US" sz="3400" dirty="0"/>
          </a:p>
        </p:txBody>
      </p:sp>
      <p:sp>
        <p:nvSpPr>
          <p:cNvPr id="3" name="Shape 1"/>
          <p:cNvSpPr/>
          <p:nvPr/>
        </p:nvSpPr>
        <p:spPr>
          <a:xfrm>
            <a:off x="10308031" y="411480"/>
            <a:ext cx="1335024" cy="384048"/>
          </a:xfrm>
          <a:prstGeom prst="roundRect">
            <a:avLst>
              <a:gd name="adj" fmla="val 50000"/>
            </a:avLst>
          </a:prstGeom>
          <a:solidFill>
            <a:srgbClr val="3A2E00"/>
          </a:solidFill>
          <a:ln w="12700">
            <a:solidFill>
              <a:srgbClr val="3A2E00"/>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SAFETY</a:t>
            </a:r>
            <a:endParaRPr lang="en-US" sz="1100" dirty="0"/>
          </a:p>
        </p:txBody>
      </p:sp>
      <p:sp>
        <p:nvSpPr>
          <p:cNvPr id="5" name="Text 3"/>
          <p:cNvSpPr txBox="1"/>
          <p:nvPr/>
        </p:nvSpPr>
        <p:spPr>
          <a:xfrm>
            <a:off x="548640" y="1371600"/>
            <a:ext cx="10881360" cy="4572000"/>
          </a:xfrm>
          <a:prstGeom prst="rect">
            <a:avLst/>
          </a:prstGeom>
          <a:noFill/>
          <a:ln/>
        </p:spPr>
        <p:txBody>
          <a:bodyPr wrap="square" lIns="0" tIns="0" rIns="0" bIns="0" rtlCol="0" anchor="t"/>
          <a:lstStyle/>
          <a:p>
            <a:pPr marL="304800" indent="-304800">
              <a:spcAft>
                <a:spcPts val="800"/>
              </a:spcAft>
              <a:buSzPct val="100000"/>
              <a:buChar char="•"/>
            </a:pPr>
            <a:r>
              <a:rPr lang="en-US" sz="2600" dirty="0">
                <a:solidFill>
                  <a:srgbClr val="3A2E00"/>
                </a:solidFill>
              </a:rPr>
              <a:t>Clear nail varnish gives off fumes: keep the lid on when not in use and keep it away from any flame.</a:t>
            </a:r>
            <a:endParaRPr lang="en-US" sz="2600" dirty="0"/>
          </a:p>
          <a:p>
            <a:pPr marL="304800" indent="-304800">
              <a:spcAft>
                <a:spcPts val="800"/>
              </a:spcAft>
              <a:buSzPct val="100000"/>
              <a:buChar char="•"/>
            </a:pPr>
            <a:r>
              <a:rPr lang="en-US" sz="2600" dirty="0">
                <a:solidFill>
                  <a:srgbClr val="3A2E00"/>
                </a:solidFill>
              </a:rPr>
              <a:t>Do not sniff the varnish. Open a window if the room smells strongly.</a:t>
            </a:r>
            <a:endParaRPr lang="en-US" sz="2600" dirty="0"/>
          </a:p>
          <a:p>
            <a:pPr marL="304800" indent="-304800">
              <a:spcAft>
                <a:spcPts val="800"/>
              </a:spcAft>
              <a:buSzPct val="100000"/>
              <a:buChar char="•"/>
            </a:pPr>
            <a:r>
              <a:rPr lang="en-US" sz="2600" dirty="0">
                <a:solidFill>
                  <a:srgbClr val="3A2E00"/>
                </a:solidFill>
              </a:rPr>
              <a:t>Wash your hands at the end.</a:t>
            </a:r>
            <a:endParaRPr lang="en-US" sz="2600" dirty="0"/>
          </a:p>
          <a:p>
            <a:pPr marL="304800" indent="-304800">
              <a:spcAft>
                <a:spcPts val="800"/>
              </a:spcAft>
              <a:buSzPct val="100000"/>
              <a:buChar char="•"/>
            </a:pPr>
            <a:r>
              <a:rPr lang="en-US" sz="2600" dirty="0">
                <a:solidFill>
                  <a:srgbClr val="3A2E00"/>
                </a:solidFill>
              </a:rPr>
              <a:t>Carry the microscope with two hands. Do not touch the lamp.</a:t>
            </a:r>
            <a:endParaRPr lang="en-US" sz="2600" dirty="0"/>
          </a:p>
          <a:p>
            <a:pPr marL="304800" indent="-304800">
              <a:spcAft>
                <a:spcPts val="800"/>
              </a:spcAft>
              <a:buSzPct val="100000"/>
              <a:buChar char="•"/>
            </a:pPr>
            <a:r>
              <a:rPr lang="en-US" sz="2600" dirty="0">
                <a:solidFill>
                  <a:srgbClr val="3A2E00"/>
                </a:solidFill>
              </a:rPr>
              <a:t>Scissors: cut away from your fingers.</a:t>
            </a:r>
            <a:endParaRPr lang="en-US"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Looking at stomata</a:t>
            </a:r>
            <a:endParaRPr lang="en-US" sz="3000" dirty="0"/>
          </a:p>
        </p:txBody>
      </p:sp>
      <p:sp>
        <p:nvSpPr>
          <p:cNvPr id="3" name="Shape 1"/>
          <p:cNvSpPr/>
          <p:nvPr/>
        </p:nvSpPr>
        <p:spPr>
          <a:xfrm>
            <a:off x="9869119" y="411480"/>
            <a:ext cx="1773936"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869119" y="411480"/>
            <a:ext cx="1773936"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PRACTICAL</a:t>
            </a:r>
            <a:endParaRPr lang="en-US" sz="1100" dirty="0"/>
          </a:p>
        </p:txBody>
      </p:sp>
      <p:sp>
        <p:nvSpPr>
          <p:cNvPr id="5" name="Text 3"/>
          <p:cNvSpPr txBox="1"/>
          <p:nvPr/>
        </p:nvSpPr>
        <p:spPr>
          <a:xfrm>
            <a:off x="548640" y="1280160"/>
            <a:ext cx="10881360" cy="457200"/>
          </a:xfrm>
          <a:prstGeom prst="rect">
            <a:avLst/>
          </a:prstGeom>
          <a:noFill/>
          <a:ln/>
        </p:spPr>
        <p:txBody>
          <a:bodyPr wrap="square" lIns="0" tIns="0" rIns="0" bIns="0" rtlCol="0" anchor="ctr"/>
          <a:lstStyle/>
          <a:p>
            <a:pPr indent="0" marL="0">
              <a:buNone/>
            </a:pPr>
            <a:r>
              <a:rPr lang="en-US" sz="1800" b="1" dirty="0">
                <a:solidFill>
                  <a:srgbClr val="7B3A8E"/>
                </a:solidFill>
              </a:rPr>
              <a:t>Aim  </a:t>
            </a:r>
            <a:pPr indent="0" marL="0">
              <a:buNone/>
            </a:pPr>
            <a:r>
              <a:rPr lang="en-US" sz="1800" dirty="0">
                <a:solidFill>
                  <a:srgbClr val="141B26"/>
                </a:solidFill>
              </a:rPr>
              <a:t>To see stomata and guard cells on the lower surface of a leaf and count them.</a:t>
            </a:r>
            <a:endParaRPr lang="en-US" sz="1800" dirty="0"/>
          </a:p>
        </p:txBody>
      </p:sp>
      <p:sp>
        <p:nvSpPr>
          <p:cNvPr id="6" name="Text 4"/>
          <p:cNvSpPr txBox="1"/>
          <p:nvPr/>
        </p:nvSpPr>
        <p:spPr>
          <a:xfrm>
            <a:off x="548640" y="1828800"/>
            <a:ext cx="4023360" cy="365760"/>
          </a:xfrm>
          <a:prstGeom prst="rect">
            <a:avLst/>
          </a:prstGeom>
          <a:noFill/>
          <a:ln/>
        </p:spPr>
        <p:txBody>
          <a:bodyPr wrap="square" lIns="0" tIns="0" rIns="0" bIns="0" rtlCol="0" anchor="ctr"/>
          <a:lstStyle/>
          <a:p>
            <a:pPr indent="0" marL="0">
              <a:buNone/>
            </a:pPr>
            <a:r>
              <a:rPr lang="en-US" sz="1800" b="1" dirty="0">
                <a:solidFill>
                  <a:srgbClr val="0F2A5F"/>
                </a:solidFill>
              </a:rPr>
              <a:t>Equipment</a:t>
            </a:r>
            <a:endParaRPr lang="en-US" sz="1800" dirty="0"/>
          </a:p>
        </p:txBody>
      </p:sp>
      <p:sp>
        <p:nvSpPr>
          <p:cNvPr id="7" name="Text 5"/>
          <p:cNvSpPr txBox="1"/>
          <p:nvPr/>
        </p:nvSpPr>
        <p:spPr>
          <a:xfrm>
            <a:off x="548640" y="2240280"/>
            <a:ext cx="4023360" cy="3200400"/>
          </a:xfrm>
          <a:prstGeom prst="rect">
            <a:avLst/>
          </a:prstGeom>
          <a:noFill/>
          <a:ln/>
        </p:spPr>
        <p:txBody>
          <a:bodyPr wrap="square" lIns="0" tIns="0" rIns="0" bIns="0" rtlCol="0" anchor="t"/>
          <a:lstStyle/>
          <a:p>
            <a:pPr marL="304800" indent="-304800">
              <a:spcAft>
                <a:spcPts val="800"/>
              </a:spcAft>
              <a:buSzPct val="100000"/>
              <a:buChar char="•"/>
            </a:pPr>
            <a:r>
              <a:rPr lang="en-US" sz="1600" dirty="0">
                <a:solidFill>
                  <a:srgbClr val="141B26"/>
                </a:solidFill>
              </a:rPr>
              <a:t>leaf with a smooth underside</a:t>
            </a:r>
            <a:endParaRPr lang="en-US" sz="1600" dirty="0"/>
          </a:p>
          <a:p>
            <a:pPr marL="304800" indent="-304800">
              <a:spcAft>
                <a:spcPts val="800"/>
              </a:spcAft>
              <a:buSzPct val="100000"/>
              <a:buChar char="•"/>
            </a:pPr>
            <a:r>
              <a:rPr lang="en-US" sz="1600" dirty="0">
                <a:solidFill>
                  <a:srgbClr val="141B26"/>
                </a:solidFill>
              </a:rPr>
              <a:t>clear nail varnish</a:t>
            </a:r>
            <a:endParaRPr lang="en-US" sz="1600" dirty="0"/>
          </a:p>
          <a:p>
            <a:pPr marL="304800" indent="-304800">
              <a:spcAft>
                <a:spcPts val="800"/>
              </a:spcAft>
              <a:buSzPct val="100000"/>
              <a:buChar char="•"/>
            </a:pPr>
            <a:r>
              <a:rPr lang="en-US" sz="1600" dirty="0">
                <a:solidFill>
                  <a:srgbClr val="141B26"/>
                </a:solidFill>
              </a:rPr>
              <a:t>clear sticky tape</a:t>
            </a:r>
            <a:endParaRPr lang="en-US" sz="1600" dirty="0"/>
          </a:p>
          <a:p>
            <a:pPr marL="304800" indent="-304800">
              <a:spcAft>
                <a:spcPts val="800"/>
              </a:spcAft>
              <a:buSzPct val="100000"/>
              <a:buChar char="•"/>
            </a:pPr>
            <a:r>
              <a:rPr lang="en-US" sz="1600" dirty="0">
                <a:solidFill>
                  <a:srgbClr val="141B26"/>
                </a:solidFill>
              </a:rPr>
              <a:t>scissors</a:t>
            </a:r>
            <a:endParaRPr lang="en-US" sz="1600" dirty="0"/>
          </a:p>
          <a:p>
            <a:pPr marL="304800" indent="-304800">
              <a:spcAft>
                <a:spcPts val="800"/>
              </a:spcAft>
              <a:buSzPct val="100000"/>
              <a:buChar char="•"/>
            </a:pPr>
            <a:r>
              <a:rPr lang="en-US" sz="1600" dirty="0">
                <a:solidFill>
                  <a:srgbClr val="141B26"/>
                </a:solidFill>
              </a:rPr>
              <a:t>microscope slide</a:t>
            </a:r>
            <a:endParaRPr lang="en-US" sz="1600" dirty="0"/>
          </a:p>
          <a:p>
            <a:pPr marL="304800" indent="-304800">
              <a:spcAft>
                <a:spcPts val="800"/>
              </a:spcAft>
              <a:buSzPct val="100000"/>
              <a:buChar char="•"/>
            </a:pPr>
            <a:r>
              <a:rPr lang="en-US" sz="1600" dirty="0">
                <a:solidFill>
                  <a:srgbClr val="141B26"/>
                </a:solidFill>
              </a:rPr>
              <a:t>microscope</a:t>
            </a:r>
            <a:endParaRPr lang="en-US" sz="1600" dirty="0"/>
          </a:p>
          <a:p>
            <a:pPr marL="304800" indent="-304800">
              <a:spcAft>
                <a:spcPts val="800"/>
              </a:spcAft>
              <a:buSzPct val="100000"/>
              <a:buChar char="•"/>
            </a:pPr>
            <a:r>
              <a:rPr lang="en-US" sz="1600" dirty="0">
                <a:solidFill>
                  <a:srgbClr val="141B26"/>
                </a:solidFill>
              </a:rPr>
              <a:t>worksheet</a:t>
            </a:r>
            <a:endParaRPr lang="en-US" sz="1600" dirty="0"/>
          </a:p>
        </p:txBody>
      </p:sp>
      <p:sp>
        <p:nvSpPr>
          <p:cNvPr id="8" name="Text 6"/>
          <p:cNvSpPr txBox="1"/>
          <p:nvPr/>
        </p:nvSpPr>
        <p:spPr>
          <a:xfrm>
            <a:off x="4937760" y="1828800"/>
            <a:ext cx="6675120" cy="365760"/>
          </a:xfrm>
          <a:prstGeom prst="rect">
            <a:avLst/>
          </a:prstGeom>
          <a:noFill/>
          <a:ln/>
        </p:spPr>
        <p:txBody>
          <a:bodyPr wrap="square" lIns="0" tIns="0" rIns="0" bIns="0" rtlCol="0" anchor="ctr"/>
          <a:lstStyle/>
          <a:p>
            <a:pPr indent="0" marL="0">
              <a:buNone/>
            </a:pPr>
            <a:r>
              <a:rPr lang="en-US" sz="1800" b="1" dirty="0">
                <a:solidFill>
                  <a:srgbClr val="0F2A5F"/>
                </a:solidFill>
              </a:rPr>
              <a:t>Method</a:t>
            </a:r>
            <a:endParaRPr lang="en-US" sz="1800" dirty="0"/>
          </a:p>
        </p:txBody>
      </p:sp>
      <p:sp>
        <p:nvSpPr>
          <p:cNvPr id="9" name="Text 7"/>
          <p:cNvSpPr txBox="1"/>
          <p:nvPr/>
        </p:nvSpPr>
        <p:spPr>
          <a:xfrm>
            <a:off x="4937760" y="2240280"/>
            <a:ext cx="6675120" cy="32004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141B26"/>
                </a:solidFill>
              </a:rPr>
              <a:t>Paint a thin layer of clear nail varnish on the lower surface of the leaf, about 1 cm square.</a:t>
            </a:r>
            <a:endParaRPr lang="en-US" sz="1500" dirty="0"/>
          </a:p>
          <a:p>
            <a:pPr marL="342900" indent="-342900">
              <a:spcAft>
                <a:spcPts val="600"/>
              </a:spcAft>
              <a:buSzPct val="100000"/>
              <a:buFont typeface="+mj-lt"/>
              <a:buAutoNum type="arabicPeriod" startAt="1"/>
            </a:pPr>
            <a:r>
              <a:rPr lang="en-US" sz="1500" dirty="0">
                <a:solidFill>
                  <a:srgbClr val="141B26"/>
                </a:solidFill>
              </a:rPr>
              <a:t>Leave it to dry for about 5 minutes. Do the Core questions while you wait.</a:t>
            </a:r>
            <a:endParaRPr lang="en-US" sz="1500" dirty="0"/>
          </a:p>
          <a:p>
            <a:pPr marL="342900" indent="-342900">
              <a:spcAft>
                <a:spcPts val="600"/>
              </a:spcAft>
              <a:buSzPct val="100000"/>
              <a:buFont typeface="+mj-lt"/>
              <a:buAutoNum type="arabicPeriod" startAt="1"/>
            </a:pPr>
            <a:r>
              <a:rPr lang="en-US" sz="1500" dirty="0">
                <a:solidFill>
                  <a:srgbClr val="141B26"/>
                </a:solidFill>
              </a:rPr>
              <a:t>Press a piece of clear sticky tape over the dry varnish, then peel the tape off slowly. The varnish layer comes with it.</a:t>
            </a:r>
            <a:endParaRPr lang="en-US" sz="1500" dirty="0"/>
          </a:p>
          <a:p>
            <a:pPr marL="342900" indent="-342900">
              <a:spcAft>
                <a:spcPts val="600"/>
              </a:spcAft>
              <a:buSzPct val="100000"/>
              <a:buFont typeface="+mj-lt"/>
              <a:buAutoNum type="arabicPeriod" startAt="1"/>
            </a:pPr>
            <a:r>
              <a:rPr lang="en-US" sz="1500" dirty="0">
                <a:solidFill>
                  <a:srgbClr val="141B26"/>
                </a:solidFill>
              </a:rPr>
              <a:t>Stick the tape, varnish side down, on a microscope slide.</a:t>
            </a:r>
            <a:endParaRPr lang="en-US" sz="1500" dirty="0"/>
          </a:p>
          <a:p>
            <a:pPr marL="342900" indent="-342900">
              <a:spcAft>
                <a:spcPts val="600"/>
              </a:spcAft>
              <a:buSzPct val="100000"/>
              <a:buFont typeface="+mj-lt"/>
              <a:buAutoNum type="arabicPeriod" startAt="1"/>
            </a:pPr>
            <a:r>
              <a:rPr lang="en-US" sz="1500" dirty="0">
                <a:solidFill>
                  <a:srgbClr val="141B26"/>
                </a:solidFill>
              </a:rPr>
              <a:t>Look at it on low power, then medium power. Find a stoma with its two guard cells.</a:t>
            </a:r>
            <a:endParaRPr lang="en-US" sz="1500" dirty="0"/>
          </a:p>
          <a:p>
            <a:pPr marL="342900" indent="-342900">
              <a:spcAft>
                <a:spcPts val="600"/>
              </a:spcAft>
              <a:buSzPct val="100000"/>
              <a:buFont typeface="+mj-lt"/>
              <a:buAutoNum type="arabicPeriod" startAt="1"/>
            </a:pPr>
            <a:r>
              <a:rPr lang="en-US" sz="1500" dirty="0">
                <a:solidFill>
                  <a:srgbClr val="141B26"/>
                </a:solidFill>
              </a:rPr>
              <a:t>Draw one stoma and its guard cells. Count the stomata you can see in the field of view, three times, and record the counts.</a:t>
            </a:r>
            <a:endParaRPr lang="en-US" sz="1500" dirty="0"/>
          </a:p>
        </p:txBody>
      </p:sp>
      <p:sp>
        <p:nvSpPr>
          <p:cNvPr id="10" name="Shape 8"/>
          <p:cNvSpPr/>
          <p:nvPr/>
        </p:nvSpPr>
        <p:spPr>
          <a:xfrm>
            <a:off x="548640" y="5532120"/>
            <a:ext cx="10881360" cy="502920"/>
          </a:xfrm>
          <a:prstGeom prst="rect">
            <a:avLst/>
          </a:prstGeom>
          <a:solidFill>
            <a:srgbClr val="F2CE3E"/>
          </a:solidFill>
          <a:ln w="12700">
            <a:solidFill>
              <a:srgbClr val="F2CE3E"/>
            </a:solidFill>
            <a:prstDash val="solid"/>
          </a:ln>
        </p:spPr>
      </p:sp>
      <p:sp>
        <p:nvSpPr>
          <p:cNvPr id="11" name="Text 9"/>
          <p:cNvSpPr txBox="1"/>
          <p:nvPr/>
        </p:nvSpPr>
        <p:spPr>
          <a:xfrm>
            <a:off x="685800" y="5532120"/>
            <a:ext cx="10607040" cy="502920"/>
          </a:xfrm>
          <a:prstGeom prst="rect">
            <a:avLst/>
          </a:prstGeom>
          <a:noFill/>
          <a:ln/>
        </p:spPr>
        <p:txBody>
          <a:bodyPr wrap="square" lIns="0" tIns="0" rIns="0" bIns="0" rtlCol="0" anchor="ctr"/>
          <a:lstStyle/>
          <a:p>
            <a:pPr indent="0" marL="0">
              <a:buNone/>
            </a:pPr>
            <a:r>
              <a:rPr lang="en-US" sz="1500" b="1" dirty="0">
                <a:solidFill>
                  <a:srgbClr val="3A2E00"/>
                </a:solidFill>
              </a:rPr>
              <a:t>Safety  </a:t>
            </a:r>
            <a:pPr indent="0" marL="0">
              <a:buNone/>
            </a:pPr>
            <a:r>
              <a:rPr lang="en-US" sz="1500" dirty="0">
                <a:solidFill>
                  <a:srgbClr val="3A2E00"/>
                </a:solidFill>
              </a:rPr>
              <a:t>Varnish lids on. Away from flames. Wash hands at the end.</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16</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914400"/>
          </a:xfrm>
          <a:prstGeom prst="rect">
            <a:avLst/>
          </a:prstGeom>
          <a:noFill/>
          <a:ln/>
        </p:spPr>
        <p:txBody>
          <a:bodyPr wrap="square" lIns="0" tIns="0" rIns="0" bIns="0" rtlCol="0" anchor="t"/>
          <a:lstStyle/>
          <a:p>
            <a:pPr indent="0" marL="0">
              <a:buNone/>
            </a:pPr>
            <a:r>
              <a:rPr lang="en-US" sz="2000" dirty="0">
                <a:solidFill>
                  <a:srgbClr val="141B26"/>
                </a:solidFill>
              </a:rPr>
              <a:t>While the varnish dries: Core 1 to 3 on the worksheet.</a:t>
            </a:r>
            <a:endParaRPr lang="en-US" sz="2000" dirty="0"/>
          </a:p>
        </p:txBody>
      </p:sp>
      <p:sp>
        <p:nvSpPr>
          <p:cNvPr id="10" name="Shape 8"/>
          <p:cNvSpPr/>
          <p:nvPr/>
        </p:nvSpPr>
        <p:spPr>
          <a:xfrm>
            <a:off x="548640" y="2331720"/>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86000"/>
            <a:ext cx="9418320" cy="914400"/>
          </a:xfrm>
          <a:prstGeom prst="rect">
            <a:avLst/>
          </a:prstGeom>
          <a:noFill/>
          <a:ln/>
        </p:spPr>
        <p:txBody>
          <a:bodyPr wrap="square" lIns="0" tIns="0" rIns="0" bIns="0" rtlCol="0" anchor="t"/>
          <a:lstStyle/>
          <a:p>
            <a:pPr indent="0" marL="0">
              <a:buNone/>
            </a:pPr>
            <a:r>
              <a:rPr lang="en-US" sz="2000" dirty="0">
                <a:solidFill>
                  <a:srgbClr val="141B26"/>
                </a:solidFill>
              </a:rPr>
              <a:t>View your peel: draw one stoma with its guard cells and record three counts (Core 4).</a:t>
            </a:r>
            <a:endParaRPr lang="en-US" sz="2000" dirty="0"/>
          </a:p>
        </p:txBody>
      </p:sp>
      <p:sp>
        <p:nvSpPr>
          <p:cNvPr id="13" name="Shape 11"/>
          <p:cNvSpPr/>
          <p:nvPr/>
        </p:nvSpPr>
        <p:spPr>
          <a:xfrm>
            <a:off x="548640" y="3246120"/>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200400"/>
            <a:ext cx="9418320" cy="914400"/>
          </a:xfrm>
          <a:prstGeom prst="rect">
            <a:avLst/>
          </a:prstGeom>
          <a:noFill/>
          <a:ln/>
        </p:spPr>
        <p:txBody>
          <a:bodyPr wrap="square" lIns="0" tIns="0" rIns="0" bIns="0" rtlCol="0" anchor="t"/>
          <a:lstStyle/>
          <a:p>
            <a:pPr indent="0" marL="0">
              <a:buNone/>
            </a:pPr>
            <a:r>
              <a:rPr lang="en-US" sz="2000" dirty="0">
                <a:solidFill>
                  <a:srgbClr val="141B26"/>
                </a:solidFill>
              </a:rPr>
              <a:t>Stretch: why stomata open and close; the hot-day passage; the windy day.</a:t>
            </a:r>
            <a:endParaRPr lang="en-US" sz="2000" dirty="0"/>
          </a:p>
        </p:txBody>
      </p:sp>
      <p:sp>
        <p:nvSpPr>
          <p:cNvPr id="16" name="Shape 14"/>
          <p:cNvSpPr/>
          <p:nvPr/>
        </p:nvSpPr>
        <p:spPr>
          <a:xfrm>
            <a:off x="548640" y="4160520"/>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114800"/>
            <a:ext cx="9418320" cy="914400"/>
          </a:xfrm>
          <a:prstGeom prst="rect">
            <a:avLst/>
          </a:prstGeom>
          <a:noFill/>
          <a:ln/>
        </p:spPr>
        <p:txBody>
          <a:bodyPr wrap="square" lIns="0" tIns="0" rIns="0" bIns="0" rtlCol="0" anchor="t"/>
          <a:lstStyle/>
          <a:p>
            <a:pPr indent="0" marL="0">
              <a:buNone/>
            </a:pPr>
            <a:r>
              <a:rPr lang="en-US" sz="2000" dirty="0">
                <a:solidFill>
                  <a:srgbClr val="141B26"/>
                </a:solidFill>
              </a:rPr>
              <a:t>Challenge: why stomata are mostly underneath; estimate the stomata on a whole leaf.</a:t>
            </a:r>
            <a:endParaRPr lang="en-US" sz="2000" dirty="0"/>
          </a:p>
        </p:txBody>
      </p:sp>
      <p:sp>
        <p:nvSpPr>
          <p:cNvPr id="19" name="Text 17"/>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500" i="1" dirty="0">
                <a:solidFill>
                  <a:srgbClr val="5B6574"/>
                </a:solidFill>
              </a:rPr>
              <a:t>Clear up: slides in the tray, varnish lids on, microscope on low power, hands washed.</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Back to the hot room</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lstStyle/>
          <a:p>
            <a:pPr indent="0" marL="0">
              <a:buNone/>
            </a:pPr>
            <a:r>
              <a:rPr lang="en-US" sz="2600" b="1" dirty="0">
                <a:solidFill>
                  <a:srgbClr val="0F2A5F"/>
                </a:solidFill>
              </a:rPr>
              <a:t>The plant in the hot room wilted. Use particles, evaporation, diffusion and stomata to explain why.</a:t>
            </a:r>
            <a:endParaRPr lang="en-US" sz="26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lstStyle/>
          <a:p>
            <a:pPr indent="0" marL="0">
              <a:spcAft>
                <a:spcPts val="600"/>
              </a:spcAft>
              <a:buNone/>
            </a:pPr>
            <a:r>
              <a:rPr lang="en-US" sz="1800" b="1" dirty="0">
                <a:solidFill>
                  <a:srgbClr val="7B3A8E"/>
                </a:solidFill>
              </a:rPr>
              <a:t>Sentence frames</a:t>
            </a:r>
            <a:endParaRPr lang="en-US" sz="1800" dirty="0"/>
          </a:p>
          <a:p>
            <a:pPr indent="0" marL="0">
              <a:spcAft>
                <a:spcPts val="600"/>
              </a:spcAft>
              <a:buNone/>
            </a:pPr>
            <a:r>
              <a:rPr lang="en-US" sz="1800" dirty="0">
                <a:solidFill>
                  <a:srgbClr val="141B26"/>
                </a:solidFill>
              </a:rPr>
              <a:t>When the temperature is higher, particles move ___.</a:t>
            </a:r>
            <a:endParaRPr lang="en-US" sz="1800" dirty="0"/>
          </a:p>
          <a:p>
            <a:pPr indent="0" marL="0">
              <a:spcAft>
                <a:spcPts val="600"/>
              </a:spcAft>
              <a:buNone/>
            </a:pPr>
            <a:r>
              <a:rPr lang="en-US" sz="1800" dirty="0">
                <a:solidFill>
                  <a:srgbClr val="141B26"/>
                </a:solidFill>
              </a:rPr>
              <a:t>So water evaporates inside the leaf ___ and water vapour diffuses out through the stomata ___.</a:t>
            </a:r>
            <a:endParaRPr lang="en-US" sz="1800" dirty="0"/>
          </a:p>
          <a:p>
            <a:pPr indent="0" marL="0">
              <a:spcAft>
                <a:spcPts val="600"/>
              </a:spcAft>
              <a:buNone/>
            </a:pPr>
            <a:r>
              <a:rPr lang="en-US" sz="1800" dirty="0">
                <a:solidFill>
                  <a:srgbClr val="141B26"/>
                </a:solidFill>
              </a:rPr>
              <a:t>The roots cannot replace the water fast enough, so the cells ___ and the plant ___.</a:t>
            </a:r>
            <a:endParaRPr lang="en-US" sz="18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On your worksheet exit ticket. Work alone. Hand it in as you leave.</a:t>
            </a:r>
            <a:endParaRPr lang="en-US" sz="1600" dirty="0"/>
          </a:p>
        </p:txBody>
      </p:sp>
      <p:sp>
        <p:nvSpPr>
          <p:cNvPr id="6" name="Text 4"/>
          <p:cNvSpPr txBox="1"/>
          <p:nvPr/>
        </p:nvSpPr>
        <p:spPr>
          <a:xfrm>
            <a:off x="548640" y="182880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1.  </a:t>
            </a:r>
            <a:pPr indent="0" marL="0">
              <a:buNone/>
            </a:pPr>
            <a:r>
              <a:rPr lang="en-US" sz="2200" dirty="0">
                <a:solidFill>
                  <a:srgbClr val="141B26"/>
                </a:solidFill>
              </a:rPr>
              <a:t>What is the job of the guard cells?</a:t>
            </a:r>
            <a:endParaRPr lang="en-US" sz="2200" dirty="0"/>
          </a:p>
        </p:txBody>
      </p:sp>
      <p:sp>
        <p:nvSpPr>
          <p:cNvPr id="7" name="Text 5"/>
          <p:cNvSpPr txBox="1"/>
          <p:nvPr/>
        </p:nvSpPr>
        <p:spPr>
          <a:xfrm>
            <a:off x="548640" y="301752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2.  </a:t>
            </a:r>
            <a:pPr indent="0" marL="0">
              <a:buNone/>
            </a:pPr>
            <a:r>
              <a:rPr lang="en-US" sz="2200" dirty="0">
                <a:solidFill>
                  <a:srgbClr val="141B26"/>
                </a:solidFill>
              </a:rPr>
              <a:t>Name two gases that are exchanged between a leaf and the air through its stomata.</a:t>
            </a:r>
            <a:endParaRPr lang="en-US" sz="2200" dirty="0"/>
          </a:p>
        </p:txBody>
      </p:sp>
      <p:sp>
        <p:nvSpPr>
          <p:cNvPr id="8" name="Text 6"/>
          <p:cNvSpPr txBox="1"/>
          <p:nvPr/>
        </p:nvSpPr>
        <p:spPr>
          <a:xfrm>
            <a:off x="548640" y="420624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3.  </a:t>
            </a:r>
            <a:pPr indent="0" marL="0">
              <a:buNone/>
            </a:pPr>
            <a:r>
              <a:rPr lang="en-US" sz="2200" dirty="0">
                <a:solidFill>
                  <a:srgbClr val="141B26"/>
                </a:solidFill>
              </a:rPr>
              <a:t>Explain why a leaf loses more water on a hot day than on a cool day.</a:t>
            </a:r>
            <a:endParaRPr lang="en-US" sz="22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1148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41B26"/>
                </a:solidFill>
              </a:rPr>
              <a:t>Stomata are tiny holes in the leaf, opened and closed by guard cells: open in the light, shut at night.</a:t>
            </a:r>
            <a:endParaRPr lang="en-US" sz="2000" dirty="0"/>
          </a:p>
          <a:p>
            <a:pPr marL="342900" indent="-342900">
              <a:spcAft>
                <a:spcPts val="1200"/>
              </a:spcAft>
              <a:buSzPct val="100000"/>
              <a:buChar char="✓"/>
            </a:pPr>
            <a:r>
              <a:rPr lang="en-US" sz="2000" dirty="0">
                <a:solidFill>
                  <a:srgbClr val="141B26"/>
                </a:solidFill>
              </a:rPr>
              <a:t>Gases move in and out by diffusion, from high to low concentration; faster when it is warmer and when the difference is bigger.</a:t>
            </a:r>
            <a:endParaRPr lang="en-US" sz="2000" dirty="0"/>
          </a:p>
          <a:p>
            <a:pPr marL="342900" indent="-342900">
              <a:spcAft>
                <a:spcPts val="1200"/>
              </a:spcAft>
              <a:buSzPct val="100000"/>
              <a:buChar char="✓"/>
            </a:pPr>
            <a:r>
              <a:rPr lang="en-US" sz="2000" dirty="0">
                <a:solidFill>
                  <a:srgbClr val="141B26"/>
                </a:solidFill>
              </a:rPr>
              <a:t>Photosynthesis uses carbon dioxide inside the leaf, so carbon dioxide diffuses in; oxygen diffuses out.</a:t>
            </a:r>
            <a:endParaRPr lang="en-US" sz="2000" dirty="0"/>
          </a:p>
          <a:p>
            <a:pPr marL="342900" indent="-342900">
              <a:spcAft>
                <a:spcPts val="1200"/>
              </a:spcAft>
              <a:buSzPct val="100000"/>
              <a:buChar char="✓"/>
            </a:pPr>
            <a:r>
              <a:rPr lang="en-US" sz="2000" dirty="0">
                <a:solidFill>
                  <a:srgbClr val="141B26"/>
                </a:solidFill>
              </a:rPr>
              <a:t>Water vapour also diffuses out through open stomata; on a hot, dry or windy day the plant can wilt.</a:t>
            </a:r>
            <a:endParaRPr lang="en-US" sz="20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500" b="1" dirty="0">
                <a:solidFill>
                  <a:srgbClr val="7B3A8E"/>
                </a:solidFill>
              </a:rPr>
              <a:t>Next lesson  </a:t>
            </a:r>
            <a:pPr indent="0" marL="0">
              <a:buNone/>
            </a:pPr>
            <a:r>
              <a:rPr lang="en-US" sz="1500" dirty="0">
                <a:solidFill>
                  <a:srgbClr val="141B26"/>
                </a:solidFill>
              </a:rPr>
              <a:t>What plants make from glucose: starch, lipids and proteins, and how we test for them.</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9B Lesson 3: Gas exchange in leaves</dc:title>
  <dc:subject>PptxGenJS Presentation</dc:subject>
  <dc:creator>Year 9 Science</dc:creator>
  <cp:lastModifiedBy>Year 9 Science</cp:lastModifiedBy>
  <cp:revision>1</cp:revision>
  <dcterms:created xsi:type="dcterms:W3CDTF">2026-10-28T09:45:14Z</dcterms:created>
  <dcterms:modified xsi:type="dcterms:W3CDTF">2026-10-28T09:45:14Z</dcterms:modified>
</cp:coreProperties>
</file>