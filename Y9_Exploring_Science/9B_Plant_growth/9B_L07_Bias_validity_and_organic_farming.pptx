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lesson of 9B. Two things today: the working scientifically skills of spotting bias and judging validity, and the organic versus intensive farming debate, which is where those skills get used. The lesson ends with a review quiz of the whole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farmers can spray glyphosate on the whole field, so milkweed is killed; fewer places to lay eggs, so fewer monarchs; other reasons: deforestation in Mexico where they spend the winter, new weather patterns, disease. The point: more than one cause is possible, which matters for validity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This lesson's key words are mostly about how scientists think, not about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C picks 1997, 1999, 2001 and 2003, leaving out the years that went up, so it shows a steady decrease that the full data do not support. Someone who wants to blame HT soybean might draw it; so might someone selling a different herbicide. That is intentional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HT soybean table in the book: advantages (easier weed control, fewer sprayings, glyphosate is not persistent) and disadvantages (expensive, glyphosate-resistant weeds, HT soybean growing as a weed). The cartoon farmer who only quotes the advantages is biased. Challenge 1 asks for a balanced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two thermometers if you have them: one reads high every time; averaging does not help. Contrast with a random error, such as pressing the stopwatch late once: repeating and taking a mean reduces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1 uses the bean plant data from Lesson 5 with 10 drops added: the valid conclusion is the one that describes the whole pattern (growth rises up to a point, then falls), not 'more fertiliser gives more growth'. Stretch 1 is the German insect study: traps a metre above the ground miss insects that live higher or lower, and 24 years of one method may not represent all of Germany.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 table (Core 3 sorts statements the same way). Organic farmers rotate crops so one crop, such as clover, adds nitrates to the soil. Some people buy organic food because they think it is healthier; the book says there is little evidence for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3 asks which type of farm attracts more insect-eating birds: the organic one, because hedges and trees give nesting places and there are more insects to eat. Link to Lesson 6: a general insecticide would kill the hoverfly larvae as well as the aphids.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Core 1 early: the common wrong choice is 'seedling height increases as the amount of fertiliser increases', which ignores the fall at 8 and 10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check whether all the years are on the graph; who wrote it and what they gain; whether the disadvantages (habitat loss, species in the meadow, eutrophication risk) are included; whether the profit data measure what they claim. This is the ecological audit from Lesson 5 seen from the other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carbon dioxide + water makes glucose + oxygen; guard cells; nitrates; blue-black; insecticide kills insects, herbicide kills weeds (both pesticides); fertiliser washes in, algae grow, decomposers use oxygen, fish die; respiration and combustion (or decomposition); it uses all the results and only the results. Students note any question they got wrong as a revision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shift away from the true meaning or value, deliberate or accidental; e.g. a thermometer with a wrongly printed scale, a balance not set to zero; e.g. organic uses natural fertilisers and few pesticides, intensive uses artificial fertilisers and many pesticides. Collect the strips and the quiz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pages 25 and 26, and the review quiz gaps. Page 26 asks students to write one new fact for each topic from the start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rtlCol="0"/>
          <a:lstStyle>
            <a:lvl1pPr indent="0" marL="0">
              <a:buNone/>
              <a:defRPr lang="en-US" sz="2000" dirty="0">
                <a:solidFill>
                  <a:srgbClr val="FFFFFF"/>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9B Plant growth  |  Lesson 7: Bias, validity and organic farming</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9B Plant growth  |  Lesson 7: Bias, validity and organic farming</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9B Plant growth  |  Lesson 7: Bias, validity and organic farming</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3A2E00"/>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9B Plant growth  |  Lesson 7: Bias, validity and organic farming</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300" b="1" spc="200" kern="0" dirty="0">
                <a:solidFill>
                  <a:srgbClr val="F2CE3E"/>
                </a:solidFill>
              </a:rPr>
              <a:t>YEAR 9 SCIENCE  ·  9B PLANT GROWTH  ·  LESSON 7 OF 7</a:t>
            </a:r>
            <a:endParaRPr lang="en-US" sz="13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Bias, validity and organic farming</a:t>
            </a: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lIns="0" tIns="0" rIns="0" bIns="0" rtlCol="0" anchor="t"/>
          <a:lstStyle/>
          <a:p>
            <a:pPr indent="0" marL="0">
              <a:buNone/>
            </a:pPr>
            <a:r>
              <a:rPr lang="en-US" sz="2000" dirty="0">
                <a:solidFill>
                  <a:srgbClr val="FFFFFF"/>
                </a:solidFill>
              </a:rPr>
              <a:t>Can you trust this graph? Is organic farming really better?</a:t>
            </a:r>
            <a:endParaRPr lang="en-US" sz="20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200" dirty="0">
                <a:solidFill>
                  <a:srgbClr val="C9D3E6"/>
                </a:solidFill>
              </a:rPr>
              <a:t>Exploring Science International 9  ·  Student Book pages 34 to 36  ·  Workbook pages 25 to 26</a:t>
            </a:r>
            <a:endParaRPr lang="en-US" sz="1200" dirty="0"/>
          </a:p>
        </p:txBody>
      </p:sp>
      <p:pic>
        <p:nvPicPr>
          <p:cNvPr id="6" name="Image 0" descr="/home/user/lessons/Y9_Exploring_Science/images/monarch_milkweed.jpg">    </p:cNvPr>
          <p:cNvPicPr>
            <a:picLocks noChangeAspect="1"/>
          </p:cNvPicPr>
          <p:nvPr/>
        </p:nvPicPr>
        <p:blipFill>
          <a:blip r:embed="rId1"/>
          <a:stretch>
            <a:fillRect/>
          </a:stretch>
        </p:blipFill>
        <p:spPr>
          <a:xfrm>
            <a:off x="8524240" y="4572000"/>
            <a:ext cx="32512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monarchs and milkweed</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6035040" cy="4480560"/>
          </a:xfrm>
          <a:prstGeom prst="rect">
            <a:avLst/>
          </a:prstGeom>
          <a:noFill/>
          <a:ln/>
        </p:spPr>
        <p:txBody>
          <a:bodyPr wrap="square" lIns="0" tIns="0" rIns="0" bIns="0" rtlCol="0" anchor="t">
            <a:normAutofit/>
          </a:bodyPr>
          <a:lstStyle/>
          <a:p>
            <a:pPr indent="0" marL="0">
              <a:spcAft>
                <a:spcPts val="1000"/>
              </a:spcAft>
              <a:buNone/>
            </a:pPr>
            <a:r>
              <a:rPr lang="en-US" sz="2000" dirty="0">
                <a:solidFill>
                  <a:srgbClr val="141B26"/>
                </a:solidFill>
              </a:rPr>
              <a:t>Monarch butterflies lay their eggs only on milkweed plants. HT soybean is a variety that is not killed by the herbicide glyphosate, which kills milkweed.</a:t>
            </a:r>
            <a:endParaRPr lang="en-US" sz="2000" dirty="0"/>
          </a:p>
          <a:p>
            <a:pPr indent="0" marL="0">
              <a:spcAft>
                <a:spcPts val="1000"/>
              </a:spcAft>
              <a:buNone/>
            </a:pPr>
            <a:r>
              <a:rPr lang="en-US" sz="2000" dirty="0">
                <a:solidFill>
                  <a:srgbClr val="141B26"/>
                </a:solidFill>
              </a:rPr>
              <a:t>1. Predict what happens to milkweed where HT soybean is grown.</a:t>
            </a:r>
            <a:endParaRPr lang="en-US" sz="2000" dirty="0"/>
          </a:p>
          <a:p>
            <a:pPr indent="0" marL="0">
              <a:spcAft>
                <a:spcPts val="1000"/>
              </a:spcAft>
              <a:buNone/>
            </a:pPr>
            <a:r>
              <a:rPr lang="en-US" sz="2000" dirty="0">
                <a:solidFill>
                  <a:srgbClr val="141B26"/>
                </a:solidFill>
              </a:rPr>
              <a:t>2. Predict the effect on monarch butterflies.</a:t>
            </a:r>
            <a:endParaRPr lang="en-US" sz="2000" dirty="0"/>
          </a:p>
          <a:p>
            <a:pPr indent="0" marL="0">
              <a:spcAft>
                <a:spcPts val="1000"/>
              </a:spcAft>
              <a:buNone/>
            </a:pPr>
            <a:r>
              <a:rPr lang="en-US" sz="2000" dirty="0">
                <a:solidFill>
                  <a:srgbClr val="141B26"/>
                </a:solidFill>
              </a:rPr>
              <a:t>3. Suggest one other reason why monarch numbers could fall.</a:t>
            </a:r>
            <a:endParaRPr lang="en-US" sz="2000" dirty="0"/>
          </a:p>
        </p:txBody>
      </p:sp>
      <p:pic>
        <p:nvPicPr>
          <p:cNvPr id="8" name="Image 0" descr="/home/user/lessons/Y9_Exploring_Science/images/monarch_milkweed.jpg">    </p:cNvPr>
          <p:cNvPicPr>
            <a:picLocks noChangeAspect="1"/>
          </p:cNvPicPr>
          <p:nvPr/>
        </p:nvPicPr>
        <p:blipFill>
          <a:blip r:embed="rId1"/>
          <a:stretch>
            <a:fillRect/>
          </a:stretch>
        </p:blipFill>
        <p:spPr>
          <a:xfrm>
            <a:off x="6858000" y="2000250"/>
            <a:ext cx="4754880" cy="2674620"/>
          </a:xfrm>
          <a:prstGeom prst="rect">
            <a:avLst/>
          </a:prstGeom>
        </p:spPr>
      </p:pic>
      <p:sp>
        <p:nvSpPr>
          <p:cNvPr id="9" name="Text 6"/>
          <p:cNvSpPr txBox="1"/>
          <p:nvPr/>
        </p:nvSpPr>
        <p:spPr>
          <a:xfrm>
            <a:off x="6858000" y="4720590"/>
            <a:ext cx="4754880" cy="502920"/>
          </a:xfrm>
          <a:prstGeom prst="rect">
            <a:avLst/>
          </a:prstGeom>
          <a:noFill/>
          <a:ln/>
        </p:spPr>
        <p:txBody>
          <a:bodyPr wrap="square" lIns="0" tIns="0" rIns="0" bIns="0" rtlCol="0" anchor="t"/>
          <a:lstStyle/>
          <a:p>
            <a:pPr algn="l" indent="0" marL="0">
              <a:buNone/>
            </a:pPr>
            <a:r>
              <a:rPr lang="en-US" sz="1100" dirty="0">
                <a:solidFill>
                  <a:srgbClr val="141B26"/>
                </a:solidFill>
              </a:rPr>
              <a:t>A monarch butterfly on milkweed</a:t>
            </a:r>
            <a:pPr algn="l" indent="0" marL="0">
              <a:buNone/>
            </a:pPr>
            <a:endParaRPr lang="en-US" sz="1100" dirty="0"/>
          </a:p>
          <a:p>
            <a:pPr algn="l" indent="0" marL="0">
              <a:buNone/>
            </a:pPr>
            <a:r>
              <a:rPr lang="en-US" sz="800" dirty="0">
                <a:solidFill>
                  <a:srgbClr val="5B6574"/>
                </a:solidFill>
              </a:rPr>
              <a:t>Image: sillarsclass, CC BY 2.0, via Wikimedia Commons</a:t>
            </a:r>
            <a:endParaRPr lang="en-US" sz="11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325880"/>
            <a:ext cx="5669280" cy="457200"/>
          </a:xfrm>
          <a:prstGeom prst="rect">
            <a:avLst/>
          </a:prstGeom>
          <a:noFill/>
          <a:ln/>
        </p:spPr>
        <p:txBody>
          <a:bodyPr wrap="square" lIns="0" tIns="0" rIns="0" bIns="0" rtlCol="0" anchor="ctr"/>
          <a:lstStyle/>
          <a:p>
            <a:pPr indent="0" marL="0">
              <a:buNone/>
            </a:pPr>
            <a:r>
              <a:rPr lang="en-US" sz="2000" b="1" dirty="0">
                <a:solidFill>
                  <a:srgbClr val="7B3A8E"/>
                </a:solidFill>
              </a:rPr>
              <a:t>Today I can ...</a:t>
            </a:r>
            <a:endParaRPr lang="en-US" sz="2000" dirty="0"/>
          </a:p>
        </p:txBody>
      </p:sp>
      <p:sp>
        <p:nvSpPr>
          <p:cNvPr id="6" name="Shape 4"/>
          <p:cNvSpPr/>
          <p:nvPr/>
        </p:nvSpPr>
        <p:spPr>
          <a:xfrm>
            <a:off x="594360" y="1947672"/>
            <a:ext cx="292608" cy="292608"/>
          </a:xfrm>
          <a:prstGeom prst="rect">
            <a:avLst/>
          </a:prstGeom>
          <a:solidFill>
            <a:srgbClr val="FFFFFF"/>
          </a:solidFill>
          <a:ln w="19050">
            <a:solidFill>
              <a:srgbClr val="0F2A5F"/>
            </a:solidFill>
            <a:prstDash val="solid"/>
          </a:ln>
        </p:spPr>
      </p:sp>
      <p:sp>
        <p:nvSpPr>
          <p:cNvPr id="7" name="Text 5"/>
          <p:cNvSpPr txBox="1"/>
          <p:nvPr/>
        </p:nvSpPr>
        <p:spPr>
          <a:xfrm>
            <a:off x="1051560" y="187452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identify bias in graphs and arguments, explain where accidental bias comes from, and say whether a conclusion is valid.</a:t>
            </a:r>
            <a:endParaRPr lang="en-US" sz="1600" dirty="0"/>
          </a:p>
        </p:txBody>
      </p:sp>
      <p:sp>
        <p:nvSpPr>
          <p:cNvPr id="8" name="Shape 6"/>
          <p:cNvSpPr/>
          <p:nvPr/>
        </p:nvSpPr>
        <p:spPr>
          <a:xfrm>
            <a:off x="594360" y="2907792"/>
            <a:ext cx="292608" cy="292608"/>
          </a:xfrm>
          <a:prstGeom prst="rect">
            <a:avLst/>
          </a:prstGeom>
          <a:solidFill>
            <a:srgbClr val="FFFFFF"/>
          </a:solidFill>
          <a:ln w="19050">
            <a:solidFill>
              <a:srgbClr val="0F2A5F"/>
            </a:solidFill>
            <a:prstDash val="solid"/>
          </a:ln>
        </p:spPr>
      </p:sp>
      <p:sp>
        <p:nvSpPr>
          <p:cNvPr id="9" name="Text 7"/>
          <p:cNvSpPr txBox="1"/>
          <p:nvPr/>
        </p:nvSpPr>
        <p:spPr>
          <a:xfrm>
            <a:off x="1051560" y="283464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compare organic and intensive farming and explain biological control.</a:t>
            </a:r>
            <a:endParaRPr lang="en-US" sz="1600" dirty="0"/>
          </a:p>
        </p:txBody>
      </p:sp>
      <p:sp>
        <p:nvSpPr>
          <p:cNvPr id="10" name="Text 8"/>
          <p:cNvSpPr txBox="1"/>
          <p:nvPr/>
        </p:nvSpPr>
        <p:spPr>
          <a:xfrm>
            <a:off x="6583680" y="1325880"/>
            <a:ext cx="5029200" cy="457200"/>
          </a:xfrm>
          <a:prstGeom prst="rect">
            <a:avLst/>
          </a:prstGeom>
          <a:noFill/>
          <a:ln/>
        </p:spPr>
        <p:txBody>
          <a:bodyPr wrap="square" lIns="0" tIns="0" rIns="0" bIns="0" rtlCol="0" anchor="ctr"/>
          <a:lstStyle/>
          <a:p>
            <a:pPr indent="0" marL="0">
              <a:buNone/>
            </a:pPr>
            <a:r>
              <a:rPr lang="en-US" sz="2000" b="1" dirty="0">
                <a:solidFill>
                  <a:srgbClr val="7B3A8E"/>
                </a:solidFill>
              </a:rPr>
              <a:t>Key words today</a:t>
            </a:r>
            <a:endParaRPr lang="en-US" sz="2000" dirty="0"/>
          </a:p>
        </p:txBody>
      </p:sp>
      <p:sp>
        <p:nvSpPr>
          <p:cNvPr id="11" name="Text 9"/>
          <p:cNvSpPr txBox="1"/>
          <p:nvPr/>
        </p:nvSpPr>
        <p:spPr>
          <a:xfrm>
            <a:off x="6583680" y="1874520"/>
            <a:ext cx="5029200" cy="4023360"/>
          </a:xfrm>
          <a:prstGeom prst="rect">
            <a:avLst/>
          </a:prstGeom>
          <a:noFill/>
          <a:ln/>
        </p:spPr>
        <p:txBody>
          <a:bodyPr wrap="square" lIns="0" tIns="0" rIns="0" bIns="0" rtlCol="0" anchor="t">
            <a:normAutofit/>
          </a:bodyPr>
          <a:lstStyle/>
          <a:p>
            <a:pPr indent="0" marL="0">
              <a:spcAft>
                <a:spcPts val="500"/>
              </a:spcAft>
              <a:buNone/>
            </a:pPr>
            <a:r>
              <a:rPr lang="en-US" sz="1300" b="1" dirty="0">
                <a:solidFill>
                  <a:srgbClr val="0F2A5F"/>
                </a:solidFill>
              </a:rPr>
              <a:t>bias</a:t>
            </a:r>
            <a:pPr indent="0" marL="0">
              <a:spcAft>
                <a:spcPts val="500"/>
              </a:spcAft>
              <a:buNone/>
            </a:pPr>
            <a:r>
              <a:rPr lang="en-US" sz="1300" dirty="0">
                <a:solidFill>
                  <a:srgbClr val="141B26"/>
                </a:solidFill>
              </a:rPr>
              <a:t>  a shift away from the true meaning or value, on purpose or by mistake</a:t>
            </a:r>
            <a:endParaRPr lang="en-US" sz="1300" dirty="0"/>
          </a:p>
          <a:p>
            <a:pPr indent="0" marL="0">
              <a:spcAft>
                <a:spcPts val="500"/>
              </a:spcAft>
              <a:buNone/>
            </a:pPr>
            <a:r>
              <a:rPr lang="en-US" sz="1300" b="1" dirty="0">
                <a:solidFill>
                  <a:srgbClr val="0F2A5F"/>
                </a:solidFill>
              </a:rPr>
              <a:t>balanced</a:t>
            </a:r>
            <a:pPr indent="0" marL="0">
              <a:spcAft>
                <a:spcPts val="500"/>
              </a:spcAft>
              <a:buNone/>
            </a:pPr>
            <a:r>
              <a:rPr lang="en-US" sz="1300" dirty="0">
                <a:solidFill>
                  <a:srgbClr val="141B26"/>
                </a:solidFill>
              </a:rPr>
              <a:t>  considering the points for and against something equally</a:t>
            </a:r>
            <a:endParaRPr lang="en-US" sz="1300" dirty="0"/>
          </a:p>
          <a:p>
            <a:pPr indent="0" marL="0">
              <a:spcAft>
                <a:spcPts val="500"/>
              </a:spcAft>
              <a:buNone/>
            </a:pPr>
            <a:r>
              <a:rPr lang="en-US" sz="1300" b="1" dirty="0">
                <a:solidFill>
                  <a:srgbClr val="0F2A5F"/>
                </a:solidFill>
              </a:rPr>
              <a:t>systematic error</a:t>
            </a:r>
            <a:pPr indent="0" marL="0">
              <a:spcAft>
                <a:spcPts val="500"/>
              </a:spcAft>
              <a:buNone/>
            </a:pPr>
            <a:r>
              <a:rPr lang="en-US" sz="1300" dirty="0">
                <a:solidFill>
                  <a:srgbClr val="141B26"/>
                </a:solidFill>
              </a:rPr>
              <a:t>  an error that shifts every reading by the same amount, e.g. a wrongly printed scale</a:t>
            </a:r>
            <a:endParaRPr lang="en-US" sz="1300" dirty="0"/>
          </a:p>
          <a:p>
            <a:pPr indent="0" marL="0">
              <a:spcAft>
                <a:spcPts val="500"/>
              </a:spcAft>
              <a:buNone/>
            </a:pPr>
            <a:r>
              <a:rPr lang="en-US" sz="1300" b="1" dirty="0">
                <a:solidFill>
                  <a:srgbClr val="0F2A5F"/>
                </a:solidFill>
              </a:rPr>
              <a:t>random error</a:t>
            </a:r>
            <a:pPr indent="0" marL="0">
              <a:spcAft>
                <a:spcPts val="500"/>
              </a:spcAft>
              <a:buNone/>
            </a:pPr>
            <a:r>
              <a:rPr lang="en-US" sz="1300" dirty="0">
                <a:solidFill>
                  <a:srgbClr val="141B26"/>
                </a:solidFill>
              </a:rPr>
              <a:t>  an error that changes from one reading to the next, e.g. stopping a clock late once</a:t>
            </a:r>
            <a:endParaRPr lang="en-US" sz="1300" dirty="0"/>
          </a:p>
          <a:p>
            <a:pPr indent="0" marL="0">
              <a:spcAft>
                <a:spcPts val="500"/>
              </a:spcAft>
              <a:buNone/>
            </a:pPr>
            <a:r>
              <a:rPr lang="en-US" sz="1300" b="1" dirty="0">
                <a:solidFill>
                  <a:srgbClr val="0F2A5F"/>
                </a:solidFill>
              </a:rPr>
              <a:t>sample</a:t>
            </a:r>
            <a:pPr indent="0" marL="0">
              <a:spcAft>
                <a:spcPts val="500"/>
              </a:spcAft>
              <a:buNone/>
            </a:pPr>
            <a:r>
              <a:rPr lang="en-US" sz="1300" dirty="0">
                <a:solidFill>
                  <a:srgbClr val="141B26"/>
                </a:solidFill>
              </a:rPr>
              <a:t>  a small part of a whole that is measured to estimate the whole</a:t>
            </a:r>
            <a:endParaRPr lang="en-US" sz="1300" dirty="0"/>
          </a:p>
          <a:p>
            <a:pPr indent="0" marL="0">
              <a:spcAft>
                <a:spcPts val="500"/>
              </a:spcAft>
              <a:buNone/>
            </a:pPr>
            <a:r>
              <a:rPr lang="en-US" sz="1300" b="1" dirty="0">
                <a:solidFill>
                  <a:srgbClr val="0F2A5F"/>
                </a:solidFill>
              </a:rPr>
              <a:t>valid</a:t>
            </a:r>
            <a:pPr indent="0" marL="0">
              <a:spcAft>
                <a:spcPts val="500"/>
              </a:spcAft>
              <a:buNone/>
            </a:pPr>
            <a:r>
              <a:rPr lang="en-US" sz="1300" dirty="0">
                <a:solidFill>
                  <a:srgbClr val="141B26"/>
                </a:solidFill>
              </a:rPr>
              <a:t>  does what it is supposed to do; a valid conclusion uses only the results</a:t>
            </a:r>
            <a:endParaRPr lang="en-US" sz="1300" dirty="0"/>
          </a:p>
          <a:p>
            <a:pPr indent="0" marL="0">
              <a:spcAft>
                <a:spcPts val="500"/>
              </a:spcAft>
              <a:buNone/>
            </a:pPr>
            <a:r>
              <a:rPr lang="en-US" sz="1300" b="1" dirty="0">
                <a:solidFill>
                  <a:srgbClr val="0F2A5F"/>
                </a:solidFill>
              </a:rPr>
              <a:t>conclusion</a:t>
            </a:r>
            <a:pPr indent="0" marL="0">
              <a:spcAft>
                <a:spcPts val="500"/>
              </a:spcAft>
              <a:buNone/>
            </a:pPr>
            <a:r>
              <a:rPr lang="en-US" sz="1300" dirty="0">
                <a:solidFill>
                  <a:srgbClr val="141B26"/>
                </a:solidFill>
              </a:rPr>
              <a:t>  what the results of an investigation show</a:t>
            </a:r>
            <a:endParaRPr lang="en-US" sz="1300" dirty="0"/>
          </a:p>
          <a:p>
            <a:pPr indent="0" marL="0">
              <a:spcAft>
                <a:spcPts val="500"/>
              </a:spcAft>
              <a:buNone/>
            </a:pPr>
            <a:r>
              <a:rPr lang="en-US" sz="1300" b="1" dirty="0">
                <a:solidFill>
                  <a:srgbClr val="0F2A5F"/>
                </a:solidFill>
              </a:rPr>
              <a:t>organic farming</a:t>
            </a:r>
            <a:pPr indent="0" marL="0">
              <a:spcAft>
                <a:spcPts val="500"/>
              </a:spcAft>
              <a:buNone/>
            </a:pPr>
            <a:r>
              <a:rPr lang="en-US" sz="1300" dirty="0">
                <a:solidFill>
                  <a:srgbClr val="141B26"/>
                </a:solidFill>
              </a:rPr>
              <a:t>  farming with natural fertilisers, very few pesticides and crop rotation</a:t>
            </a:r>
            <a:endParaRPr lang="en-US" sz="1300" dirty="0"/>
          </a:p>
          <a:p>
            <a:pPr indent="0" marL="0">
              <a:spcAft>
                <a:spcPts val="500"/>
              </a:spcAft>
              <a:buNone/>
            </a:pPr>
            <a:r>
              <a:rPr lang="en-US" sz="1300" b="1" dirty="0">
                <a:solidFill>
                  <a:srgbClr val="0F2A5F"/>
                </a:solidFill>
              </a:rPr>
              <a:t>intensive farming</a:t>
            </a:r>
            <a:pPr indent="0" marL="0">
              <a:spcAft>
                <a:spcPts val="500"/>
              </a:spcAft>
              <a:buNone/>
            </a:pPr>
            <a:r>
              <a:rPr lang="en-US" sz="1300" dirty="0">
                <a:solidFill>
                  <a:srgbClr val="141B26"/>
                </a:solidFill>
              </a:rPr>
              <a:t>  farming with artificial fertilisers, pesticides and large fields to get the biggest yield</a:t>
            </a:r>
            <a:endParaRPr lang="en-US" sz="1300" dirty="0"/>
          </a:p>
          <a:p>
            <a:pPr indent="0" marL="0">
              <a:spcAft>
                <a:spcPts val="500"/>
              </a:spcAft>
              <a:buNone/>
            </a:pPr>
            <a:r>
              <a:rPr lang="en-US" sz="1300" b="1" dirty="0">
                <a:solidFill>
                  <a:srgbClr val="0F2A5F"/>
                </a:solidFill>
              </a:rPr>
              <a:t>biological control</a:t>
            </a:r>
            <a:pPr indent="0" marL="0">
              <a:spcAft>
                <a:spcPts val="500"/>
              </a:spcAft>
              <a:buNone/>
            </a:pPr>
            <a:r>
              <a:rPr lang="en-US" sz="1300" dirty="0">
                <a:solidFill>
                  <a:srgbClr val="141B26"/>
                </a:solidFill>
              </a:rPr>
              <a:t>  using living organisms to reduce the number of pests</a:t>
            </a:r>
            <a:endParaRPr lang="en-US" sz="1300" dirty="0"/>
          </a:p>
          <a:p>
            <a:pPr indent="0" marL="0">
              <a:spcAft>
                <a:spcPts val="500"/>
              </a:spcAft>
              <a:buNone/>
            </a:pPr>
            <a:r>
              <a:rPr lang="en-US" sz="1300" b="1" dirty="0">
                <a:solidFill>
                  <a:srgbClr val="0F2A5F"/>
                </a:solidFill>
              </a:rPr>
              <a:t>crop rotation</a:t>
            </a:r>
            <a:pPr indent="0" marL="0">
              <a:spcAft>
                <a:spcPts val="500"/>
              </a:spcAft>
              <a:buNone/>
            </a:pPr>
            <a:r>
              <a:rPr lang="en-US" sz="1300" dirty="0">
                <a:solidFill>
                  <a:srgbClr val="141B26"/>
                </a:solidFill>
              </a:rPr>
              <a:t>  growing different crops in a field in different years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Two graphs, one set of data</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4297680" cy="2377440"/>
          </a:xfrm>
          <a:prstGeom prst="rect">
            <a:avLst/>
          </a:prstGeom>
          <a:noFill/>
          <a:ln/>
        </p:spPr>
        <p:txBody>
          <a:bodyPr wrap="square" lIns="0" tIns="0" rIns="0" bIns="0" rtlCol="0" anchor="t">
            <a:normAutofit/>
          </a:bodyPr>
          <a:lstStyle/>
          <a:p>
            <a:pPr indent="0" marL="0">
              <a:buNone/>
            </a:pPr>
            <a:r>
              <a:rPr lang="en-US" sz="2400" b="1" dirty="0">
                <a:solidFill>
                  <a:srgbClr val="0F2A5F"/>
                </a:solidFill>
              </a:rPr>
              <a:t>Both graphs come from the same counts of monarch butterflies in Mexico. What is graph C trying to make you believe? How did its author do it?</a:t>
            </a:r>
            <a:endParaRPr lang="en-US" sz="2400" dirty="0"/>
          </a:p>
        </p:txBody>
      </p:sp>
      <p:sp>
        <p:nvSpPr>
          <p:cNvPr id="6" name="Text 4"/>
          <p:cNvSpPr txBox="1"/>
          <p:nvPr/>
        </p:nvSpPr>
        <p:spPr>
          <a:xfrm>
            <a:off x="548640" y="3794760"/>
            <a:ext cx="4297680" cy="210312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41B26"/>
                </a:solidFill>
              </a:rPr>
              <a:t>Talk to a partner. Which figures from graph B would you pick to show a steady fall?</a:t>
            </a:r>
            <a:endParaRPr lang="en-US" sz="1600" dirty="0"/>
          </a:p>
        </p:txBody>
      </p:sp>
      <p:pic>
        <p:nvPicPr>
          <p:cNvPr id="7" name="Image 0" descr="/home/user/lessons/Y9_Exploring_Science/source/diagrams/monarch_bias.png">    </p:cNvPr>
          <p:cNvPicPr>
            <a:picLocks noChangeAspect="1"/>
          </p:cNvPicPr>
          <p:nvPr/>
        </p:nvPicPr>
        <p:blipFill>
          <a:blip r:embed="rId1"/>
          <a:stretch>
            <a:fillRect/>
          </a:stretch>
        </p:blipFill>
        <p:spPr>
          <a:xfrm>
            <a:off x="5029200" y="1943100"/>
            <a:ext cx="6583680" cy="2880360"/>
          </a:xfrm>
          <a:prstGeom prst="rect">
            <a:avLst/>
          </a:prstGeom>
        </p:spPr>
      </p:pic>
      <p:sp>
        <p:nvSpPr>
          <p:cNvPr id="8" name="Text 5"/>
          <p:cNvSpPr txBox="1"/>
          <p:nvPr/>
        </p:nvSpPr>
        <p:spPr>
          <a:xfrm>
            <a:off x="5029200" y="4869180"/>
            <a:ext cx="6583680" cy="502920"/>
          </a:xfrm>
          <a:prstGeom prst="rect">
            <a:avLst/>
          </a:prstGeom>
          <a:noFill/>
          <a:ln/>
        </p:spPr>
        <p:txBody>
          <a:bodyPr wrap="square" lIns="0" tIns="0" rIns="0" bIns="0" rtlCol="0" anchor="t"/>
          <a:lstStyle/>
          <a:p>
            <a:pPr algn="l" indent="0" marL="0">
              <a:buNone/>
            </a:pPr>
            <a:r>
              <a:rPr lang="en-US" sz="1100" dirty="0">
                <a:solidFill>
                  <a:srgbClr val="141B26"/>
                </a:solidFill>
              </a:rPr>
              <a:t>Graph B shows every year; graph C shows four of them</a:t>
            </a:r>
            <a:endParaRPr lang="en-US" sz="11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Bias on purpose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bias   ·   balanced</a:t>
            </a:r>
            <a:endParaRPr lang="en-US" sz="1200" dirty="0"/>
          </a:p>
        </p:txBody>
      </p:sp>
      <p:sp>
        <p:nvSpPr>
          <p:cNvPr id="6" name="Text 4"/>
          <p:cNvSpPr txBox="1"/>
          <p:nvPr/>
        </p:nvSpPr>
        <p:spPr>
          <a:xfrm>
            <a:off x="548640" y="1325880"/>
            <a:ext cx="1088136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Bias is a shift away from the true meaning or value. It can be deliberate or accidental.</a:t>
            </a:r>
            <a:endParaRPr lang="en-US" sz="1700" dirty="0"/>
          </a:p>
          <a:p>
            <a:pPr marL="228600" indent="-228600">
              <a:spcAft>
                <a:spcPts val="600"/>
              </a:spcAft>
              <a:buSzPct val="100000"/>
              <a:buChar char="•"/>
            </a:pPr>
            <a:r>
              <a:rPr lang="en-US" sz="1700" dirty="0">
                <a:solidFill>
                  <a:srgbClr val="141B26"/>
                </a:solidFill>
              </a:rPr>
              <a:t>Intentional bias: choosing only the data that support your idea, like graph C.</a:t>
            </a:r>
            <a:endParaRPr lang="en-US" sz="1700" dirty="0"/>
          </a:p>
          <a:p>
            <a:pPr marL="228600" indent="-228600">
              <a:spcAft>
                <a:spcPts val="600"/>
              </a:spcAft>
              <a:buSzPct val="100000"/>
              <a:buChar char="•"/>
            </a:pPr>
            <a:r>
              <a:rPr lang="en-US" sz="1700" dirty="0">
                <a:solidFill>
                  <a:srgbClr val="141B26"/>
                </a:solidFill>
              </a:rPr>
              <a:t>A balanced account considers the points for and against something equally.</a:t>
            </a:r>
            <a:endParaRPr lang="en-US" sz="1700" dirty="0"/>
          </a:p>
          <a:p>
            <a:pPr marL="228600" indent="-228600">
              <a:spcAft>
                <a:spcPts val="600"/>
              </a:spcAft>
              <a:buSzPct val="100000"/>
              <a:buChar char="•"/>
            </a:pPr>
            <a:r>
              <a:rPr lang="en-US" sz="1700" dirty="0">
                <a:solidFill>
                  <a:srgbClr val="141B26"/>
                </a:solidFill>
              </a:rPr>
              <a:t>Bias also appears in words: an advert that lists only advantages is not balanced.</a:t>
            </a:r>
            <a:endParaRPr lang="en-US" sz="1700" dirty="0"/>
          </a:p>
          <a:p>
            <a:pPr marL="228600" indent="-228600">
              <a:spcAft>
                <a:spcPts val="600"/>
              </a:spcAft>
              <a:buSzPct val="100000"/>
              <a:buChar char="•"/>
            </a:pPr>
            <a:r>
              <a:rPr lang="en-US" sz="1700" dirty="0">
                <a:solidFill>
                  <a:srgbClr val="141B26"/>
                </a:solidFill>
              </a:rPr>
              <a:t>Ask: who made this, and what do they want me to think?</a:t>
            </a:r>
            <a:endParaRPr lang="en-US" sz="1700" dirty="0"/>
          </a:p>
        </p:txBody>
      </p:sp>
      <p:sp>
        <p:nvSpPr>
          <p:cNvPr id="7"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6"/>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Selected data can show a pattern that the full data do not. Always ask what was left out.</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Bias by accident</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systematic error   ·   random error   ·   sample</a:t>
            </a:r>
            <a:endParaRPr lang="en-US" sz="1200" dirty="0"/>
          </a:p>
        </p:txBody>
      </p:sp>
      <p:sp>
        <p:nvSpPr>
          <p:cNvPr id="6" name="Shape 4"/>
          <p:cNvSpPr/>
          <p:nvPr/>
        </p:nvSpPr>
        <p:spPr>
          <a:xfrm>
            <a:off x="548640" y="1325880"/>
            <a:ext cx="5349240" cy="4023360"/>
          </a:xfrm>
          <a:prstGeom prst="roundRect">
            <a:avLst>
              <a:gd name="adj" fmla="val 2727"/>
            </a:avLst>
          </a:prstGeom>
          <a:solidFill>
            <a:srgbClr val="EEF1F5"/>
          </a:solidFill>
          <a:ln w="12700">
            <a:solidFill>
              <a:srgbClr val="D5DBE3"/>
            </a:solidFill>
            <a:prstDash val="solid"/>
          </a:ln>
        </p:spPr>
      </p:sp>
      <p:sp>
        <p:nvSpPr>
          <p:cNvPr id="7" name="Text 5"/>
          <p:cNvSpPr txBox="1"/>
          <p:nvPr/>
        </p:nvSpPr>
        <p:spPr>
          <a:xfrm>
            <a:off x="822960" y="1463040"/>
            <a:ext cx="4800600" cy="502920"/>
          </a:xfrm>
          <a:prstGeom prst="rect">
            <a:avLst/>
          </a:prstGeom>
          <a:noFill/>
          <a:ln/>
        </p:spPr>
        <p:txBody>
          <a:bodyPr wrap="square" lIns="0" tIns="0" rIns="0" bIns="0" rtlCol="0" anchor="ctr"/>
          <a:lstStyle/>
          <a:p>
            <a:pPr indent="0" marL="0">
              <a:buNone/>
            </a:pPr>
            <a:r>
              <a:rPr lang="en-US" sz="2000" b="1" dirty="0">
                <a:solidFill>
                  <a:srgbClr val="0F2A5F"/>
                </a:solidFill>
              </a:rPr>
              <a:t>Systematic error</a:t>
            </a:r>
            <a:endParaRPr lang="en-US" sz="2000" dirty="0"/>
          </a:p>
        </p:txBody>
      </p:sp>
      <p:sp>
        <p:nvSpPr>
          <p:cNvPr id="8" name="Text 6"/>
          <p:cNvSpPr txBox="1"/>
          <p:nvPr/>
        </p:nvSpPr>
        <p:spPr>
          <a:xfrm>
            <a:off x="822960" y="2011680"/>
            <a:ext cx="4800600" cy="31546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500" dirty="0">
                <a:solidFill>
                  <a:srgbClr val="141B26"/>
                </a:solidFill>
              </a:rPr>
              <a:t>Every reading is shifted by the same amount.</a:t>
            </a:r>
            <a:endParaRPr lang="en-US" sz="1500" dirty="0"/>
          </a:p>
          <a:p>
            <a:pPr marL="228600" indent="-228600">
              <a:spcAft>
                <a:spcPts val="600"/>
              </a:spcAft>
              <a:buSzPct val="100000"/>
              <a:buChar char="•"/>
            </a:pPr>
            <a:r>
              <a:rPr lang="en-US" sz="1500" dirty="0">
                <a:solidFill>
                  <a:srgbClr val="141B26"/>
                </a:solidFill>
              </a:rPr>
              <a:t>A thermometer with a wrongly printed scale reads 1 °C too high every time.</a:t>
            </a:r>
            <a:endParaRPr lang="en-US" sz="1500" dirty="0"/>
          </a:p>
          <a:p>
            <a:pPr marL="228600" indent="-228600">
              <a:spcAft>
                <a:spcPts val="600"/>
              </a:spcAft>
              <a:buSzPct val="100000"/>
              <a:buChar char="•"/>
            </a:pPr>
            <a:r>
              <a:rPr lang="en-US" sz="1500" dirty="0">
                <a:solidFill>
                  <a:srgbClr val="141B26"/>
                </a:solidFill>
              </a:rPr>
              <a:t>A mass balance not set to zero.</a:t>
            </a:r>
            <a:endParaRPr lang="en-US" sz="1500" dirty="0"/>
          </a:p>
          <a:p>
            <a:pPr marL="228600" indent="-228600">
              <a:spcAft>
                <a:spcPts val="600"/>
              </a:spcAft>
              <a:buSzPct val="100000"/>
              <a:buChar char="•"/>
            </a:pPr>
            <a:r>
              <a:rPr lang="en-US" sz="1500" dirty="0">
                <a:solidFill>
                  <a:srgbClr val="141B26"/>
                </a:solidFill>
              </a:rPr>
              <a:t>Repeating the readings does not remove it.</a:t>
            </a:r>
            <a:endParaRPr lang="en-US" sz="1500" dirty="0"/>
          </a:p>
        </p:txBody>
      </p:sp>
      <p:sp>
        <p:nvSpPr>
          <p:cNvPr id="9" name="Shape 7"/>
          <p:cNvSpPr/>
          <p:nvPr/>
        </p:nvSpPr>
        <p:spPr>
          <a:xfrm>
            <a:off x="6263640" y="1325880"/>
            <a:ext cx="5349240" cy="4023360"/>
          </a:xfrm>
          <a:prstGeom prst="roundRect">
            <a:avLst>
              <a:gd name="adj" fmla="val 2727"/>
            </a:avLst>
          </a:prstGeom>
          <a:solidFill>
            <a:srgbClr val="F1E5F4"/>
          </a:solidFill>
          <a:ln w="12700">
            <a:solidFill>
              <a:srgbClr val="D5DBE3"/>
            </a:solidFill>
            <a:prstDash val="solid"/>
          </a:ln>
        </p:spPr>
      </p:sp>
      <p:sp>
        <p:nvSpPr>
          <p:cNvPr id="10" name="Text 8"/>
          <p:cNvSpPr txBox="1"/>
          <p:nvPr/>
        </p:nvSpPr>
        <p:spPr>
          <a:xfrm>
            <a:off x="6537960" y="1463040"/>
            <a:ext cx="4800600" cy="502920"/>
          </a:xfrm>
          <a:prstGeom prst="rect">
            <a:avLst/>
          </a:prstGeom>
          <a:noFill/>
          <a:ln/>
        </p:spPr>
        <p:txBody>
          <a:bodyPr wrap="square" lIns="0" tIns="0" rIns="0" bIns="0" rtlCol="0" anchor="ctr"/>
          <a:lstStyle/>
          <a:p>
            <a:pPr indent="0" marL="0">
              <a:buNone/>
            </a:pPr>
            <a:r>
              <a:rPr lang="en-US" sz="2000" b="1" dirty="0">
                <a:solidFill>
                  <a:srgbClr val="0F2A5F"/>
                </a:solidFill>
              </a:rPr>
              <a:t>Sampling bias</a:t>
            </a:r>
            <a:endParaRPr lang="en-US" sz="2000" dirty="0"/>
          </a:p>
        </p:txBody>
      </p:sp>
      <p:sp>
        <p:nvSpPr>
          <p:cNvPr id="11" name="Text 9"/>
          <p:cNvSpPr txBox="1"/>
          <p:nvPr/>
        </p:nvSpPr>
        <p:spPr>
          <a:xfrm>
            <a:off x="6537960" y="2011680"/>
            <a:ext cx="4800600" cy="31546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500" dirty="0">
                <a:solidFill>
                  <a:srgbClr val="141B26"/>
                </a:solidFill>
              </a:rPr>
              <a:t>Samples must be taken at random.</a:t>
            </a:r>
            <a:endParaRPr lang="en-US" sz="1500" dirty="0"/>
          </a:p>
          <a:p>
            <a:pPr marL="228600" indent="-228600">
              <a:spcAft>
                <a:spcPts val="600"/>
              </a:spcAft>
              <a:buSzPct val="100000"/>
              <a:buChar char="•"/>
            </a:pPr>
            <a:r>
              <a:rPr lang="en-US" sz="1500" dirty="0">
                <a:solidFill>
                  <a:srgbClr val="141B26"/>
                </a:solidFill>
              </a:rPr>
              <a:t>Choosing 'interesting' areas, or areas likely to give the expected result, biases the estimate.</a:t>
            </a:r>
            <a:endParaRPr lang="en-US" sz="1500" dirty="0"/>
          </a:p>
          <a:p>
            <a:pPr marL="228600" indent="-228600">
              <a:spcAft>
                <a:spcPts val="600"/>
              </a:spcAft>
              <a:buSzPct val="100000"/>
              <a:buChar char="•"/>
            </a:pPr>
            <a:r>
              <a:rPr lang="en-US" sz="1500" dirty="0">
                <a:solidFill>
                  <a:srgbClr val="141B26"/>
                </a:solidFill>
              </a:rPr>
              <a:t>Counting butterflies only on the parts of trunks you can reach misses the ones higher up.</a:t>
            </a:r>
            <a:endParaRPr lang="en-US" sz="1500" dirty="0"/>
          </a:p>
          <a:p>
            <a:pPr marL="228600" indent="-228600">
              <a:spcAft>
                <a:spcPts val="600"/>
              </a:spcAft>
              <a:buSzPct val="100000"/>
              <a:buChar char="•"/>
            </a:pPr>
            <a:r>
              <a:rPr lang="en-US" sz="1500" dirty="0">
                <a:solidFill>
                  <a:srgbClr val="141B26"/>
                </a:solidFill>
              </a:rPr>
              <a:t>The Mexican scientists used a computer to choose sample areas at random.</a:t>
            </a:r>
            <a:endParaRPr lang="en-US" sz="1500" dirty="0"/>
          </a:p>
        </p:txBody>
      </p:sp>
      <p:sp>
        <p:nvSpPr>
          <p:cNvPr id="12" name="Shape 10"/>
          <p:cNvSpPr/>
          <p:nvPr/>
        </p:nvSpPr>
        <p:spPr>
          <a:xfrm>
            <a:off x="548640" y="5532120"/>
            <a:ext cx="11094415" cy="566928"/>
          </a:xfrm>
          <a:prstGeom prst="rect">
            <a:avLst/>
          </a:prstGeom>
          <a:solidFill>
            <a:srgbClr val="F1E5F4"/>
          </a:solidFill>
          <a:ln w="12700">
            <a:solidFill>
              <a:srgbClr val="F1E5F4"/>
            </a:solidFill>
            <a:prstDash val="solid"/>
          </a:ln>
        </p:spPr>
      </p:sp>
      <p:sp>
        <p:nvSpPr>
          <p:cNvPr id="13" name="Text 11"/>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A random error changes from reading to reading; a systematic error is the same every time, so it hides inside the mean.</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Is it valid?</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valid   ·   conclusion</a:t>
            </a:r>
            <a:endParaRPr lang="en-US" sz="1200" dirty="0"/>
          </a:p>
        </p:txBody>
      </p:sp>
      <p:sp>
        <p:nvSpPr>
          <p:cNvPr id="6" name="Text 4"/>
          <p:cNvSpPr txBox="1"/>
          <p:nvPr/>
        </p:nvSpPr>
        <p:spPr>
          <a:xfrm>
            <a:off x="548640" y="1325880"/>
            <a:ext cx="1088136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Something is valid if it does what it is supposed to do.</a:t>
            </a:r>
            <a:endParaRPr lang="en-US" sz="1700" dirty="0"/>
          </a:p>
          <a:p>
            <a:pPr marL="228600" indent="-228600">
              <a:spcAft>
                <a:spcPts val="600"/>
              </a:spcAft>
              <a:buSzPct val="100000"/>
              <a:buChar char="•"/>
            </a:pPr>
            <a:r>
              <a:rPr lang="en-US" sz="1700" dirty="0">
                <a:solidFill>
                  <a:srgbClr val="141B26"/>
                </a:solidFill>
              </a:rPr>
              <a:t>A fair test is valid because only the independent variable affects the results.</a:t>
            </a:r>
            <a:endParaRPr lang="en-US" sz="1700" dirty="0"/>
          </a:p>
          <a:p>
            <a:pPr marL="228600" indent="-228600">
              <a:spcAft>
                <a:spcPts val="600"/>
              </a:spcAft>
              <a:buSzPct val="100000"/>
              <a:buChar char="•"/>
            </a:pPr>
            <a:r>
              <a:rPr lang="en-US" sz="1700" dirty="0">
                <a:solidFill>
                  <a:srgbClr val="141B26"/>
                </a:solidFill>
              </a:rPr>
              <a:t>Results are valid if they measure what they were supposed to measure.</a:t>
            </a:r>
            <a:endParaRPr lang="en-US" sz="1700" dirty="0"/>
          </a:p>
          <a:p>
            <a:pPr marL="228600" indent="-228600">
              <a:spcAft>
                <a:spcPts val="600"/>
              </a:spcAft>
              <a:buSzPct val="100000"/>
              <a:buChar char="•"/>
            </a:pPr>
            <a:r>
              <a:rPr lang="en-US" sz="1700" dirty="0">
                <a:solidFill>
                  <a:srgbClr val="141B26"/>
                </a:solidFill>
              </a:rPr>
              <a:t>A valid conclusion uses only the results of the investigation, and all of them.</a:t>
            </a:r>
            <a:endParaRPr lang="en-US" sz="1700" dirty="0"/>
          </a:p>
          <a:p>
            <a:pPr marL="228600" indent="-228600">
              <a:spcAft>
                <a:spcPts val="600"/>
              </a:spcAft>
              <a:buSzPct val="100000"/>
              <a:buChar char="•"/>
            </a:pPr>
            <a:r>
              <a:rPr lang="en-US" sz="1700" dirty="0">
                <a:solidFill>
                  <a:srgbClr val="141B26"/>
                </a:solidFill>
              </a:rPr>
              <a:t>'More HT soybean, fewer monarchs' is not a valid conclusion: the percentage planted tells us nothing about milkweed, and other causes were not ruled out.</a:t>
            </a:r>
            <a:endParaRPr lang="en-US" sz="1700" dirty="0"/>
          </a:p>
        </p:txBody>
      </p:sp>
      <p:sp>
        <p:nvSpPr>
          <p:cNvPr id="7"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6"/>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Valid conclusion = all the results, only the results, and no causes that were never tested.</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Organic or intensive?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organic farming   ·   intensive farming   ·   crop rotation</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0881360" cy="914400"/>
        </p:xfrm>
        <a:graphic>
          <a:graphicData uri="http://schemas.openxmlformats.org/drawingml/2006/table">
            <a:tbl>
              <a:tblPr/>
              <a:tblGrid>
                <a:gridCol w="2011680"/>
                <a:gridCol w="3108960"/>
                <a:gridCol w="3108960"/>
              </a:tblGrid>
              <a:tr h="384048">
                <a:tc>
                  <a:txBody>
                    <a:bodyPr/>
                    <a:lstStyle/>
                    <a:p>
                      <a:pPr indent="0" marL="0">
                        <a:buNone/>
                      </a:pP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0F2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Organic farming</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0F2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Intensive farming</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0F2A5F"/>
                    </a:solidFill>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fertiliser</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natural: manure, clover in the rotation</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artificial fertilisers</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pesticides</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a few natural ones (sulfur, copper sulfate), biological control</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many artificial pesticides</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fields</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small, with hedges and trees around them</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large, for big machines</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biodiversity</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higher</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lower</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yield per field</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lower; needs more land for the same food</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higher</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cost of food</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higher</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lower</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bl>
          </a:graphicData>
        </a:graphic>
      </p:graphicFrame>
      <p:sp>
        <p:nvSpPr>
          <p:cNvPr id="7" name="Shape 4"/>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Organic farms have more biodiversity; intensive farms grow more food on less land. Neither is simply better.</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Biological control</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biological control</a:t>
            </a:r>
            <a:endParaRPr lang="en-US" sz="1200" dirty="0"/>
          </a:p>
        </p:txBody>
      </p:sp>
      <p:sp>
        <p:nvSpPr>
          <p:cNvPr id="6" name="Text 4"/>
          <p:cNvSpPr txBox="1"/>
          <p:nvPr/>
        </p:nvSpPr>
        <p:spPr>
          <a:xfrm>
            <a:off x="548640" y="1325880"/>
            <a:ext cx="576072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Biological control uses other organisms to reduce pests.</a:t>
            </a:r>
            <a:endParaRPr lang="en-US" sz="1700" dirty="0"/>
          </a:p>
          <a:p>
            <a:pPr marL="228600" indent="-228600">
              <a:spcAft>
                <a:spcPts val="600"/>
              </a:spcAft>
              <a:buSzPct val="100000"/>
              <a:buChar char="•"/>
            </a:pPr>
            <a:r>
              <a:rPr lang="en-US" sz="1700" dirty="0">
                <a:solidFill>
                  <a:srgbClr val="141B26"/>
                </a:solidFill>
              </a:rPr>
              <a:t>Hoverfly larvae eat aphids. Ladybirds do too.</a:t>
            </a:r>
            <a:endParaRPr lang="en-US" sz="1700" dirty="0"/>
          </a:p>
          <a:p>
            <a:pPr marL="228600" indent="-228600">
              <a:spcAft>
                <a:spcPts val="600"/>
              </a:spcAft>
              <a:buSzPct val="100000"/>
              <a:buChar char="•"/>
            </a:pPr>
            <a:r>
              <a:rPr lang="en-US" sz="1700" dirty="0">
                <a:solidFill>
                  <a:srgbClr val="141B26"/>
                </a:solidFill>
              </a:rPr>
              <a:t>Hedges and trees give these helpful predators somewhere to live, and give insect-eating birds a home.</a:t>
            </a:r>
            <a:endParaRPr lang="en-US" sz="1700" dirty="0"/>
          </a:p>
          <a:p>
            <a:pPr marL="228600" indent="-228600">
              <a:spcAft>
                <a:spcPts val="600"/>
              </a:spcAft>
              <a:buSzPct val="100000"/>
              <a:buChar char="•"/>
            </a:pPr>
            <a:r>
              <a:rPr lang="en-US" sz="1700" dirty="0">
                <a:solidFill>
                  <a:srgbClr val="141B26"/>
                </a:solidFill>
              </a:rPr>
              <a:t>No pesticide means no harm to pollinators and no bioaccumulation.</a:t>
            </a:r>
            <a:endParaRPr lang="en-US" sz="1700" dirty="0"/>
          </a:p>
          <a:p>
            <a:pPr marL="228600" indent="-228600">
              <a:spcAft>
                <a:spcPts val="600"/>
              </a:spcAft>
              <a:buSzPct val="100000"/>
              <a:buChar char="•"/>
            </a:pPr>
            <a:r>
              <a:rPr lang="en-US" sz="1700" dirty="0">
                <a:solidFill>
                  <a:srgbClr val="141B26"/>
                </a:solidFill>
              </a:rPr>
              <a:t>But it is slower, and the pests are never removed completely.</a:t>
            </a:r>
            <a:endParaRPr lang="en-US" sz="1700" dirty="0"/>
          </a:p>
        </p:txBody>
      </p:sp>
      <p:pic>
        <p:nvPicPr>
          <p:cNvPr id="7" name="Image 0" descr="/home/user/lessons/Y9_Exploring_Science/images/hoverfly_larva.jpg">    </p:cNvPr>
          <p:cNvPicPr>
            <a:picLocks noChangeAspect="1"/>
          </p:cNvPicPr>
          <p:nvPr/>
        </p:nvPicPr>
        <p:blipFill>
          <a:blip r:embed="rId1"/>
          <a:stretch>
            <a:fillRect/>
          </a:stretch>
        </p:blipFill>
        <p:spPr>
          <a:xfrm>
            <a:off x="7269480" y="1280160"/>
            <a:ext cx="3657600" cy="3657600"/>
          </a:xfrm>
          <a:prstGeom prst="rect">
            <a:avLst/>
          </a:prstGeom>
        </p:spPr>
      </p:pic>
      <p:sp>
        <p:nvSpPr>
          <p:cNvPr id="8" name="Text 5"/>
          <p:cNvSpPr txBox="1"/>
          <p:nvPr/>
        </p:nvSpPr>
        <p:spPr>
          <a:xfrm>
            <a:off x="6583680" y="4983480"/>
            <a:ext cx="5029200" cy="502920"/>
          </a:xfrm>
          <a:prstGeom prst="rect">
            <a:avLst/>
          </a:prstGeom>
          <a:noFill/>
          <a:ln/>
        </p:spPr>
        <p:txBody>
          <a:bodyPr wrap="square" lIns="0" tIns="0" rIns="0" bIns="0" rtlCol="0" anchor="t"/>
          <a:lstStyle/>
          <a:p>
            <a:pPr algn="l" indent="0" marL="0">
              <a:buNone/>
            </a:pPr>
            <a:r>
              <a:rPr lang="en-US" sz="1100" dirty="0">
                <a:solidFill>
                  <a:srgbClr val="141B26"/>
                </a:solidFill>
              </a:rPr>
              <a:t>A hoverfly larva eating aphids</a:t>
            </a:r>
            <a:pPr algn="l" indent="0" marL="0">
              <a:buNone/>
            </a:pPr>
            <a:endParaRPr lang="en-US" sz="1100" dirty="0"/>
          </a:p>
          <a:p>
            <a:pPr algn="l" indent="0" marL="0">
              <a:buNone/>
            </a:pPr>
            <a:r>
              <a:rPr lang="en-US" sz="800" dirty="0">
                <a:solidFill>
                  <a:srgbClr val="5B6574"/>
                </a:solidFill>
              </a:rPr>
              <a:t>Image: The Manic Macrographer, CC BY 2.0, via Wikimedia Commons</a:t>
            </a:r>
            <a:endParaRPr lang="en-US" sz="11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A hedge is not wasted land: it houses the predators that protect the crop for free.</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Your turn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13</a:t>
            </a:r>
            <a:endParaRPr lang="en-US" sz="2200" dirty="0"/>
          </a:p>
          <a:p>
            <a:pPr algn="ctr" indent="0" marL="0">
              <a:buNone/>
            </a:pPr>
            <a:r>
              <a:rPr lang="en-US" sz="1000" dirty="0">
                <a:solidFill>
                  <a:srgbClr val="5B6574"/>
                </a:solidFill>
              </a:rPr>
              <a:t>min</a:t>
            </a:r>
            <a:endParaRPr lang="en-US" sz="2200" dirty="0"/>
          </a:p>
        </p:txBody>
      </p:sp>
      <p:sp>
        <p:nvSpPr>
          <p:cNvPr id="7" name="Shape 5"/>
          <p:cNvSpPr/>
          <p:nvPr/>
        </p:nvSpPr>
        <p:spPr>
          <a:xfrm>
            <a:off x="548640" y="1417320"/>
            <a:ext cx="457200" cy="457200"/>
          </a:xfrm>
          <a:prstGeom prst="ellipse">
            <a:avLst/>
          </a:prstGeom>
          <a:solidFill>
            <a:srgbClr val="7B3A8E"/>
          </a:solidFill>
          <a:ln w="12700">
            <a:solidFill>
              <a:srgbClr val="7B3A8E"/>
            </a:solidFill>
            <a:prstDash val="solid"/>
          </a:ln>
        </p:spPr>
      </p:sp>
      <p:sp>
        <p:nvSpPr>
          <p:cNvPr id="8" name="Text 6"/>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1188720" y="13716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Core: choose the valid conclusion for the bean plant data and give your reason; match the kinds of error and bias; sort the farming statements.</a:t>
            </a:r>
            <a:endParaRPr lang="en-US" sz="1700" dirty="0"/>
          </a:p>
        </p:txBody>
      </p:sp>
      <p:sp>
        <p:nvSpPr>
          <p:cNvPr id="10" name="Shape 8"/>
          <p:cNvSpPr/>
          <p:nvPr/>
        </p:nvSpPr>
        <p:spPr>
          <a:xfrm>
            <a:off x="548640" y="2331720"/>
            <a:ext cx="457200" cy="457200"/>
          </a:xfrm>
          <a:prstGeom prst="ellipse">
            <a:avLst/>
          </a:prstGeom>
          <a:solidFill>
            <a:srgbClr val="7B3A8E"/>
          </a:solidFill>
          <a:ln w="12700">
            <a:solidFill>
              <a:srgbClr val="7B3A8E"/>
            </a:solidFill>
            <a:prstDash val="solid"/>
          </a:ln>
        </p:spPr>
      </p:sp>
      <p:sp>
        <p:nvSpPr>
          <p:cNvPr id="11" name="Text 9"/>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1188720" y="22860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Stretch: the German insect study; how graph C is biased and who might draw it; insect-eating birds.</a:t>
            </a:r>
            <a:endParaRPr lang="en-US" sz="1700" dirty="0"/>
          </a:p>
        </p:txBody>
      </p:sp>
      <p:sp>
        <p:nvSpPr>
          <p:cNvPr id="13" name="Shape 11"/>
          <p:cNvSpPr/>
          <p:nvPr/>
        </p:nvSpPr>
        <p:spPr>
          <a:xfrm>
            <a:off x="548640" y="3246120"/>
            <a:ext cx="457200" cy="457200"/>
          </a:xfrm>
          <a:prstGeom prst="ellipse">
            <a:avLst/>
          </a:prstGeom>
          <a:solidFill>
            <a:srgbClr val="7B3A8E"/>
          </a:solidFill>
          <a:ln w="12700">
            <a:solidFill>
              <a:srgbClr val="7B3A8E"/>
            </a:solidFill>
            <a:prstDash val="solid"/>
          </a:ln>
        </p:spPr>
      </p:sp>
      <p:sp>
        <p:nvSpPr>
          <p:cNvPr id="14" name="Text 12"/>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188720" y="32004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Challenge: a balanced paragraph about HT soybean; organic versus intensive yields.</a:t>
            </a:r>
            <a:endParaRPr lang="en-US" sz="1700" dirty="0"/>
          </a:p>
        </p:txBody>
      </p:sp>
      <p:sp>
        <p:nvSpPr>
          <p:cNvPr id="16" name="Shape 14"/>
          <p:cNvSpPr/>
          <p:nvPr/>
        </p:nvSpPr>
        <p:spPr>
          <a:xfrm>
            <a:off x="548640" y="4160520"/>
            <a:ext cx="457200" cy="457200"/>
          </a:xfrm>
          <a:prstGeom prst="ellipse">
            <a:avLst/>
          </a:prstGeom>
          <a:solidFill>
            <a:srgbClr val="7B3A8E"/>
          </a:solidFill>
          <a:ln w="12700">
            <a:solidFill>
              <a:srgbClr val="7B3A8E"/>
            </a:solidFill>
            <a:prstDash val="solid"/>
          </a:ln>
        </p:spPr>
      </p:sp>
      <p:sp>
        <p:nvSpPr>
          <p:cNvPr id="17" name="Text 15"/>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188720" y="41148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Finished? The My thinking question is about a website claim.</a:t>
            </a:r>
            <a:endParaRPr lang="en-US" sz="1700" dirty="0"/>
          </a:p>
        </p:txBody>
      </p:sp>
      <p:sp>
        <p:nvSpPr>
          <p:cNvPr id="19" name="Text 17"/>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i="1" dirty="0">
                <a:solidFill>
                  <a:srgbClr val="5B6574"/>
                </a:solidFill>
              </a:rPr>
              <a:t>A balanced paragraph has at least two points for and two against, then a decision.</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The farmer's report</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normAutofit/>
          </a:bodyPr>
          <a:lstStyle/>
          <a:p>
            <a:pPr indent="0" marL="0">
              <a:buNone/>
            </a:pPr>
            <a:r>
              <a:rPr lang="en-US" sz="2200" b="1" dirty="0">
                <a:solidFill>
                  <a:srgbClr val="0F2A5F"/>
                </a:solidFill>
              </a:rPr>
              <a:t>A farmer wants permission to plough a wild meadow. The report to the council has a graph showing profits rising every year, and a list of benefits. How would you check this report for bias and validity?</a:t>
            </a:r>
            <a:endParaRPr lang="en-US" sz="22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normAutofit/>
          </a:bodyPr>
          <a:lstStyle/>
          <a:p>
            <a:pPr indent="0" marL="0">
              <a:spcAft>
                <a:spcPts val="600"/>
              </a:spcAft>
              <a:buNone/>
            </a:pPr>
            <a:r>
              <a:rPr lang="en-US" sz="1500" b="1" dirty="0">
                <a:solidFill>
                  <a:srgbClr val="7B3A8E"/>
                </a:solidFill>
              </a:rPr>
              <a:t>Sentence frames</a:t>
            </a:r>
            <a:endParaRPr lang="en-US" sz="1500" dirty="0"/>
          </a:p>
          <a:p>
            <a:pPr indent="0" marL="0">
              <a:spcAft>
                <a:spcPts val="600"/>
              </a:spcAft>
              <a:buNone/>
            </a:pPr>
            <a:r>
              <a:rPr lang="en-US" sz="1500" dirty="0">
                <a:solidFill>
                  <a:srgbClr val="141B26"/>
                </a:solidFill>
              </a:rPr>
              <a:t>I would check whether ___, because ___.</a:t>
            </a:r>
            <a:endParaRPr lang="en-US" sz="1500" dirty="0"/>
          </a:p>
          <a:p>
            <a:pPr indent="0" marL="0">
              <a:spcAft>
                <a:spcPts val="600"/>
              </a:spcAft>
              <a:buNone/>
            </a:pPr>
            <a:r>
              <a:rPr lang="en-US" sz="1500" dirty="0">
                <a:solidFill>
                  <a:srgbClr val="141B26"/>
                </a:solidFill>
              </a:rPr>
              <a:t>The report might be biased because ___.</a:t>
            </a:r>
            <a:endParaRPr lang="en-US" sz="1500" dirty="0"/>
          </a:p>
          <a:p>
            <a:pPr indent="0" marL="0">
              <a:spcAft>
                <a:spcPts val="600"/>
              </a:spcAft>
              <a:buNone/>
            </a:pPr>
            <a:r>
              <a:rPr lang="en-US" sz="1500" dirty="0">
                <a:solidFill>
                  <a:srgbClr val="141B26"/>
                </a:solidFill>
              </a:rPr>
              <a:t>A balanced report would also include ___.</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9B unit review quiz</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Mini whiteboards. Eight questions from the whole unit, then we check and you tick your gaps.</a:t>
            </a:r>
            <a:endParaRPr lang="en-US" sz="1400" dirty="0"/>
          </a:p>
        </p:txBody>
      </p:sp>
      <p:sp>
        <p:nvSpPr>
          <p:cNvPr id="6" name="Shape 4"/>
          <p:cNvSpPr/>
          <p:nvPr/>
        </p:nvSpPr>
        <p:spPr>
          <a:xfrm>
            <a:off x="548640" y="1783080"/>
            <a:ext cx="10881360" cy="404622"/>
          </a:xfrm>
          <a:prstGeom prst="roundRect">
            <a:avLst>
              <a:gd name="adj" fmla="val 18079"/>
            </a:avLst>
          </a:prstGeom>
          <a:solidFill>
            <a:srgbClr val="FFFFFF"/>
          </a:solidFill>
          <a:ln w="12700">
            <a:solidFill>
              <a:srgbClr val="D5DBE3"/>
            </a:solidFill>
            <a:prstDash val="solid"/>
          </a:ln>
        </p:spPr>
      </p:sp>
      <p:sp>
        <p:nvSpPr>
          <p:cNvPr id="7" name="Text 5"/>
          <p:cNvSpPr txBox="1"/>
          <p:nvPr/>
        </p:nvSpPr>
        <p:spPr>
          <a:xfrm>
            <a:off x="731520" y="1783080"/>
            <a:ext cx="10515600" cy="40462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Q1  </a:t>
            </a:r>
            <a:pPr indent="0" marL="0">
              <a:buNone/>
            </a:pPr>
            <a:r>
              <a:rPr lang="en-US" sz="1600" dirty="0">
                <a:solidFill>
                  <a:srgbClr val="141B26"/>
                </a:solidFill>
              </a:rPr>
              <a:t>Write the word equation for photosynthesis.</a:t>
            </a:r>
            <a:endParaRPr lang="en-US" sz="1600" dirty="0"/>
          </a:p>
        </p:txBody>
      </p:sp>
      <p:sp>
        <p:nvSpPr>
          <p:cNvPr id="8" name="Shape 6"/>
          <p:cNvSpPr/>
          <p:nvPr/>
        </p:nvSpPr>
        <p:spPr>
          <a:xfrm>
            <a:off x="548640" y="2297430"/>
            <a:ext cx="10881360" cy="404622"/>
          </a:xfrm>
          <a:prstGeom prst="roundRect">
            <a:avLst>
              <a:gd name="adj" fmla="val 18079"/>
            </a:avLst>
          </a:prstGeom>
          <a:solidFill>
            <a:srgbClr val="FFFFFF"/>
          </a:solidFill>
          <a:ln w="12700">
            <a:solidFill>
              <a:srgbClr val="D5DBE3"/>
            </a:solidFill>
            <a:prstDash val="solid"/>
          </a:ln>
        </p:spPr>
      </p:sp>
      <p:sp>
        <p:nvSpPr>
          <p:cNvPr id="9" name="Text 7"/>
          <p:cNvSpPr txBox="1"/>
          <p:nvPr/>
        </p:nvSpPr>
        <p:spPr>
          <a:xfrm>
            <a:off x="731520" y="2297430"/>
            <a:ext cx="10515600" cy="40462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Q2  </a:t>
            </a:r>
            <a:pPr indent="0" marL="0">
              <a:buNone/>
            </a:pPr>
            <a:r>
              <a:rPr lang="en-US" sz="1600" dirty="0">
                <a:solidFill>
                  <a:srgbClr val="141B26"/>
                </a:solidFill>
              </a:rPr>
              <a:t>Which cells open and close the stomata?</a:t>
            </a:r>
            <a:endParaRPr lang="en-US" sz="1600" dirty="0"/>
          </a:p>
        </p:txBody>
      </p:sp>
      <p:sp>
        <p:nvSpPr>
          <p:cNvPr id="10" name="Shape 8"/>
          <p:cNvSpPr/>
          <p:nvPr/>
        </p:nvSpPr>
        <p:spPr>
          <a:xfrm>
            <a:off x="548640" y="2811780"/>
            <a:ext cx="10881360" cy="404622"/>
          </a:xfrm>
          <a:prstGeom prst="roundRect">
            <a:avLst>
              <a:gd name="adj" fmla="val 18079"/>
            </a:avLst>
          </a:prstGeom>
          <a:solidFill>
            <a:srgbClr val="FFFFFF"/>
          </a:solidFill>
          <a:ln w="12700">
            <a:solidFill>
              <a:srgbClr val="D5DBE3"/>
            </a:solidFill>
            <a:prstDash val="solid"/>
          </a:ln>
        </p:spPr>
      </p:sp>
      <p:sp>
        <p:nvSpPr>
          <p:cNvPr id="11" name="Text 9"/>
          <p:cNvSpPr txBox="1"/>
          <p:nvPr/>
        </p:nvSpPr>
        <p:spPr>
          <a:xfrm>
            <a:off x="731520" y="2811780"/>
            <a:ext cx="10515600" cy="40462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Q3  </a:t>
            </a:r>
            <a:pPr indent="0" marL="0">
              <a:buNone/>
            </a:pPr>
            <a:r>
              <a:rPr lang="en-US" sz="1600" dirty="0">
                <a:solidFill>
                  <a:srgbClr val="141B26"/>
                </a:solidFill>
              </a:rPr>
              <a:t>Name the mineral salt plants need to make proteins.</a:t>
            </a:r>
            <a:endParaRPr lang="en-US" sz="1600" dirty="0"/>
          </a:p>
        </p:txBody>
      </p:sp>
      <p:sp>
        <p:nvSpPr>
          <p:cNvPr id="12" name="Shape 10"/>
          <p:cNvSpPr/>
          <p:nvPr/>
        </p:nvSpPr>
        <p:spPr>
          <a:xfrm>
            <a:off x="548640" y="3326130"/>
            <a:ext cx="10881360" cy="404622"/>
          </a:xfrm>
          <a:prstGeom prst="roundRect">
            <a:avLst>
              <a:gd name="adj" fmla="val 18079"/>
            </a:avLst>
          </a:prstGeom>
          <a:solidFill>
            <a:srgbClr val="FFFFFF"/>
          </a:solidFill>
          <a:ln w="12700">
            <a:solidFill>
              <a:srgbClr val="D5DBE3"/>
            </a:solidFill>
            <a:prstDash val="solid"/>
          </a:ln>
        </p:spPr>
      </p:sp>
      <p:sp>
        <p:nvSpPr>
          <p:cNvPr id="13" name="Text 11"/>
          <p:cNvSpPr txBox="1"/>
          <p:nvPr/>
        </p:nvSpPr>
        <p:spPr>
          <a:xfrm>
            <a:off x="731520" y="3326130"/>
            <a:ext cx="10515600" cy="40462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Q4  </a:t>
            </a:r>
            <a:pPr indent="0" marL="0">
              <a:buNone/>
            </a:pPr>
            <a:r>
              <a:rPr lang="en-US" sz="1600" dirty="0">
                <a:solidFill>
                  <a:srgbClr val="141B26"/>
                </a:solidFill>
              </a:rPr>
              <a:t>What colour does iodine solution turn with starch?</a:t>
            </a:r>
            <a:endParaRPr lang="en-US" sz="1600" dirty="0"/>
          </a:p>
        </p:txBody>
      </p:sp>
      <p:sp>
        <p:nvSpPr>
          <p:cNvPr id="14" name="Shape 12"/>
          <p:cNvSpPr/>
          <p:nvPr/>
        </p:nvSpPr>
        <p:spPr>
          <a:xfrm>
            <a:off x="548640" y="3840480"/>
            <a:ext cx="10881360" cy="404622"/>
          </a:xfrm>
          <a:prstGeom prst="roundRect">
            <a:avLst>
              <a:gd name="adj" fmla="val 18079"/>
            </a:avLst>
          </a:prstGeom>
          <a:solidFill>
            <a:srgbClr val="FFFFFF"/>
          </a:solidFill>
          <a:ln w="12700">
            <a:solidFill>
              <a:srgbClr val="D5DBE3"/>
            </a:solidFill>
            <a:prstDash val="solid"/>
          </a:ln>
        </p:spPr>
      </p:sp>
      <p:sp>
        <p:nvSpPr>
          <p:cNvPr id="15" name="Text 13"/>
          <p:cNvSpPr txBox="1"/>
          <p:nvPr/>
        </p:nvSpPr>
        <p:spPr>
          <a:xfrm>
            <a:off x="731520" y="3840480"/>
            <a:ext cx="10515600" cy="40462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Q5  </a:t>
            </a:r>
            <a:pPr indent="0" marL="0">
              <a:buNone/>
            </a:pPr>
            <a:r>
              <a:rPr lang="en-US" sz="1600" dirty="0">
                <a:solidFill>
                  <a:srgbClr val="141B26"/>
                </a:solidFill>
              </a:rPr>
              <a:t>What is the difference between an insecticide and a herbicide?</a:t>
            </a:r>
            <a:endParaRPr lang="en-US" sz="1600" dirty="0"/>
          </a:p>
        </p:txBody>
      </p:sp>
      <p:sp>
        <p:nvSpPr>
          <p:cNvPr id="16" name="Shape 14"/>
          <p:cNvSpPr/>
          <p:nvPr/>
        </p:nvSpPr>
        <p:spPr>
          <a:xfrm>
            <a:off x="548640" y="4354830"/>
            <a:ext cx="10881360" cy="404622"/>
          </a:xfrm>
          <a:prstGeom prst="roundRect">
            <a:avLst>
              <a:gd name="adj" fmla="val 18079"/>
            </a:avLst>
          </a:prstGeom>
          <a:solidFill>
            <a:srgbClr val="FFFFFF"/>
          </a:solidFill>
          <a:ln w="12700">
            <a:solidFill>
              <a:srgbClr val="D5DBE3"/>
            </a:solidFill>
            <a:prstDash val="solid"/>
          </a:ln>
        </p:spPr>
      </p:sp>
      <p:sp>
        <p:nvSpPr>
          <p:cNvPr id="17" name="Text 15"/>
          <p:cNvSpPr txBox="1"/>
          <p:nvPr/>
        </p:nvSpPr>
        <p:spPr>
          <a:xfrm>
            <a:off x="731520" y="4354830"/>
            <a:ext cx="10515600" cy="40462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Q6  </a:t>
            </a:r>
            <a:pPr indent="0" marL="0">
              <a:buNone/>
            </a:pPr>
            <a:r>
              <a:rPr lang="en-US" sz="1600" dirty="0">
                <a:solidFill>
                  <a:srgbClr val="141B26"/>
                </a:solidFill>
              </a:rPr>
              <a:t>Put these in order: algae grow, fish die, fertiliser washes into the lake, decomposers use oxygen.</a:t>
            </a:r>
            <a:endParaRPr lang="en-US" sz="1600" dirty="0"/>
          </a:p>
        </p:txBody>
      </p:sp>
      <p:sp>
        <p:nvSpPr>
          <p:cNvPr id="18" name="Shape 16"/>
          <p:cNvSpPr/>
          <p:nvPr/>
        </p:nvSpPr>
        <p:spPr>
          <a:xfrm>
            <a:off x="548640" y="4869180"/>
            <a:ext cx="10881360" cy="404622"/>
          </a:xfrm>
          <a:prstGeom prst="roundRect">
            <a:avLst>
              <a:gd name="adj" fmla="val 18079"/>
            </a:avLst>
          </a:prstGeom>
          <a:solidFill>
            <a:srgbClr val="FFFFFF"/>
          </a:solidFill>
          <a:ln w="12700">
            <a:solidFill>
              <a:srgbClr val="D5DBE3"/>
            </a:solidFill>
            <a:prstDash val="solid"/>
          </a:ln>
        </p:spPr>
      </p:sp>
      <p:sp>
        <p:nvSpPr>
          <p:cNvPr id="19" name="Text 17"/>
          <p:cNvSpPr txBox="1"/>
          <p:nvPr/>
        </p:nvSpPr>
        <p:spPr>
          <a:xfrm>
            <a:off x="731520" y="4869180"/>
            <a:ext cx="10515600" cy="40462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Q7  </a:t>
            </a:r>
            <a:pPr indent="0" marL="0">
              <a:buNone/>
            </a:pPr>
            <a:r>
              <a:rPr lang="en-US" sz="1600" dirty="0">
                <a:solidFill>
                  <a:srgbClr val="141B26"/>
                </a:solidFill>
              </a:rPr>
              <a:t>Name two processes that release carbon dioxide into the air.</a:t>
            </a:r>
            <a:endParaRPr lang="en-US" sz="1600" dirty="0"/>
          </a:p>
        </p:txBody>
      </p:sp>
      <p:sp>
        <p:nvSpPr>
          <p:cNvPr id="20" name="Shape 18"/>
          <p:cNvSpPr/>
          <p:nvPr/>
        </p:nvSpPr>
        <p:spPr>
          <a:xfrm>
            <a:off x="548640" y="5383530"/>
            <a:ext cx="10881360" cy="404622"/>
          </a:xfrm>
          <a:prstGeom prst="roundRect">
            <a:avLst>
              <a:gd name="adj" fmla="val 18079"/>
            </a:avLst>
          </a:prstGeom>
          <a:solidFill>
            <a:srgbClr val="FFFFFF"/>
          </a:solidFill>
          <a:ln w="12700">
            <a:solidFill>
              <a:srgbClr val="D5DBE3"/>
            </a:solidFill>
            <a:prstDash val="solid"/>
          </a:ln>
        </p:spPr>
      </p:sp>
      <p:sp>
        <p:nvSpPr>
          <p:cNvPr id="21" name="Text 19"/>
          <p:cNvSpPr txBox="1"/>
          <p:nvPr/>
        </p:nvSpPr>
        <p:spPr>
          <a:xfrm>
            <a:off x="731520" y="5383530"/>
            <a:ext cx="10515600" cy="40462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Q8  </a:t>
            </a:r>
            <a:pPr indent="0" marL="0">
              <a:buNone/>
            </a:pPr>
            <a:r>
              <a:rPr lang="en-US" sz="1600" dirty="0">
                <a:solidFill>
                  <a:srgbClr val="141B26"/>
                </a:solidFill>
              </a:rPr>
              <a:t>What makes a conclusion valid?</a:t>
            </a:r>
            <a:endParaRPr lang="en-US" sz="16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On your worksheet exit ticket. Work alone. Hand it in as you leave.</a:t>
            </a:r>
            <a:endParaRPr lang="en-US" sz="1400" dirty="0"/>
          </a:p>
        </p:txBody>
      </p:sp>
      <p:sp>
        <p:nvSpPr>
          <p:cNvPr id="6" name="Text 4"/>
          <p:cNvSpPr txBox="1"/>
          <p:nvPr/>
        </p:nvSpPr>
        <p:spPr>
          <a:xfrm>
            <a:off x="548640" y="182880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1.  </a:t>
            </a:r>
            <a:pPr indent="0" marL="0">
              <a:buNone/>
            </a:pPr>
            <a:r>
              <a:rPr lang="en-US" sz="1800" dirty="0">
                <a:solidFill>
                  <a:srgbClr val="141B26"/>
                </a:solidFill>
              </a:rPr>
              <a:t>What is bias?</a:t>
            </a:r>
            <a:endParaRPr lang="en-US" sz="1800" dirty="0"/>
          </a:p>
        </p:txBody>
      </p:sp>
      <p:sp>
        <p:nvSpPr>
          <p:cNvPr id="7" name="Text 5"/>
          <p:cNvSpPr txBox="1"/>
          <p:nvPr/>
        </p:nvSpPr>
        <p:spPr>
          <a:xfrm>
            <a:off x="548640" y="301752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2.  </a:t>
            </a:r>
            <a:pPr indent="0" marL="0">
              <a:buNone/>
            </a:pPr>
            <a:r>
              <a:rPr lang="en-US" sz="1800" dirty="0">
                <a:solidFill>
                  <a:srgbClr val="141B26"/>
                </a:solidFill>
              </a:rPr>
              <a:t>Give one example of a systematic error.</a:t>
            </a:r>
            <a:endParaRPr lang="en-US" sz="1800" dirty="0"/>
          </a:p>
        </p:txBody>
      </p:sp>
      <p:sp>
        <p:nvSpPr>
          <p:cNvPr id="8" name="Text 6"/>
          <p:cNvSpPr txBox="1"/>
          <p:nvPr/>
        </p:nvSpPr>
        <p:spPr>
          <a:xfrm>
            <a:off x="548640" y="420624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3.  </a:t>
            </a:r>
            <a:pPr indent="0" marL="0">
              <a:buNone/>
            </a:pPr>
            <a:r>
              <a:rPr lang="en-US" sz="1800" dirty="0">
                <a:solidFill>
                  <a:srgbClr val="141B26"/>
                </a:solidFill>
              </a:rPr>
              <a:t>Give one difference between organic farming and intensive farming.</a:t>
            </a:r>
            <a:endParaRPr lang="en-US" sz="18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3</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 in 9B</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48056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41B26"/>
                </a:solidFill>
              </a:rPr>
              <a:t>Bias is a shift from the truth: intentional (selected data) or accidental (systematic error, poor sampling).</a:t>
            </a:r>
            <a:endParaRPr lang="en-US" sz="1700" dirty="0"/>
          </a:p>
          <a:p>
            <a:pPr marL="342900" indent="-342900">
              <a:spcAft>
                <a:spcPts val="1000"/>
              </a:spcAft>
              <a:buSzPct val="100000"/>
              <a:buChar char="✓"/>
            </a:pPr>
            <a:r>
              <a:rPr lang="en-US" sz="1700" dirty="0">
                <a:solidFill>
                  <a:srgbClr val="141B26"/>
                </a:solidFill>
              </a:rPr>
              <a:t>A valid conclusion uses all the results and only the results, and does not claim causes that were never tested.</a:t>
            </a:r>
            <a:endParaRPr lang="en-US" sz="1700" dirty="0"/>
          </a:p>
          <a:p>
            <a:pPr marL="342900" indent="-342900">
              <a:spcAft>
                <a:spcPts val="1000"/>
              </a:spcAft>
              <a:buSzPct val="100000"/>
              <a:buChar char="✓"/>
            </a:pPr>
            <a:r>
              <a:rPr lang="en-US" sz="1700" dirty="0">
                <a:solidFill>
                  <a:srgbClr val="141B26"/>
                </a:solidFill>
              </a:rPr>
              <a:t>Organic farms: natural fertilisers, few pesticides, biological control, more biodiversity, lower yield per field.</a:t>
            </a:r>
            <a:endParaRPr lang="en-US" sz="1700" dirty="0"/>
          </a:p>
          <a:p>
            <a:pPr marL="342900" indent="-342900">
              <a:spcAft>
                <a:spcPts val="1000"/>
              </a:spcAft>
              <a:buSzPct val="100000"/>
              <a:buChar char="✓"/>
            </a:pPr>
            <a:r>
              <a:rPr lang="en-US" sz="1700" dirty="0">
                <a:solidFill>
                  <a:srgbClr val="141B26"/>
                </a:solidFill>
              </a:rPr>
              <a:t>Intensive farms: artificial fertilisers and pesticides, large fields, higher yield, more risk to rivers and food webs.</a:t>
            </a:r>
            <a:endParaRPr lang="en-US" sz="1700" dirty="0"/>
          </a:p>
          <a:p>
            <a:pPr marL="342900" indent="-342900">
              <a:spcAft>
                <a:spcPts val="1000"/>
              </a:spcAft>
              <a:buSzPct val="100000"/>
              <a:buChar char="✓"/>
            </a:pPr>
            <a:r>
              <a:rPr lang="en-US" sz="1700" dirty="0">
                <a:solidFill>
                  <a:srgbClr val="141B26"/>
                </a:solidFill>
              </a:rPr>
              <a:t>Across 9B: plants make glucose by photosynthesis and build everything else from it; farming is about supplying what plants need without wrecking what else lives there.</a:t>
            </a:r>
            <a:endParaRPr lang="en-US" sz="17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b="1" dirty="0">
                <a:solidFill>
                  <a:srgbClr val="7B3A8E"/>
                </a:solidFill>
              </a:rPr>
              <a:t>Next lesson  </a:t>
            </a:r>
            <a:pPr indent="0" marL="0">
              <a:buNone/>
            </a:pPr>
            <a:r>
              <a:rPr lang="en-US" sz="1300" dirty="0">
                <a:solidFill>
                  <a:srgbClr val="141B26"/>
                </a:solidFill>
              </a:rPr>
              <a:t>9C Threat from disease: pathogens, immunity and how the body is controlled.</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9B Lesson 7: Bias, validity and organic farming</dc:title>
  <dc:subject>PptxGenJS Presentation</dc:subject>
  <dc:creator>Year 9 Science</dc:creator>
  <cp:lastModifiedBy>Year 9 Science</cp:lastModifiedBy>
  <cp:revision>1</cp:revision>
  <dcterms:created xsi:type="dcterms:W3CDTF">2026-10-28T01:48:51Z</dcterms:created>
  <dcterms:modified xsi:type="dcterms:W3CDTF">2026-10-28T01:48:51Z</dcterms:modified>
</cp:coreProperties>
</file>