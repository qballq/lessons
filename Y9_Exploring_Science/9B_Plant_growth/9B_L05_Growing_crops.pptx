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F2A5F"/>
                </a:solidFill>
                <a:latin typeface="+mj-lt"/>
              </a:defRPr>
            </a:pPr>
            <a:r>
              <a:rPr sz="1600" b="0" i="0" u="none" strike="noStrike">
                <a:solidFill>
                  <a:srgbClr val="0F2A5F"/>
                </a:solidFill>
                <a:latin typeface="+mj-lt"/>
              </a:rPr>
              <a:t>Mean increase in height of bean seedlings after one week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increase in height (cm)</c:v>
                </c:pt>
              </c:strCache>
            </c:strRef>
          </c:tx>
          <c:spPr>
            <a:solidFill>
              <a:srgbClr val="7B3A8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B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 drops</c:v>
                  </c:pt>
                  <c:pt idx="1">
                    <c:v>4 drops</c:v>
                  </c:pt>
                  <c:pt idx="2">
                    <c:v>6 drops</c:v>
                  </c:pt>
                  <c:pt idx="3">
                    <c:v>8 drops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4.6</c:v>
                </c:pt>
                <c:pt idx="1">
                  <c:v>6.3</c:v>
                </c:pt>
                <c:pt idx="2">
                  <c:v>7.8</c:v>
                </c:pt>
                <c:pt idx="3">
                  <c:v>7.2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41B2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141B26"/>
                    </a:solidFill>
                    <a:latin typeface="+mn-lt"/>
                  </a:defRPr>
                </a:pPr>
                <a:r>
                  <a:rPr sz="1300" b="0" i="0" u="none" strike="noStrike">
                    <a:solidFill>
                      <a:srgbClr val="141B26"/>
                    </a:solidFill>
                    <a:latin typeface="+mn-lt"/>
                  </a:rPr>
                  <a:t>Liquid fertiliser added to each pot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1B2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B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141B26"/>
                    </a:solidFill>
                    <a:latin typeface="+mn-lt"/>
                  </a:defRPr>
                </a:pPr>
                <a:r>
                  <a:rPr sz="1300" b="0" i="0" u="none" strike="noStrike">
                    <a:solidFill>
                      <a:srgbClr val="141B26"/>
                    </a:solidFill>
                    <a:latin typeface="+mn-lt"/>
                  </a:rPr>
                  <a:t>Mean increase in height (cm)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1B2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5 of 9B. We move from the plant to the farm: what a farmer does to raise the yield, and the problems that come with it (next lesson).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the amount of useful product from the crop; e.g. water, mineral salts (fertiliser), light (greenhouse), warmth, protection from pests; to make space for big machines and more crop. Keep question 3 in mind for next lesson: hedges are habitats.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goal aloud. Point to the key words box on the worksheet; three of today's words end in -cide, which means 'kills'.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a list on the board: fertilisers, pesticides, better varieties, machines, greenhouses, irrigation, removing hedges. The Challenge question asks students to explain three of these, so leave the list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too little phosphate gives poor root growth; what does too little nitrate give? Poor growth and yellow leaves (proteins and chlorophyll). Manure is spread before planting so the decomposers have time; artificial fertiliser is sprayed on the growing crop because it works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Trend: growth increases as fertiliser increases from 2 to 6 drops; at 8 drops growth is lower. Why might too much fertiliser harm a plant? Too concentrated a solution around the roots can stop them absorbing water (link to osmosis in 9C). Students plot this chart on the worksheet.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does killing aphids raise the yield? Aphids take the sugar solution from the phloem, so less sugar reaches the grain or fruit. Selective herbicides are expensive: farmers in low-income countries may weed by hand instead (Stretch 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diagram: choose the shortest plants, breed them, choose the shortest of their offspring, repeat. Modern wheat is short and rust-resistant; a 1950s variety is tall and gets rust, so it is no longer grown. Challenge 1 uses the same idea with apples.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ecological audit records which species are present, how many there are, where they are and which are endangered; the evidence goes into a report that can recommend Key Biodiversity Area status. The My thinking question asks what the audit should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herbicide; nitrates, phosphates, potassium (any two); manure, because decomposers must break it down first; 6 drops; a group of plants bred to have certain characteristics.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charts: category axis labelled with the number of drops, height axis in cm, bars with gaps. The common error is joining the tops of the bars with a line as if it were continuous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Expected: use a medium amount (about 6 drops' worth), because more fertiliser reduced growth and costs money; repeat with more plants or more groups, test amounts between 6 and 8 drops, and measure for longer than a week. Also: we do not know the yield (beans), only the height.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mineral salts such as nitrates, phosphates and potassium; weeds, which compete with the crop for water, light and mineral salts; choose only the plants with the wanted characteristic to breed from (and repeat over many generations). Collect the strips.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Workbook pages 20 to 22. Page 22 is the ecological audit report template; it can be done in pairs.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F2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essons/design/assets/school_logo_horizonta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715000"/>
            <a:ext cx="2011680" cy="83210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1031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5760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0F2A5F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4"/>
                </a:solidFill>
              </a:rPr>
              <a:t>Year 9 Science  |  9B Plant growth  |  Lesson 5: Growing crops</a:t>
            </a:r>
            <a:endParaRPr lang="en-US" sz="1000" dirty="0"/>
          </a:p>
        </p:txBody>
      </p:sp>
      <p:pic>
        <p:nvPicPr>
          <p:cNvPr id="4" name="Image 0" descr="/home/user/lessons/design/assets/school_logo_horizontal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263640"/>
            <a:ext cx="1143000" cy="47548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NT">
    <p:bg>
      <p:bgPr>
        <a:solidFill>
          <a:srgbClr val="F1E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0F2A5F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4"/>
                </a:solidFill>
              </a:rPr>
              <a:t>Year 9 Science  |  9B Plant growth  |  Lesson 5: Growing crops</a:t>
            </a:r>
            <a:endParaRPr lang="en-US" sz="1000" dirty="0"/>
          </a:p>
        </p:txBody>
      </p:sp>
      <p:pic>
        <p:nvPicPr>
          <p:cNvPr id="4" name="Image 0" descr="/home/user/lessons/design/assets/school_logo_horizontal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263640"/>
            <a:ext cx="1143000" cy="47548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0F2A5F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4"/>
                </a:solidFill>
              </a:rPr>
              <a:t>Year 9 Science  |  9B Plant growth  |  Lesson 5: Growing crops</a:t>
            </a:r>
            <a:endParaRPr lang="en-US" sz="1000" dirty="0"/>
          </a:p>
        </p:txBody>
      </p:sp>
      <p:pic>
        <p:nvPicPr>
          <p:cNvPr id="4" name="Image 0" descr="/home/user/lessons/design/assets/school_logo_horizontal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263640"/>
            <a:ext cx="1143000" cy="47548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FETY">
    <p:bg>
      <p:bgPr>
        <a:solidFill>
          <a:srgbClr val="F2CE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rgbClr val="3A2E00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2E00"/>
                </a:solidFill>
              </a:rPr>
              <a:t>Year 9 Science  |  9B Plant growth  |  Lesson 5: Growing crops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CE3E"/>
                </a:solidFill>
              </a:rPr>
              <a:t>YEAR 9 SCIENCE  ·  9B PLANT GROWTH  ·  LESSON 5 OF 7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103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Growing crops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576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How do farmers get the biggest harvest from the same field?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74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E6"/>
                </a:solidFill>
              </a:rPr>
              <a:t>Exploring Science International 9  ·  Student Book pages 28 to 31  ·  Workbook pages 20 to 22</a:t>
            </a:r>
            <a:endParaRPr lang="en-US" sz="1400" dirty="0"/>
          </a:p>
        </p:txBody>
      </p:sp>
      <p:pic>
        <p:nvPicPr>
          <p:cNvPr id="6" name="Image 0" descr="/home/user/lessons/Y9_Exploring_Science/images/fertiliser_spread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909" y="4572000"/>
            <a:ext cx="2741861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F"/>
                </a:solidFill>
              </a:rPr>
              <a:t>Do Now: more from the same field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308031" y="411480"/>
            <a:ext cx="1335024" cy="384048"/>
          </a:xfrm>
          <a:prstGeom prst="roundRect">
            <a:avLst>
              <a:gd name="adj" fmla="val 50000"/>
            </a:avLst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08031" y="41148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DO NOW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682935" y="914400"/>
            <a:ext cx="9144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B3A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82935" y="914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A8E"/>
                </a:solidFill>
              </a:rPr>
              <a:t>4</a:t>
            </a:r>
            <a:endParaRPr lang="en-US" sz="2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574"/>
                </a:solidFill>
              </a:rPr>
              <a:t>min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60350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400" dirty="0">
                <a:solidFill>
                  <a:srgbClr val="141B26"/>
                </a:solidFill>
              </a:rPr>
              <a:t>1. What does the yield of a crop mean?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dirty="0">
                <a:solidFill>
                  <a:srgbClr val="141B26"/>
                </a:solidFill>
              </a:rPr>
              <a:t>2. Name three things a crop plant needs that a farmer can provide.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dirty="0">
                <a:solidFill>
                  <a:srgbClr val="141B26"/>
                </a:solidFill>
              </a:rPr>
              <a:t>3. Suggest why a farmer might remove a hedge from the edge of a field.</a:t>
            </a:r>
            <a:endParaRPr lang="en-US" sz="2400" dirty="0"/>
          </a:p>
        </p:txBody>
      </p:sp>
      <p:pic>
        <p:nvPicPr>
          <p:cNvPr id="8" name="Image 0" descr="/home/user/lessons/Y9_Exploring_Science/images/fertiliser_spread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751826"/>
            <a:ext cx="4754880" cy="31714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0" y="496901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1B26"/>
                </a:solidFill>
              </a:rPr>
              <a:t>Spreading fertiliser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574"/>
                </a:solidFill>
              </a:rPr>
              <a:t>Image: eutrophication&amp;hypoxia, CC BY 2.0, via Wikimedia Commons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F"/>
                </a:solidFill>
              </a:rPr>
              <a:t>Today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454335" y="4114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454335" y="4114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TODAY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3A8E"/>
                </a:solidFill>
              </a:rPr>
              <a:t>Today I can ...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1810512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F2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7373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1B26"/>
                </a:solidFill>
              </a:rPr>
              <a:t>I can explain how fertilisers, pesticides, greenhouses and machines increase crop yield, and how pests and population growth change the food supply.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94360" y="2679192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F2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260604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1B26"/>
                </a:solidFill>
              </a:rPr>
              <a:t>I can describe how new varieties are made by cross-breeding and selective breeding, and interpret the results of a fertiliser investigation.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11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3A8E"/>
                </a:solidFill>
              </a:rPr>
              <a:t>Key words today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069080"/>
            <a:ext cx="35152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600"/>
              </a:spcAft>
              <a:buSzPct val="100000"/>
              <a:buChar char="•"/>
            </a:pPr>
            <a:r>
              <a:rPr lang="en-US" sz="2100" b="1" dirty="0">
                <a:solidFill>
                  <a:srgbClr val="0F2A5F"/>
                </a:solidFill>
              </a:rPr>
              <a:t>yield</a:t>
            </a:r>
            <a:endParaRPr lang="en-US" sz="2100" dirty="0"/>
          </a:p>
          <a:p>
            <a:pPr marL="304800" indent="-304800">
              <a:spcAft>
                <a:spcPts val="600"/>
              </a:spcAft>
              <a:buSzPct val="100000"/>
              <a:buChar char="•"/>
            </a:pPr>
            <a:r>
              <a:rPr lang="en-US" sz="2100" b="1" dirty="0">
                <a:solidFill>
                  <a:srgbClr val="0F2A5F"/>
                </a:solidFill>
              </a:rPr>
              <a:t>fertiliser</a:t>
            </a:r>
            <a:endParaRPr lang="en-US" sz="2100" dirty="0"/>
          </a:p>
          <a:p>
            <a:pPr marL="304800" indent="-304800">
              <a:spcAft>
                <a:spcPts val="600"/>
              </a:spcAft>
              <a:buSzPct val="100000"/>
              <a:buChar char="•"/>
            </a:pPr>
            <a:r>
              <a:rPr lang="en-US" sz="2100" b="1" dirty="0">
                <a:solidFill>
                  <a:srgbClr val="0F2A5F"/>
                </a:solidFill>
              </a:rPr>
              <a:t>manure</a:t>
            </a:r>
            <a:endParaRPr lang="en-US" sz="2100" dirty="0"/>
          </a:p>
          <a:p>
            <a:pPr marL="304800" indent="-304800">
              <a:spcAft>
                <a:spcPts val="600"/>
              </a:spcAft>
              <a:buSzPct val="100000"/>
              <a:buChar char="•"/>
            </a:pPr>
            <a:r>
              <a:rPr lang="en-US" sz="2100" b="1" dirty="0">
                <a:solidFill>
                  <a:srgbClr val="0F2A5F"/>
                </a:solidFill>
              </a:rPr>
              <a:t>decomposer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4338218" y="4069080"/>
            <a:ext cx="35152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600"/>
              </a:spcAft>
              <a:buSzPct val="100000"/>
              <a:buChar char="•"/>
            </a:pPr>
            <a:r>
              <a:rPr lang="en-US" sz="2100" b="1" dirty="0">
                <a:solidFill>
                  <a:srgbClr val="0F2A5F"/>
                </a:solidFill>
              </a:rPr>
              <a:t>pesticide</a:t>
            </a:r>
            <a:endParaRPr lang="en-US" sz="2100" dirty="0"/>
          </a:p>
          <a:p>
            <a:pPr marL="304800" indent="-304800">
              <a:spcAft>
                <a:spcPts val="600"/>
              </a:spcAft>
              <a:buSzPct val="100000"/>
              <a:buChar char="•"/>
            </a:pPr>
            <a:r>
              <a:rPr lang="en-US" sz="2100" b="1" dirty="0">
                <a:solidFill>
                  <a:srgbClr val="0F2A5F"/>
                </a:solidFill>
              </a:rPr>
              <a:t>insecticide</a:t>
            </a:r>
            <a:endParaRPr lang="en-US" sz="2100" dirty="0"/>
          </a:p>
          <a:p>
            <a:pPr marL="304800" indent="-304800">
              <a:spcAft>
                <a:spcPts val="600"/>
              </a:spcAft>
              <a:buSzPct val="100000"/>
              <a:buChar char="•"/>
            </a:pPr>
            <a:r>
              <a:rPr lang="en-US" sz="2100" b="1" dirty="0">
                <a:solidFill>
                  <a:srgbClr val="0F2A5F"/>
                </a:solidFill>
              </a:rPr>
              <a:t>fungicide</a:t>
            </a:r>
            <a:endParaRPr lang="en-US" sz="2100" dirty="0"/>
          </a:p>
          <a:p>
            <a:pPr marL="304800" indent="-304800">
              <a:spcAft>
                <a:spcPts val="600"/>
              </a:spcAft>
              <a:buSzPct val="100000"/>
              <a:buChar char="•"/>
            </a:pPr>
            <a:r>
              <a:rPr lang="en-US" sz="2100" b="1" dirty="0">
                <a:solidFill>
                  <a:srgbClr val="0F2A5F"/>
                </a:solidFill>
              </a:rPr>
              <a:t>herbicide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8127797" y="4069080"/>
            <a:ext cx="35152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rgbClr val="0F2A5F"/>
                </a:solidFill>
              </a:rPr>
              <a:t>weed</a:t>
            </a:r>
            <a:endParaRPr lang="en-US" sz="2200" dirty="0"/>
          </a:p>
          <a:p>
            <a:pPr marL="304800" indent="-3048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rgbClr val="0F2A5F"/>
                </a:solidFill>
              </a:rPr>
              <a:t>variety</a:t>
            </a:r>
            <a:endParaRPr lang="en-US" sz="2200" dirty="0"/>
          </a:p>
          <a:p>
            <a:pPr marL="304800" indent="-3048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rgbClr val="0F2A5F"/>
                </a:solidFill>
              </a:rPr>
              <a:t>selective breeding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035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74"/>
                </a:solidFill>
              </a:rPr>
              <a:t>Meanings are in the key words box on your worksheet.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F"/>
                </a:solidFill>
              </a:rPr>
              <a:t>35 per cent more food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454335" y="4114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454335" y="4114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HOOK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5394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2A5F"/>
                </a:solidFill>
              </a:rPr>
              <a:t>Farms in the UK today produce 35% more food from each square metre of land than they did in 1973. How?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41B26"/>
                </a:solidFill>
              </a:rPr>
              <a:t>Talk to a partner. Make a list of everything a farmer could change.</a:t>
            </a:r>
            <a:endParaRPr lang="en-US" sz="2000" dirty="0"/>
          </a:p>
        </p:txBody>
      </p:sp>
      <p:pic>
        <p:nvPicPr>
          <p:cNvPr id="7" name="Image 0" descr="/home/user/lessons/Y9_Exploring_Science/images/crop_spray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614577"/>
            <a:ext cx="5303520" cy="353740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309360" y="5197703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1B26"/>
                </a:solidFill>
              </a:rPr>
              <a:t>Spraying a crop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574"/>
                </a:solidFill>
              </a:rPr>
              <a:t>Image: Rab ., CC BY 2.0, via Wikimedia Commons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F"/>
                </a:solidFill>
              </a:rPr>
              <a:t>Fertilisers and the best conditions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454335" y="4114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454335" y="4114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LEARN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3A8E"/>
                </a:solidFill>
              </a:rPr>
              <a:t>Key words  </a:t>
            </a:r>
            <a:pPr indent="0" marL="0">
              <a:buNone/>
            </a:pPr>
            <a:r>
              <a:rPr lang="en-US" sz="1400" dirty="0">
                <a:solidFill>
                  <a:srgbClr val="7B3A8E"/>
                </a:solidFill>
              </a:rPr>
              <a:t>fertiliser   ·   manure   ·   decomposer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576072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B26"/>
                </a:solidFill>
              </a:rPr>
              <a:t>Fertilisers contain mineral salts that help plants grow: nitrates, phosphates and potassium.</a:t>
            </a:r>
            <a:endParaRPr lang="en-US" sz="1800" dirty="0"/>
          </a:p>
          <a:p>
            <a:pPr marL="304800" indent="-304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B26"/>
                </a:solidFill>
              </a:rPr>
              <a:t>Artificial fertilisers are cheap, dissolve in water and act fast.</a:t>
            </a:r>
            <a:endParaRPr lang="en-US" sz="1800" dirty="0"/>
          </a:p>
          <a:p>
            <a:pPr marL="304800" indent="-304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B26"/>
                </a:solidFill>
              </a:rPr>
              <a:t>Manure (animal waste) is natural: decomposers break it down and release the mineral salts slowly.</a:t>
            </a:r>
            <a:endParaRPr lang="en-US" sz="1800" dirty="0"/>
          </a:p>
          <a:p>
            <a:pPr marL="304800" indent="-304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B26"/>
                </a:solidFill>
              </a:rPr>
              <a:t>Greenhouses protect crops from changes in abiotic factors such as temperature, wind and rain.</a:t>
            </a:r>
            <a:endParaRPr lang="en-US" sz="1800" dirty="0"/>
          </a:p>
          <a:p>
            <a:pPr marL="304800" indent="-304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B26"/>
                </a:solidFill>
              </a:rPr>
              <a:t>Machines plant and harvest faster than people; forests and hedges are cleared to make room for them.</a:t>
            </a:r>
            <a:endParaRPr lang="en-US" sz="1800" dirty="0"/>
          </a:p>
        </p:txBody>
      </p:sp>
      <p:pic>
        <p:nvPicPr>
          <p:cNvPr id="7" name="Image 0" descr="/home/user/lessons/Y9_Exploring_Science/images/cows_fiel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432560"/>
            <a:ext cx="5029200" cy="33528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583680" y="4831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1B26"/>
                </a:solidFill>
              </a:rPr>
              <a:t>Manure from farm animals is a natural fertiliser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574"/>
                </a:solidFill>
              </a:rPr>
              <a:t>Image: Ian Livesey, CC0, via Wikimedia Commons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5532120"/>
            <a:ext cx="11094415" cy="566928"/>
          </a:xfrm>
          <a:prstGeom prst="rect">
            <a:avLst/>
          </a:prstGeom>
          <a:solidFill>
            <a:srgbClr val="F1E5F4"/>
          </a:solidFill>
          <a:ln w="12700">
            <a:solidFill>
              <a:srgbClr val="F1E5F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55321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B3A8E"/>
                </a:solidFill>
              </a:rPr>
              <a:t>Key idea  </a:t>
            </a:r>
            <a:pPr indent="0" marL="0">
              <a:buNone/>
            </a:pPr>
            <a:r>
              <a:rPr lang="en-US" sz="1700" dirty="0">
                <a:solidFill>
                  <a:srgbClr val="141B26"/>
                </a:solidFill>
              </a:rPr>
              <a:t>Fertiliser supplies the mineral salts a plant builds with; the plant still makes its own food.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F"/>
                </a:solidFill>
              </a:rPr>
              <a:t>A fertiliser investigation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454335" y="4114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454335" y="4114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LEARN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3A8E"/>
                </a:solidFill>
              </a:rPr>
              <a:t>Key words  </a:t>
            </a:r>
            <a:pPr indent="0" marL="0">
              <a:buNone/>
            </a:pPr>
            <a:r>
              <a:rPr lang="en-US" sz="1400" dirty="0">
                <a:solidFill>
                  <a:srgbClr val="7B3A8E"/>
                </a:solidFill>
              </a:rPr>
              <a:t>yield   ·   fertiliser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325880"/>
          <a:ext cx="64008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223760" y="1371600"/>
            <a:ext cx="4389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B26"/>
                </a:solidFill>
              </a:rPr>
              <a:t>Four groups each grew 20 bean plants in identical pots, one plant per pot.</a:t>
            </a:r>
            <a:endParaRPr lang="en-US" sz="1800" dirty="0"/>
          </a:p>
          <a:p>
            <a:pPr marL="304800" indent="-304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B26"/>
                </a:solidFill>
              </a:rPr>
              <a:t>Each group added a different number of drops of the same liquid fertiliser.</a:t>
            </a:r>
            <a:endParaRPr lang="en-US" sz="1800" dirty="0"/>
          </a:p>
          <a:p>
            <a:pPr marL="304800" indent="-304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B26"/>
                </a:solidFill>
              </a:rPr>
              <a:t>Describe the trend from 2 to 6 drops.</a:t>
            </a:r>
            <a:endParaRPr lang="en-US" sz="1800" dirty="0"/>
          </a:p>
          <a:p>
            <a:pPr marL="304800" indent="-304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B26"/>
                </a:solidFill>
              </a:rPr>
              <a:t>What happened with 8 drops?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5852160"/>
            <a:ext cx="11094415" cy="566928"/>
          </a:xfrm>
          <a:prstGeom prst="rect">
            <a:avLst/>
          </a:prstGeom>
          <a:solidFill>
            <a:srgbClr val="F1E5F4"/>
          </a:solidFill>
          <a:ln w="12700">
            <a:solidFill>
              <a:srgbClr val="F1E5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58521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B3A8E"/>
                </a:solidFill>
              </a:rPr>
              <a:t>Key idea  </a:t>
            </a:r>
            <a:pPr indent="0" marL="0">
              <a:buNone/>
            </a:pPr>
            <a:r>
              <a:rPr lang="en-US" sz="1700" dirty="0">
                <a:solidFill>
                  <a:srgbClr val="141B26"/>
                </a:solidFill>
              </a:rPr>
              <a:t>More fertiliser helps up to a point; too much can harm the plants. There is an optimum amount.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F"/>
                </a:solidFill>
              </a:rPr>
              <a:t>Pesticides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454335" y="4114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454335" y="4114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LEARN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3A8E"/>
                </a:solidFill>
              </a:rPr>
              <a:t>Key words  </a:t>
            </a:r>
            <a:pPr indent="0" marL="0">
              <a:buNone/>
            </a:pPr>
            <a:r>
              <a:rPr lang="en-US" sz="1400" dirty="0">
                <a:solidFill>
                  <a:srgbClr val="7B3A8E"/>
                </a:solidFill>
              </a:rPr>
              <a:t>pesticide   ·   insecticide   ·   fungicide   ·   herbicide   ·   weed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576072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41B26"/>
                </a:solidFill>
              </a:rPr>
              <a:t>Pests are organisms that damage crops. Pesticides kill them.</a:t>
            </a:r>
            <a:endParaRPr lang="en-US" sz="1900" dirty="0"/>
          </a:p>
          <a:p>
            <a:pPr marL="304800" indent="-3048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41B26"/>
                </a:solidFill>
              </a:rPr>
              <a:t>Insecticides kill insect pests such as aphids.</a:t>
            </a:r>
            <a:endParaRPr lang="en-US" sz="1900" dirty="0"/>
          </a:p>
          <a:p>
            <a:pPr marL="304800" indent="-3048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41B26"/>
                </a:solidFill>
              </a:rPr>
              <a:t>Fungicides kill fungi that cause plant diseases such as rust.</a:t>
            </a:r>
            <a:endParaRPr lang="en-US" sz="1900" dirty="0"/>
          </a:p>
          <a:p>
            <a:pPr marL="304800" indent="-3048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41B26"/>
                </a:solidFill>
              </a:rPr>
              <a:t>Herbicides (weedkillers) kill weeds, which compete with the crop for water, light and mineral salts.</a:t>
            </a:r>
            <a:endParaRPr lang="en-US" sz="1900" dirty="0"/>
          </a:p>
          <a:p>
            <a:pPr marL="304800" indent="-3048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41B26"/>
                </a:solidFill>
              </a:rPr>
              <a:t>Selective herbicides kill broad-leaved weeds but not narrow-leaved crops such as wheat.</a:t>
            </a:r>
            <a:endParaRPr lang="en-US" sz="1900" dirty="0"/>
          </a:p>
        </p:txBody>
      </p:sp>
      <p:pic>
        <p:nvPicPr>
          <p:cNvPr id="7" name="Image 0" descr="/home/user/lessons/Y9_Exploring_Science/images/aphid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9880" y="1280160"/>
            <a:ext cx="4876800" cy="3657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583680" y="49834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1B26"/>
                </a:solidFill>
              </a:rPr>
              <a:t>Aphids suck sugary sap from the phloem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574"/>
                </a:solidFill>
              </a:rPr>
              <a:t>Image: Ivan Radic, CC BY 2.0, via Wikimedia Commons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5532120"/>
            <a:ext cx="11094415" cy="566928"/>
          </a:xfrm>
          <a:prstGeom prst="rect">
            <a:avLst/>
          </a:prstGeom>
          <a:solidFill>
            <a:srgbClr val="F1E5F4"/>
          </a:solidFill>
          <a:ln w="12700">
            <a:solidFill>
              <a:srgbClr val="F1E5F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55321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B3A8E"/>
                </a:solidFill>
              </a:rPr>
              <a:t>Key idea  </a:t>
            </a:r>
            <a:pPr indent="0" marL="0">
              <a:buNone/>
            </a:pPr>
            <a:r>
              <a:rPr lang="en-US" sz="1700" dirty="0">
                <a:solidFill>
                  <a:srgbClr val="141B26"/>
                </a:solidFill>
              </a:rPr>
              <a:t>-cide means 'kills': insecticide, fungicide and herbicide are all pesticides.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F"/>
                </a:solidFill>
              </a:rPr>
              <a:t>New varieties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454335" y="4114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454335" y="4114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LEARN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3A8E"/>
                </a:solidFill>
              </a:rPr>
              <a:t>Key words  </a:t>
            </a:r>
            <a:pPr indent="0" marL="0">
              <a:buNone/>
            </a:pPr>
            <a:r>
              <a:rPr lang="en-US" sz="1400" dirty="0">
                <a:solidFill>
                  <a:srgbClr val="7B3A8E"/>
                </a:solidFill>
              </a:rPr>
              <a:t>variety   ·   selective breeding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34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B26"/>
                </a:solidFill>
              </a:rPr>
              <a:t>A variety is a group of plants bred to have certain characteristics, such as resistance to rust disease or short stems that do not blow over.</a:t>
            </a:r>
            <a:endParaRPr lang="en-US" sz="1500" dirty="0"/>
          </a:p>
        </p:txBody>
      </p:sp>
      <p:pic>
        <p:nvPicPr>
          <p:cNvPr id="7" name="Image 0" descr="/home/user/lessons/Y9_Exploring_Science/source/diagrams/selective_bree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5320" y="1737360"/>
            <a:ext cx="8128000" cy="3657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5532120"/>
            <a:ext cx="11094415" cy="566928"/>
          </a:xfrm>
          <a:prstGeom prst="rect">
            <a:avLst/>
          </a:prstGeom>
          <a:solidFill>
            <a:srgbClr val="F1E5F4"/>
          </a:solidFill>
          <a:ln w="12700">
            <a:solidFill>
              <a:srgbClr val="F1E5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55321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B3A8E"/>
                </a:solidFill>
              </a:rPr>
              <a:t>Key idea  </a:t>
            </a:r>
            <a:pPr indent="0" marL="0">
              <a:buNone/>
            </a:pPr>
            <a:r>
              <a:rPr lang="en-US" sz="1700" dirty="0">
                <a:solidFill>
                  <a:srgbClr val="141B26"/>
                </a:solidFill>
              </a:rPr>
              <a:t>Cross-breeding: two varieties bred together to combine their characteristics. Selective breeding: only the best plants are used to breed, generation after generation.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F"/>
                </a:solidFill>
              </a:rPr>
              <a:t>Food supply and wild plants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454335" y="4114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454335" y="4114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LEARN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3A8E"/>
                </a:solidFill>
              </a:rPr>
              <a:t>Key words  </a:t>
            </a:r>
            <a:pPr indent="0" marL="0">
              <a:buNone/>
            </a:pPr>
            <a:r>
              <a:rPr lang="en-US" sz="1400" dirty="0">
                <a:solidFill>
                  <a:srgbClr val="7B3A8E"/>
                </a:solidFill>
              </a:rPr>
              <a:t>yield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576072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B26"/>
                </a:solidFill>
              </a:rPr>
              <a:t>In low-income countries many families grow their own crops. More people in the family, or more pests, means less food for each person.</a:t>
            </a:r>
            <a:endParaRPr lang="en-US" sz="1800" dirty="0"/>
          </a:p>
          <a:p>
            <a:pPr marL="304800" indent="-304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B26"/>
                </a:solidFill>
              </a:rPr>
              <a:t>Selective herbicides cost money, so some farmers weed by hand.</a:t>
            </a:r>
            <a:endParaRPr lang="en-US" sz="1800" dirty="0"/>
          </a:p>
          <a:p>
            <a:pPr marL="304800" indent="-304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B26"/>
                </a:solidFill>
              </a:rPr>
              <a:t>Farming can also destroy the habitats of wild plants. Endemic species, found nowhere else, are most at risk.</a:t>
            </a:r>
            <a:endParaRPr lang="en-US" sz="1800" dirty="0"/>
          </a:p>
          <a:p>
            <a:pPr marL="304800" indent="-304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B26"/>
                </a:solidFill>
              </a:rPr>
              <a:t>The IUCN Red List classifies species from least concern to critically endangered.</a:t>
            </a:r>
            <a:endParaRPr lang="en-US" sz="1800" dirty="0"/>
          </a:p>
          <a:p>
            <a:pPr marL="304800" indent="-304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B26"/>
                </a:solidFill>
              </a:rPr>
              <a:t>Before land is farmed, a plant ecologist may carry out an ecological audit.</a:t>
            </a:r>
            <a:endParaRPr lang="en-US" sz="1800" dirty="0"/>
          </a:p>
        </p:txBody>
      </p:sp>
      <p:pic>
        <p:nvPicPr>
          <p:cNvPr id="7" name="Image 0" descr="/home/user/lessons/Y9_Exploring_Science/images/iucn_red_li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442392"/>
            <a:ext cx="5029200" cy="333313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583680" y="482124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1B26"/>
                </a:solidFill>
              </a:rPr>
              <a:t>The ring-tailed lemur is listed as Endangered on the IUCN Red List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574"/>
                </a:solidFill>
              </a:rPr>
              <a:t>Image: Mathias Appel, CC0, via Wikimedia Commons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5532120"/>
            <a:ext cx="11094415" cy="566928"/>
          </a:xfrm>
          <a:prstGeom prst="rect">
            <a:avLst/>
          </a:prstGeom>
          <a:solidFill>
            <a:srgbClr val="F1E5F4"/>
          </a:solidFill>
          <a:ln w="12700">
            <a:solidFill>
              <a:srgbClr val="F1E5F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55321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B3A8E"/>
                </a:solidFill>
              </a:rPr>
              <a:t>Key idea  </a:t>
            </a:r>
            <a:pPr indent="0" marL="0">
              <a:buNone/>
            </a:pPr>
            <a:r>
              <a:rPr lang="en-US" sz="1700" dirty="0">
                <a:solidFill>
                  <a:srgbClr val="141B26"/>
                </a:solidFill>
              </a:rPr>
              <a:t>Raising the food supply and protecting wild plants both matter; an ecological audit helps decide where farming can expand.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F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454335" y="4114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454335" y="4114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CHECK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574"/>
                </a:solidFill>
              </a:rPr>
              <a:t>Mini whiteboards. One answer each, then we check.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78308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3A8E"/>
                </a:solidFill>
              </a:rPr>
              <a:t>Q1  </a:t>
            </a:r>
            <a:pPr indent="0" marL="0">
              <a:buNone/>
            </a:pPr>
            <a:r>
              <a:rPr lang="en-US" sz="2000" dirty="0">
                <a:solidFill>
                  <a:srgbClr val="141B26"/>
                </a:solidFill>
              </a:rPr>
              <a:t>Which type of pesticide kills weeds?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60604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3A8E"/>
                </a:solidFill>
              </a:rPr>
              <a:t>Q2  </a:t>
            </a:r>
            <a:pPr indent="0" marL="0">
              <a:buNone/>
            </a:pPr>
            <a:r>
              <a:rPr lang="en-US" sz="2000" dirty="0">
                <a:solidFill>
                  <a:srgbClr val="141B26"/>
                </a:solidFill>
              </a:rPr>
              <a:t>Name two mineral salts found in fertilisers.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42900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3A8E"/>
                </a:solidFill>
              </a:rPr>
              <a:t>Q3  </a:t>
            </a:r>
            <a:pPr indent="0" marL="0">
              <a:buNone/>
            </a:pPr>
            <a:r>
              <a:rPr lang="en-US" sz="2000" dirty="0">
                <a:solidFill>
                  <a:srgbClr val="141B26"/>
                </a:solidFill>
              </a:rPr>
              <a:t>Which fertiliser works more slowly, manure or artificial fertiliser? Why?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25196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3A8E"/>
                </a:solidFill>
              </a:rPr>
              <a:t>Q4  </a:t>
            </a:r>
            <a:pPr indent="0" marL="0">
              <a:buNone/>
            </a:pPr>
            <a:r>
              <a:rPr lang="en-US" sz="2000" dirty="0">
                <a:solidFill>
                  <a:srgbClr val="141B26"/>
                </a:solidFill>
              </a:rPr>
              <a:t>In the bean investigation, which number of drops gave the most growth?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507492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3A8E"/>
                </a:solidFill>
              </a:rPr>
              <a:t>Q5  </a:t>
            </a:r>
            <a:pPr indent="0" marL="0">
              <a:buNone/>
            </a:pPr>
            <a:r>
              <a:rPr lang="en-US" sz="2000" dirty="0">
                <a:solidFill>
                  <a:srgbClr val="141B26"/>
                </a:solidFill>
              </a:rPr>
              <a:t>What is a variety?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F"/>
                </a:solidFill>
              </a:rPr>
              <a:t>Your turn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454335" y="4114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454335" y="4114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DO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682935" y="914400"/>
            <a:ext cx="9144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B3A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82935" y="914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A8E"/>
                </a:solidFill>
              </a:rPr>
              <a:t>14</a:t>
            </a:r>
            <a:endParaRPr lang="en-US" sz="2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574"/>
                </a:solidFill>
              </a:rPr>
              <a:t>min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37160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1B26"/>
                </a:solidFill>
              </a:rPr>
              <a:t>Core: match the pesticides, plot the bean plant results on the grid and describe the trend, then fill the gaps on fertilisers.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28600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1B26"/>
                </a:solidFill>
              </a:rPr>
              <a:t>Stretch: aphids and yield; selective herbicides; improving the investigation.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20040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1B26"/>
                </a:solidFill>
              </a:rPr>
              <a:t>Challenge: breeding a yellow sweet apple; 35% more food since 1973.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11480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1B26"/>
                </a:solidFill>
              </a:rPr>
              <a:t>Finished? Answer the My thinking question about the ecological audit.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778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4"/>
                </a:solidFill>
              </a:rPr>
              <a:t>Bar chart: the four groups are separate categories, so leave gaps between the bars. Label both axes with units.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F"/>
                </a:solidFill>
              </a:rPr>
              <a:t>Advice for the farmer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698687" y="411480"/>
            <a:ext cx="2944368" cy="384048"/>
          </a:xfrm>
          <a:prstGeom prst="roundRect">
            <a:avLst>
              <a:gd name="adj" fmla="val 50000"/>
            </a:avLst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98687" y="411480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THINK AND REFLECT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0881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A5F"/>
                </a:solidFill>
              </a:rPr>
              <a:t>Group 4 added 8 drops and got less growth than group 3 with 6 drops. What would you advise a farmer about how much fertiliser to use? What would you change in the investigation to be more sure?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108813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7B3A8E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777240" y="3520440"/>
            <a:ext cx="10424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7B3A8E"/>
                </a:solidFill>
              </a:rPr>
              <a:t>Sentence frames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41B26"/>
                </a:solidFill>
              </a:rPr>
              <a:t>I would advise the farmer to ___ because ___.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41B26"/>
                </a:solidFill>
              </a:rPr>
              <a:t>To be more sure, I would ___ because ___.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41B26"/>
                </a:solidFill>
              </a:rPr>
              <a:t>One thing we do not know is ___.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F"/>
                </a:solidFill>
              </a:rPr>
              <a:t>Exit ticket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576511" y="411480"/>
            <a:ext cx="2066544" cy="384048"/>
          </a:xfrm>
          <a:prstGeom prst="roundRect">
            <a:avLst>
              <a:gd name="adj" fmla="val 50000"/>
            </a:avLst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576511" y="411480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EXIT TICKET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574"/>
                </a:solidFill>
              </a:rPr>
              <a:t>On your worksheet exit ticket. Work alone. Hand it in as you leave.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7B3A8E"/>
                </a:solidFill>
              </a:rPr>
              <a:t>1.  </a:t>
            </a:r>
            <a:pPr indent="0" marL="0">
              <a:buNone/>
            </a:pPr>
            <a:r>
              <a:rPr lang="en-US" sz="2200" dirty="0">
                <a:solidFill>
                  <a:srgbClr val="141B26"/>
                </a:solidFill>
              </a:rPr>
              <a:t>What do fertilisers contain that helps plants grow?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1752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7B3A8E"/>
                </a:solidFill>
              </a:rPr>
              <a:t>2.  </a:t>
            </a:r>
            <a:pPr indent="0" marL="0">
              <a:buNone/>
            </a:pPr>
            <a:r>
              <a:rPr lang="en-US" sz="2200" dirty="0">
                <a:solidFill>
                  <a:srgbClr val="141B26"/>
                </a:solidFill>
              </a:rPr>
              <a:t>What do herbicides kill, and why does this help the crop?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20624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7B3A8E"/>
                </a:solidFill>
              </a:rPr>
              <a:t>3.  </a:t>
            </a:r>
            <a:pPr indent="0" marL="0">
              <a:buNone/>
            </a:pPr>
            <a:r>
              <a:rPr lang="en-US" sz="2200" dirty="0">
                <a:solidFill>
                  <a:srgbClr val="141B26"/>
                </a:solidFill>
              </a:rPr>
              <a:t>Describe one step in selective breeding.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682935" y="914400"/>
            <a:ext cx="9144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B3A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682935" y="914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A8E"/>
                </a:solidFill>
              </a:rPr>
              <a:t>4</a:t>
            </a:r>
            <a:endParaRPr lang="en-US" sz="2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574"/>
                </a:solidFill>
              </a:rPr>
              <a:t>min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F"/>
                </a:solidFill>
              </a:rPr>
              <a:t>What we learned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61727" y="411480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61727" y="41148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SUMMARY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881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2000" dirty="0">
                <a:solidFill>
                  <a:srgbClr val="141B26"/>
                </a:solidFill>
              </a:rPr>
              <a:t>Yield is raised by fertilisers (mineral salts), greenhouses, machines and clearing land.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2000" dirty="0">
                <a:solidFill>
                  <a:srgbClr val="141B26"/>
                </a:solidFill>
              </a:rPr>
              <a:t>Too much fertiliser can reduce growth: there is an optimum amount.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2000" dirty="0">
                <a:solidFill>
                  <a:srgbClr val="141B26"/>
                </a:solidFill>
              </a:rPr>
              <a:t>Pesticides kill pests: insecticides, fungicides and herbicides; selective herbicides spare narrow-leaved crops.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2000" dirty="0">
                <a:solidFill>
                  <a:srgbClr val="141B26"/>
                </a:solidFill>
              </a:rPr>
              <a:t>New varieties come from cross-breeding and selective breeding over many generations.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2000" dirty="0">
                <a:solidFill>
                  <a:srgbClr val="141B26"/>
                </a:solidFill>
              </a:rPr>
              <a:t>Farming must be balanced against protecting wild plants, especially endemic species.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5778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3A8E"/>
                </a:solidFill>
              </a:rPr>
              <a:t>Next lesson  </a:t>
            </a:r>
            <a:pPr indent="0" marL="0">
              <a:buNone/>
            </a:pPr>
            <a:r>
              <a:rPr lang="en-US" sz="1400" dirty="0">
                <a:solidFill>
                  <a:srgbClr val="141B26"/>
                </a:solidFill>
              </a:rPr>
              <a:t>Farming problems: fertiliser in rivers, persistent pesticides, single varieties and the carbon cycle.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Year 9 Science">
  <a:themeElements>
    <a:clrScheme name="Year 9 Science">
      <a:dk1>
        <a:srgbClr val="141B26"/>
      </a:dk1>
      <a:lt1>
        <a:srgbClr val="FFFFFF"/>
      </a:lt1>
      <a:dk2>
        <a:srgbClr val="0F2A5F"/>
      </a:dk2>
      <a:lt2>
        <a:srgbClr val="EEF1F5"/>
      </a:lt2>
      <a:accent1>
        <a:srgbClr val="7B3A8E"/>
      </a:accent1>
      <a:accent2>
        <a:srgbClr val="F2CE3E"/>
      </a:accent2>
      <a:accent3>
        <a:srgbClr val="5B6574"/>
      </a:accent3>
      <a:accent4>
        <a:srgbClr val="D5DBE3"/>
      </a:accent4>
      <a:accent5>
        <a:srgbClr val="F1E5F4"/>
      </a:accent5>
      <a:accent6>
        <a:srgbClr val="1E7DB0"/>
      </a:accent6>
      <a:hlink>
        <a:srgbClr val="1E7DB0"/>
      </a:hlink>
      <a:folHlink>
        <a:srgbClr val="7B3A8E"/>
      </a:folHlink>
    </a:clrScheme>
    <a:fontScheme name="Year 9 Scien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9B Lesson 5: Growing crops</dc:title>
  <dc:subject>PptxGenJS Presentation</dc:subject>
  <dc:creator>Year 9 Science</dc:creator>
  <cp:lastModifiedBy>Year 9 Science</cp:lastModifiedBy>
  <cp:revision>1</cp:revision>
  <dcterms:created xsi:type="dcterms:W3CDTF">2026-10-28T09:45:22Z</dcterms:created>
  <dcterms:modified xsi:type="dcterms:W3CDTF">2026-10-28T09:45:22Z</dcterms:modified>
</cp:coreProperties>
</file>