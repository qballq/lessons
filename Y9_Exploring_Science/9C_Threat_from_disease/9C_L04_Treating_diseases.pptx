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of 9C. Lessons 1 and 2 covered types of disease and immunity. Today: treating disease, from antibiotics to transgenic bacteria. The fermenter links to 9Cc in the Student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in books. Antibiotic (kills bacteria); give vitamin C in the diet (fresh fruit and vegetables); no, a vaccine makes memory cells before infection, it is prevention not treatment. Keep answers on the board for the Learn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the key words box on the worksheet. The Chinese key words version has the same words with Chinese beside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mould (Penicillium) made penicillin, the first antibiotic. Moulds and bacteria compete for food, so a chemical that kills bacteria gives the mould an advantage. Antibiotics have saved millions of lives since the 1940s, but they only work on bacteria.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medicine is a drug, but not every drug is a medicine (caffeine affects the body but does not treat disease). An antibiotic for flu does nothing and can help bacteria become resistant. Other drugs treat lifestyle diseases such as heart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of the five types of disease from Lesson 1. Insulin makes cells take up glucose (Lesson 3); without it, glucose stays in the blood at high levels and damages blood vessels, eyes and kidneys. People with type 1 diabetes inject insulin several times a day. Where does that insulin come from?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Genes are sections of DNA (9A). Because every living thing uses the same DNA code, a human gene works inside a bacterium. Genetically modified means the DNA has been altered by scientists; it is transgenic only if DNA from another species was added. Removing a gene makes a GM organism that is not transgenic.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round the diagram: steam sterilises the fermenter before use; nutrients (including carbohydrates to feed on) and acid or alkali to keep the pH steady go in at the top; filtered air supplies oxygen for respiration; stirring paddles keep the bacteria from sinking and mix nutrients, oxygen and heat; the water jacket keeps the temperature at the best value for the enzymes; probes check temperature and pH; the hormone is harvested at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drug is any substance that affects how the body works, and medicines do that to treat or prevent disease; no, flu is caused by a virus and antibiotics only kill bacteria; the pancreas; contains DNA from more than one species; to remove microorganisms from the air so they do not contaminate the fermenter.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error: giving an antibiotic for every infection. Check the treatment table first. For Stretch 2, students should mention cutting the human gene from a chromosome, putting it into the bacterial DNA, and the bacteria then making the hormone.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colds are caused by viruses; antibiotics kill bacteria, so they would not help; using antibiotics when not needed lets bacteria that survive become resistant, so the medicine stops working for everyone; rest, fluids and letting the immune system (Lesson 2) deal with it. Antivirals exist for some viruses but not usually for colds.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antibiotics kill bacteria, antivirals stop viruses replicating; contains DNA from more than one species; so that no other microorganisms grow in it, which could be harmful or reduce hormone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 32 (9Cc Treating diseases). The fermenter questions on that page match the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rtlCol="0"/>
          <a:lstStyle>
            <a:lvl1pPr indent="0" marL="0">
              <a:buNone/>
              <a:defRPr lang="en-US" sz="2000" dirty="0">
                <a:solidFill>
                  <a:srgbClr val="FFFFFF"/>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4: Treating diseases</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4: Treating diseases</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4: Treating diseases</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3A2E00"/>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9C Threat from disease  |  Lesson 4: Treating diseases</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300" b="1" spc="200" kern="0" dirty="0">
                <a:solidFill>
                  <a:srgbClr val="F2CE3E"/>
                </a:solidFill>
              </a:rPr>
              <a:t>YEAR 9 SCIENCE  ·  9C THREAT FROM DISEASE  ·  LESSON 4 OF 7</a:t>
            </a:r>
            <a:endParaRPr lang="en-US" sz="13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Treating diseases</a:t>
            </a: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lIns="0" tIns="0" rIns="0" bIns="0" rtlCol="0" anchor="t"/>
          <a:lstStyle/>
          <a:p>
            <a:pPr indent="0" marL="0">
              <a:buNone/>
            </a:pPr>
            <a:r>
              <a:rPr lang="en-US" sz="2000" dirty="0">
                <a:solidFill>
                  <a:srgbClr val="FFFFFF"/>
                </a:solidFill>
              </a:rPr>
              <a:t>Which medicine for which disease, and how do bacteria make human insulin?</a:t>
            </a:r>
            <a:endParaRPr lang="en-US" sz="20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200" dirty="0">
                <a:solidFill>
                  <a:srgbClr val="C9D3E6"/>
                </a:solidFill>
              </a:rPr>
              <a:t>Exploring Science International 9  ·  Student Book pages 44 to 45  ·  Workbook pages 32</a:t>
            </a:r>
            <a:endParaRPr lang="en-US" sz="1200" dirty="0"/>
          </a:p>
        </p:txBody>
      </p:sp>
      <p:pic>
        <p:nvPicPr>
          <p:cNvPr id="6" name="Image 0" descr="/home/user/lessons/Y9_Exploring_Science/images/antibiotics.jpg">    </p:cNvPr>
          <p:cNvPicPr>
            <a:picLocks noChangeAspect="1"/>
          </p:cNvPicPr>
          <p:nvPr/>
        </p:nvPicPr>
        <p:blipFill>
          <a:blip r:embed="rId1"/>
          <a:stretch>
            <a:fillRect/>
          </a:stretch>
        </p:blipFill>
        <p:spPr>
          <a:xfrm>
            <a:off x="8930640" y="4572000"/>
            <a:ext cx="24384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which treatment?</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9692640" cy="4480560"/>
          </a:xfrm>
          <a:prstGeom prst="rect">
            <a:avLst/>
          </a:prstGeom>
          <a:noFill/>
          <a:ln/>
        </p:spPr>
        <p:txBody>
          <a:bodyPr wrap="square" lIns="0" tIns="0" rIns="0" bIns="0" rtlCol="0" anchor="t">
            <a:normAutofit/>
          </a:bodyPr>
          <a:lstStyle/>
          <a:p>
            <a:pPr indent="0" marL="0">
              <a:spcAft>
                <a:spcPts val="1000"/>
              </a:spcAft>
              <a:buNone/>
            </a:pPr>
            <a:r>
              <a:rPr lang="en-US" sz="2000" dirty="0">
                <a:solidFill>
                  <a:srgbClr val="141B26"/>
                </a:solidFill>
              </a:rPr>
              <a:t>1. An ear infection is caused by bacteria. Would you give an antibiotic or an antiviral?</a:t>
            </a:r>
            <a:endParaRPr lang="en-US" sz="2000" dirty="0"/>
          </a:p>
          <a:p>
            <a:pPr indent="0" marL="0">
              <a:spcAft>
                <a:spcPts val="1000"/>
              </a:spcAft>
              <a:buNone/>
            </a:pPr>
            <a:r>
              <a:rPr lang="en-US" sz="2000" dirty="0">
                <a:solidFill>
                  <a:srgbClr val="141B26"/>
                </a:solidFill>
              </a:rPr>
              <a:t>2. Scurvy is caused by too little vitamin C. How would you treat it?</a:t>
            </a:r>
            <a:endParaRPr lang="en-US" sz="2000" dirty="0"/>
          </a:p>
          <a:p>
            <a:pPr indent="0" marL="0">
              <a:spcAft>
                <a:spcPts val="1000"/>
              </a:spcAft>
              <a:buNone/>
            </a:pPr>
            <a:r>
              <a:rPr lang="en-US" sz="2000" dirty="0">
                <a:solidFill>
                  <a:srgbClr val="141B26"/>
                </a:solidFill>
              </a:rPr>
              <a:t>3. A vaccine prevents a disease. Can it treat someone who already has it?</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325880"/>
            <a:ext cx="5669280" cy="457200"/>
          </a:xfrm>
          <a:prstGeom prst="rect">
            <a:avLst/>
          </a:prstGeom>
          <a:noFill/>
          <a:ln/>
        </p:spPr>
        <p:txBody>
          <a:bodyPr wrap="square" lIns="0" tIns="0" rIns="0" bIns="0" rtlCol="0" anchor="ctr"/>
          <a:lstStyle/>
          <a:p>
            <a:pPr indent="0" marL="0">
              <a:buNone/>
            </a:pPr>
            <a:r>
              <a:rPr lang="en-US" sz="2000" b="1" dirty="0">
                <a:solidFill>
                  <a:srgbClr val="7B3A8E"/>
                </a:solidFill>
              </a:rPr>
              <a:t>Today I can ...</a:t>
            </a:r>
            <a:endParaRPr lang="en-US" sz="2000" dirty="0"/>
          </a:p>
        </p:txBody>
      </p:sp>
      <p:sp>
        <p:nvSpPr>
          <p:cNvPr id="6" name="Shape 4"/>
          <p:cNvSpPr/>
          <p:nvPr/>
        </p:nvSpPr>
        <p:spPr>
          <a:xfrm>
            <a:off x="594360" y="1947672"/>
            <a:ext cx="292608" cy="292608"/>
          </a:xfrm>
          <a:prstGeom prst="rect">
            <a:avLst/>
          </a:prstGeom>
          <a:solidFill>
            <a:srgbClr val="FFFFFF"/>
          </a:solidFill>
          <a:ln w="19050">
            <a:solidFill>
              <a:srgbClr val="0F2A5F"/>
            </a:solidFill>
            <a:prstDash val="solid"/>
          </a:ln>
        </p:spPr>
      </p:sp>
      <p:sp>
        <p:nvSpPr>
          <p:cNvPr id="7" name="Text 5"/>
          <p:cNvSpPr txBox="1"/>
          <p:nvPr/>
        </p:nvSpPr>
        <p:spPr>
          <a:xfrm>
            <a:off x="1051560" y="187452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explain which medicines treat which types of disease, and why antibiotics do not work on viruses.</a:t>
            </a:r>
            <a:endParaRPr lang="en-US" sz="1600" dirty="0"/>
          </a:p>
        </p:txBody>
      </p:sp>
      <p:sp>
        <p:nvSpPr>
          <p:cNvPr id="8" name="Shape 6"/>
          <p:cNvSpPr/>
          <p:nvPr/>
        </p:nvSpPr>
        <p:spPr>
          <a:xfrm>
            <a:off x="594360" y="2907792"/>
            <a:ext cx="292608" cy="292608"/>
          </a:xfrm>
          <a:prstGeom prst="rect">
            <a:avLst/>
          </a:prstGeom>
          <a:solidFill>
            <a:srgbClr val="FFFFFF"/>
          </a:solidFill>
          <a:ln w="19050">
            <a:solidFill>
              <a:srgbClr val="0F2A5F"/>
            </a:solidFill>
            <a:prstDash val="solid"/>
          </a:ln>
        </p:spPr>
      </p:sp>
      <p:sp>
        <p:nvSpPr>
          <p:cNvPr id="9" name="Text 7"/>
          <p:cNvSpPr txBox="1"/>
          <p:nvPr/>
        </p:nvSpPr>
        <p:spPr>
          <a:xfrm>
            <a:off x="1051560" y="283464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explain how large amounts of human hormones are made quickly using genetically modified bacteria in a fermenter.</a:t>
            </a:r>
            <a:endParaRPr lang="en-US" sz="1600" dirty="0"/>
          </a:p>
        </p:txBody>
      </p:sp>
      <p:sp>
        <p:nvSpPr>
          <p:cNvPr id="10" name="Text 8"/>
          <p:cNvSpPr txBox="1"/>
          <p:nvPr/>
        </p:nvSpPr>
        <p:spPr>
          <a:xfrm>
            <a:off x="6583680" y="1325880"/>
            <a:ext cx="5029200" cy="457200"/>
          </a:xfrm>
          <a:prstGeom prst="rect">
            <a:avLst/>
          </a:prstGeom>
          <a:noFill/>
          <a:ln/>
        </p:spPr>
        <p:txBody>
          <a:bodyPr wrap="square" lIns="0" tIns="0" rIns="0" bIns="0" rtlCol="0" anchor="ctr"/>
          <a:lstStyle/>
          <a:p>
            <a:pPr indent="0" marL="0">
              <a:buNone/>
            </a:pPr>
            <a:r>
              <a:rPr lang="en-US" sz="2000" b="1" dirty="0">
                <a:solidFill>
                  <a:srgbClr val="7B3A8E"/>
                </a:solidFill>
              </a:rPr>
              <a:t>Key words today</a:t>
            </a:r>
            <a:endParaRPr lang="en-US" sz="2000" dirty="0"/>
          </a:p>
        </p:txBody>
      </p:sp>
      <p:sp>
        <p:nvSpPr>
          <p:cNvPr id="11" name="Text 9"/>
          <p:cNvSpPr txBox="1"/>
          <p:nvPr/>
        </p:nvSpPr>
        <p:spPr>
          <a:xfrm>
            <a:off x="6583680" y="1874520"/>
            <a:ext cx="5029200" cy="4023360"/>
          </a:xfrm>
          <a:prstGeom prst="rect">
            <a:avLst/>
          </a:prstGeom>
          <a:noFill/>
          <a:ln/>
        </p:spPr>
        <p:txBody>
          <a:bodyPr wrap="square" lIns="0" tIns="0" rIns="0" bIns="0" rtlCol="0" anchor="t">
            <a:normAutofit/>
          </a:bodyPr>
          <a:lstStyle/>
          <a:p>
            <a:pPr indent="0" marL="0">
              <a:spcAft>
                <a:spcPts val="500"/>
              </a:spcAft>
              <a:buNone/>
            </a:pPr>
            <a:r>
              <a:rPr lang="en-US" sz="1300" b="1" dirty="0">
                <a:solidFill>
                  <a:srgbClr val="0F2A5F"/>
                </a:solidFill>
              </a:rPr>
              <a:t>drug</a:t>
            </a:r>
            <a:pPr indent="0" marL="0">
              <a:spcAft>
                <a:spcPts val="500"/>
              </a:spcAft>
              <a:buNone/>
            </a:pPr>
            <a:r>
              <a:rPr lang="en-US" sz="1300" dirty="0">
                <a:solidFill>
                  <a:srgbClr val="141B26"/>
                </a:solidFill>
              </a:rPr>
              <a:t>  a substance that affects how the body works</a:t>
            </a:r>
            <a:endParaRPr lang="en-US" sz="1300" dirty="0"/>
          </a:p>
          <a:p>
            <a:pPr indent="0" marL="0">
              <a:spcAft>
                <a:spcPts val="500"/>
              </a:spcAft>
              <a:buNone/>
            </a:pPr>
            <a:r>
              <a:rPr lang="en-US" sz="1300" b="1" dirty="0">
                <a:solidFill>
                  <a:srgbClr val="0F2A5F"/>
                </a:solidFill>
              </a:rPr>
              <a:t>medicine</a:t>
            </a:r>
            <a:pPr indent="0" marL="0">
              <a:spcAft>
                <a:spcPts val="500"/>
              </a:spcAft>
              <a:buNone/>
            </a:pPr>
            <a:r>
              <a:rPr lang="en-US" sz="1300" dirty="0">
                <a:solidFill>
                  <a:srgbClr val="141B26"/>
                </a:solidFill>
              </a:rPr>
              <a:t>  a drug used to treat or prevent disease</a:t>
            </a:r>
            <a:endParaRPr lang="en-US" sz="1300" dirty="0"/>
          </a:p>
          <a:p>
            <a:pPr indent="0" marL="0">
              <a:spcAft>
                <a:spcPts val="500"/>
              </a:spcAft>
              <a:buNone/>
            </a:pPr>
            <a:r>
              <a:rPr lang="en-US" sz="1300" b="1" dirty="0">
                <a:solidFill>
                  <a:srgbClr val="0F2A5F"/>
                </a:solidFill>
              </a:rPr>
              <a:t>antibiotic</a:t>
            </a:r>
            <a:pPr indent="0" marL="0">
              <a:spcAft>
                <a:spcPts val="500"/>
              </a:spcAft>
              <a:buNone/>
            </a:pPr>
            <a:r>
              <a:rPr lang="en-US" sz="1300" dirty="0">
                <a:solidFill>
                  <a:srgbClr val="141B26"/>
                </a:solidFill>
              </a:rPr>
              <a:t>  a medicine that kills bacteria</a:t>
            </a:r>
            <a:endParaRPr lang="en-US" sz="1300" dirty="0"/>
          </a:p>
          <a:p>
            <a:pPr indent="0" marL="0">
              <a:spcAft>
                <a:spcPts val="500"/>
              </a:spcAft>
              <a:buNone/>
            </a:pPr>
            <a:r>
              <a:rPr lang="en-US" sz="1300" b="1" dirty="0">
                <a:solidFill>
                  <a:srgbClr val="0F2A5F"/>
                </a:solidFill>
              </a:rPr>
              <a:t>antiviral</a:t>
            </a:r>
            <a:pPr indent="0" marL="0">
              <a:spcAft>
                <a:spcPts val="500"/>
              </a:spcAft>
              <a:buNone/>
            </a:pPr>
            <a:r>
              <a:rPr lang="en-US" sz="1300" dirty="0">
                <a:solidFill>
                  <a:srgbClr val="141B26"/>
                </a:solidFill>
              </a:rPr>
              <a:t>  a medicine that stops viruses replicating (copying themselves)</a:t>
            </a:r>
            <a:endParaRPr lang="en-US" sz="1300" dirty="0"/>
          </a:p>
          <a:p>
            <a:pPr indent="0" marL="0">
              <a:spcAft>
                <a:spcPts val="500"/>
              </a:spcAft>
              <a:buNone/>
            </a:pPr>
            <a:r>
              <a:rPr lang="en-US" sz="1300" b="1" dirty="0">
                <a:solidFill>
                  <a:srgbClr val="0F2A5F"/>
                </a:solidFill>
              </a:rPr>
              <a:t>genetic disorder</a:t>
            </a:r>
            <a:pPr indent="0" marL="0">
              <a:spcAft>
                <a:spcPts val="500"/>
              </a:spcAft>
              <a:buNone/>
            </a:pPr>
            <a:r>
              <a:rPr lang="en-US" sz="1300" dirty="0">
                <a:solidFill>
                  <a:srgbClr val="141B26"/>
                </a:solidFill>
              </a:rPr>
              <a:t>  a disease caused by faulty genes that a person is born with</a:t>
            </a:r>
            <a:endParaRPr lang="en-US" sz="1300" dirty="0"/>
          </a:p>
          <a:p>
            <a:pPr indent="0" marL="0">
              <a:spcAft>
                <a:spcPts val="500"/>
              </a:spcAft>
              <a:buNone/>
            </a:pPr>
            <a:r>
              <a:rPr lang="en-US" sz="1300" b="1" dirty="0">
                <a:solidFill>
                  <a:srgbClr val="0F2A5F"/>
                </a:solidFill>
              </a:rPr>
              <a:t>autoimmune disease</a:t>
            </a:r>
            <a:pPr indent="0" marL="0">
              <a:spcAft>
                <a:spcPts val="500"/>
              </a:spcAft>
              <a:buNone/>
            </a:pPr>
            <a:r>
              <a:rPr lang="en-US" sz="1300" dirty="0">
                <a:solidFill>
                  <a:srgbClr val="141B26"/>
                </a:solidFill>
              </a:rPr>
              <a:t>  a disease in which white blood cells attack the body's own cells</a:t>
            </a:r>
            <a:endParaRPr lang="en-US" sz="1300" dirty="0"/>
          </a:p>
          <a:p>
            <a:pPr indent="0" marL="0">
              <a:spcAft>
                <a:spcPts val="500"/>
              </a:spcAft>
              <a:buNone/>
            </a:pPr>
            <a:r>
              <a:rPr lang="en-US" sz="1300" b="1" dirty="0">
                <a:solidFill>
                  <a:srgbClr val="0F2A5F"/>
                </a:solidFill>
              </a:rPr>
              <a:t>insulin</a:t>
            </a:r>
            <a:pPr indent="0" marL="0">
              <a:spcAft>
                <a:spcPts val="500"/>
              </a:spcAft>
              <a:buNone/>
            </a:pPr>
            <a:r>
              <a:rPr lang="en-US" sz="1300" dirty="0">
                <a:solidFill>
                  <a:srgbClr val="141B26"/>
                </a:solidFill>
              </a:rPr>
              <a:t>  a hormone made in the pancreas that lowers blood glucose</a:t>
            </a:r>
            <a:endParaRPr lang="en-US" sz="1300" dirty="0"/>
          </a:p>
          <a:p>
            <a:pPr indent="0" marL="0">
              <a:spcAft>
                <a:spcPts val="500"/>
              </a:spcAft>
              <a:buNone/>
            </a:pPr>
            <a:r>
              <a:rPr lang="en-US" sz="1300" b="1" dirty="0">
                <a:solidFill>
                  <a:srgbClr val="0F2A5F"/>
                </a:solidFill>
              </a:rPr>
              <a:t>transgenic</a:t>
            </a:r>
            <a:pPr indent="0" marL="0">
              <a:spcAft>
                <a:spcPts val="500"/>
              </a:spcAft>
              <a:buNone/>
            </a:pPr>
            <a:r>
              <a:rPr lang="en-US" sz="1300" dirty="0">
                <a:solidFill>
                  <a:srgbClr val="141B26"/>
                </a:solidFill>
              </a:rPr>
              <a:t>  contains DNA from more than one species</a:t>
            </a:r>
            <a:endParaRPr lang="en-US" sz="1300" dirty="0"/>
          </a:p>
          <a:p>
            <a:pPr indent="0" marL="0">
              <a:spcAft>
                <a:spcPts val="500"/>
              </a:spcAft>
              <a:buNone/>
            </a:pPr>
            <a:r>
              <a:rPr lang="en-US" sz="1300" b="1" dirty="0">
                <a:solidFill>
                  <a:srgbClr val="0F2A5F"/>
                </a:solidFill>
              </a:rPr>
              <a:t>fermenter</a:t>
            </a:r>
            <a:pPr indent="0" marL="0">
              <a:spcAft>
                <a:spcPts val="500"/>
              </a:spcAft>
              <a:buNone/>
            </a:pPr>
            <a:r>
              <a:rPr lang="en-US" sz="1300" dirty="0">
                <a:solidFill>
                  <a:srgbClr val="141B26"/>
                </a:solidFill>
              </a:rPr>
              <a:t>  a large container in which microorganisms are grown</a:t>
            </a:r>
            <a:endParaRPr lang="en-US" sz="1300" dirty="0"/>
          </a:p>
          <a:p>
            <a:pPr indent="0" marL="0">
              <a:spcAft>
                <a:spcPts val="500"/>
              </a:spcAft>
              <a:buNone/>
            </a:pPr>
            <a:r>
              <a:rPr lang="en-US" sz="1300" b="1" dirty="0">
                <a:solidFill>
                  <a:srgbClr val="0F2A5F"/>
                </a:solidFill>
              </a:rPr>
              <a:t>sterilise</a:t>
            </a:r>
            <a:pPr indent="0" marL="0">
              <a:spcAft>
                <a:spcPts val="500"/>
              </a:spcAft>
              <a:buNone/>
            </a:pPr>
            <a:r>
              <a:rPr lang="en-US" sz="1300" dirty="0">
                <a:solidFill>
                  <a:srgbClr val="141B26"/>
                </a:solidFill>
              </a:rPr>
              <a:t>  kill all the microorganisms in or on something</a:t>
            </a:r>
            <a:endParaRPr lang="en-US" sz="1300" dirty="0"/>
          </a:p>
          <a:p>
            <a:pPr indent="0" marL="0">
              <a:spcAft>
                <a:spcPts val="500"/>
              </a:spcAft>
              <a:buNone/>
            </a:pPr>
            <a:r>
              <a:rPr lang="en-US" sz="1300" b="1" dirty="0">
                <a:solidFill>
                  <a:srgbClr val="0F2A5F"/>
                </a:solidFill>
              </a:rPr>
              <a:t>aseptic</a:t>
            </a:r>
            <a:pPr indent="0" marL="0">
              <a:spcAft>
                <a:spcPts val="500"/>
              </a:spcAft>
              <a:buNone/>
            </a:pPr>
            <a:r>
              <a:rPr lang="en-US" sz="1300" dirty="0">
                <a:solidFill>
                  <a:srgbClr val="141B26"/>
                </a:solidFill>
              </a:rPr>
              <a:t>  free from unwanted microorganisms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The forgotten dish</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377440"/>
          </a:xfrm>
          <a:prstGeom prst="rect">
            <a:avLst/>
          </a:prstGeom>
          <a:noFill/>
          <a:ln/>
        </p:spPr>
        <p:txBody>
          <a:bodyPr wrap="square" lIns="0" tIns="0" rIns="0" bIns="0" rtlCol="0" anchor="t">
            <a:normAutofit/>
          </a:bodyPr>
          <a:lstStyle/>
          <a:p>
            <a:pPr indent="0" marL="0">
              <a:buNone/>
            </a:pPr>
            <a:r>
              <a:rPr lang="en-US" sz="2800" b="1" dirty="0">
                <a:solidFill>
                  <a:srgbClr val="0F2A5F"/>
                </a:solidFill>
              </a:rPr>
              <a:t>In 1928, Alexander Fleming noticed that a mould had killed the bacteria growing around it on a dish he had forgotten to wash up. What had the mould made?</a:t>
            </a:r>
            <a:endParaRPr lang="en-US" sz="2800" dirty="0"/>
          </a:p>
        </p:txBody>
      </p:sp>
      <p:sp>
        <p:nvSpPr>
          <p:cNvPr id="6" name="Text 4"/>
          <p:cNvSpPr txBox="1"/>
          <p:nvPr/>
        </p:nvSpPr>
        <p:spPr>
          <a:xfrm>
            <a:off x="548640" y="3794760"/>
            <a:ext cx="5394960" cy="210312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41B26"/>
                </a:solidFill>
              </a:rPr>
              <a:t>Talk to a partner: why might a mould make a substance that kills bacteria?</a:t>
            </a:r>
            <a:endParaRPr lang="en-US" sz="1600" dirty="0"/>
          </a:p>
        </p:txBody>
      </p:sp>
      <p:pic>
        <p:nvPicPr>
          <p:cNvPr id="7" name="Image 0" descr="/home/user/lessons/Y9_Exploring_Science/images/penicillium_plate.jpg">    </p:cNvPr>
          <p:cNvPicPr>
            <a:picLocks noChangeAspect="1"/>
          </p:cNvPicPr>
          <p:nvPr/>
        </p:nvPicPr>
        <p:blipFill>
          <a:blip r:embed="rId1"/>
          <a:stretch>
            <a:fillRect/>
          </a:stretch>
        </p:blipFill>
        <p:spPr>
          <a:xfrm>
            <a:off x="6738628" y="1280160"/>
            <a:ext cx="4444984" cy="4206240"/>
          </a:xfrm>
          <a:prstGeom prst="rect">
            <a:avLst/>
          </a:prstGeom>
        </p:spPr>
      </p:pic>
      <p:sp>
        <p:nvSpPr>
          <p:cNvPr id="8" name="Text 5"/>
          <p:cNvSpPr txBox="1"/>
          <p:nvPr/>
        </p:nvSpPr>
        <p:spPr>
          <a:xfrm>
            <a:off x="6309360" y="5532120"/>
            <a:ext cx="5303520" cy="502920"/>
          </a:xfrm>
          <a:prstGeom prst="rect">
            <a:avLst/>
          </a:prstGeom>
          <a:noFill/>
          <a:ln/>
        </p:spPr>
        <p:txBody>
          <a:bodyPr wrap="square" lIns="0" tIns="0" rIns="0" bIns="0" rtlCol="0" anchor="t"/>
          <a:lstStyle/>
          <a:p>
            <a:pPr algn="l" indent="0" marL="0">
              <a:buNone/>
            </a:pPr>
            <a:r>
              <a:rPr lang="en-US" sz="1100" dirty="0">
                <a:solidFill>
                  <a:srgbClr val="141B26"/>
                </a:solidFill>
              </a:rPr>
              <a:t>Penicillium mould growing on an orange</a:t>
            </a:r>
            <a:pPr algn="l" indent="0" marL="0">
              <a:buNone/>
            </a:pPr>
            <a:endParaRPr lang="en-US" sz="1100" dirty="0"/>
          </a:p>
          <a:p>
            <a:pPr algn="l" indent="0" marL="0">
              <a:buNone/>
            </a:pPr>
            <a:r>
              <a:rPr lang="en-US" sz="800" dirty="0">
                <a:solidFill>
                  <a:srgbClr val="5B6574"/>
                </a:solidFill>
              </a:rPr>
              <a:t>Image: gailhampshire, CC BY 2.0, via Wikimedia Commons</a:t>
            </a:r>
            <a:endParaRPr lang="en-US" sz="11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Drugs and medicines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drug   ·   medicine   ·   antibiotic   ·   antiviral</a:t>
            </a:r>
            <a:endParaRPr lang="en-US" sz="1200" dirty="0"/>
          </a:p>
        </p:txBody>
      </p:sp>
      <p:sp>
        <p:nvSpPr>
          <p:cNvPr id="6" name="Text 4"/>
          <p:cNvSpPr txBox="1"/>
          <p:nvPr/>
        </p:nvSpPr>
        <p:spPr>
          <a:xfrm>
            <a:off x="548640" y="1325880"/>
            <a:ext cx="576072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A drug is any substance that affects how the body works.</a:t>
            </a:r>
            <a:endParaRPr lang="en-US" sz="1700" dirty="0"/>
          </a:p>
          <a:p>
            <a:pPr marL="228600" indent="-228600">
              <a:spcAft>
                <a:spcPts val="600"/>
              </a:spcAft>
              <a:buSzPct val="100000"/>
              <a:buChar char="•"/>
            </a:pPr>
            <a:r>
              <a:rPr lang="en-US" sz="1700" dirty="0">
                <a:solidFill>
                  <a:srgbClr val="141B26"/>
                </a:solidFill>
              </a:rPr>
              <a:t>Medicines are drugs used to treat or prevent disease.</a:t>
            </a:r>
            <a:endParaRPr lang="en-US" sz="1700" dirty="0"/>
          </a:p>
          <a:p>
            <a:pPr marL="228600" indent="-228600">
              <a:spcAft>
                <a:spcPts val="600"/>
              </a:spcAft>
              <a:buSzPct val="100000"/>
              <a:buChar char="•"/>
            </a:pPr>
            <a:r>
              <a:rPr lang="en-US" sz="1700" dirty="0">
                <a:solidFill>
                  <a:srgbClr val="141B26"/>
                </a:solidFill>
              </a:rPr>
              <a:t>Antibiotics kill bacteria. Antivirals stop viruses replicating.</a:t>
            </a:r>
            <a:endParaRPr lang="en-US" sz="1700" dirty="0"/>
          </a:p>
          <a:p>
            <a:pPr marL="228600" indent="-228600">
              <a:spcAft>
                <a:spcPts val="600"/>
              </a:spcAft>
              <a:buSzPct val="100000"/>
              <a:buChar char="•"/>
            </a:pPr>
            <a:r>
              <a:rPr lang="en-US" sz="1700" dirty="0">
                <a:solidFill>
                  <a:srgbClr val="141B26"/>
                </a:solidFill>
              </a:rPr>
              <a:t>Vaccines prevent infections. Deficiency diseases are treated by adding the missing nutrient to the diet.</a:t>
            </a:r>
            <a:endParaRPr lang="en-US" sz="1700" dirty="0"/>
          </a:p>
        </p:txBody>
      </p:sp>
      <p:pic>
        <p:nvPicPr>
          <p:cNvPr id="7" name="Image 0" descr="/home/user/lessons/Y9_Exploring_Science/images/antibiotics.jpg">    </p:cNvPr>
          <p:cNvPicPr>
            <a:picLocks noChangeAspect="1"/>
          </p:cNvPicPr>
          <p:nvPr/>
        </p:nvPicPr>
        <p:blipFill>
          <a:blip r:embed="rId1"/>
          <a:stretch>
            <a:fillRect/>
          </a:stretch>
        </p:blipFill>
        <p:spPr>
          <a:xfrm>
            <a:off x="6659880" y="1280160"/>
            <a:ext cx="4876800" cy="3657600"/>
          </a:xfrm>
          <a:prstGeom prst="rect">
            <a:avLst/>
          </a:prstGeom>
        </p:spPr>
      </p:pic>
      <p:sp>
        <p:nvSpPr>
          <p:cNvPr id="8" name="Text 5"/>
          <p:cNvSpPr txBox="1"/>
          <p:nvPr/>
        </p:nvSpPr>
        <p:spPr>
          <a:xfrm>
            <a:off x="6583680" y="4983480"/>
            <a:ext cx="5029200" cy="502920"/>
          </a:xfrm>
          <a:prstGeom prst="rect">
            <a:avLst/>
          </a:prstGeom>
          <a:noFill/>
          <a:ln/>
        </p:spPr>
        <p:txBody>
          <a:bodyPr wrap="square" lIns="0" tIns="0" rIns="0" bIns="0" rtlCol="0" anchor="t"/>
          <a:lstStyle/>
          <a:p>
            <a:pPr algn="l" indent="0" marL="0">
              <a:buNone/>
            </a:pPr>
            <a:r>
              <a:rPr lang="en-US" sz="1100" dirty="0">
                <a:solidFill>
                  <a:srgbClr val="141B26"/>
                </a:solidFill>
              </a:rPr>
              <a:t>Antibiotic capsules</a:t>
            </a:r>
            <a:pPr algn="l" indent="0" marL="0">
              <a:buNone/>
            </a:pPr>
            <a:endParaRPr lang="en-US" sz="1100" dirty="0"/>
          </a:p>
          <a:p>
            <a:pPr algn="l" indent="0" marL="0">
              <a:buNone/>
            </a:pPr>
            <a:r>
              <a:rPr lang="en-US" sz="800" dirty="0">
                <a:solidFill>
                  <a:srgbClr val="5B6574"/>
                </a:solidFill>
              </a:rPr>
              <a:t>Image: Sheep purple, CC BY 2.0, via Wikimedia Commons</a:t>
            </a:r>
            <a:endParaRPr lang="en-US" sz="11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Antibiotics do not work on viruses.</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Diseases we cannot cure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genetic disorder   ·   autoimmune disease   ·   insulin</a:t>
            </a:r>
            <a:endParaRPr lang="en-US" sz="1200" dirty="0"/>
          </a:p>
        </p:txBody>
      </p:sp>
      <p:sp>
        <p:nvSpPr>
          <p:cNvPr id="6" name="Text 4"/>
          <p:cNvSpPr txBox="1"/>
          <p:nvPr/>
        </p:nvSpPr>
        <p:spPr>
          <a:xfrm>
            <a:off x="548640" y="1325880"/>
            <a:ext cx="429768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600" dirty="0">
                <a:solidFill>
                  <a:srgbClr val="141B26"/>
                </a:solidFill>
              </a:rPr>
              <a:t>Genetic disorders: faulty genes from birth, e.g. sickle cell anaemia. Treatment may last a lifetime.</a:t>
            </a:r>
            <a:endParaRPr lang="en-US" sz="1700" dirty="0"/>
          </a:p>
          <a:p>
            <a:pPr marL="228600" indent="-228600">
              <a:spcAft>
                <a:spcPts val="600"/>
              </a:spcAft>
              <a:buSzPct val="100000"/>
              <a:buChar char="•"/>
            </a:pPr>
            <a:r>
              <a:rPr lang="en-US" sz="1600" dirty="0">
                <a:solidFill>
                  <a:srgbClr val="141B26"/>
                </a:solidFill>
              </a:rPr>
              <a:t>Autoimmune diseases: white blood cells attack the body.</a:t>
            </a:r>
            <a:endParaRPr lang="en-US" sz="1700" dirty="0"/>
          </a:p>
          <a:p>
            <a:pPr marL="228600" indent="-228600">
              <a:spcAft>
                <a:spcPts val="600"/>
              </a:spcAft>
              <a:buSzPct val="100000"/>
              <a:buChar char="•"/>
            </a:pPr>
            <a:r>
              <a:rPr lang="en-US" sz="1600" dirty="0">
                <a:solidFill>
                  <a:srgbClr val="141B26"/>
                </a:solidFill>
              </a:rPr>
              <a:t>Type 1 diabetes: the insulin-making tissue in the pancreas is destroyed. High blood glucose damages organs.</a:t>
            </a:r>
            <a:endParaRPr lang="en-US" sz="1700" dirty="0"/>
          </a:p>
          <a:p>
            <a:pPr marL="228600" indent="-228600">
              <a:spcAft>
                <a:spcPts val="600"/>
              </a:spcAft>
              <a:buSzPct val="100000"/>
              <a:buChar char="•"/>
            </a:pPr>
            <a:r>
              <a:rPr lang="en-US" sz="1600" dirty="0">
                <a:solidFill>
                  <a:srgbClr val="141B26"/>
                </a:solidFill>
              </a:rPr>
              <a:t>Treatment: inject the missing hormone.</a:t>
            </a:r>
            <a:endParaRPr lang="en-US" sz="1700" dirty="0"/>
          </a:p>
        </p:txBody>
      </p:sp>
      <p:pic>
        <p:nvPicPr>
          <p:cNvPr id="7" name="Image 0" descr="/home/user/lessons/Y9_Exploring_Science/source/diagrams/disease_types.png">    </p:cNvPr>
          <p:cNvPicPr>
            <a:picLocks noChangeAspect="1"/>
          </p:cNvPicPr>
          <p:nvPr/>
        </p:nvPicPr>
        <p:blipFill>
          <a:blip r:embed="rId1"/>
          <a:stretch>
            <a:fillRect/>
          </a:stretch>
        </p:blipFill>
        <p:spPr>
          <a:xfrm>
            <a:off x="5029200" y="1421892"/>
            <a:ext cx="6583680" cy="3374136"/>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Some diseases cannot be cured, but a missing hormone can be replaced.</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Transgenic bacteria</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transgenic</a:t>
            </a:r>
            <a:endParaRPr lang="en-US" sz="1200" dirty="0"/>
          </a:p>
        </p:txBody>
      </p:sp>
      <p:sp>
        <p:nvSpPr>
          <p:cNvPr id="6" name="Text 4"/>
          <p:cNvSpPr txBox="1"/>
          <p:nvPr/>
        </p:nvSpPr>
        <p:spPr>
          <a:xfrm>
            <a:off x="548640" y="1325880"/>
            <a:ext cx="576072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In the past, growth hormone was taken from dead bodies and insulin from cattle: slow and expensive.</a:t>
            </a:r>
            <a:endParaRPr lang="en-US" sz="1700" dirty="0"/>
          </a:p>
          <a:p>
            <a:pPr marL="228600" indent="-228600">
              <a:spcAft>
                <a:spcPts val="600"/>
              </a:spcAft>
              <a:buSzPct val="100000"/>
              <a:buChar char="•"/>
            </a:pPr>
            <a:r>
              <a:rPr lang="en-US" sz="1700" dirty="0">
                <a:solidFill>
                  <a:srgbClr val="141B26"/>
                </a:solidFill>
              </a:rPr>
              <a:t>Now the human gene for the hormone is cut out of a chromosome and put into the DNA of bacteria.</a:t>
            </a:r>
            <a:endParaRPr lang="en-US" sz="1700" dirty="0"/>
          </a:p>
          <a:p>
            <a:pPr marL="228600" indent="-228600">
              <a:spcAft>
                <a:spcPts val="600"/>
              </a:spcAft>
              <a:buSzPct val="100000"/>
              <a:buChar char="•"/>
            </a:pPr>
            <a:r>
              <a:rPr lang="en-US" sz="1700" dirty="0">
                <a:solidFill>
                  <a:srgbClr val="141B26"/>
                </a:solidFill>
              </a:rPr>
              <a:t>The transgenic bacteria make the human hormone.</a:t>
            </a:r>
            <a:endParaRPr lang="en-US" sz="1700" dirty="0"/>
          </a:p>
          <a:p>
            <a:pPr marL="228600" indent="-228600">
              <a:spcAft>
                <a:spcPts val="600"/>
              </a:spcAft>
              <a:buSzPct val="100000"/>
              <a:buChar char="•"/>
            </a:pPr>
            <a:r>
              <a:rPr lang="en-US" sz="1700" dirty="0">
                <a:solidFill>
                  <a:srgbClr val="141B26"/>
                </a:solidFill>
              </a:rPr>
              <a:t>Transgenic means the organism contains DNA from more than one species.</a:t>
            </a:r>
            <a:endParaRPr lang="en-US" sz="1700" dirty="0"/>
          </a:p>
        </p:txBody>
      </p:sp>
      <p:pic>
        <p:nvPicPr>
          <p:cNvPr id="7" name="Image 0" descr="/home/user/lessons/Y9_Exploring_Science/images/bioreactor.jpg">    </p:cNvPr>
          <p:cNvPicPr>
            <a:picLocks noChangeAspect="1"/>
          </p:cNvPicPr>
          <p:nvPr/>
        </p:nvPicPr>
        <p:blipFill>
          <a:blip r:embed="rId1"/>
          <a:stretch>
            <a:fillRect/>
          </a:stretch>
        </p:blipFill>
        <p:spPr>
          <a:xfrm>
            <a:off x="6583680" y="1431741"/>
            <a:ext cx="5029200" cy="3354437"/>
          </a:xfrm>
          <a:prstGeom prst="rect">
            <a:avLst/>
          </a:prstGeom>
        </p:spPr>
      </p:pic>
      <p:sp>
        <p:nvSpPr>
          <p:cNvPr id="8" name="Text 5"/>
          <p:cNvSpPr txBox="1"/>
          <p:nvPr/>
        </p:nvSpPr>
        <p:spPr>
          <a:xfrm>
            <a:off x="6583680" y="4831899"/>
            <a:ext cx="5029200" cy="502920"/>
          </a:xfrm>
          <a:prstGeom prst="rect">
            <a:avLst/>
          </a:prstGeom>
          <a:noFill/>
          <a:ln/>
        </p:spPr>
        <p:txBody>
          <a:bodyPr wrap="square" lIns="0" tIns="0" rIns="0" bIns="0" rtlCol="0" anchor="t"/>
          <a:lstStyle/>
          <a:p>
            <a:pPr algn="l" indent="0" marL="0">
              <a:buNone/>
            </a:pPr>
            <a:r>
              <a:rPr lang="en-US" sz="1100" dirty="0">
                <a:solidFill>
                  <a:srgbClr val="141B26"/>
                </a:solidFill>
              </a:rPr>
              <a:t>A fermentation tank in a brewery: industrial fermenters look like this</a:t>
            </a:r>
            <a:pPr algn="l" indent="0" marL="0">
              <a:buNone/>
            </a:pPr>
            <a:endParaRPr lang="en-US" sz="1100" dirty="0"/>
          </a:p>
          <a:p>
            <a:pPr algn="l" indent="0" marL="0">
              <a:buNone/>
            </a:pPr>
            <a:r>
              <a:rPr lang="en-US" sz="800" dirty="0">
                <a:solidFill>
                  <a:srgbClr val="5B6574"/>
                </a:solidFill>
              </a:rPr>
              <a:t>Image: See-ming Lee (SML), CC BY 2.0, via Wikimedia Commons</a:t>
            </a:r>
            <a:endParaRPr lang="en-US" sz="11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A human gene in a bacterium makes the bacterium produce a human protein.</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Inside a fermenter</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600" dirty="0">
                <a:solidFill>
                  <a:srgbClr val="141B26"/>
                </a:solidFill>
              </a:rPr>
              <a:t>Transgenic bacteria are grown in large fermenters so that they reproduce quickly and make a lot of hormone.</a:t>
            </a:r>
            <a:endParaRPr lang="en-US" sz="1600" dirty="0"/>
          </a:p>
        </p:txBody>
      </p:sp>
      <p:pic>
        <p:nvPicPr>
          <p:cNvPr id="6" name="Image 0" descr="/home/user/lessons/Y9_Exploring_Science/source/diagrams/fermenter.png">    </p:cNvPr>
          <p:cNvPicPr>
            <a:picLocks noChangeAspect="1"/>
          </p:cNvPicPr>
          <p:nvPr/>
        </p:nvPicPr>
        <p:blipFill>
          <a:blip r:embed="rId1"/>
          <a:stretch>
            <a:fillRect/>
          </a:stretch>
        </p:blipFill>
        <p:spPr>
          <a:xfrm>
            <a:off x="2738120" y="1737360"/>
            <a:ext cx="6502400" cy="3657600"/>
          </a:xfrm>
          <a:prstGeom prst="rect">
            <a:avLst/>
          </a:prstGeom>
        </p:spPr>
      </p:pic>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Aseptic: the fermenter and everything put into it are sterilised, so no other microorganisms can grow.</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Mini whiteboards. One answer each, then we check.</a:t>
            </a:r>
            <a:endParaRPr lang="en-US" sz="14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Q1  </a:t>
            </a:r>
            <a:pPr indent="0" marL="0">
              <a:buNone/>
            </a:pPr>
            <a:r>
              <a:rPr lang="en-US" sz="1600" dirty="0">
                <a:solidFill>
                  <a:srgbClr val="141B26"/>
                </a:solidFill>
              </a:rPr>
              <a:t>Why is a medicine a drug?</a:t>
            </a:r>
            <a:endParaRPr lang="en-US" sz="16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Q2  </a:t>
            </a:r>
            <a:pPr indent="0" marL="0">
              <a:buNone/>
            </a:pPr>
            <a:r>
              <a:rPr lang="en-US" sz="1600" dirty="0">
                <a:solidFill>
                  <a:srgbClr val="141B26"/>
                </a:solidFill>
              </a:rPr>
              <a:t>Would an antibiotic cure flu? Yes or no, and why.</a:t>
            </a:r>
            <a:endParaRPr lang="en-US" sz="16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Q3  </a:t>
            </a:r>
            <a:pPr indent="0" marL="0">
              <a:buNone/>
            </a:pPr>
            <a:r>
              <a:rPr lang="en-US" sz="1600" dirty="0">
                <a:solidFill>
                  <a:srgbClr val="141B26"/>
                </a:solidFill>
              </a:rPr>
              <a:t>In which organ is insulin made?</a:t>
            </a:r>
            <a:endParaRPr lang="en-US" sz="16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Q4  </a:t>
            </a:r>
            <a:pPr indent="0" marL="0">
              <a:buNone/>
            </a:pPr>
            <a:r>
              <a:rPr lang="en-US" sz="1600" dirty="0">
                <a:solidFill>
                  <a:srgbClr val="141B26"/>
                </a:solidFill>
              </a:rPr>
              <a:t>What does 'transgenic' mean?</a:t>
            </a:r>
            <a:endParaRPr lang="en-US" sz="16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Q5  </a:t>
            </a:r>
            <a:pPr indent="0" marL="0">
              <a:buNone/>
            </a:pPr>
            <a:r>
              <a:rPr lang="en-US" sz="1600" dirty="0">
                <a:solidFill>
                  <a:srgbClr val="141B26"/>
                </a:solidFill>
              </a:rPr>
              <a:t>Why is the air bubbled into a fermenter filtered first?</a:t>
            </a:r>
            <a:endParaRPr lang="en-US" sz="16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 treating disease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14</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Core: match the medicines to their meanings, then tick the right treatment for each disease.</a:t>
            </a:r>
            <a:endParaRPr lang="en-US" sz="1700" dirty="0"/>
          </a:p>
        </p:txBody>
      </p:sp>
      <p:sp>
        <p:nvSpPr>
          <p:cNvPr id="10" name="Shape 8"/>
          <p:cNvSpPr/>
          <p:nvPr/>
        </p:nvSpPr>
        <p:spPr>
          <a:xfrm>
            <a:off x="548640" y="2313432"/>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134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67712"/>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Core: complete the fermenter gap fill with the word bank.</a:t>
            </a:r>
            <a:endParaRPr lang="en-US" sz="1700" dirty="0"/>
          </a:p>
        </p:txBody>
      </p:sp>
      <p:sp>
        <p:nvSpPr>
          <p:cNvPr id="13" name="Shape 11"/>
          <p:cNvSpPr/>
          <p:nvPr/>
        </p:nvSpPr>
        <p:spPr>
          <a:xfrm>
            <a:off x="548640" y="3209544"/>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095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163824"/>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Stretch: why medicines are drugs; how transgenic bacteria make growth hormone; type 1 diabetes and organ damage.</a:t>
            </a:r>
            <a:endParaRPr lang="en-US" sz="1700" dirty="0"/>
          </a:p>
        </p:txBody>
      </p:sp>
      <p:sp>
        <p:nvSpPr>
          <p:cNvPr id="16" name="Shape 14"/>
          <p:cNvSpPr/>
          <p:nvPr/>
        </p:nvSpPr>
        <p:spPr>
          <a:xfrm>
            <a:off x="548640" y="4105656"/>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056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059936"/>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Challenge: the conditions inside a fermenter and the aseptic precautions; a GM organism that is not transgenic.</a:t>
            </a:r>
            <a:endParaRPr lang="en-US" sz="1700" dirty="0"/>
          </a:p>
        </p:txBody>
      </p:sp>
      <p:sp>
        <p:nvSpPr>
          <p:cNvPr id="19" name="Shape 17"/>
          <p:cNvSpPr/>
          <p:nvPr/>
        </p:nvSpPr>
        <p:spPr>
          <a:xfrm>
            <a:off x="548640" y="5001768"/>
            <a:ext cx="457200" cy="457200"/>
          </a:xfrm>
          <a:prstGeom prst="ellipse">
            <a:avLst/>
          </a:prstGeom>
          <a:solidFill>
            <a:srgbClr val="7B3A8E"/>
          </a:solidFill>
          <a:ln w="12700">
            <a:solidFill>
              <a:srgbClr val="7B3A8E"/>
            </a:solidFill>
            <a:prstDash val="solid"/>
          </a:ln>
        </p:spPr>
      </p:sp>
      <p:sp>
        <p:nvSpPr>
          <p:cNvPr id="20" name="Text 18"/>
          <p:cNvSpPr txBox="1"/>
          <p:nvPr/>
        </p:nvSpPr>
        <p:spPr>
          <a:xfrm>
            <a:off x="548640" y="5001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1" name="Text 19"/>
          <p:cNvSpPr txBox="1"/>
          <p:nvPr/>
        </p:nvSpPr>
        <p:spPr>
          <a:xfrm>
            <a:off x="1188720" y="4956048"/>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Finished? Answer the My thinking question about antibiotic resistance.</a:t>
            </a:r>
            <a:endParaRPr lang="en-US" sz="1700" dirty="0"/>
          </a:p>
        </p:txBody>
      </p:sp>
      <p:sp>
        <p:nvSpPr>
          <p:cNvPr id="22" name="Text 20"/>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i="1" dirty="0">
                <a:solidFill>
                  <a:srgbClr val="5B6574"/>
                </a:solidFill>
              </a:rPr>
              <a:t>Say the type of disease first, then the treatment: that is the logic the examiner wants.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No antibiotics for a cold</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normAutofit/>
          </a:bodyPr>
          <a:lstStyle/>
          <a:p>
            <a:pPr indent="0" marL="0">
              <a:buNone/>
            </a:pPr>
            <a:r>
              <a:rPr lang="en-US" sz="2200" b="1" dirty="0">
                <a:solidFill>
                  <a:srgbClr val="0F2A5F"/>
                </a:solidFill>
              </a:rPr>
              <a:t>A patient with a bad cold asks the doctor for antibiotics. The doctor says no. The patient is annoyed. What should the doctor say to explain?</a:t>
            </a:r>
            <a:endParaRPr lang="en-US" sz="22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normAutofit/>
          </a:bodyPr>
          <a:lstStyle/>
          <a:p>
            <a:pPr indent="0" marL="0">
              <a:spcAft>
                <a:spcPts val="600"/>
              </a:spcAft>
              <a:buNone/>
            </a:pPr>
            <a:r>
              <a:rPr lang="en-US" sz="1500" b="1" dirty="0">
                <a:solidFill>
                  <a:srgbClr val="7B3A8E"/>
                </a:solidFill>
              </a:rPr>
              <a:t>Sentence frames</a:t>
            </a:r>
            <a:endParaRPr lang="en-US" sz="1500" dirty="0"/>
          </a:p>
          <a:p>
            <a:pPr indent="0" marL="0">
              <a:spcAft>
                <a:spcPts val="600"/>
              </a:spcAft>
              <a:buNone/>
            </a:pPr>
            <a:r>
              <a:rPr lang="en-US" sz="1500" dirty="0">
                <a:solidFill>
                  <a:srgbClr val="141B26"/>
                </a:solidFill>
              </a:rPr>
              <a:t>A cold is caused by a ___, and antibiotics only kill ___.</a:t>
            </a:r>
            <a:endParaRPr lang="en-US" sz="1500" dirty="0"/>
          </a:p>
          <a:p>
            <a:pPr indent="0" marL="0">
              <a:spcAft>
                <a:spcPts val="600"/>
              </a:spcAft>
              <a:buNone/>
            </a:pPr>
            <a:r>
              <a:rPr lang="en-US" sz="1500" dirty="0">
                <a:solidFill>
                  <a:srgbClr val="141B26"/>
                </a:solidFill>
              </a:rPr>
              <a:t>Taking antibiotics when they are not needed can ___.</a:t>
            </a:r>
            <a:endParaRPr lang="en-US" sz="1500" dirty="0"/>
          </a:p>
          <a:p>
            <a:pPr indent="0" marL="0">
              <a:spcAft>
                <a:spcPts val="600"/>
              </a:spcAft>
              <a:buNone/>
            </a:pPr>
            <a:r>
              <a:rPr lang="en-US" sz="1500" dirty="0">
                <a:solidFill>
                  <a:srgbClr val="141B26"/>
                </a:solidFill>
              </a:rPr>
              <a:t>Instead, the doctor could suggest ___.</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On your worksheet exit ticket. Work alone. Hand it in as you leave.</a:t>
            </a:r>
            <a:endParaRPr lang="en-US" sz="1400" dirty="0"/>
          </a:p>
        </p:txBody>
      </p:sp>
      <p:sp>
        <p:nvSpPr>
          <p:cNvPr id="6" name="Text 4"/>
          <p:cNvSpPr txBox="1"/>
          <p:nvPr/>
        </p:nvSpPr>
        <p:spPr>
          <a:xfrm>
            <a:off x="548640" y="182880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1.  </a:t>
            </a:r>
            <a:pPr indent="0" marL="0">
              <a:buNone/>
            </a:pPr>
            <a:r>
              <a:rPr lang="en-US" sz="1800" dirty="0">
                <a:solidFill>
                  <a:srgbClr val="141B26"/>
                </a:solidFill>
              </a:rPr>
              <a:t>What is the difference between an antibiotic and an antiviral?</a:t>
            </a:r>
            <a:endParaRPr lang="en-US" sz="1800" dirty="0"/>
          </a:p>
        </p:txBody>
      </p:sp>
      <p:sp>
        <p:nvSpPr>
          <p:cNvPr id="7" name="Text 5"/>
          <p:cNvSpPr txBox="1"/>
          <p:nvPr/>
        </p:nvSpPr>
        <p:spPr>
          <a:xfrm>
            <a:off x="548640" y="301752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2.  </a:t>
            </a:r>
            <a:pPr indent="0" marL="0">
              <a:buNone/>
            </a:pPr>
            <a:r>
              <a:rPr lang="en-US" sz="1800" dirty="0">
                <a:solidFill>
                  <a:srgbClr val="141B26"/>
                </a:solidFill>
              </a:rPr>
              <a:t>What does 'transgenic' mean?</a:t>
            </a:r>
            <a:endParaRPr lang="en-US" sz="1800" dirty="0"/>
          </a:p>
        </p:txBody>
      </p:sp>
      <p:sp>
        <p:nvSpPr>
          <p:cNvPr id="8" name="Text 6"/>
          <p:cNvSpPr txBox="1"/>
          <p:nvPr/>
        </p:nvSpPr>
        <p:spPr>
          <a:xfrm>
            <a:off x="548640" y="420624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3.  </a:t>
            </a:r>
            <a:pPr indent="0" marL="0">
              <a:buNone/>
            </a:pPr>
            <a:r>
              <a:rPr lang="en-US" sz="1800" dirty="0">
                <a:solidFill>
                  <a:srgbClr val="141B26"/>
                </a:solidFill>
              </a:rPr>
              <a:t>Give one reason why a fermenter is sterilised before use.</a:t>
            </a:r>
            <a:endParaRPr lang="en-US" sz="18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48056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41B26"/>
                </a:solidFill>
              </a:rPr>
              <a:t>Medicines are drugs used to treat or prevent disease: antibiotics kill bacteria, antivirals stop viruses replicating.</a:t>
            </a:r>
            <a:endParaRPr lang="en-US" sz="1700" dirty="0"/>
          </a:p>
          <a:p>
            <a:pPr marL="342900" indent="-342900">
              <a:spcAft>
                <a:spcPts val="1000"/>
              </a:spcAft>
              <a:buSzPct val="100000"/>
              <a:buChar char="✓"/>
            </a:pPr>
            <a:r>
              <a:rPr lang="en-US" sz="1700" dirty="0">
                <a:solidFill>
                  <a:srgbClr val="141B26"/>
                </a:solidFill>
              </a:rPr>
              <a:t>Genetic disorders and autoimmune diseases cannot be cured, but missing hormones such as insulin can be replaced.</a:t>
            </a:r>
            <a:endParaRPr lang="en-US" sz="1700" dirty="0"/>
          </a:p>
          <a:p>
            <a:pPr marL="342900" indent="-342900">
              <a:spcAft>
                <a:spcPts val="1000"/>
              </a:spcAft>
              <a:buSzPct val="100000"/>
              <a:buChar char="✓"/>
            </a:pPr>
            <a:r>
              <a:rPr lang="en-US" sz="1700" dirty="0">
                <a:solidFill>
                  <a:srgbClr val="141B26"/>
                </a:solidFill>
              </a:rPr>
              <a:t>Transgenic bacteria carry a human gene and make the human hormone.</a:t>
            </a:r>
            <a:endParaRPr lang="en-US" sz="1700" dirty="0"/>
          </a:p>
          <a:p>
            <a:pPr marL="342900" indent="-342900">
              <a:spcAft>
                <a:spcPts val="1000"/>
              </a:spcAft>
              <a:buSzPct val="100000"/>
              <a:buChar char="✓"/>
            </a:pPr>
            <a:r>
              <a:rPr lang="en-US" sz="1700" dirty="0">
                <a:solidFill>
                  <a:srgbClr val="141B26"/>
                </a:solidFill>
              </a:rPr>
              <a:t>Fermenters give bacteria the best conditions: sterile, with nutrients, filtered air, stirring and a steady temperature and pH.</a:t>
            </a:r>
            <a:endParaRPr lang="en-US" sz="17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b="1" dirty="0">
                <a:solidFill>
                  <a:srgbClr val="7B3A8E"/>
                </a:solidFill>
              </a:rPr>
              <a:t>Next lesson  </a:t>
            </a:r>
            <a:pPr indent="0" marL="0">
              <a:buNone/>
            </a:pPr>
            <a:r>
              <a:rPr lang="en-US" sz="1300" dirty="0">
                <a:solidFill>
                  <a:srgbClr val="141B26"/>
                </a:solidFill>
              </a:rPr>
              <a:t>Medians and quartiles: how scientists use statistics to work out who a medicine helps in a clinical trial.</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9C Lesson 4: Treating diseases</dc:title>
  <dc:subject>PptxGenJS Presentation</dc:subject>
  <dc:creator>Year 9 Science</dc:creator>
  <cp:lastModifiedBy>Year 9 Science</cp:lastModifiedBy>
  <cp:revision>1</cp:revision>
  <dcterms:created xsi:type="dcterms:W3CDTF">2026-10-28T01:49:06Z</dcterms:created>
  <dcterms:modified xsi:type="dcterms:W3CDTF">2026-10-28T01:49:06Z</dcterms:modified>
</cp:coreProperties>
</file>