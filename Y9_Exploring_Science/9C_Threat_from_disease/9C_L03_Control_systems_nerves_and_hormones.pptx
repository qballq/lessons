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of 9C. Link from Lesson 1: the polio virus attacks the nervous system, and the chickenpox virus hides in nerve cells. Today: how the nervous and hormonal systems control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Skin (the receptor cells in it) detects the heat; muscles in the arm move the hand; the nervous system connects them. Some students will say 'brain' for Q3: accept it and build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The Chinese key words version has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responses: blinking, pulling away from heat, catching a ball. Slow changes: growing, puberty, digesting a meal, feeling nervous for an hour before a test. Fast needs a direct wire (nerves); slow and widespread needs a chemical that reaches many organs (hormones).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organs are made of nerve tissue, built from nerve cells. A stimulus is any change the body can detect. Ask students to name the sense organ for light (eye), sound (ear), temperature and touch (skin), chemicals in food (tongue) and in the air (nose).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boxes left to right with the pen example. Students complete the same pathway in order on the worksheet (Core question 4). Point out that the hormone line at the bottom of the diagram is the second system, coming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blood carries a hormone everywhere, but only target cells respond to it. One hormone can trigger another: a hormone from the ovaries (oestrogen) makes the pituitary release the hormone that triggers ovulation. Keep this slide brisk; the table on the next slide does the comparing.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system would you use to catch a falling ruler? (Nervous.) Which keeps blood glucose steady after lunch? (Hormonal: insulin.) Students meet this table again on the worksheet (Stretch 2) and in the Think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eye; the brain and the spinal cord; in glands; insulin; the nervous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then the worksheet. A shorter distance means a faster reaction. The eye is the receptor, the brain and spinal cord process, the hand muscles are the effector. Extension: does the reaction get faster with practice? Does talking to your partner slow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the nervous system, because the response (lifting the foot) must be rapid and only involves one effector; impulses travel from receptors in the skin along nerves to the spinal cord and back to the leg muscles. Hormones would be too slow and would act on many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brain and spinal cord; a chemical messenger made in a gland, carried in the blood to target organs; nervous responses are faster and act on one effector, hormonal responses are slower, longer lasting and act on many target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31 (9Cb Control systems). Students who did not finish the reaction time mean can complete it at home with a family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3: Control systems: nerves and hormones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3: Control systems: nerves and hormones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3: Control systems: nerves and hormones</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3: Control systems: nerves and hormones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9C THREAT FROM DISEASE  ·  LESSON 3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Control systems: nerves and hormones</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How does your body know what is happening around it, and how does it respond?</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42 to 43  ·  Workbook pages 31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the hot pan</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You touch a hot pan and pull your hand away before you even feel the pain.</a:t>
            </a:r>
            <a:endParaRPr lang="en-US" sz="2000" dirty="0"/>
          </a:p>
          <a:p>
            <a:pPr indent="0" marL="0">
              <a:spcAft>
                <a:spcPts val="1000"/>
              </a:spcAft>
              <a:buNone/>
            </a:pPr>
            <a:r>
              <a:rPr lang="en-US" sz="2000" dirty="0">
                <a:solidFill>
                  <a:srgbClr val="141B26"/>
                </a:solidFill>
              </a:rPr>
              <a:t>1. Which organ detected the heat?</a:t>
            </a:r>
            <a:endParaRPr lang="en-US" sz="2000" dirty="0"/>
          </a:p>
          <a:p>
            <a:pPr indent="0" marL="0">
              <a:spcAft>
                <a:spcPts val="1000"/>
              </a:spcAft>
              <a:buNone/>
            </a:pPr>
            <a:r>
              <a:rPr lang="en-US" sz="2000" dirty="0">
                <a:solidFill>
                  <a:srgbClr val="141B26"/>
                </a:solidFill>
              </a:rPr>
              <a:t>2. Which organ moved your hand?</a:t>
            </a:r>
            <a:endParaRPr lang="en-US" sz="2000" dirty="0"/>
          </a:p>
          <a:p>
            <a:pPr indent="0" marL="0">
              <a:spcAft>
                <a:spcPts val="1000"/>
              </a:spcAft>
              <a:buNone/>
            </a:pPr>
            <a:r>
              <a:rPr lang="en-US" sz="2000" dirty="0">
                <a:solidFill>
                  <a:srgbClr val="141B26"/>
                </a:solidFill>
              </a:rPr>
              <a:t>3. Which organ system connects them?</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describe how the nervous system detects a stimulus and produces a response.</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describe how hormones affect the body and compare the nervous and hormonal systems.</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nervous system</a:t>
            </a:r>
            <a:pPr indent="0" marL="0">
              <a:spcAft>
                <a:spcPts val="500"/>
              </a:spcAft>
              <a:buNone/>
            </a:pPr>
            <a:r>
              <a:rPr lang="en-US" sz="1300" dirty="0">
                <a:solidFill>
                  <a:srgbClr val="141B26"/>
                </a:solidFill>
              </a:rPr>
              <a:t>  the organ system that senses changes and makes the body respond rapidly</a:t>
            </a:r>
            <a:endParaRPr lang="en-US" sz="1300" dirty="0"/>
          </a:p>
          <a:p>
            <a:pPr indent="0" marL="0">
              <a:spcAft>
                <a:spcPts val="500"/>
              </a:spcAft>
              <a:buNone/>
            </a:pPr>
            <a:r>
              <a:rPr lang="en-US" sz="1300" b="1" dirty="0">
                <a:solidFill>
                  <a:srgbClr val="0F2A5F"/>
                </a:solidFill>
              </a:rPr>
              <a:t>central nervous system</a:t>
            </a:r>
            <a:pPr indent="0" marL="0">
              <a:spcAft>
                <a:spcPts val="500"/>
              </a:spcAft>
              <a:buNone/>
            </a:pPr>
            <a:r>
              <a:rPr lang="en-US" sz="1300" dirty="0">
                <a:solidFill>
                  <a:srgbClr val="141B26"/>
                </a:solidFill>
              </a:rPr>
              <a:t>  the brain and spinal cord (CNS)</a:t>
            </a:r>
            <a:endParaRPr lang="en-US" sz="1300" dirty="0"/>
          </a:p>
          <a:p>
            <a:pPr indent="0" marL="0">
              <a:spcAft>
                <a:spcPts val="500"/>
              </a:spcAft>
              <a:buNone/>
            </a:pPr>
            <a:r>
              <a:rPr lang="en-US" sz="1300" b="1" dirty="0">
                <a:solidFill>
                  <a:srgbClr val="0F2A5F"/>
                </a:solidFill>
              </a:rPr>
              <a:t>nerve</a:t>
            </a:r>
            <a:pPr indent="0" marL="0">
              <a:spcAft>
                <a:spcPts val="500"/>
              </a:spcAft>
              <a:buNone/>
            </a:pPr>
            <a:r>
              <a:rPr lang="en-US" sz="1300" dirty="0">
                <a:solidFill>
                  <a:srgbClr val="141B26"/>
                </a:solidFill>
              </a:rPr>
              <a:t>  an organ that carries impulses between the CNS and the rest of the body</a:t>
            </a:r>
            <a:endParaRPr lang="en-US" sz="1300" dirty="0"/>
          </a:p>
          <a:p>
            <a:pPr indent="0" marL="0">
              <a:spcAft>
                <a:spcPts val="500"/>
              </a:spcAft>
              <a:buNone/>
            </a:pPr>
            <a:r>
              <a:rPr lang="en-US" sz="1300" b="1" dirty="0">
                <a:solidFill>
                  <a:srgbClr val="0F2A5F"/>
                </a:solidFill>
              </a:rPr>
              <a:t>stimulus</a:t>
            </a:r>
            <a:pPr indent="0" marL="0">
              <a:spcAft>
                <a:spcPts val="500"/>
              </a:spcAft>
              <a:buNone/>
            </a:pPr>
            <a:r>
              <a:rPr lang="en-US" sz="1300" dirty="0">
                <a:solidFill>
                  <a:srgbClr val="141B26"/>
                </a:solidFill>
              </a:rPr>
              <a:t>  a change that can be detected, e.g. light, sound, touch</a:t>
            </a:r>
            <a:endParaRPr lang="en-US" sz="1300" dirty="0"/>
          </a:p>
          <a:p>
            <a:pPr indent="0" marL="0">
              <a:spcAft>
                <a:spcPts val="500"/>
              </a:spcAft>
              <a:buNone/>
            </a:pPr>
            <a:r>
              <a:rPr lang="en-US" sz="1300" b="1" dirty="0">
                <a:solidFill>
                  <a:srgbClr val="0F2A5F"/>
                </a:solidFill>
              </a:rPr>
              <a:t>receptor</a:t>
            </a:r>
            <a:pPr indent="0" marL="0">
              <a:spcAft>
                <a:spcPts val="500"/>
              </a:spcAft>
              <a:buNone/>
            </a:pPr>
            <a:r>
              <a:rPr lang="en-US" sz="1300" dirty="0">
                <a:solidFill>
                  <a:srgbClr val="141B26"/>
                </a:solidFill>
              </a:rPr>
              <a:t>  a cell in a sense organ that detects a stimulus</a:t>
            </a:r>
            <a:endParaRPr lang="en-US" sz="1300" dirty="0"/>
          </a:p>
          <a:p>
            <a:pPr indent="0" marL="0">
              <a:spcAft>
                <a:spcPts val="500"/>
              </a:spcAft>
              <a:buNone/>
            </a:pPr>
            <a:r>
              <a:rPr lang="en-US" sz="1300" b="1" dirty="0">
                <a:solidFill>
                  <a:srgbClr val="0F2A5F"/>
                </a:solidFill>
              </a:rPr>
              <a:t>impulse</a:t>
            </a:r>
            <a:pPr indent="0" marL="0">
              <a:spcAft>
                <a:spcPts val="500"/>
              </a:spcAft>
              <a:buNone/>
            </a:pPr>
            <a:r>
              <a:rPr lang="en-US" sz="1300" dirty="0">
                <a:solidFill>
                  <a:srgbClr val="141B26"/>
                </a:solidFill>
              </a:rPr>
              <a:t>  an electrical signal that travels along a nerve</a:t>
            </a:r>
            <a:endParaRPr lang="en-US" sz="1300" dirty="0"/>
          </a:p>
          <a:p>
            <a:pPr indent="0" marL="0">
              <a:spcAft>
                <a:spcPts val="500"/>
              </a:spcAft>
              <a:buNone/>
            </a:pPr>
            <a:r>
              <a:rPr lang="en-US" sz="1300" b="1" dirty="0">
                <a:solidFill>
                  <a:srgbClr val="0F2A5F"/>
                </a:solidFill>
              </a:rPr>
              <a:t>effector</a:t>
            </a:r>
            <a:pPr indent="0" marL="0">
              <a:spcAft>
                <a:spcPts val="500"/>
              </a:spcAft>
              <a:buNone/>
            </a:pPr>
            <a:r>
              <a:rPr lang="en-US" sz="1300" dirty="0">
                <a:solidFill>
                  <a:srgbClr val="141B26"/>
                </a:solidFill>
              </a:rPr>
              <a:t>  a muscle or gland that carries out a response</a:t>
            </a:r>
            <a:endParaRPr lang="en-US" sz="1300" dirty="0"/>
          </a:p>
          <a:p>
            <a:pPr indent="0" marL="0">
              <a:spcAft>
                <a:spcPts val="500"/>
              </a:spcAft>
              <a:buNone/>
            </a:pPr>
            <a:r>
              <a:rPr lang="en-US" sz="1300" b="1" dirty="0">
                <a:solidFill>
                  <a:srgbClr val="0F2A5F"/>
                </a:solidFill>
              </a:rPr>
              <a:t>hormone</a:t>
            </a:r>
            <a:pPr indent="0" marL="0">
              <a:spcAft>
                <a:spcPts val="500"/>
              </a:spcAft>
              <a:buNone/>
            </a:pPr>
            <a:r>
              <a:rPr lang="en-US" sz="1300" dirty="0">
                <a:solidFill>
                  <a:srgbClr val="141B26"/>
                </a:solidFill>
              </a:rPr>
              <a:t>  a chemical messenger made in a gland and carried in the blood</a:t>
            </a:r>
            <a:endParaRPr lang="en-US" sz="1300" dirty="0"/>
          </a:p>
          <a:p>
            <a:pPr indent="0" marL="0">
              <a:spcAft>
                <a:spcPts val="500"/>
              </a:spcAft>
              <a:buNone/>
            </a:pPr>
            <a:r>
              <a:rPr lang="en-US" sz="1300" b="1" dirty="0">
                <a:solidFill>
                  <a:srgbClr val="0F2A5F"/>
                </a:solidFill>
              </a:rPr>
              <a:t>gland</a:t>
            </a:r>
            <a:pPr indent="0" marL="0">
              <a:spcAft>
                <a:spcPts val="500"/>
              </a:spcAft>
              <a:buNone/>
            </a:pPr>
            <a:r>
              <a:rPr lang="en-US" sz="1300" dirty="0">
                <a:solidFill>
                  <a:srgbClr val="141B26"/>
                </a:solidFill>
              </a:rPr>
              <a:t>  an organ that makes and releases a substance, e.g. a hormone</a:t>
            </a:r>
            <a:endParaRPr lang="en-US" sz="1300" dirty="0"/>
          </a:p>
          <a:p>
            <a:pPr indent="0" marL="0">
              <a:spcAft>
                <a:spcPts val="500"/>
              </a:spcAft>
              <a:buNone/>
            </a:pPr>
            <a:r>
              <a:rPr lang="en-US" sz="1300" b="1" dirty="0">
                <a:solidFill>
                  <a:srgbClr val="0F2A5F"/>
                </a:solidFill>
              </a:rPr>
              <a:t>target organ</a:t>
            </a:r>
            <a:pPr indent="0" marL="0">
              <a:spcAft>
                <a:spcPts val="500"/>
              </a:spcAft>
              <a:buNone/>
            </a:pPr>
            <a:r>
              <a:rPr lang="en-US" sz="1300" dirty="0">
                <a:solidFill>
                  <a:srgbClr val="141B26"/>
                </a:solidFill>
              </a:rPr>
              <a:t>  an organ that responds to a particular hormone</a:t>
            </a:r>
            <a:endParaRPr lang="en-US" sz="1300" dirty="0"/>
          </a:p>
          <a:p>
            <a:pPr indent="0" marL="0">
              <a:spcAft>
                <a:spcPts val="500"/>
              </a:spcAft>
              <a:buNone/>
            </a:pPr>
            <a:r>
              <a:rPr lang="en-US" sz="1300" b="1" dirty="0">
                <a:solidFill>
                  <a:srgbClr val="0F2A5F"/>
                </a:solidFill>
              </a:rPr>
              <a:t>insulin</a:t>
            </a:r>
            <a:pPr indent="0" marL="0">
              <a:spcAft>
                <a:spcPts val="500"/>
              </a:spcAft>
              <a:buNone/>
            </a:pPr>
            <a:r>
              <a:rPr lang="en-US" sz="1300" dirty="0">
                <a:solidFill>
                  <a:srgbClr val="141B26"/>
                </a:solidFill>
              </a:rPr>
              <a:t>  a hormone from the pancreas that makes cells take up glucose from the blood</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Fast and slow messages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A message along a nerve can travel at over 100 metres per second. The message that makes a child grow taller takes years. Why does the body need two different kinds of messenger?</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name one fast response and one slow change in your body.</a:t>
            </a:r>
            <a:endParaRPr lang="en-US" sz="1600" dirty="0"/>
          </a:p>
        </p:txBody>
      </p:sp>
      <p:pic>
        <p:nvPicPr>
          <p:cNvPr id="7" name="Image 0" descr="/home/user/lessons/Y9_Exploring_Science/images/nervous_system.jpg">    </p:cNvPr>
          <p:cNvPicPr>
            <a:picLocks noChangeAspect="1"/>
          </p:cNvPicPr>
          <p:nvPr/>
        </p:nvPicPr>
        <p:blipFill>
          <a:blip r:embed="rId1"/>
          <a:stretch>
            <a:fillRect/>
          </a:stretch>
        </p:blipFill>
        <p:spPr>
          <a:xfrm>
            <a:off x="7447449" y="1280160"/>
            <a:ext cx="3027343" cy="4206240"/>
          </a:xfrm>
          <a:prstGeom prst="rect">
            <a:avLst/>
          </a:prstGeom>
        </p:spPr>
      </p:pic>
      <p:sp>
        <p:nvSpPr>
          <p:cNvPr id="8" name="Text 5"/>
          <p:cNvSpPr txBox="1"/>
          <p:nvPr/>
        </p:nvSpPr>
        <p:spPr>
          <a:xfrm>
            <a:off x="6309360" y="5532120"/>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An old anatomical drawing of the human nervous system</a:t>
            </a:r>
            <a:pPr algn="l" indent="0" marL="0">
              <a:buNone/>
            </a:pPr>
            <a:endParaRPr lang="en-US" sz="1100" dirty="0"/>
          </a:p>
          <a:p>
            <a:pPr algn="l" indent="0" marL="0">
              <a:buNone/>
            </a:pPr>
            <a:r>
              <a:rPr lang="en-US" sz="800" dirty="0">
                <a:solidFill>
                  <a:srgbClr val="5B6574"/>
                </a:solidFill>
              </a:rPr>
              <a:t>Image: unknown, CC0,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nervous system</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central nervous system   ·   receptor   ·   impulse   ·   effector</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Organs: the brain and spinal cord (the central nervous system, CNS) and the nerves.</a:t>
            </a:r>
            <a:endParaRPr lang="en-US" sz="1700" dirty="0"/>
          </a:p>
          <a:p>
            <a:pPr marL="228600" indent="-228600">
              <a:spcAft>
                <a:spcPts val="600"/>
              </a:spcAft>
              <a:buSzPct val="100000"/>
              <a:buChar char="•"/>
            </a:pPr>
            <a:r>
              <a:rPr lang="en-US" sz="1700" dirty="0">
                <a:solidFill>
                  <a:srgbClr val="141B26"/>
                </a:solidFill>
              </a:rPr>
              <a:t>Receptor cells in sense organs (eyes, ears, skin) detect stimuli.</a:t>
            </a:r>
            <a:endParaRPr lang="en-US" sz="1700" dirty="0"/>
          </a:p>
          <a:p>
            <a:pPr marL="228600" indent="-228600">
              <a:spcAft>
                <a:spcPts val="600"/>
              </a:spcAft>
              <a:buSzPct val="100000"/>
              <a:buChar char="•"/>
            </a:pPr>
            <a:r>
              <a:rPr lang="en-US" sz="1700" dirty="0">
                <a:solidFill>
                  <a:srgbClr val="141B26"/>
                </a:solidFill>
              </a:rPr>
              <a:t>A receptor produces electrical impulses that travel along nerves to the CNS.</a:t>
            </a:r>
            <a:endParaRPr lang="en-US" sz="1700" dirty="0"/>
          </a:p>
          <a:p>
            <a:pPr marL="228600" indent="-228600">
              <a:spcAft>
                <a:spcPts val="600"/>
              </a:spcAft>
              <a:buSzPct val="100000"/>
              <a:buChar char="•"/>
            </a:pPr>
            <a:r>
              <a:rPr lang="en-US" sz="1700" dirty="0">
                <a:solidFill>
                  <a:srgbClr val="141B26"/>
                </a:solidFill>
              </a:rPr>
              <a:t>The brain processes the information and sends impulses to effectors: muscles contract, glands release substances.</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stimulus, receptor, nerve, CNS, nerve, effector, response.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Picking up a pen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Touch receptors in your fingers detect the pen; impulses travel to the CNS and back out to the muscles that lift your hand.</a:t>
            </a:r>
            <a:endParaRPr lang="en-US" sz="1600" dirty="0"/>
          </a:p>
        </p:txBody>
      </p:sp>
      <p:pic>
        <p:nvPicPr>
          <p:cNvPr id="6" name="Image 0" descr="/home/user/lessons/Y9_Exploring_Science/source/diagrams/nervous_pathway.png">    </p:cNvPr>
          <p:cNvPicPr>
            <a:picLocks noChangeAspect="1"/>
          </p:cNvPicPr>
          <p:nvPr/>
        </p:nvPicPr>
        <p:blipFill>
          <a:blip r:embed="rId1"/>
          <a:stretch>
            <a:fillRect/>
          </a:stretch>
        </p:blipFill>
        <p:spPr>
          <a:xfrm>
            <a:off x="764177" y="1737360"/>
            <a:ext cx="10450286"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Impulses are electrical signals. They travel along nerves, usually to the brain via the spinal cord, and back out to an effector.</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Hormones: chemical messengers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hormone   ·   gland   ·   target organ   ·   insulin</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Hormones are chemicals made in glands and released into the blood.</a:t>
            </a:r>
            <a:endParaRPr lang="en-US" sz="1700" dirty="0"/>
          </a:p>
          <a:p>
            <a:pPr marL="228600" indent="-228600">
              <a:spcAft>
                <a:spcPts val="600"/>
              </a:spcAft>
              <a:buSzPct val="100000"/>
              <a:buChar char="•"/>
            </a:pPr>
            <a:r>
              <a:rPr lang="en-US" sz="1700" dirty="0">
                <a:solidFill>
                  <a:srgbClr val="141B26"/>
                </a:solidFill>
              </a:rPr>
              <a:t>Target organs respond to a hormone by changing what they do.</a:t>
            </a:r>
            <a:endParaRPr lang="en-US" sz="1700" dirty="0"/>
          </a:p>
          <a:p>
            <a:pPr marL="228600" indent="-228600">
              <a:spcAft>
                <a:spcPts val="600"/>
              </a:spcAft>
              <a:buSzPct val="100000"/>
              <a:buChar char="•"/>
            </a:pPr>
            <a:r>
              <a:rPr lang="en-US" sz="1700" dirty="0">
                <a:solidFill>
                  <a:srgbClr val="141B26"/>
                </a:solidFill>
              </a:rPr>
              <a:t>Adrenaline (adrenal glands) increases heart rate and breathing rate.</a:t>
            </a:r>
            <a:endParaRPr lang="en-US" sz="1700" dirty="0"/>
          </a:p>
          <a:p>
            <a:pPr marL="228600" indent="-228600">
              <a:spcAft>
                <a:spcPts val="600"/>
              </a:spcAft>
              <a:buSzPct val="100000"/>
              <a:buChar char="•"/>
            </a:pPr>
            <a:r>
              <a:rPr lang="en-US" sz="1700" dirty="0">
                <a:solidFill>
                  <a:srgbClr val="141B26"/>
                </a:solidFill>
              </a:rPr>
              <a:t>Insulin (pancreas) makes muscle and liver cells take up glucose from the blood.</a:t>
            </a:r>
            <a:endParaRPr lang="en-US" sz="1700" dirty="0"/>
          </a:p>
          <a:p>
            <a:pPr marL="228600" indent="-228600">
              <a:spcAft>
                <a:spcPts val="600"/>
              </a:spcAft>
              <a:buSzPct val="100000"/>
              <a:buChar char="•"/>
            </a:pPr>
            <a:r>
              <a:rPr lang="en-US" sz="1700" dirty="0">
                <a:solidFill>
                  <a:srgbClr val="141B26"/>
                </a:solidFill>
              </a:rPr>
              <a:t>Growth hormone (pituitary gland) controls growth; thyroxine (thyroid) controls the rate of many body processes.</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Hormones travel in the blood and act on target organs.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Comparing the two systems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463040"/>
                <a:gridCol w="2743200"/>
                <a:gridCol w="2743200"/>
              </a:tblGrid>
              <a:tr h="384048">
                <a:tc>
                  <a:txBody>
                    <a:bodyPr/>
                    <a:lstStyle/>
                    <a:p>
                      <a:pPr indent="0" marL="0">
                        <a:buNone/>
                      </a:pP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Nervous system</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Hormonal system</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messenger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electrical impulses along nerves</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chemical messengers (hormones) in the blood</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short, rapid response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longer, slower response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acts on</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only the effector connected to the nerve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many target organs at the same time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pulling your hand from a hot pan</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adrenaline preparing the body for danger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7772400" y="1371600"/>
            <a:ext cx="3840480" cy="438912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Nerves: fast and local.</a:t>
            </a:r>
            <a:endParaRPr lang="en-US" sz="1500" dirty="0"/>
          </a:p>
          <a:p>
            <a:pPr marL="228600" indent="-228600">
              <a:spcAft>
                <a:spcPts val="600"/>
              </a:spcAft>
              <a:buSzPct val="100000"/>
              <a:buChar char="•"/>
            </a:pPr>
            <a:r>
              <a:rPr lang="en-US" sz="1500" dirty="0">
                <a:solidFill>
                  <a:srgbClr val="141B26"/>
                </a:solidFill>
              </a:rPr>
              <a:t>Hormones: slower, longer lasting and widespread.</a:t>
            </a:r>
            <a:endParaRPr lang="en-US" sz="1500" dirty="0"/>
          </a:p>
          <a:p>
            <a:pPr marL="228600" indent="-228600">
              <a:spcAft>
                <a:spcPts val="600"/>
              </a:spcAft>
              <a:buSzPct val="100000"/>
              <a:buChar char="•"/>
            </a:pPr>
            <a:r>
              <a:rPr lang="en-US" sz="1500" dirty="0">
                <a:solidFill>
                  <a:srgbClr val="141B26"/>
                </a:solidFill>
              </a:rPr>
              <a:t>Having both means we can respond in different ways to different stimuli.</a:t>
            </a:r>
            <a:endParaRPr lang="en-US" sz="1500" dirty="0"/>
          </a:p>
        </p:txBody>
      </p:sp>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Two control systems let the body respond in different ways.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One answer each, then we check.</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Which sense organ detects light?</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Name the two organs of the central nervous system.</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Where are hormones made?</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Which hormone makes cells take up glucose from the blood?</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Which system gives the faster response: nervous or hormonal?</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Reaction time: the ruler drop</a:t>
            </a:r>
            <a:endParaRPr lang="en-US" sz="3000" dirty="0"/>
          </a:p>
        </p:txBody>
      </p:sp>
      <p:sp>
        <p:nvSpPr>
          <p:cNvPr id="3" name="Shape 1"/>
          <p:cNvSpPr/>
          <p:nvPr/>
        </p:nvSpPr>
        <p:spPr>
          <a:xfrm>
            <a:off x="9869119" y="411480"/>
            <a:ext cx="1773936"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869119" y="411480"/>
            <a:ext cx="1773936"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PRACTICAL</a:t>
            </a:r>
            <a:endParaRPr lang="en-US" sz="1100" dirty="0"/>
          </a:p>
        </p:txBody>
      </p:sp>
      <p:sp>
        <p:nvSpPr>
          <p:cNvPr id="5" name="Text 3"/>
          <p:cNvSpPr txBox="1"/>
          <p:nvPr/>
        </p:nvSpPr>
        <p:spPr>
          <a:xfrm>
            <a:off x="548640" y="1280160"/>
            <a:ext cx="10881360" cy="457200"/>
          </a:xfrm>
          <a:prstGeom prst="rect">
            <a:avLst/>
          </a:prstGeom>
          <a:noFill/>
          <a:ln/>
        </p:spPr>
        <p:txBody>
          <a:bodyPr wrap="square" lIns="0" tIns="0" rIns="0" bIns="0" rtlCol="0" anchor="ctr"/>
          <a:lstStyle/>
          <a:p>
            <a:pPr indent="0" marL="0">
              <a:buNone/>
            </a:pPr>
            <a:r>
              <a:rPr lang="en-US" sz="1500" b="1" dirty="0">
                <a:solidFill>
                  <a:srgbClr val="7B3A8E"/>
                </a:solidFill>
              </a:rPr>
              <a:t>Aim  </a:t>
            </a:r>
            <a:pPr indent="0" marL="0">
              <a:buNone/>
            </a:pPr>
            <a:r>
              <a:rPr lang="en-US" sz="1500" dirty="0">
                <a:solidFill>
                  <a:srgbClr val="141B26"/>
                </a:solidFill>
              </a:rPr>
              <a:t>Measure how quickly your nervous system responds to a stimulus.</a:t>
            </a:r>
            <a:endParaRPr lang="en-US" sz="1500" dirty="0"/>
          </a:p>
        </p:txBody>
      </p:sp>
      <p:sp>
        <p:nvSpPr>
          <p:cNvPr id="6" name="Text 4"/>
          <p:cNvSpPr txBox="1"/>
          <p:nvPr/>
        </p:nvSpPr>
        <p:spPr>
          <a:xfrm>
            <a:off x="548640" y="1828800"/>
            <a:ext cx="4023360" cy="365760"/>
          </a:xfrm>
          <a:prstGeom prst="rect">
            <a:avLst/>
          </a:prstGeom>
          <a:noFill/>
          <a:ln/>
        </p:spPr>
        <p:txBody>
          <a:bodyPr wrap="square" lIns="0" tIns="0" rIns="0" bIns="0" rtlCol="0" anchor="ctr"/>
          <a:lstStyle/>
          <a:p>
            <a:pPr indent="0" marL="0">
              <a:buNone/>
            </a:pPr>
            <a:r>
              <a:rPr lang="en-US" sz="1600" b="1" dirty="0">
                <a:solidFill>
                  <a:srgbClr val="0F2A5F"/>
                </a:solidFill>
              </a:rPr>
              <a:t>Equipment</a:t>
            </a:r>
            <a:endParaRPr lang="en-US" sz="1600" dirty="0"/>
          </a:p>
        </p:txBody>
      </p:sp>
      <p:sp>
        <p:nvSpPr>
          <p:cNvPr id="7" name="Text 5"/>
          <p:cNvSpPr txBox="1"/>
          <p:nvPr/>
        </p:nvSpPr>
        <p:spPr>
          <a:xfrm>
            <a:off x="548640" y="2240280"/>
            <a:ext cx="4023360" cy="320040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dirty="0">
                <a:solidFill>
                  <a:srgbClr val="141B26"/>
                </a:solidFill>
              </a:rPr>
              <a:t>30 cm ruler</a:t>
            </a:r>
            <a:endParaRPr lang="en-US" sz="1300" dirty="0"/>
          </a:p>
          <a:p>
            <a:pPr marL="228600" indent="-228600">
              <a:spcAft>
                <a:spcPts val="600"/>
              </a:spcAft>
              <a:buSzPct val="100000"/>
              <a:buChar char="•"/>
            </a:pPr>
            <a:r>
              <a:rPr lang="en-US" sz="1300" dirty="0">
                <a:solidFill>
                  <a:srgbClr val="141B26"/>
                </a:solidFill>
              </a:rPr>
              <a:t>a partner</a:t>
            </a:r>
            <a:endParaRPr lang="en-US" sz="1300" dirty="0"/>
          </a:p>
          <a:p>
            <a:pPr marL="228600" indent="-228600">
              <a:spcAft>
                <a:spcPts val="600"/>
              </a:spcAft>
              <a:buSzPct val="100000"/>
              <a:buChar char="•"/>
            </a:pPr>
            <a:r>
              <a:rPr lang="en-US" sz="1300" dirty="0">
                <a:solidFill>
                  <a:srgbClr val="141B26"/>
                </a:solidFill>
              </a:rPr>
              <a:t>the results table on your worksheet (Core 3)</a:t>
            </a:r>
            <a:endParaRPr lang="en-US" sz="1300" dirty="0"/>
          </a:p>
        </p:txBody>
      </p:sp>
      <p:sp>
        <p:nvSpPr>
          <p:cNvPr id="8" name="Text 6"/>
          <p:cNvSpPr txBox="1"/>
          <p:nvPr/>
        </p:nvSpPr>
        <p:spPr>
          <a:xfrm>
            <a:off x="4937760" y="1828800"/>
            <a:ext cx="6675120" cy="365760"/>
          </a:xfrm>
          <a:prstGeom prst="rect">
            <a:avLst/>
          </a:prstGeom>
          <a:noFill/>
          <a:ln/>
        </p:spPr>
        <p:txBody>
          <a:bodyPr wrap="square" lIns="0" tIns="0" rIns="0" bIns="0" rtlCol="0" anchor="ctr"/>
          <a:lstStyle/>
          <a:p>
            <a:pPr indent="0" marL="0">
              <a:buNone/>
            </a:pPr>
            <a:r>
              <a:rPr lang="en-US" sz="1600" b="1" dirty="0">
                <a:solidFill>
                  <a:srgbClr val="0F2A5F"/>
                </a:solidFill>
              </a:rPr>
              <a:t>Method</a:t>
            </a:r>
            <a:endParaRPr lang="en-US" sz="1600" dirty="0"/>
          </a:p>
        </p:txBody>
      </p:sp>
      <p:sp>
        <p:nvSpPr>
          <p:cNvPr id="9" name="Text 7"/>
          <p:cNvSpPr txBox="1"/>
          <p:nvPr/>
        </p:nvSpPr>
        <p:spPr>
          <a:xfrm>
            <a:off x="4937760" y="2240280"/>
            <a:ext cx="6675120" cy="3200400"/>
          </a:xfrm>
          <a:prstGeom prst="rect">
            <a:avLst/>
          </a:prstGeom>
          <a:noFill/>
          <a:ln/>
        </p:spPr>
        <p:txBody>
          <a:bodyPr wrap="square" lIns="0" tIns="0" rIns="0" bIns="0" rtlCol="0" anchor="t">
            <a:normAutofit/>
          </a:bodyPr>
          <a:lstStyle/>
          <a:p>
            <a:pPr marL="342900" indent="-342900">
              <a:spcAft>
                <a:spcPts val="500"/>
              </a:spcAft>
              <a:buSzPct val="100000"/>
              <a:buFont typeface="+mj-lt"/>
              <a:buAutoNum type="arabicPeriod" startAt="1"/>
            </a:pPr>
            <a:r>
              <a:rPr lang="en-US" sz="1300" dirty="0">
                <a:solidFill>
                  <a:srgbClr val="141B26"/>
                </a:solidFill>
              </a:rPr>
              <a:t>Rest your forearm on the desk with your hand over the edge, thumb and finger open about 3 cm apart.</a:t>
            </a:r>
            <a:endParaRPr lang="en-US" sz="1300" dirty="0"/>
          </a:p>
          <a:p>
            <a:pPr marL="342900" indent="-342900">
              <a:spcAft>
                <a:spcPts val="500"/>
              </a:spcAft>
              <a:buSzPct val="100000"/>
              <a:buFont typeface="+mj-lt"/>
              <a:buAutoNum type="arabicPeriod" startAt="1"/>
            </a:pPr>
            <a:r>
              <a:rPr lang="en-US" sz="1300" dirty="0">
                <a:solidFill>
                  <a:srgbClr val="141B26"/>
                </a:solidFill>
              </a:rPr>
              <a:t>Your partner holds the ruler so the 0 cm mark is level with the top of your thumb.</a:t>
            </a:r>
            <a:endParaRPr lang="en-US" sz="1300" dirty="0"/>
          </a:p>
          <a:p>
            <a:pPr marL="342900" indent="-342900">
              <a:spcAft>
                <a:spcPts val="500"/>
              </a:spcAft>
              <a:buSzPct val="100000"/>
              <a:buFont typeface="+mj-lt"/>
              <a:buAutoNum type="arabicPeriod" startAt="1"/>
            </a:pPr>
            <a:r>
              <a:rPr lang="en-US" sz="1300" dirty="0">
                <a:solidFill>
                  <a:srgbClr val="141B26"/>
                </a:solidFill>
              </a:rPr>
              <a:t>Without warning, your partner lets go. Catch the ruler as fast as you can.</a:t>
            </a:r>
            <a:endParaRPr lang="en-US" sz="1300" dirty="0"/>
          </a:p>
          <a:p>
            <a:pPr marL="342900" indent="-342900">
              <a:spcAft>
                <a:spcPts val="500"/>
              </a:spcAft>
              <a:buSzPct val="100000"/>
              <a:buFont typeface="+mj-lt"/>
              <a:buAutoNum type="arabicPeriod" startAt="1"/>
            </a:pPr>
            <a:r>
              <a:rPr lang="en-US" sz="1300" dirty="0">
                <a:solidFill>
                  <a:srgbClr val="141B26"/>
                </a:solidFill>
              </a:rPr>
              <a:t>Read the distance (cm) at the top of your thumb and record it.</a:t>
            </a:r>
            <a:endParaRPr lang="en-US" sz="1300" dirty="0"/>
          </a:p>
          <a:p>
            <a:pPr marL="342900" indent="-342900">
              <a:spcAft>
                <a:spcPts val="500"/>
              </a:spcAft>
              <a:buSzPct val="100000"/>
              <a:buFont typeface="+mj-lt"/>
              <a:buAutoNum type="arabicPeriod" startAt="1"/>
            </a:pPr>
            <a:r>
              <a:rPr lang="en-US" sz="1300" dirty="0">
                <a:solidFill>
                  <a:srgbClr val="141B26"/>
                </a:solidFill>
              </a:rPr>
              <a:t>Repeat five times, then calculate the mean. Swap over.</a:t>
            </a:r>
            <a:endParaRPr lang="en-US" sz="1300" dirty="0"/>
          </a:p>
          <a:p>
            <a:pPr marL="342900" indent="-342900">
              <a:spcAft>
                <a:spcPts val="500"/>
              </a:spcAft>
              <a:buSzPct val="100000"/>
              <a:buFont typeface="+mj-lt"/>
              <a:buAutoNum type="arabicPeriod" startAt="1"/>
            </a:pPr>
            <a:r>
              <a:rPr lang="en-US" sz="1300" dirty="0">
                <a:solidFill>
                  <a:srgbClr val="141B26"/>
                </a:solidFill>
              </a:rPr>
              <a:t>Which part of the pathway was the receptor, the CNS and the effector?</a:t>
            </a:r>
            <a:endParaRPr lang="en-US" sz="1300" dirty="0"/>
          </a:p>
        </p:txBody>
      </p:sp>
      <p:sp>
        <p:nvSpPr>
          <p:cNvPr id="10" name="Shape 8"/>
          <p:cNvSpPr/>
          <p:nvPr/>
        </p:nvSpPr>
        <p:spPr>
          <a:xfrm>
            <a:off x="548640" y="5532120"/>
            <a:ext cx="10881360" cy="502920"/>
          </a:xfrm>
          <a:prstGeom prst="rect">
            <a:avLst/>
          </a:prstGeom>
          <a:solidFill>
            <a:srgbClr val="F2CE3E"/>
          </a:solidFill>
          <a:ln w="12700">
            <a:solidFill>
              <a:srgbClr val="F2CE3E"/>
            </a:solidFill>
            <a:prstDash val="solid"/>
          </a:ln>
        </p:spPr>
      </p:sp>
      <p:sp>
        <p:nvSpPr>
          <p:cNvPr id="11" name="Text 9"/>
          <p:cNvSpPr txBox="1"/>
          <p:nvPr/>
        </p:nvSpPr>
        <p:spPr>
          <a:xfrm>
            <a:off x="685800" y="5532120"/>
            <a:ext cx="10607040" cy="502920"/>
          </a:xfrm>
          <a:prstGeom prst="rect">
            <a:avLst/>
          </a:prstGeom>
          <a:noFill/>
          <a:ln/>
        </p:spPr>
        <p:txBody>
          <a:bodyPr wrap="square" lIns="0" tIns="0" rIns="0" bIns="0" rtlCol="0" anchor="ctr">
            <a:normAutofit/>
          </a:bodyPr>
          <a:lstStyle/>
          <a:p>
            <a:pPr indent="0" marL="0">
              <a:buNone/>
            </a:pPr>
            <a:r>
              <a:rPr lang="en-US" sz="1300" b="1" dirty="0">
                <a:solidFill>
                  <a:srgbClr val="3A2E00"/>
                </a:solidFill>
              </a:rPr>
              <a:t>Safety  </a:t>
            </a:r>
            <a:pPr indent="0" marL="0">
              <a:buNone/>
            </a:pPr>
            <a:r>
              <a:rPr lang="en-US" sz="1300" dirty="0">
                <a:solidFill>
                  <a:srgbClr val="3A2E00"/>
                </a:solidFill>
              </a:rPr>
              <a:t>Stay seated. Drop the ruler between the fingers, never throw it. Keep feet clear.</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Which system is best?</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You tread on something sharp. Suggest which control system is better for responding to this stimulus, and explain why.</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The ___ system is better because the response needs to be ___.</a:t>
            </a:r>
            <a:endParaRPr lang="en-US" sz="1500" dirty="0"/>
          </a:p>
          <a:p>
            <a:pPr indent="0" marL="0">
              <a:spcAft>
                <a:spcPts val="600"/>
              </a:spcAft>
              <a:buNone/>
            </a:pPr>
            <a:r>
              <a:rPr lang="en-US" sz="1500" dirty="0">
                <a:solidFill>
                  <a:srgbClr val="141B26"/>
                </a:solidFill>
              </a:rPr>
              <a:t>The receptors in the ___ send impulses along ___ to the ___.</a:t>
            </a:r>
            <a:endParaRPr lang="en-US" sz="1500" dirty="0"/>
          </a:p>
          <a:p>
            <a:pPr indent="0" marL="0">
              <a:spcAft>
                <a:spcPts val="600"/>
              </a:spcAft>
              <a:buNone/>
            </a:pPr>
            <a:r>
              <a:rPr lang="en-US" sz="1500" dirty="0">
                <a:solidFill>
                  <a:srgbClr val="141B26"/>
                </a:solidFill>
              </a:rPr>
              <a:t>The ___ system would be too ___ because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Name the two organs of the central nervous system.</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What is a hormone, and how does it travel round the body?</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Give one difference between a nervous response and a hormonal response.</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Receptors detect stimuli and send impulses along nerves to the brain and spinal cord (the CNS).</a:t>
            </a:r>
            <a:endParaRPr lang="en-US" sz="1700" dirty="0"/>
          </a:p>
          <a:p>
            <a:pPr marL="342900" indent="-342900">
              <a:spcAft>
                <a:spcPts val="1000"/>
              </a:spcAft>
              <a:buSzPct val="100000"/>
              <a:buChar char="✓"/>
            </a:pPr>
            <a:r>
              <a:rPr lang="en-US" sz="1700" dirty="0">
                <a:solidFill>
                  <a:srgbClr val="141B26"/>
                </a:solidFill>
              </a:rPr>
              <a:t>The CNS sends impulses to effectors: muscles contract, glands release substances.</a:t>
            </a:r>
            <a:endParaRPr lang="en-US" sz="1700" dirty="0"/>
          </a:p>
          <a:p>
            <a:pPr marL="342900" indent="-342900">
              <a:spcAft>
                <a:spcPts val="1000"/>
              </a:spcAft>
              <a:buSzPct val="100000"/>
              <a:buChar char="✓"/>
            </a:pPr>
            <a:r>
              <a:rPr lang="en-US" sz="1700" dirty="0">
                <a:solidFill>
                  <a:srgbClr val="141B26"/>
                </a:solidFill>
              </a:rPr>
              <a:t>Hormones are chemical messengers made in glands, carried in the blood to target organs.</a:t>
            </a:r>
            <a:endParaRPr lang="en-US" sz="1700" dirty="0"/>
          </a:p>
          <a:p>
            <a:pPr marL="342900" indent="-342900">
              <a:spcAft>
                <a:spcPts val="1000"/>
              </a:spcAft>
              <a:buSzPct val="100000"/>
              <a:buChar char="✓"/>
            </a:pPr>
            <a:r>
              <a:rPr lang="en-US" sz="1700" dirty="0">
                <a:solidFill>
                  <a:srgbClr val="141B26"/>
                </a:solidFill>
              </a:rPr>
              <a:t>Nervous responses are fast and local; hormonal responses are slower, longer and widespread.</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Treating diseases: antibiotics, antivirals and how transgenic bacteria make human insulin.</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3: Control systems: nerves and hormones</dc:title>
  <dc:subject>PptxGenJS Presentation</dc:subject>
  <dc:creator>Year 9 Science</dc:creator>
  <cp:lastModifiedBy>Year 9 Science</cp:lastModifiedBy>
  <cp:revision>1</cp:revision>
  <dcterms:created xsi:type="dcterms:W3CDTF">2026-10-28T01:49:02Z</dcterms:created>
  <dcterms:modified xsi:type="dcterms:W3CDTF">2026-10-28T01:49:02Z</dcterms:modified>
</cp:coreProperties>
</file>