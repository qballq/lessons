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6 of 9C. The book links ecology to disease: during an outbreak, scientists estimate the number of cases from samples in the same way ecologists estimate populations. Today is practical: quadrats on the field, or the paper field indoors if the weather is 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in books. Estimate: an approximate calculation. Count a few small areas and scale up: that is today's method. Abiotic: rainfall, temperature, light, soil. Biotic: competition from grass, being eaten, being mown (a human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out the key words box on the worksheet. The Chinese key words version has the same words with Chinese beside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factor is predation (biotic); the gazelle population is likely to fall, at least at first. Counting: sample areas from a vehicle or drone, count the gazelles in each, scale up to the whole area. Ecologists do exactly this, and so do doctors estimating cases in an outbreak.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quadrat is a square frame, often 0.5 m by 0.5 m (area 0.25 m2). A pitfall trap is a cup sunk level with the soil. A pooter sucks small insects into a tube. Ask: which method for limpets on a rocky shore? (Quadrat: they hardly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example on the diagram: 12 snails in 8 quadrats, 8 x 0.25 = 2 m2 sampled, field 750 m2, so 12 x 750 / 2 = 4500 snails. Then the book's crab example: 3 crabs in one 0.25 m2 quadrat on rocks 60 m by 10 m (600 m2): 3 x 600 / 0.25 = 7200 crabs. Compare with an estimated 7000 limpets: the crabs are slightly more abundant.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placement: use random numbers as coordinates along two tape measures, or throw a quadrat over your shoulder with your eyes shut (less reliable). If the crabs were all in a few rock pools, a quadrat might land on none or on a whole group, so the estimate could be far too low or too high.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dandelions on a lawn (random), gannets nesting the same distance apart (regular), crabs in rock pools (clumped). Counting the number of different species in a survey also tells you the biodiversity of the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how common a species is in a habitat; a pitfall trap; 3 x 600 / 0.25 = 7200 crabs; at random, e.g. with random number coordinates; clumped.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minutes. Indoors: the paper field has 100 squares; drop the card quadrat using random coordinates and count dots. Groups' estimates will differ because samples are random and small: that is the point of the comparison. Ask how the estimate could be made more accurate (more quadrats).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regular distribution (evenly spaced nests). Photograph the island from the air, count the nests in several sample squares of the photo and scale up to the whole area, or count one section and multiply. More accurate with more sample squares and a clear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it is impossible or takes too long to find and count every organism; 5 x 40 / 0.25 = 800 daisies; to avoid bias (choosing spots where you expect many or few organisms makes the estimate too high or too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pages 34 and 35 (9Cd Ecology). The rainforest and oil palm transect question matches the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rtlCol="0"/>
          <a:lstStyle>
            <a:lvl1pPr indent="0" marL="0">
              <a:buNone/>
              <a:defRPr lang="en-US" sz="2000" dirty="0">
                <a:solidFill>
                  <a:srgbClr val="FFFFFF"/>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6: Ecology: abundance and distribution</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6: Ecology: abundance and distribution</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9C Threat from disease  |  Lesson 6: Ecology: abundance and distribution</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3A2E00"/>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9C Threat from disease  |  Lesson 6: Ecology: abundance and distribution</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300" b="1" spc="200" kern="0" dirty="0">
                <a:solidFill>
                  <a:srgbClr val="F2CE3E"/>
                </a:solidFill>
              </a:rPr>
              <a:t>YEAR 9 SCIENCE  ·  9C THREAT FROM DISEASE  ·  LESSON 6 OF 7</a:t>
            </a:r>
            <a:endParaRPr lang="en-US" sz="13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Ecology: abundance and distribution</a:t>
            </a: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lIns="0" tIns="0" rIns="0" bIns="0" rtlCol="0" anchor="t"/>
          <a:lstStyle/>
          <a:p>
            <a:pPr indent="0" marL="0">
              <a:buNone/>
            </a:pPr>
            <a:r>
              <a:rPr lang="en-US" sz="2000" dirty="0">
                <a:solidFill>
                  <a:srgbClr val="FFFFFF"/>
                </a:solidFill>
              </a:rPr>
              <a:t>How do scientists count what cannot be counted?</a:t>
            </a:r>
            <a:endParaRPr lang="en-US" sz="20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200" dirty="0">
                <a:solidFill>
                  <a:srgbClr val="C9D3E6"/>
                </a:solidFill>
              </a:rPr>
              <a:t>Exploring Science International 9  ·  Student Book pages 48 to 49  ·  Workbook pages 34 to 35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counting the uncountable</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9692640" cy="4480560"/>
          </a:xfrm>
          <a:prstGeom prst="rect">
            <a:avLst/>
          </a:prstGeom>
          <a:noFill/>
          <a:ln/>
        </p:spPr>
        <p:txBody>
          <a:bodyPr wrap="square" lIns="0" tIns="0" rIns="0" bIns="0" rtlCol="0" anchor="t">
            <a:normAutofit/>
          </a:bodyPr>
          <a:lstStyle/>
          <a:p>
            <a:pPr indent="0" marL="0">
              <a:spcAft>
                <a:spcPts val="1000"/>
              </a:spcAft>
              <a:buNone/>
            </a:pPr>
            <a:r>
              <a:rPr lang="en-US" sz="2000" dirty="0">
                <a:solidFill>
                  <a:srgbClr val="141B26"/>
                </a:solidFill>
              </a:rPr>
              <a:t>During a disease outbreak, scientists cannot count every infected person, so they estimate.</a:t>
            </a:r>
            <a:endParaRPr lang="en-US" sz="2000" dirty="0"/>
          </a:p>
          <a:p>
            <a:pPr indent="0" marL="0">
              <a:spcAft>
                <a:spcPts val="1000"/>
              </a:spcAft>
              <a:buNone/>
            </a:pPr>
            <a:r>
              <a:rPr lang="en-US" sz="2000" dirty="0">
                <a:solidFill>
                  <a:srgbClr val="141B26"/>
                </a:solidFill>
              </a:rPr>
              <a:t>1. What does 'estimate' mean?</a:t>
            </a:r>
            <a:endParaRPr lang="en-US" sz="2000" dirty="0"/>
          </a:p>
          <a:p>
            <a:pPr indent="0" marL="0">
              <a:spcAft>
                <a:spcPts val="1000"/>
              </a:spcAft>
              <a:buNone/>
            </a:pPr>
            <a:r>
              <a:rPr lang="en-US" sz="2000" dirty="0">
                <a:solidFill>
                  <a:srgbClr val="141B26"/>
                </a:solidFill>
              </a:rPr>
              <a:t>2. Suggest how you could estimate the number of dandelions on the school field without counting them all.</a:t>
            </a:r>
            <a:endParaRPr lang="en-US" sz="2000" dirty="0"/>
          </a:p>
          <a:p>
            <a:pPr indent="0" marL="0">
              <a:spcAft>
                <a:spcPts val="1000"/>
              </a:spcAft>
              <a:buNone/>
            </a:pPr>
            <a:r>
              <a:rPr lang="en-US" sz="2000" dirty="0">
                <a:solidFill>
                  <a:srgbClr val="141B26"/>
                </a:solidFill>
              </a:rPr>
              <a:t>3. Name one abiotic and one biotic factor that could affect how many dandelions there are.</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325880"/>
            <a:ext cx="5669280" cy="457200"/>
          </a:xfrm>
          <a:prstGeom prst="rect">
            <a:avLst/>
          </a:prstGeom>
          <a:noFill/>
          <a:ln/>
        </p:spPr>
        <p:txBody>
          <a:bodyPr wrap="square" lIns="0" tIns="0" rIns="0" bIns="0" rtlCol="0" anchor="ctr"/>
          <a:lstStyle/>
          <a:p>
            <a:pPr indent="0" marL="0">
              <a:buNone/>
            </a:pPr>
            <a:r>
              <a:rPr lang="en-US" sz="2000" b="1" dirty="0">
                <a:solidFill>
                  <a:srgbClr val="7B3A8E"/>
                </a:solidFill>
              </a:rPr>
              <a:t>Today I can ...</a:t>
            </a:r>
            <a:endParaRPr lang="en-US" sz="2000" dirty="0"/>
          </a:p>
        </p:txBody>
      </p:sp>
      <p:sp>
        <p:nvSpPr>
          <p:cNvPr id="6" name="Shape 4"/>
          <p:cNvSpPr/>
          <p:nvPr/>
        </p:nvSpPr>
        <p:spPr>
          <a:xfrm>
            <a:off x="594360" y="1947672"/>
            <a:ext cx="292608" cy="292608"/>
          </a:xfrm>
          <a:prstGeom prst="rect">
            <a:avLst/>
          </a:prstGeom>
          <a:solidFill>
            <a:srgbClr val="FFFFFF"/>
          </a:solidFill>
          <a:ln w="19050">
            <a:solidFill>
              <a:srgbClr val="0F2A5F"/>
            </a:solidFill>
            <a:prstDash val="solid"/>
          </a:ln>
        </p:spPr>
      </p:sp>
      <p:sp>
        <p:nvSpPr>
          <p:cNvPr id="7" name="Text 5"/>
          <p:cNvSpPr txBox="1"/>
          <p:nvPr/>
        </p:nvSpPr>
        <p:spPr>
          <a:xfrm>
            <a:off x="1051560" y="187452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choose suitable apparatus for measuring the abundance and distribution of organisms.</a:t>
            </a:r>
            <a:endParaRPr lang="en-US" sz="1600" dirty="0"/>
          </a:p>
        </p:txBody>
      </p:sp>
      <p:sp>
        <p:nvSpPr>
          <p:cNvPr id="8" name="Shape 6"/>
          <p:cNvSpPr/>
          <p:nvPr/>
        </p:nvSpPr>
        <p:spPr>
          <a:xfrm>
            <a:off x="594360" y="2907792"/>
            <a:ext cx="292608" cy="292608"/>
          </a:xfrm>
          <a:prstGeom prst="rect">
            <a:avLst/>
          </a:prstGeom>
          <a:solidFill>
            <a:srgbClr val="FFFFFF"/>
          </a:solidFill>
          <a:ln w="19050">
            <a:solidFill>
              <a:srgbClr val="0F2A5F"/>
            </a:solidFill>
            <a:prstDash val="solid"/>
          </a:ln>
        </p:spPr>
      </p:sp>
      <p:sp>
        <p:nvSpPr>
          <p:cNvPr id="9" name="Text 7"/>
          <p:cNvSpPr txBox="1"/>
          <p:nvPr/>
        </p:nvSpPr>
        <p:spPr>
          <a:xfrm>
            <a:off x="1051560" y="283464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use data from a sample to estimate a population size and say how accurate the estimate is.</a:t>
            </a:r>
            <a:endParaRPr lang="en-US" sz="1600" dirty="0"/>
          </a:p>
        </p:txBody>
      </p:sp>
      <p:sp>
        <p:nvSpPr>
          <p:cNvPr id="10" name="Text 8"/>
          <p:cNvSpPr txBox="1"/>
          <p:nvPr/>
        </p:nvSpPr>
        <p:spPr>
          <a:xfrm>
            <a:off x="6583680" y="1325880"/>
            <a:ext cx="5029200" cy="457200"/>
          </a:xfrm>
          <a:prstGeom prst="rect">
            <a:avLst/>
          </a:prstGeom>
          <a:noFill/>
          <a:ln/>
        </p:spPr>
        <p:txBody>
          <a:bodyPr wrap="square" lIns="0" tIns="0" rIns="0" bIns="0" rtlCol="0" anchor="ctr"/>
          <a:lstStyle/>
          <a:p>
            <a:pPr indent="0" marL="0">
              <a:buNone/>
            </a:pPr>
            <a:r>
              <a:rPr lang="en-US" sz="2000" b="1" dirty="0">
                <a:solidFill>
                  <a:srgbClr val="7B3A8E"/>
                </a:solidFill>
              </a:rPr>
              <a:t>Key words today</a:t>
            </a:r>
            <a:endParaRPr lang="en-US" sz="2000" dirty="0"/>
          </a:p>
        </p:txBody>
      </p:sp>
      <p:sp>
        <p:nvSpPr>
          <p:cNvPr id="11" name="Text 9"/>
          <p:cNvSpPr txBox="1"/>
          <p:nvPr/>
        </p:nvSpPr>
        <p:spPr>
          <a:xfrm>
            <a:off x="6583680" y="1874520"/>
            <a:ext cx="5029200" cy="4023360"/>
          </a:xfrm>
          <a:prstGeom prst="rect">
            <a:avLst/>
          </a:prstGeom>
          <a:noFill/>
          <a:ln/>
        </p:spPr>
        <p:txBody>
          <a:bodyPr wrap="square" lIns="0" tIns="0" rIns="0" bIns="0" rtlCol="0" anchor="t">
            <a:normAutofit/>
          </a:bodyPr>
          <a:lstStyle/>
          <a:p>
            <a:pPr indent="0" marL="0">
              <a:spcAft>
                <a:spcPts val="500"/>
              </a:spcAft>
              <a:buNone/>
            </a:pPr>
            <a:r>
              <a:rPr lang="en-US" sz="1300" b="1" dirty="0">
                <a:solidFill>
                  <a:srgbClr val="0F2A5F"/>
                </a:solidFill>
              </a:rPr>
              <a:t>abundance</a:t>
            </a:r>
            <a:pPr indent="0" marL="0">
              <a:spcAft>
                <a:spcPts val="500"/>
              </a:spcAft>
              <a:buNone/>
            </a:pPr>
            <a:r>
              <a:rPr lang="en-US" sz="1300" dirty="0">
                <a:solidFill>
                  <a:srgbClr val="141B26"/>
                </a:solidFill>
              </a:rPr>
              <a:t>  how common a species is in a habitat</a:t>
            </a:r>
            <a:endParaRPr lang="en-US" sz="1300" dirty="0"/>
          </a:p>
          <a:p>
            <a:pPr indent="0" marL="0">
              <a:spcAft>
                <a:spcPts val="500"/>
              </a:spcAft>
              <a:buNone/>
            </a:pPr>
            <a:r>
              <a:rPr lang="en-US" sz="1300" b="1" dirty="0">
                <a:solidFill>
                  <a:srgbClr val="0F2A5F"/>
                </a:solidFill>
              </a:rPr>
              <a:t>distribution</a:t>
            </a:r>
            <a:pPr indent="0" marL="0">
              <a:spcAft>
                <a:spcPts val="500"/>
              </a:spcAft>
              <a:buNone/>
            </a:pPr>
            <a:r>
              <a:rPr lang="en-US" sz="1300" dirty="0">
                <a:solidFill>
                  <a:srgbClr val="141B26"/>
                </a:solidFill>
              </a:rPr>
              <a:t>  how organisms are spread out in an area</a:t>
            </a:r>
            <a:endParaRPr lang="en-US" sz="1300" dirty="0"/>
          </a:p>
          <a:p>
            <a:pPr indent="0" marL="0">
              <a:spcAft>
                <a:spcPts val="500"/>
              </a:spcAft>
              <a:buNone/>
            </a:pPr>
            <a:r>
              <a:rPr lang="en-US" sz="1300" b="1" dirty="0">
                <a:solidFill>
                  <a:srgbClr val="0F2A5F"/>
                </a:solidFill>
              </a:rPr>
              <a:t>population</a:t>
            </a:r>
            <a:pPr indent="0" marL="0">
              <a:spcAft>
                <a:spcPts val="500"/>
              </a:spcAft>
              <a:buNone/>
            </a:pPr>
            <a:r>
              <a:rPr lang="en-US" sz="1300" dirty="0">
                <a:solidFill>
                  <a:srgbClr val="141B26"/>
                </a:solidFill>
              </a:rPr>
              <a:t>  all the organisms of one species in an area</a:t>
            </a:r>
            <a:endParaRPr lang="en-US" sz="1300" dirty="0"/>
          </a:p>
          <a:p>
            <a:pPr indent="0" marL="0">
              <a:spcAft>
                <a:spcPts val="500"/>
              </a:spcAft>
              <a:buNone/>
            </a:pPr>
            <a:r>
              <a:rPr lang="en-US" sz="1300" b="1" dirty="0">
                <a:solidFill>
                  <a:srgbClr val="0F2A5F"/>
                </a:solidFill>
              </a:rPr>
              <a:t>sample</a:t>
            </a:r>
            <a:pPr indent="0" marL="0">
              <a:spcAft>
                <a:spcPts val="500"/>
              </a:spcAft>
              <a:buNone/>
            </a:pPr>
            <a:r>
              <a:rPr lang="en-US" sz="1300" dirty="0">
                <a:solidFill>
                  <a:srgbClr val="141B26"/>
                </a:solidFill>
              </a:rPr>
              <a:t>  a small selected part of the total number</a:t>
            </a:r>
            <a:endParaRPr lang="en-US" sz="1300" dirty="0"/>
          </a:p>
          <a:p>
            <a:pPr indent="0" marL="0">
              <a:spcAft>
                <a:spcPts val="500"/>
              </a:spcAft>
              <a:buNone/>
            </a:pPr>
            <a:r>
              <a:rPr lang="en-US" sz="1300" b="1" dirty="0">
                <a:solidFill>
                  <a:srgbClr val="0F2A5F"/>
                </a:solidFill>
              </a:rPr>
              <a:t>estimate</a:t>
            </a:r>
            <a:pPr indent="0" marL="0">
              <a:spcAft>
                <a:spcPts val="500"/>
              </a:spcAft>
              <a:buNone/>
            </a:pPr>
            <a:r>
              <a:rPr lang="en-US" sz="1300" dirty="0">
                <a:solidFill>
                  <a:srgbClr val="141B26"/>
                </a:solidFill>
              </a:rPr>
              <a:t>  an approximate calculation of something</a:t>
            </a:r>
            <a:endParaRPr lang="en-US" sz="1300" dirty="0"/>
          </a:p>
          <a:p>
            <a:pPr indent="0" marL="0">
              <a:spcAft>
                <a:spcPts val="500"/>
              </a:spcAft>
              <a:buNone/>
            </a:pPr>
            <a:r>
              <a:rPr lang="en-US" sz="1300" b="1" dirty="0">
                <a:solidFill>
                  <a:srgbClr val="0F2A5F"/>
                </a:solidFill>
              </a:rPr>
              <a:t>quadrat</a:t>
            </a:r>
            <a:pPr indent="0" marL="0">
              <a:spcAft>
                <a:spcPts val="500"/>
              </a:spcAft>
              <a:buNone/>
            </a:pPr>
            <a:r>
              <a:rPr lang="en-US" sz="1300" dirty="0">
                <a:solidFill>
                  <a:srgbClr val="141B26"/>
                </a:solidFill>
              </a:rPr>
              <a:t>  a square frame used to sample plants or slow-moving animals</a:t>
            </a:r>
            <a:endParaRPr lang="en-US" sz="1300" dirty="0"/>
          </a:p>
          <a:p>
            <a:pPr indent="0" marL="0">
              <a:spcAft>
                <a:spcPts val="500"/>
              </a:spcAft>
              <a:buNone/>
            </a:pPr>
            <a:r>
              <a:rPr lang="en-US" sz="1300" b="1" dirty="0">
                <a:solidFill>
                  <a:srgbClr val="0F2A5F"/>
                </a:solidFill>
              </a:rPr>
              <a:t>transect</a:t>
            </a:r>
            <a:pPr indent="0" marL="0">
              <a:spcAft>
                <a:spcPts val="500"/>
              </a:spcAft>
              <a:buNone/>
            </a:pPr>
            <a:r>
              <a:rPr lang="en-US" sz="1300" dirty="0">
                <a:solidFill>
                  <a:srgbClr val="141B26"/>
                </a:solidFill>
              </a:rPr>
              <a:t>  a line along which samples are taken</a:t>
            </a:r>
            <a:endParaRPr lang="en-US" sz="1300" dirty="0"/>
          </a:p>
          <a:p>
            <a:pPr indent="0" marL="0">
              <a:spcAft>
                <a:spcPts val="500"/>
              </a:spcAft>
              <a:buNone/>
            </a:pPr>
            <a:r>
              <a:rPr lang="en-US" sz="1300" b="1" dirty="0">
                <a:solidFill>
                  <a:srgbClr val="0F2A5F"/>
                </a:solidFill>
              </a:rPr>
              <a:t>pitfall trap</a:t>
            </a:r>
            <a:pPr indent="0" marL="0">
              <a:spcAft>
                <a:spcPts val="500"/>
              </a:spcAft>
              <a:buNone/>
            </a:pPr>
            <a:r>
              <a:rPr lang="en-US" sz="1300" dirty="0">
                <a:solidFill>
                  <a:srgbClr val="141B26"/>
                </a:solidFill>
              </a:rPr>
              <a:t>  a container sunk into the ground to catch small ground animals</a:t>
            </a:r>
            <a:endParaRPr lang="en-US" sz="1300" dirty="0"/>
          </a:p>
          <a:p>
            <a:pPr indent="0" marL="0">
              <a:spcAft>
                <a:spcPts val="500"/>
              </a:spcAft>
              <a:buNone/>
            </a:pPr>
            <a:r>
              <a:rPr lang="en-US" sz="1300" b="1" dirty="0">
                <a:solidFill>
                  <a:srgbClr val="0F2A5F"/>
                </a:solidFill>
              </a:rPr>
              <a:t>sweep net</a:t>
            </a:r>
            <a:pPr indent="0" marL="0">
              <a:spcAft>
                <a:spcPts val="500"/>
              </a:spcAft>
              <a:buNone/>
            </a:pPr>
            <a:r>
              <a:rPr lang="en-US" sz="1300" dirty="0">
                <a:solidFill>
                  <a:srgbClr val="141B26"/>
                </a:solidFill>
              </a:rPr>
              <a:t>  a net swept through long grass to catch insects</a:t>
            </a:r>
            <a:endParaRPr lang="en-US" sz="1300" dirty="0"/>
          </a:p>
          <a:p>
            <a:pPr indent="0" marL="0">
              <a:spcAft>
                <a:spcPts val="500"/>
              </a:spcAft>
              <a:buNone/>
            </a:pPr>
            <a:r>
              <a:rPr lang="en-US" sz="1300" b="1" dirty="0">
                <a:solidFill>
                  <a:srgbClr val="0F2A5F"/>
                </a:solidFill>
              </a:rPr>
              <a:t>random</a:t>
            </a:r>
            <a:pPr indent="0" marL="0">
              <a:spcAft>
                <a:spcPts val="500"/>
              </a:spcAft>
              <a:buNone/>
            </a:pPr>
            <a:r>
              <a:rPr lang="en-US" sz="1300" dirty="0">
                <a:solidFill>
                  <a:srgbClr val="141B26"/>
                </a:solidFill>
              </a:rPr>
              <a:t>  chosen by chance, not by the person</a:t>
            </a:r>
            <a:endParaRPr lang="en-US" sz="1300" dirty="0"/>
          </a:p>
          <a:p>
            <a:pPr indent="0" marL="0">
              <a:spcAft>
                <a:spcPts val="500"/>
              </a:spcAft>
              <a:buNone/>
            </a:pPr>
            <a:r>
              <a:rPr lang="en-US" sz="1300" b="1" dirty="0">
                <a:solidFill>
                  <a:srgbClr val="0F2A5F"/>
                </a:solidFill>
              </a:rPr>
              <a:t>biodiversity</a:t>
            </a:r>
            <a:pPr indent="0" marL="0">
              <a:spcAft>
                <a:spcPts val="500"/>
              </a:spcAft>
              <a:buNone/>
            </a:pPr>
            <a:r>
              <a:rPr lang="en-US" sz="1300" dirty="0">
                <a:solidFill>
                  <a:srgbClr val="141B26"/>
                </a:solidFill>
              </a:rPr>
              <a:t>  the number of different species in an area</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The lions move in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377440"/>
          </a:xfrm>
          <a:prstGeom prst="rect">
            <a:avLst/>
          </a:prstGeom>
          <a:noFill/>
          <a:ln/>
        </p:spPr>
        <p:txBody>
          <a:bodyPr wrap="square" lIns="0" tIns="0" rIns="0" bIns="0" rtlCol="0" anchor="t">
            <a:normAutofit/>
          </a:bodyPr>
          <a:lstStyle/>
          <a:p>
            <a:pPr indent="0" marL="0">
              <a:buNone/>
            </a:pPr>
            <a:r>
              <a:rPr lang="en-US" sz="2800" b="1" dirty="0">
                <a:solidFill>
                  <a:srgbClr val="0F2A5F"/>
                </a:solidFill>
              </a:rPr>
              <a:t>Some lions move into an area where gazelles live. What will happen to the gazelle population, and how could an ecologist find out how many gazelles are left?</a:t>
            </a:r>
            <a:endParaRPr lang="en-US" sz="2800" dirty="0"/>
          </a:p>
        </p:txBody>
      </p:sp>
      <p:sp>
        <p:nvSpPr>
          <p:cNvPr id="6" name="Text 4"/>
          <p:cNvSpPr txBox="1"/>
          <p:nvPr/>
        </p:nvSpPr>
        <p:spPr>
          <a:xfrm>
            <a:off x="548640" y="3794760"/>
            <a:ext cx="5394960" cy="210312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41B26"/>
                </a:solidFill>
              </a:rPr>
              <a:t>Talk to a partner: you cannot count every gazelle. What could you do instead?</a:t>
            </a:r>
            <a:endParaRPr lang="en-US" sz="1600" dirty="0"/>
          </a:p>
        </p:txBody>
      </p:sp>
      <p:pic>
        <p:nvPicPr>
          <p:cNvPr id="7" name="Image 0" descr="/home/user/lessons/Y9_Exploring_Science/images/lion_gazelle.jpg">    </p:cNvPr>
          <p:cNvPicPr>
            <a:picLocks noChangeAspect="1"/>
          </p:cNvPicPr>
          <p:nvPr/>
        </p:nvPicPr>
        <p:blipFill>
          <a:blip r:embed="rId1"/>
          <a:stretch>
            <a:fillRect/>
          </a:stretch>
        </p:blipFill>
        <p:spPr>
          <a:xfrm>
            <a:off x="6309360" y="1611987"/>
            <a:ext cx="5303520" cy="3542586"/>
          </a:xfrm>
          <a:prstGeom prst="rect">
            <a:avLst/>
          </a:prstGeom>
        </p:spPr>
      </p:pic>
      <p:sp>
        <p:nvSpPr>
          <p:cNvPr id="8" name="Text 5"/>
          <p:cNvSpPr txBox="1"/>
          <p:nvPr/>
        </p:nvSpPr>
        <p:spPr>
          <a:xfrm>
            <a:off x="6309360" y="5200293"/>
            <a:ext cx="5303520" cy="502920"/>
          </a:xfrm>
          <a:prstGeom prst="rect">
            <a:avLst/>
          </a:prstGeom>
          <a:noFill/>
          <a:ln/>
        </p:spPr>
        <p:txBody>
          <a:bodyPr wrap="square" lIns="0" tIns="0" rIns="0" bIns="0" rtlCol="0" anchor="t"/>
          <a:lstStyle/>
          <a:p>
            <a:pPr algn="l" indent="0" marL="0">
              <a:buNone/>
            </a:pPr>
            <a:r>
              <a:rPr lang="en-US" sz="1100" dirty="0">
                <a:solidFill>
                  <a:srgbClr val="141B26"/>
                </a:solidFill>
              </a:rPr>
              <a:t>A lioness stalking prey: predation is a biotic factor</a:t>
            </a:r>
            <a:pPr algn="l" indent="0" marL="0">
              <a:buNone/>
            </a:pPr>
            <a:endParaRPr lang="en-US" sz="1100" dirty="0"/>
          </a:p>
          <a:p>
            <a:pPr algn="l" indent="0" marL="0">
              <a:buNone/>
            </a:pPr>
            <a:r>
              <a:rPr lang="en-US" sz="800" dirty="0">
                <a:solidFill>
                  <a:srgbClr val="5B6574"/>
                </a:solidFill>
              </a:rPr>
              <a:t>Image: FamilyRalph, CC BY 2.0, via Wikimedia Commons</a:t>
            </a:r>
            <a:endParaRPr lang="en-US" sz="11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Abundance and sampling</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abundance   ·   sample   ·   quadrat   ·   pitfall trap   ·   sweep net</a:t>
            </a:r>
            <a:endParaRPr lang="en-US" sz="1200" dirty="0"/>
          </a:p>
        </p:txBody>
      </p:sp>
      <p:sp>
        <p:nvSpPr>
          <p:cNvPr id="6" name="Text 4"/>
          <p:cNvSpPr txBox="1"/>
          <p:nvPr/>
        </p:nvSpPr>
        <p:spPr>
          <a:xfrm>
            <a:off x="548640" y="1325880"/>
            <a:ext cx="1088136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Abundance is how common a species is in a habitat. It depends on abiotic factors (temperature, rainfall) and biotic factors (predation, competition).</a:t>
            </a:r>
            <a:endParaRPr lang="en-US" sz="1700" dirty="0"/>
          </a:p>
          <a:p>
            <a:pPr marL="228600" indent="-228600">
              <a:spcAft>
                <a:spcPts val="600"/>
              </a:spcAft>
              <a:buSzPct val="100000"/>
              <a:buChar char="•"/>
            </a:pPr>
            <a:r>
              <a:rPr lang="en-US" sz="1700" dirty="0">
                <a:solidFill>
                  <a:srgbClr val="141B26"/>
                </a:solidFill>
              </a:rPr>
              <a:t>You can rarely count every organism, so you take samples to estimate the population size.</a:t>
            </a:r>
            <a:endParaRPr lang="en-US" sz="1700" dirty="0"/>
          </a:p>
          <a:p>
            <a:pPr marL="228600" indent="-228600">
              <a:spcAft>
                <a:spcPts val="600"/>
              </a:spcAft>
              <a:buSzPct val="100000"/>
              <a:buChar char="•"/>
            </a:pPr>
            <a:r>
              <a:rPr lang="en-US" sz="1700" dirty="0">
                <a:solidFill>
                  <a:srgbClr val="141B26"/>
                </a:solidFill>
              </a:rPr>
              <a:t>Quadrat: plants and slow-moving animals. Pitfall trap: ground beetles. Sweep net: insects in long grass. Pooter: small insects.</a:t>
            </a:r>
            <a:endParaRPr lang="en-US" sz="1700" dirty="0"/>
          </a:p>
        </p:txBody>
      </p:sp>
      <p:sp>
        <p:nvSpPr>
          <p:cNvPr id="7"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6"/>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Choose the method that suits the organism, then sample.</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Estimating population size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600" dirty="0">
                <a:solidFill>
                  <a:srgbClr val="141B26"/>
                </a:solidFill>
              </a:rPr>
              <a:t>Count the organisms in several quadrats, then scale up to the whole area.</a:t>
            </a:r>
            <a:endParaRPr lang="en-US" sz="1600" dirty="0"/>
          </a:p>
        </p:txBody>
      </p:sp>
      <p:pic>
        <p:nvPicPr>
          <p:cNvPr id="6" name="Image 0" descr="/home/user/lessons/Y9_Exploring_Science/source/diagrams/sampling_formula.png">    </p:cNvPr>
          <p:cNvPicPr>
            <a:picLocks noChangeAspect="1"/>
          </p:cNvPicPr>
          <p:nvPr/>
        </p:nvPicPr>
        <p:blipFill>
          <a:blip r:embed="rId1"/>
          <a:stretch>
            <a:fillRect/>
          </a:stretch>
        </p:blipFill>
        <p:spPr>
          <a:xfrm>
            <a:off x="1809206" y="1737360"/>
            <a:ext cx="8360229" cy="3657600"/>
          </a:xfrm>
          <a:prstGeom prst="rect">
            <a:avLst/>
          </a:prstGeom>
        </p:spPr>
      </p:pic>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population size = number counted in the sample x total area of the habitat / area sampled</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How accurate is the estimate?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estimate   ·   random</a:t>
            </a:r>
            <a:endParaRPr lang="en-US" sz="1200" dirty="0"/>
          </a:p>
        </p:txBody>
      </p:sp>
      <p:sp>
        <p:nvSpPr>
          <p:cNvPr id="6" name="Text 4"/>
          <p:cNvSpPr txBox="1"/>
          <p:nvPr/>
        </p:nvSpPr>
        <p:spPr>
          <a:xfrm>
            <a:off x="548640" y="1325880"/>
            <a:ext cx="576072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Accuracy is how close the estimate is to the true value if every organism were counted.</a:t>
            </a:r>
            <a:endParaRPr lang="en-US" sz="1700" dirty="0"/>
          </a:p>
          <a:p>
            <a:pPr marL="228600" indent="-228600">
              <a:spcAft>
                <a:spcPts val="600"/>
              </a:spcAft>
              <a:buSzPct val="100000"/>
              <a:buChar char="•"/>
            </a:pPr>
            <a:r>
              <a:rPr lang="en-US" sz="1700" dirty="0">
                <a:solidFill>
                  <a:srgbClr val="141B26"/>
                </a:solidFill>
              </a:rPr>
              <a:t>Estimates are more accurate when the sample is larger (but this takes longer), the organisms are easy to find, and they are spread out rather than clumped.</a:t>
            </a:r>
            <a:endParaRPr lang="en-US" sz="1700" dirty="0"/>
          </a:p>
          <a:p>
            <a:pPr marL="228600" indent="-228600">
              <a:spcAft>
                <a:spcPts val="600"/>
              </a:spcAft>
              <a:buSzPct val="100000"/>
              <a:buChar char="•"/>
            </a:pPr>
            <a:r>
              <a:rPr lang="en-US" sz="1700" dirty="0">
                <a:solidFill>
                  <a:srgbClr val="141B26"/>
                </a:solidFill>
              </a:rPr>
              <a:t>Place quadrats at random, not where you expect to find most. Choosing the spots yourself causes bias.</a:t>
            </a:r>
            <a:endParaRPr lang="en-US" sz="1700" dirty="0"/>
          </a:p>
        </p:txBody>
      </p:sp>
      <p:pic>
        <p:nvPicPr>
          <p:cNvPr id="7" name="Image 0" descr="/home/user/lessons/Y9_Exploring_Science/images/limpets.jpg">    </p:cNvPr>
          <p:cNvPicPr>
            <a:picLocks noChangeAspect="1"/>
          </p:cNvPicPr>
          <p:nvPr/>
        </p:nvPicPr>
        <p:blipFill>
          <a:blip r:embed="rId1"/>
          <a:stretch>
            <a:fillRect/>
          </a:stretch>
        </p:blipFill>
        <p:spPr>
          <a:xfrm>
            <a:off x="6583680" y="1474347"/>
            <a:ext cx="5029200" cy="3269226"/>
          </a:xfrm>
          <a:prstGeom prst="rect">
            <a:avLst/>
          </a:prstGeom>
        </p:spPr>
      </p:pic>
      <p:sp>
        <p:nvSpPr>
          <p:cNvPr id="8" name="Text 5"/>
          <p:cNvSpPr txBox="1"/>
          <p:nvPr/>
        </p:nvSpPr>
        <p:spPr>
          <a:xfrm>
            <a:off x="6583680" y="4789293"/>
            <a:ext cx="5029200" cy="502920"/>
          </a:xfrm>
          <a:prstGeom prst="rect">
            <a:avLst/>
          </a:prstGeom>
          <a:noFill/>
          <a:ln/>
        </p:spPr>
        <p:txBody>
          <a:bodyPr wrap="square" lIns="0" tIns="0" rIns="0" bIns="0" rtlCol="0" anchor="t"/>
          <a:lstStyle/>
          <a:p>
            <a:pPr algn="l" indent="0" marL="0">
              <a:buNone/>
            </a:pPr>
            <a:r>
              <a:rPr lang="en-US" sz="1100" dirty="0">
                <a:solidFill>
                  <a:srgbClr val="141B26"/>
                </a:solidFill>
              </a:rPr>
              <a:t>Limpets on a rocky shore</a:t>
            </a:r>
            <a:pPr algn="l" indent="0" marL="0">
              <a:buNone/>
            </a:pPr>
            <a:endParaRPr lang="en-US" sz="1100" dirty="0"/>
          </a:p>
          <a:p>
            <a:pPr algn="l" indent="0" marL="0">
              <a:buNone/>
            </a:pPr>
            <a:r>
              <a:rPr lang="en-US" sz="800" dirty="0">
                <a:solidFill>
                  <a:srgbClr val="5B6574"/>
                </a:solidFill>
              </a:rPr>
              <a:t>Image: vic_burton, CC BY-SA 2.0, via Wikimedia Commons</a:t>
            </a:r>
            <a:endParaRPr lang="en-US" sz="11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Random sampling avoids bias.</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Distribution: how organisms are spread out</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600" dirty="0">
                <a:solidFill>
                  <a:srgbClr val="141B26"/>
                </a:solidFill>
              </a:rPr>
              <a:t>Distribution can be random, regular or clumped. When it is hard to see, scientists sample along a line: a transect.</a:t>
            </a:r>
            <a:endParaRPr lang="en-US" sz="1600" dirty="0"/>
          </a:p>
        </p:txBody>
      </p:sp>
      <p:pic>
        <p:nvPicPr>
          <p:cNvPr id="6" name="Image 0" descr="/home/user/lessons/Y9_Exploring_Science/source/diagrams/distribution_patterns.png">    </p:cNvPr>
          <p:cNvPicPr>
            <a:picLocks noChangeAspect="1"/>
          </p:cNvPicPr>
          <p:nvPr/>
        </p:nvPicPr>
        <p:blipFill>
          <a:blip r:embed="rId1"/>
          <a:stretch>
            <a:fillRect/>
          </a:stretch>
        </p:blipFill>
        <p:spPr>
          <a:xfrm>
            <a:off x="764177" y="1737360"/>
            <a:ext cx="10450286" cy="3657600"/>
          </a:xfrm>
          <a:prstGeom prst="rect">
            <a:avLst/>
          </a:prstGeom>
        </p:spPr>
      </p:pic>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In a transect survey, an evenly distributed organism appears in every sample; a clumped one appears in only some.</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Mini whiteboards. One answer each, then we check.</a:t>
            </a:r>
            <a:endParaRPr lang="en-US" sz="14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Q1  </a:t>
            </a:r>
            <a:pPr indent="0" marL="0">
              <a:buNone/>
            </a:pPr>
            <a:r>
              <a:rPr lang="en-US" sz="1600" dirty="0">
                <a:solidFill>
                  <a:srgbClr val="141B26"/>
                </a:solidFill>
              </a:rPr>
              <a:t>What is abundance?</a:t>
            </a:r>
            <a:endParaRPr lang="en-US" sz="16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Q2  </a:t>
            </a:r>
            <a:pPr indent="0" marL="0">
              <a:buNone/>
            </a:pPr>
            <a:r>
              <a:rPr lang="en-US" sz="1600" dirty="0">
                <a:solidFill>
                  <a:srgbClr val="141B26"/>
                </a:solidFill>
              </a:rPr>
              <a:t>Which method would you use to sample ground beetles?</a:t>
            </a:r>
            <a:endParaRPr lang="en-US" sz="16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Q3  </a:t>
            </a:r>
            <a:pPr indent="0" marL="0">
              <a:buNone/>
            </a:pPr>
            <a:r>
              <a:rPr lang="en-US" sz="1600" dirty="0">
                <a:solidFill>
                  <a:srgbClr val="141B26"/>
                </a:solidFill>
              </a:rPr>
              <a:t>3 crabs in a 0.25 m2 quadrat; the rocks cover 600 m2. Estimate the crab population.</a:t>
            </a:r>
            <a:endParaRPr lang="en-US" sz="16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Q4  </a:t>
            </a:r>
            <a:pPr indent="0" marL="0">
              <a:buNone/>
            </a:pPr>
            <a:r>
              <a:rPr lang="en-US" sz="1600" dirty="0">
                <a:solidFill>
                  <a:srgbClr val="141B26"/>
                </a:solidFill>
              </a:rPr>
              <a:t>How should you decide where to put your quadrats?</a:t>
            </a:r>
            <a:endParaRPr lang="en-US" sz="16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Q5  </a:t>
            </a:r>
            <a:pPr indent="0" marL="0">
              <a:buNone/>
            </a:pPr>
            <a:r>
              <a:rPr lang="en-US" sz="1600" dirty="0">
                <a:solidFill>
                  <a:srgbClr val="141B26"/>
                </a:solidFill>
              </a:rPr>
              <a:t>What word describes organisms that gather in groups?</a:t>
            </a:r>
            <a:endParaRPr lang="en-US" sz="16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Quadrat sampling</a:t>
            </a:r>
            <a:endParaRPr lang="en-US" sz="3000" dirty="0"/>
          </a:p>
        </p:txBody>
      </p:sp>
      <p:sp>
        <p:nvSpPr>
          <p:cNvPr id="3" name="Shape 1"/>
          <p:cNvSpPr/>
          <p:nvPr/>
        </p:nvSpPr>
        <p:spPr>
          <a:xfrm>
            <a:off x="9869119" y="411480"/>
            <a:ext cx="1773936"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869119" y="411480"/>
            <a:ext cx="1773936"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PRACTICAL</a:t>
            </a:r>
            <a:endParaRPr lang="en-US" sz="1100" dirty="0"/>
          </a:p>
        </p:txBody>
      </p:sp>
      <p:sp>
        <p:nvSpPr>
          <p:cNvPr id="5" name="Text 3"/>
          <p:cNvSpPr txBox="1"/>
          <p:nvPr/>
        </p:nvSpPr>
        <p:spPr>
          <a:xfrm>
            <a:off x="548640" y="1280160"/>
            <a:ext cx="10881360" cy="457200"/>
          </a:xfrm>
          <a:prstGeom prst="rect">
            <a:avLst/>
          </a:prstGeom>
          <a:noFill/>
          <a:ln/>
        </p:spPr>
        <p:txBody>
          <a:bodyPr wrap="square" lIns="0" tIns="0" rIns="0" bIns="0" rtlCol="0" anchor="ctr"/>
          <a:lstStyle/>
          <a:p>
            <a:pPr indent="0" marL="0">
              <a:buNone/>
            </a:pPr>
            <a:r>
              <a:rPr lang="en-US" sz="1500" b="1" dirty="0">
                <a:solidFill>
                  <a:srgbClr val="7B3A8E"/>
                </a:solidFill>
              </a:rPr>
              <a:t>Aim  </a:t>
            </a:r>
            <a:pPr indent="0" marL="0">
              <a:buNone/>
            </a:pPr>
            <a:r>
              <a:rPr lang="en-US" sz="1500" dirty="0">
                <a:solidFill>
                  <a:srgbClr val="141B26"/>
                </a:solidFill>
              </a:rPr>
              <a:t>Estimate the population of one plant species (e.g. dandelion, daisy or clover) in a 10 m by 10 m area of the field.</a:t>
            </a:r>
            <a:endParaRPr lang="en-US" sz="1500" dirty="0"/>
          </a:p>
        </p:txBody>
      </p:sp>
      <p:sp>
        <p:nvSpPr>
          <p:cNvPr id="6" name="Text 4"/>
          <p:cNvSpPr txBox="1"/>
          <p:nvPr/>
        </p:nvSpPr>
        <p:spPr>
          <a:xfrm>
            <a:off x="548640" y="1828800"/>
            <a:ext cx="4023360" cy="365760"/>
          </a:xfrm>
          <a:prstGeom prst="rect">
            <a:avLst/>
          </a:prstGeom>
          <a:noFill/>
          <a:ln/>
        </p:spPr>
        <p:txBody>
          <a:bodyPr wrap="square" lIns="0" tIns="0" rIns="0" bIns="0" rtlCol="0" anchor="ctr"/>
          <a:lstStyle/>
          <a:p>
            <a:pPr indent="0" marL="0">
              <a:buNone/>
            </a:pPr>
            <a:r>
              <a:rPr lang="en-US" sz="1600" b="1" dirty="0">
                <a:solidFill>
                  <a:srgbClr val="0F2A5F"/>
                </a:solidFill>
              </a:rPr>
              <a:t>Equipment</a:t>
            </a:r>
            <a:endParaRPr lang="en-US" sz="1600" dirty="0"/>
          </a:p>
        </p:txBody>
      </p:sp>
      <p:sp>
        <p:nvSpPr>
          <p:cNvPr id="7" name="Text 5"/>
          <p:cNvSpPr txBox="1"/>
          <p:nvPr/>
        </p:nvSpPr>
        <p:spPr>
          <a:xfrm>
            <a:off x="548640" y="2240280"/>
            <a:ext cx="4023360" cy="320040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300" dirty="0">
                <a:solidFill>
                  <a:srgbClr val="141B26"/>
                </a:solidFill>
              </a:rPr>
              <a:t>quadrat 0.5 m x 0.5 m (area 0.25 m2)</a:t>
            </a:r>
            <a:endParaRPr lang="en-US" sz="1300" dirty="0"/>
          </a:p>
          <a:p>
            <a:pPr marL="228600" indent="-228600">
              <a:spcAft>
                <a:spcPts val="600"/>
              </a:spcAft>
              <a:buSzPct val="100000"/>
              <a:buChar char="•"/>
            </a:pPr>
            <a:r>
              <a:rPr lang="en-US" sz="1300" dirty="0">
                <a:solidFill>
                  <a:srgbClr val="141B26"/>
                </a:solidFill>
              </a:rPr>
              <a:t>two tape measures laid along two edges of the area</a:t>
            </a:r>
            <a:endParaRPr lang="en-US" sz="1300" dirty="0"/>
          </a:p>
          <a:p>
            <a:pPr marL="228600" indent="-228600">
              <a:spcAft>
                <a:spcPts val="600"/>
              </a:spcAft>
              <a:buSzPct val="100000"/>
              <a:buChar char="•"/>
            </a:pPr>
            <a:r>
              <a:rPr lang="en-US" sz="1300" dirty="0">
                <a:solidFill>
                  <a:srgbClr val="141B26"/>
                </a:solidFill>
              </a:rPr>
              <a:t>dice or random number table</a:t>
            </a:r>
            <a:endParaRPr lang="en-US" sz="1300" dirty="0"/>
          </a:p>
          <a:p>
            <a:pPr marL="228600" indent="-228600">
              <a:spcAft>
                <a:spcPts val="600"/>
              </a:spcAft>
              <a:buSzPct val="100000"/>
              <a:buChar char="•"/>
            </a:pPr>
            <a:r>
              <a:rPr lang="en-US" sz="1300" dirty="0">
                <a:solidFill>
                  <a:srgbClr val="141B26"/>
                </a:solidFill>
              </a:rPr>
              <a:t>worksheet table (Core 4)</a:t>
            </a:r>
            <a:endParaRPr lang="en-US" sz="1300" dirty="0"/>
          </a:p>
          <a:p>
            <a:pPr marL="228600" indent="-228600">
              <a:spcAft>
                <a:spcPts val="600"/>
              </a:spcAft>
              <a:buSzPct val="100000"/>
              <a:buChar char="•"/>
            </a:pPr>
            <a:r>
              <a:rPr lang="en-US" sz="1300" dirty="0">
                <a:solidFill>
                  <a:srgbClr val="141B26"/>
                </a:solidFill>
              </a:rPr>
              <a:t>indoor version: printed paper field and a card quadrat</a:t>
            </a:r>
            <a:endParaRPr lang="en-US" sz="1300" dirty="0"/>
          </a:p>
        </p:txBody>
      </p:sp>
      <p:sp>
        <p:nvSpPr>
          <p:cNvPr id="8" name="Text 6"/>
          <p:cNvSpPr txBox="1"/>
          <p:nvPr/>
        </p:nvSpPr>
        <p:spPr>
          <a:xfrm>
            <a:off x="4937760" y="1828800"/>
            <a:ext cx="6675120" cy="365760"/>
          </a:xfrm>
          <a:prstGeom prst="rect">
            <a:avLst/>
          </a:prstGeom>
          <a:noFill/>
          <a:ln/>
        </p:spPr>
        <p:txBody>
          <a:bodyPr wrap="square" lIns="0" tIns="0" rIns="0" bIns="0" rtlCol="0" anchor="ctr"/>
          <a:lstStyle/>
          <a:p>
            <a:pPr indent="0" marL="0">
              <a:buNone/>
            </a:pPr>
            <a:r>
              <a:rPr lang="en-US" sz="1600" b="1" dirty="0">
                <a:solidFill>
                  <a:srgbClr val="0F2A5F"/>
                </a:solidFill>
              </a:rPr>
              <a:t>Method</a:t>
            </a:r>
            <a:endParaRPr lang="en-US" sz="1600" dirty="0"/>
          </a:p>
        </p:txBody>
      </p:sp>
      <p:sp>
        <p:nvSpPr>
          <p:cNvPr id="9" name="Text 7"/>
          <p:cNvSpPr txBox="1"/>
          <p:nvPr/>
        </p:nvSpPr>
        <p:spPr>
          <a:xfrm>
            <a:off x="4937760" y="2240280"/>
            <a:ext cx="6675120" cy="3200400"/>
          </a:xfrm>
          <a:prstGeom prst="rect">
            <a:avLst/>
          </a:prstGeom>
          <a:noFill/>
          <a:ln/>
        </p:spPr>
        <p:txBody>
          <a:bodyPr wrap="square" lIns="0" tIns="0" rIns="0" bIns="0" rtlCol="0" anchor="t">
            <a:normAutofit/>
          </a:bodyPr>
          <a:lstStyle/>
          <a:p>
            <a:pPr marL="342900" indent="-342900">
              <a:spcAft>
                <a:spcPts val="500"/>
              </a:spcAft>
              <a:buSzPct val="100000"/>
              <a:buFont typeface="+mj-lt"/>
              <a:buAutoNum type="arabicPeriod" startAt="1"/>
            </a:pPr>
            <a:r>
              <a:rPr lang="en-US" sz="1300" dirty="0">
                <a:solidFill>
                  <a:srgbClr val="141B26"/>
                </a:solidFill>
              </a:rPr>
              <a:t>Lay the tape measures along two sides of the 10 m by 10 m area.</a:t>
            </a:r>
            <a:endParaRPr lang="en-US" sz="1300" dirty="0"/>
          </a:p>
          <a:p>
            <a:pPr marL="342900" indent="-342900">
              <a:spcAft>
                <a:spcPts val="500"/>
              </a:spcAft>
              <a:buSzPct val="100000"/>
              <a:buFont typeface="+mj-lt"/>
              <a:buAutoNum type="arabicPeriod" startAt="1"/>
            </a:pPr>
            <a:r>
              <a:rPr lang="en-US" sz="1300" dirty="0">
                <a:solidFill>
                  <a:srgbClr val="141B26"/>
                </a:solidFill>
              </a:rPr>
              <a:t>Generate two random numbers from 0 to 9 for the coordinates. Place the quadrat there.</a:t>
            </a:r>
            <a:endParaRPr lang="en-US" sz="1300" dirty="0"/>
          </a:p>
          <a:p>
            <a:pPr marL="342900" indent="-342900">
              <a:spcAft>
                <a:spcPts val="500"/>
              </a:spcAft>
              <a:buSzPct val="100000"/>
              <a:buFont typeface="+mj-lt"/>
              <a:buAutoNum type="arabicPeriod" startAt="1"/>
            </a:pPr>
            <a:r>
              <a:rPr lang="en-US" sz="1300" dirty="0">
                <a:solidFill>
                  <a:srgbClr val="141B26"/>
                </a:solidFill>
              </a:rPr>
              <a:t>Count the plants of your species inside the quadrat. Record the count.</a:t>
            </a:r>
            <a:endParaRPr lang="en-US" sz="1300" dirty="0"/>
          </a:p>
          <a:p>
            <a:pPr marL="342900" indent="-342900">
              <a:spcAft>
                <a:spcPts val="500"/>
              </a:spcAft>
              <a:buSzPct val="100000"/>
              <a:buFont typeface="+mj-lt"/>
              <a:buAutoNum type="arabicPeriod" startAt="1"/>
            </a:pPr>
            <a:r>
              <a:rPr lang="en-US" sz="1300" dirty="0">
                <a:solidFill>
                  <a:srgbClr val="141B26"/>
                </a:solidFill>
              </a:rPr>
              <a:t>Repeat for 8 quadrats in total.</a:t>
            </a:r>
            <a:endParaRPr lang="en-US" sz="1300" dirty="0"/>
          </a:p>
          <a:p>
            <a:pPr marL="342900" indent="-342900">
              <a:spcAft>
                <a:spcPts val="500"/>
              </a:spcAft>
              <a:buSzPct val="100000"/>
              <a:buFont typeface="+mj-lt"/>
              <a:buAutoNum type="arabicPeriod" startAt="1"/>
            </a:pPr>
            <a:r>
              <a:rPr lang="en-US" sz="1300" dirty="0">
                <a:solidFill>
                  <a:srgbClr val="141B26"/>
                </a:solidFill>
              </a:rPr>
              <a:t>Calculate: total counted x 100 m2 / (8 x 0.25 m2).</a:t>
            </a:r>
            <a:endParaRPr lang="en-US" sz="1300" dirty="0"/>
          </a:p>
          <a:p>
            <a:pPr marL="342900" indent="-342900">
              <a:spcAft>
                <a:spcPts val="500"/>
              </a:spcAft>
              <a:buSzPct val="100000"/>
              <a:buFont typeface="+mj-lt"/>
              <a:buAutoNum type="arabicPeriod" startAt="1"/>
            </a:pPr>
            <a:r>
              <a:rPr lang="en-US" sz="1300" dirty="0">
                <a:solidFill>
                  <a:srgbClr val="141B26"/>
                </a:solidFill>
              </a:rPr>
              <a:t>Compare your estimate with another group's. Why are they different?</a:t>
            </a:r>
            <a:endParaRPr lang="en-US" sz="1300" dirty="0"/>
          </a:p>
        </p:txBody>
      </p:sp>
      <p:sp>
        <p:nvSpPr>
          <p:cNvPr id="10" name="Shape 8"/>
          <p:cNvSpPr/>
          <p:nvPr/>
        </p:nvSpPr>
        <p:spPr>
          <a:xfrm>
            <a:off x="548640" y="5532120"/>
            <a:ext cx="10881360" cy="502920"/>
          </a:xfrm>
          <a:prstGeom prst="rect">
            <a:avLst/>
          </a:prstGeom>
          <a:solidFill>
            <a:srgbClr val="F2CE3E"/>
          </a:solidFill>
          <a:ln w="12700">
            <a:solidFill>
              <a:srgbClr val="F2CE3E"/>
            </a:solidFill>
            <a:prstDash val="solid"/>
          </a:ln>
        </p:spPr>
      </p:sp>
      <p:sp>
        <p:nvSpPr>
          <p:cNvPr id="11" name="Text 9"/>
          <p:cNvSpPr txBox="1"/>
          <p:nvPr/>
        </p:nvSpPr>
        <p:spPr>
          <a:xfrm>
            <a:off x="685800" y="5532120"/>
            <a:ext cx="10607040" cy="502920"/>
          </a:xfrm>
          <a:prstGeom prst="rect">
            <a:avLst/>
          </a:prstGeom>
          <a:noFill/>
          <a:ln/>
        </p:spPr>
        <p:txBody>
          <a:bodyPr wrap="square" lIns="0" tIns="0" rIns="0" bIns="0" rtlCol="0" anchor="ctr">
            <a:normAutofit/>
          </a:bodyPr>
          <a:lstStyle/>
          <a:p>
            <a:pPr indent="0" marL="0">
              <a:buNone/>
            </a:pPr>
            <a:r>
              <a:rPr lang="en-US" sz="1300" b="1" dirty="0">
                <a:solidFill>
                  <a:srgbClr val="3A2E00"/>
                </a:solidFill>
              </a:rPr>
              <a:t>Safety  </a:t>
            </a:r>
            <a:pPr indent="0" marL="0">
              <a:buNone/>
            </a:pPr>
            <a:r>
              <a:rPr lang="en-US" sz="1300" dirty="0">
                <a:solidFill>
                  <a:srgbClr val="3A2E00"/>
                </a:solidFill>
              </a:rPr>
              <a:t>Stay inside the marked area; watch for uneven ground; wash hands afterwards.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Gannet island</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5852160" cy="1920240"/>
          </a:xfrm>
          <a:prstGeom prst="rect">
            <a:avLst/>
          </a:prstGeom>
          <a:noFill/>
          <a:ln/>
        </p:spPr>
        <p:txBody>
          <a:bodyPr wrap="square" lIns="0" tIns="0" rIns="0" bIns="0" rtlCol="0" anchor="t">
            <a:normAutofit/>
          </a:bodyPr>
          <a:lstStyle/>
          <a:p>
            <a:pPr indent="0" marL="0">
              <a:buNone/>
            </a:pPr>
            <a:r>
              <a:rPr lang="en-US" sz="2200" b="1" dirty="0">
                <a:solidFill>
                  <a:srgbClr val="0F2A5F"/>
                </a:solidFill>
              </a:rPr>
              <a:t>Gannets nest on a small island, each pair the same distance from its neighbours. Describe their distribution. How could you estimate the number of gannets nesting on the island?</a:t>
            </a:r>
            <a:endParaRPr lang="en-US" sz="2200" dirty="0"/>
          </a:p>
        </p:txBody>
      </p:sp>
      <p:sp>
        <p:nvSpPr>
          <p:cNvPr id="6" name="Shape 4"/>
          <p:cNvSpPr/>
          <p:nvPr/>
        </p:nvSpPr>
        <p:spPr>
          <a:xfrm>
            <a:off x="548640" y="3383280"/>
            <a:ext cx="58521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5394960" cy="2148840"/>
          </a:xfrm>
          <a:prstGeom prst="rect">
            <a:avLst/>
          </a:prstGeom>
          <a:noFill/>
          <a:ln/>
        </p:spPr>
        <p:txBody>
          <a:bodyPr wrap="square" lIns="0" tIns="0" rIns="0" bIns="0" rtlCol="0" anchor="t">
            <a:normAutofit/>
          </a:bodyPr>
          <a:lstStyle/>
          <a:p>
            <a:pPr indent="0" marL="0">
              <a:spcAft>
                <a:spcPts val="600"/>
              </a:spcAft>
              <a:buNone/>
            </a:pPr>
            <a:r>
              <a:rPr lang="en-US" sz="1500" b="1" dirty="0">
                <a:solidFill>
                  <a:srgbClr val="7B3A8E"/>
                </a:solidFill>
              </a:rPr>
              <a:t>Sentence frames</a:t>
            </a:r>
            <a:endParaRPr lang="en-US" sz="1500" dirty="0"/>
          </a:p>
          <a:p>
            <a:pPr indent="0" marL="0">
              <a:spcAft>
                <a:spcPts val="600"/>
              </a:spcAft>
              <a:buNone/>
            </a:pPr>
            <a:r>
              <a:rPr lang="en-US" sz="1500" dirty="0">
                <a:solidFill>
                  <a:srgbClr val="141B26"/>
                </a:solidFill>
              </a:rPr>
              <a:t>The gannets show a ___ distribution because ___.</a:t>
            </a:r>
            <a:endParaRPr lang="en-US" sz="1500" dirty="0"/>
          </a:p>
          <a:p>
            <a:pPr indent="0" marL="0">
              <a:spcAft>
                <a:spcPts val="600"/>
              </a:spcAft>
              <a:buNone/>
            </a:pPr>
            <a:r>
              <a:rPr lang="en-US" sz="1500" dirty="0">
                <a:solidFill>
                  <a:srgbClr val="141B26"/>
                </a:solidFill>
              </a:rPr>
              <a:t>To estimate the number, I would ___ and then ___.</a:t>
            </a:r>
            <a:endParaRPr lang="en-US" sz="1500" dirty="0"/>
          </a:p>
          <a:p>
            <a:pPr indent="0" marL="0">
              <a:spcAft>
                <a:spcPts val="600"/>
              </a:spcAft>
              <a:buNone/>
            </a:pPr>
            <a:r>
              <a:rPr lang="en-US" sz="1500" dirty="0">
                <a:solidFill>
                  <a:srgbClr val="141B26"/>
                </a:solidFill>
              </a:rPr>
              <a:t>The estimate would be more accurate if ___.</a:t>
            </a:r>
            <a:endParaRPr lang="en-US" sz="1500" dirty="0"/>
          </a:p>
        </p:txBody>
      </p:sp>
      <p:pic>
        <p:nvPicPr>
          <p:cNvPr id="8" name="Image 0" descr="/home/user/lessons/Y9_Exploring_Science/images/gannet_colony.jpg">    </p:cNvPr>
          <p:cNvPicPr>
            <a:picLocks noChangeAspect="1"/>
          </p:cNvPicPr>
          <p:nvPr/>
        </p:nvPicPr>
        <p:blipFill>
          <a:blip r:embed="rId1"/>
          <a:stretch>
            <a:fillRect/>
          </a:stretch>
        </p:blipFill>
        <p:spPr>
          <a:xfrm>
            <a:off x="6766560" y="1490945"/>
            <a:ext cx="4846320" cy="3876109"/>
          </a:xfrm>
          <a:prstGeom prst="rect">
            <a:avLst/>
          </a:prstGeom>
        </p:spPr>
      </p:pic>
      <p:sp>
        <p:nvSpPr>
          <p:cNvPr id="9" name="Text 6"/>
          <p:cNvSpPr txBox="1"/>
          <p:nvPr/>
        </p:nvSpPr>
        <p:spPr>
          <a:xfrm>
            <a:off x="6766560" y="5412775"/>
            <a:ext cx="4846320" cy="502920"/>
          </a:xfrm>
          <a:prstGeom prst="rect">
            <a:avLst/>
          </a:prstGeom>
          <a:noFill/>
          <a:ln/>
        </p:spPr>
        <p:txBody>
          <a:bodyPr wrap="square" lIns="0" tIns="0" rIns="0" bIns="0" rtlCol="0" anchor="t"/>
          <a:lstStyle/>
          <a:p>
            <a:pPr algn="l" indent="0" marL="0">
              <a:buNone/>
            </a:pPr>
            <a:r>
              <a:rPr lang="en-US" sz="1100" dirty="0">
                <a:solidFill>
                  <a:srgbClr val="141B26"/>
                </a:solidFill>
              </a:rPr>
              <a:t>A gannet colony</a:t>
            </a:r>
            <a:pPr algn="l" indent="0" marL="0">
              <a:buNone/>
            </a:pPr>
            <a:endParaRPr lang="en-US" sz="1100" dirty="0"/>
          </a:p>
          <a:p>
            <a:pPr algn="l" indent="0" marL="0">
              <a:buNone/>
            </a:pPr>
            <a:r>
              <a:rPr lang="en-US" sz="800" dirty="0">
                <a:solidFill>
                  <a:srgbClr val="5B6574"/>
                </a:solidFill>
              </a:rPr>
              <a:t>Image: SidPix, CC BY 2.0, via Wikimedia Commons</a:t>
            </a:r>
            <a:endParaRPr lang="en-US" sz="11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On your worksheet exit ticket. Work alone. Hand it in as you leave.</a:t>
            </a:r>
            <a:endParaRPr lang="en-US" sz="1400" dirty="0"/>
          </a:p>
        </p:txBody>
      </p:sp>
      <p:sp>
        <p:nvSpPr>
          <p:cNvPr id="6" name="Text 4"/>
          <p:cNvSpPr txBox="1"/>
          <p:nvPr/>
        </p:nvSpPr>
        <p:spPr>
          <a:xfrm>
            <a:off x="548640" y="182880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1.  </a:t>
            </a:r>
            <a:pPr indent="0" marL="0">
              <a:buNone/>
            </a:pPr>
            <a:r>
              <a:rPr lang="en-US" sz="1800" dirty="0">
                <a:solidFill>
                  <a:srgbClr val="141B26"/>
                </a:solidFill>
              </a:rPr>
              <a:t>Why do ecologists take samples instead of counting every organism?</a:t>
            </a:r>
            <a:endParaRPr lang="en-US" sz="1800" dirty="0"/>
          </a:p>
        </p:txBody>
      </p:sp>
      <p:sp>
        <p:nvSpPr>
          <p:cNvPr id="7" name="Text 5"/>
          <p:cNvSpPr txBox="1"/>
          <p:nvPr/>
        </p:nvSpPr>
        <p:spPr>
          <a:xfrm>
            <a:off x="548640" y="301752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2.  </a:t>
            </a:r>
            <a:pPr indent="0" marL="0">
              <a:buNone/>
            </a:pPr>
            <a:r>
              <a:rPr lang="en-US" sz="1800" dirty="0">
                <a:solidFill>
                  <a:srgbClr val="141B26"/>
                </a:solidFill>
              </a:rPr>
              <a:t>5 daisies were found in one 0.25 m2 quadrat. The lawn is 40 m2. Estimate the daisy population.</a:t>
            </a:r>
            <a:endParaRPr lang="en-US" sz="1800" dirty="0"/>
          </a:p>
        </p:txBody>
      </p:sp>
      <p:sp>
        <p:nvSpPr>
          <p:cNvPr id="8" name="Text 6"/>
          <p:cNvSpPr txBox="1"/>
          <p:nvPr/>
        </p:nvSpPr>
        <p:spPr>
          <a:xfrm>
            <a:off x="548640" y="420624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3.  </a:t>
            </a:r>
            <a:pPr indent="0" marL="0">
              <a:buNone/>
            </a:pPr>
            <a:r>
              <a:rPr lang="en-US" sz="1800" dirty="0">
                <a:solidFill>
                  <a:srgbClr val="141B26"/>
                </a:solidFill>
              </a:rPr>
              <a:t>Give one reason why quadrats should be placed at random.</a:t>
            </a:r>
            <a:endParaRPr lang="en-US" sz="18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48056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41B26"/>
                </a:solidFill>
              </a:rPr>
              <a:t>Abundance is how common a species is; you estimate it from samples with the right method: quadrat, pitfall trap, sweep net, pooter.</a:t>
            </a:r>
            <a:endParaRPr lang="en-US" sz="1700" dirty="0"/>
          </a:p>
          <a:p>
            <a:pPr marL="342900" indent="-342900">
              <a:spcAft>
                <a:spcPts val="1000"/>
              </a:spcAft>
              <a:buSzPct val="100000"/>
              <a:buChar char="✓"/>
            </a:pPr>
            <a:r>
              <a:rPr lang="en-US" sz="1700" dirty="0">
                <a:solidFill>
                  <a:srgbClr val="141B26"/>
                </a:solidFill>
              </a:rPr>
              <a:t>Population size = number in sample x total area / area sampled.</a:t>
            </a:r>
            <a:endParaRPr lang="en-US" sz="1700" dirty="0"/>
          </a:p>
          <a:p>
            <a:pPr marL="342900" indent="-342900">
              <a:spcAft>
                <a:spcPts val="1000"/>
              </a:spcAft>
              <a:buSzPct val="100000"/>
              <a:buChar char="✓"/>
            </a:pPr>
            <a:r>
              <a:rPr lang="en-US" sz="1700" dirty="0">
                <a:solidFill>
                  <a:srgbClr val="141B26"/>
                </a:solidFill>
              </a:rPr>
              <a:t>Estimates are more accurate with larger, random samples of organisms that are easy to find.</a:t>
            </a:r>
            <a:endParaRPr lang="en-US" sz="1700" dirty="0"/>
          </a:p>
          <a:p>
            <a:pPr marL="342900" indent="-342900">
              <a:spcAft>
                <a:spcPts val="1000"/>
              </a:spcAft>
              <a:buSzPct val="100000"/>
              <a:buChar char="✓"/>
            </a:pPr>
            <a:r>
              <a:rPr lang="en-US" sz="1700" dirty="0">
                <a:solidFill>
                  <a:srgbClr val="141B26"/>
                </a:solidFill>
              </a:rPr>
              <a:t>Distribution can be random, regular or clumped; a transect shows distribution along a line.</a:t>
            </a:r>
            <a:endParaRPr lang="en-US" sz="17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b="1" dirty="0">
                <a:solidFill>
                  <a:srgbClr val="7B3A8E"/>
                </a:solidFill>
              </a:rPr>
              <a:t>Next lesson  </a:t>
            </a:r>
            <a:pPr indent="0" marL="0">
              <a:buNone/>
            </a:pPr>
            <a:r>
              <a:rPr lang="en-US" sz="1300" dirty="0">
                <a:solidFill>
                  <a:srgbClr val="141B26"/>
                </a:solidFill>
              </a:rPr>
              <a:t>In and out: why surface area matters for cells and organisms, and how water moves by osmosis.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9C Lesson 6: Ecology: abundance and distribution</dc:title>
  <dc:subject>PptxGenJS Presentation</dc:subject>
  <dc:creator>Year 9 Science</dc:creator>
  <cp:lastModifiedBy>Year 9 Science</cp:lastModifiedBy>
  <cp:revision>1</cp:revision>
  <dcterms:created xsi:type="dcterms:W3CDTF">2026-10-28T01:49:13Z</dcterms:created>
  <dcterms:modified xsi:type="dcterms:W3CDTF">2026-10-28T01:49:13Z</dcterms:modified>
</cp:coreProperties>
</file>