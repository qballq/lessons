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2A5F"/>
                </a:solidFill>
                <a:latin typeface="+mj-lt"/>
              </a:defRPr>
            </a:pPr>
            <a:r>
              <a:rPr sz="1400" b="0" i="0" u="none" strike="noStrike">
                <a:solidFill>
                  <a:srgbClr val="0F2A5F"/>
                </a:solidFill>
                <a:latin typeface="+mj-lt"/>
              </a:rPr>
              <a:t>Number of leaves of each length</a:t>
            </a:r>
          </a:p>
        </c:rich>
      </c:tx>
      <c:layout/>
      <c:overlay val="0"/>
    </c:title>
    <c:autoTitleDeleted val="0"/>
    <c:plotArea>
      <c:layout/>
      <c:barChart>
        <c:barDir val="col"/>
        <c:grouping val="clustered"/>
        <c:varyColors val="0"/>
        <c:ser>
          <c:idx val="0"/>
          <c:order val="0"/>
          <c:tx>
            <c:strRef>
              <c:f>Sheet1!$B$1</c:f>
              <c:strCache>
                <c:ptCount val="1"/>
                <c:pt idx="0">
                  <c:v>Tree A</c:v>
                </c:pt>
              </c:strCache>
            </c:strRef>
          </c:tx>
          <c:spPr>
            <a:solidFill>
              <a:srgbClr val="7B3A8E"/>
            </a:solidFill>
            <a:effectLst/>
          </c:spPr>
          <c:invertIfNegative val="0"/>
          <c:dLbls>
            <c:numFmt formatCode="0" sourceLinked="0"/>
            <c:txPr>
              <a:bodyPr/>
              <a:lstStyle/>
              <a:p>
                <a:pPr>
                  <a:defRPr b="0" i="0" strike="noStrike" sz="1000" u="none">
                    <a:solidFill>
                      <a:srgbClr val="141B26"/>
                    </a:solidFill>
                    <a:latin typeface="+mn-lt"/>
                  </a:defRPr>
                </a:pPr>
              </a:p>
            </c:txPr>
            <c:showLegendKey val="0"/>
            <c:showVal val="1"/>
            <c:showCatName val="0"/>
            <c:showSerName val="0"/>
            <c:showPercent val="0"/>
            <c:showBubbleSize val="0"/>
            <c:showLeaderLines val="0"/>
          </c:dLbls>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Sheet1!$B$2:$B$11</c:f>
              <c:numCache>
                <c:formatCode>General</c:formatCode>
                <c:ptCount val="10"/>
                <c:pt idx="0">
                  <c:v>0</c:v>
                </c:pt>
                <c:pt idx="1">
                  <c:v>1</c:v>
                </c:pt>
                <c:pt idx="2">
                  <c:v>3</c:v>
                </c:pt>
                <c:pt idx="3">
                  <c:v>8</c:v>
                </c:pt>
                <c:pt idx="4">
                  <c:v>13</c:v>
                </c:pt>
                <c:pt idx="5">
                  <c:v>8</c:v>
                </c:pt>
                <c:pt idx="6">
                  <c:v>3</c:v>
                </c:pt>
                <c:pt idx="7">
                  <c:v>1</c:v>
                </c:pt>
                <c:pt idx="8">
                  <c:v>0</c:v>
                </c:pt>
                <c:pt idx="9">
                  <c:v>0</c:v>
                </c:pt>
              </c:numCache>
            </c:numRef>
          </c:val>
        </c:ser>
        <c:ser>
          <c:idx val="1"/>
          <c:order val="1"/>
          <c:tx>
            <c:strRef>
              <c:f>Sheet1!$C$1</c:f>
              <c:strCache>
                <c:ptCount val="1"/>
                <c:pt idx="0">
                  <c:v>Tree B</c:v>
                </c:pt>
              </c:strCache>
            </c:strRef>
          </c:tx>
          <c:spPr>
            <a:solidFill>
              <a:srgbClr val="1E7DB0"/>
            </a:solidFill>
            <a:effectLst/>
          </c:spPr>
          <c:invertIfNegative val="0"/>
          <c:dLbls>
            <c:numFmt formatCode="0" sourceLinked="0"/>
            <c:txPr>
              <a:bodyPr/>
              <a:lstStyle/>
              <a:p>
                <a:pPr>
                  <a:defRPr b="0" i="0" strike="noStrike" sz="1000" u="none">
                    <a:solidFill>
                      <a:srgbClr val="141B26"/>
                    </a:solidFill>
                    <a:latin typeface="+mn-lt"/>
                  </a:defRPr>
                </a:pPr>
              </a:p>
            </c:txPr>
            <c:showLegendKey val="0"/>
            <c:showVal val="1"/>
            <c:showCatName val="0"/>
            <c:showSerName val="0"/>
            <c:showPercent val="0"/>
            <c:showBubbleSize val="0"/>
            <c:showLeaderLines val="0"/>
          </c:dLbls>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Sheet1!$C$2:$C$11</c:f>
              <c:numCache>
                <c:formatCode>General</c:formatCode>
                <c:ptCount val="10"/>
                <c:pt idx="0">
                  <c:v>1</c:v>
                </c:pt>
                <c:pt idx="1">
                  <c:v>2</c:v>
                </c:pt>
                <c:pt idx="2">
                  <c:v>4</c:v>
                </c:pt>
                <c:pt idx="3">
                  <c:v>6</c:v>
                </c:pt>
                <c:pt idx="4">
                  <c:v>7</c:v>
                </c:pt>
                <c:pt idx="5">
                  <c:v>6</c:v>
                </c:pt>
                <c:pt idx="6">
                  <c:v>4</c:v>
                </c:pt>
                <c:pt idx="7">
                  <c:v>3</c:v>
                </c:pt>
                <c:pt idx="8">
                  <c:v>2</c:v>
                </c:pt>
                <c:pt idx="9">
                  <c:v>1</c:v>
                </c:pt>
              </c:numCache>
            </c:numRef>
          </c:val>
        </c:ser>
        <c:dLbls>
          <c:numFmt formatCode="0" sourceLinked="0"/>
          <c:txPr>
            <a:bodyPr/>
            <a:lstStyle/>
            <a:p>
              <a:pPr>
                <a:defRPr b="0" i="0" strike="noStrike" sz="1000" u="none">
                  <a:solidFill>
                    <a:srgbClr val="141B26"/>
                  </a:solidFill>
                  <a:latin typeface="+mn-lt"/>
                </a:defRPr>
              </a:pPr>
            </a:p>
          </c:txPr>
          <c:showLegendKey val="0"/>
          <c:showVal val="1"/>
          <c:showCatName val="0"/>
          <c:showSerName val="0"/>
          <c:showPercent val="0"/>
          <c:showBubbleSize val="0"/>
          <c:showLeaderLines val="0"/>
        </c:dLbls>
        <c:gapWidth val="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141B26"/>
                    </a:solidFill>
                    <a:latin typeface="+mn-lt"/>
                  </a:defRPr>
                </a:pPr>
                <a:r>
                  <a:rPr sz="1100" b="0" i="0" u="none" strike="noStrike">
                    <a:solidFill>
                      <a:srgbClr val="141B26"/>
                    </a:solidFill>
                    <a:latin typeface="+mn-lt"/>
                  </a:rPr>
                  <a:t>Length of leaf (cm)</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41B26"/>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5DBE3"/>
              </a:solidFill>
              <a:prstDash val="solid"/>
              <a:round/>
            </a:ln>
          </c:spPr>
        </c:majorGridlines>
        <c:title>
          <c:tx>
            <c:rich>
              <a:bodyPr/>
              <a:lstStyle/>
              <a:p>
                <a:pPr>
                  <a:defRPr sz="1100" b="0" i="0" u="none" strike="noStrike">
                    <a:solidFill>
                      <a:srgbClr val="141B26"/>
                    </a:solidFill>
                    <a:latin typeface="+mn-lt"/>
                  </a:defRPr>
                </a:pPr>
                <a:r>
                  <a:rPr sz="1100" b="0" i="0" u="none" strike="noStrike">
                    <a:solidFill>
                      <a:srgbClr val="141B26"/>
                    </a:solidFill>
                    <a:latin typeface="+mn-lt"/>
                  </a:rPr>
                  <a:t>Number of leaves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141B2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2A5F"/>
                </a:solidFill>
                <a:latin typeface="+mj-lt"/>
              </a:defRPr>
            </a:pPr>
            <a:r>
              <a:rPr sz="1400" b="0" i="0" u="none" strike="noStrike">
                <a:solidFill>
                  <a:srgbClr val="0F2A5F"/>
                </a:solidFill>
                <a:latin typeface="+mj-lt"/>
              </a:rPr>
              <a:t>Change in risk of heart attack after taking statins (%)</a:t>
            </a:r>
          </a:p>
        </c:rich>
      </c:tx>
      <c:layout/>
      <c:overlay val="0"/>
    </c:title>
    <c:autoTitleDeleted val="0"/>
    <c:plotArea>
      <c:layout/>
      <c:barChart>
        <c:barDir val="col"/>
        <c:grouping val="clustered"/>
        <c:varyColors val="0"/>
        <c:ser>
          <c:idx val="0"/>
          <c:order val="0"/>
          <c:tx>
            <c:strRef>
              <c:f>Sheet1!$B$1</c:f>
              <c:strCache>
                <c:ptCount val="1"/>
                <c:pt idx="0">
                  <c:v>change in risk (%)</c:v>
                </c:pt>
              </c:strCache>
            </c:strRef>
          </c:tx>
          <c:spPr>
            <a:solidFill>
              <a:srgbClr val="7B3A8E"/>
            </a:solidFill>
            <a:effectLst/>
          </c:spPr>
          <c:invertIfNegative val="0"/>
          <c:dLbls>
            <c:numFmt formatCode="0.0" sourceLinked="0"/>
            <c:txPr>
              <a:bodyPr/>
              <a:lstStyle/>
              <a:p>
                <a:pPr>
                  <a:defRPr b="0" i="0" strike="noStrike" sz="1000" u="none">
                    <a:solidFill>
                      <a:srgbClr val="141B26"/>
                    </a:solidFill>
                    <a:latin typeface="+mn-lt"/>
                  </a:defRPr>
                </a:pPr>
              </a:p>
            </c:txPr>
            <c:showLegendKey val="0"/>
            <c:showVal val="1"/>
            <c:showCatName val="0"/>
            <c:showSerName val="0"/>
            <c:showPercent val="0"/>
            <c:showBubbleSize val="0"/>
            <c:showLeaderLines val="0"/>
          </c:dLbls>
          <c:cat>
            <c:multiLvlStrRef>
              <c:f>Sheet1!$A$2:$A$5</c:f>
              <c:multiLvlStrCache>
                <c:ptCount val="4"/>
                <c:lvl>
                  <c:pt idx="0">
                    <c:v>lowest quartile</c:v>
                  </c:pt>
                  <c:pt idx="1">
                    <c:v>lower middle quartile</c:v>
                  </c:pt>
                  <c:pt idx="2">
                    <c:v>upper middle quartile</c:v>
                  </c:pt>
                  <c:pt idx="3">
                    <c:v>top quartile</c:v>
                  </c:pt>
                </c:lvl>
              </c:multiLvlStrCache>
            </c:multiLvlStrRef>
          </c:cat>
          <c:val>
            <c:numRef>
              <c:f>Sheet1!$B$2:$B$5</c:f>
              <c:numCache>
                <c:formatCode>General</c:formatCode>
                <c:ptCount val="4"/>
                <c:pt idx="0">
                  <c:v>-37.7</c:v>
                </c:pt>
                <c:pt idx="1">
                  <c:v>-34.3</c:v>
                </c:pt>
                <c:pt idx="2">
                  <c:v>-24.7</c:v>
                </c:pt>
                <c:pt idx="3">
                  <c:v>16.6</c:v>
                </c:pt>
              </c:numCache>
            </c:numRef>
          </c:val>
        </c:ser>
        <c:dLbls>
          <c:numFmt formatCode="0.0" sourceLinked="0"/>
          <c:txPr>
            <a:bodyPr/>
            <a:lstStyle/>
            <a:p>
              <a:pPr>
                <a:defRPr b="0" i="0" strike="noStrike" sz="1000" u="none">
                  <a:solidFill>
                    <a:srgbClr val="141B2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141B26"/>
                    </a:solidFill>
                    <a:latin typeface="+mn-lt"/>
                  </a:defRPr>
                </a:pPr>
                <a:r>
                  <a:rPr sz="1100" b="0" i="0" u="none" strike="noStrike">
                    <a:solidFill>
                      <a:srgbClr val="141B26"/>
                    </a:solidFill>
                    <a:latin typeface="+mn-lt"/>
                  </a:rPr>
                  <a:t>Quartile of cholesterol absorption</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41B26"/>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5DBE3"/>
              </a:solidFill>
              <a:prstDash val="solid"/>
              <a:round/>
            </a:ln>
          </c:spPr>
        </c:majorGridlines>
        <c:title>
          <c:tx>
            <c:rich>
              <a:bodyPr/>
              <a:lstStyle/>
              <a:p>
                <a:pPr>
                  <a:defRPr sz="1100" b="0" i="0" u="none" strike="noStrike">
                    <a:solidFill>
                      <a:srgbClr val="141B26"/>
                    </a:solidFill>
                    <a:latin typeface="+mn-lt"/>
                  </a:defRPr>
                </a:pPr>
                <a:r>
                  <a:rPr sz="1100" b="0" i="0" u="none" strike="noStrike">
                    <a:solidFill>
                      <a:srgbClr val="141B26"/>
                    </a:solidFill>
                    <a:latin typeface="+mn-lt"/>
                  </a:rPr>
                  <a:t>Change in risk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141B2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5 of 9C, a Working Scientifically lesson. It uses the clinical trial idea from Lesson 4 and the continuous variation and normal distribution ideas from 9A. Students need rulers for the hand span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minutes, in books. Ordered: 58, 61, 65, 66, 70, 72, 75, 80, 90. Middle value (the median) 70. Range 90 minus 58 = 32. Ask: why order them first? Because the middle of the unordered list (90) tells you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goal aloud. Point out the key words box on the worksheet. The Chinese key words version has the same words with Chinese beside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measure something about each patient (pulse rate, cholesterol, age), split them into groups, and compare how the drug worked in each group. Splitting a large group fairly needs the median and quartiles: that is today's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through the 11 values. Median is the 6th of 11. The lower quartile is the middle of the lower half (3rd value), the upper quartile the middle of the upper half (9th value). With an even number of values the median is halfway between the two middle values. Interquartile range here is 7 minus 3 =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very tall student makes the range huge but barely changes the interquartile range. On a normal distribution, the median is in the middle of the bell and the quartiles sit either side of it. Point out that most people are near the median and few are far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trees have the same median (about 5 cm) but Tree B has far more variation. Answer: Tree B, because its distribution is wider, so more leaves are far from the median. This is the book's diagram E in chart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Interquartile range of the cholesterol absorption index: 148 minus 107 = 41. Both headlines in the Hook contain some truth: the drug lowers risk for about three quarters of patients but may raise it for the top quartile. This is why doctors test patients before prescribing.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order to 3 4 5 7 9, median 5; 3 (the 3rd value); 4; no, it uses the middle 50% only; a bell shape, symmetrical about the median.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minutes for the data collection, then the worksheet. With 30 values the median is halfway between the 15th and 16th; the quartiles are near the 8th and 23rd values. Accept small differences in method for the quartiles; the idea of quarters matters more than the exact rule at this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for three quarters of the patients the risk of a heart attack fell by 25 to 38%, so 'wonder drug' describes most patients; the top quartile's risk rose by 16.6%, so 'health scare' describes a minority. A fair report would give both. Link back to bias from 9B if the class has done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5, 7, 9, 12, 20, median 9; 12; the individuals show little variation (the middle 50% of values are close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Homework: Workbook page 33 (9Cc Medians and quartiles). Students who did not finish the foot length bar chart complete it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F2A5F"/>
        </a:solidFill>
      </p:bgPr>
    </p:bg>
    <p:spTree>
      <p:nvGrpSpPr>
        <p:cNvPr id="1" name=""/>
        <p:cNvGrpSpPr/>
        <p:nvPr/>
      </p:nvGrpSpPr>
      <p:grpSpPr>
        <a:xfrm>
          <a:off x="0" y="0"/>
          <a:ext cx="0" cy="0"/>
          <a:chOff x="0" y="0"/>
          <a:chExt cx="0" cy="0"/>
        </a:xfrm>
      </p:grpSpPr>
      <p:pic>
        <p:nvPicPr>
          <p:cNvPr id="2" name="Image 0" descr="/home/user/lessons/design/assets/school_logo_horizontal_white.png">    </p:cNvPr>
          <p:cNvPicPr>
            <a:picLocks noChangeAspect="1"/>
          </p:cNvPicPr>
          <p:nvPr/>
        </p:nvPicPr>
        <p:blipFill>
          <a:blip r:embed="rId1"/>
          <a:stretch>
            <a:fillRect/>
          </a:stretch>
        </p:blipFill>
        <p:spPr>
          <a:xfrm>
            <a:off x="548640" y="5715000"/>
            <a:ext cx="2011680" cy="832104"/>
          </a:xfrm>
          <a:prstGeom prst="rect">
            <a:avLst/>
          </a:prstGeom>
        </p:spPr>
      </p:pic>
      <p:sp>
        <p:nvSpPr>
          <p:cNvPr id="3" name="Text 0"/>
          <p:cNvSpPr/>
          <p:nvPr>
            <p:ph idx="101" type="title" hasCustomPrompt="1"/>
          </p:nvPr>
        </p:nvSpPr>
        <p:spPr>
          <a:xfrm>
            <a:off x="548640" y="2103120"/>
            <a:ext cx="10515600" cy="1463040"/>
          </a:xfrm>
          <a:prstGeom prst="rect">
            <a:avLst/>
          </a:prstGeom>
          <a:noFill/>
          <a:ln/>
        </p:spPr>
        <p:txBody>
          <a:bodyPr wrap="square" rtlCol="0"/>
          <a:lstStyle>
            <a:lvl1pPr indent="0" marL="0">
              <a:buNone/>
              <a:defRPr lang="en-US" sz="4400" b="1" dirty="0">
                <a:solidFill>
                  <a:srgbClr val="FFFFFF"/>
                </a:solidFill>
              </a:defRPr>
            </a:lvl1pPr>
          </a:lstStyle>
          <a:p>
            <a:pPr indent="0" marL="0">
              <a:buNone/>
            </a:pPr>
            <a:endParaRPr lang="en-US" sz="4400" dirty="0"/>
          </a:p>
        </p:txBody>
      </p:sp>
      <p:sp>
        <p:nvSpPr>
          <p:cNvPr id="4" name="Text 0"/>
          <p:cNvSpPr/>
          <p:nvPr>
            <p:ph idx="102" type="body" hasCustomPrompt="1"/>
          </p:nvPr>
        </p:nvSpPr>
        <p:spPr>
          <a:xfrm>
            <a:off x="548640" y="3657600"/>
            <a:ext cx="10515600" cy="914400"/>
          </a:xfrm>
          <a:prstGeom prst="rect">
            <a:avLst/>
          </a:prstGeom>
          <a:noFill/>
          <a:ln/>
        </p:spPr>
        <p:txBody>
          <a:bodyPr wrap="square" rtlCol="0"/>
          <a:lstStyle>
            <a:lvl1pPr indent="0" marL="0">
              <a:buNone/>
              <a:defRPr lang="en-US" sz="2000" dirty="0">
                <a:solidFill>
                  <a:srgbClr val="FFFFFF"/>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0F2A5F"/>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900" dirty="0">
                <a:solidFill>
                  <a:srgbClr val="5B6574"/>
                </a:solidFill>
              </a:rPr>
              <a:t>Year 9 Science  |  9C Threat from disease  |  Lesson 5: Medians and quartiles</a:t>
            </a:r>
            <a:endParaRPr lang="en-US" sz="900" dirty="0"/>
          </a:p>
        </p:txBody>
      </p:sp>
      <p:pic>
        <p:nvPicPr>
          <p:cNvPr id="4" name="Image 0" descr="/home/user/lessons/design/assets/school_logo_horizontal_navy.png">    </p:cNvPr>
          <p:cNvPicPr>
            <a:picLocks noChangeAspect="1"/>
          </p:cNvPicPr>
          <p:nvPr/>
        </p:nvPicPr>
        <p:blipFill>
          <a:blip r:embed="rId1"/>
          <a:stretch>
            <a:fillRect/>
          </a:stretch>
        </p:blipFill>
        <p:spPr>
          <a:xfrm>
            <a:off x="10561320" y="6263640"/>
            <a:ext cx="1143000" cy="475488"/>
          </a:xfrm>
          <a:prstGeom prst="rect">
            <a:avLst/>
          </a:prstGeom>
        </p:spPr>
      </p:pic>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NT">
    <p:bg>
      <p:bgPr>
        <a:solidFill>
          <a:srgbClr val="F1E5F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0F2A5F"/>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900" dirty="0">
                <a:solidFill>
                  <a:srgbClr val="5B6574"/>
                </a:solidFill>
              </a:rPr>
              <a:t>Year 9 Science  |  9C Threat from disease  |  Lesson 5: Medians and quartiles</a:t>
            </a:r>
            <a:endParaRPr lang="en-US" sz="900" dirty="0"/>
          </a:p>
        </p:txBody>
      </p:sp>
      <p:pic>
        <p:nvPicPr>
          <p:cNvPr id="4" name="Image 0" descr="/home/user/lessons/design/assets/school_logo_horizontal_navy.png">    </p:cNvPr>
          <p:cNvPicPr>
            <a:picLocks noChangeAspect="1"/>
          </p:cNvPicPr>
          <p:nvPr/>
        </p:nvPicPr>
        <p:blipFill>
          <a:blip r:embed="rId1"/>
          <a:stretch>
            <a:fillRect/>
          </a:stretch>
        </p:blipFill>
        <p:spPr>
          <a:xfrm>
            <a:off x="10561320" y="6263640"/>
            <a:ext cx="1143000" cy="475488"/>
          </a:xfrm>
          <a:prstGeom prst="rect">
            <a:avLst/>
          </a:prstGeom>
        </p:spPr>
      </p:pic>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AGE">
    <p:bg>
      <p:bgPr>
        <a:solidFill>
          <a:srgbClr val="EEF1F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0F2A5F"/>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900" dirty="0">
                <a:solidFill>
                  <a:srgbClr val="5B6574"/>
                </a:solidFill>
              </a:rPr>
              <a:t>Year 9 Science  |  9C Threat from disease  |  Lesson 5: Medians and quartiles</a:t>
            </a:r>
            <a:endParaRPr lang="en-US" sz="900" dirty="0"/>
          </a:p>
        </p:txBody>
      </p:sp>
      <p:pic>
        <p:nvPicPr>
          <p:cNvPr id="4" name="Image 0" descr="/home/user/lessons/design/assets/school_logo_horizontal_navy.png">    </p:cNvPr>
          <p:cNvPicPr>
            <a:picLocks noChangeAspect="1"/>
          </p:cNvPicPr>
          <p:nvPr/>
        </p:nvPicPr>
        <p:blipFill>
          <a:blip r:embed="rId1"/>
          <a:stretch>
            <a:fillRect/>
          </a:stretch>
        </p:blipFill>
        <p:spPr>
          <a:xfrm>
            <a:off x="10561320" y="6263640"/>
            <a:ext cx="1143000" cy="475488"/>
          </a:xfrm>
          <a:prstGeom prst="rect">
            <a:avLst/>
          </a:prstGeom>
        </p:spPr>
      </p:pic>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AFETY">
    <p:bg>
      <p:bgPr>
        <a:solidFill>
          <a:srgbClr val="F2CE3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3A2E00"/>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900" dirty="0">
                <a:solidFill>
                  <a:srgbClr val="3A2E00"/>
                </a:solidFill>
              </a:rPr>
              <a:t>Year 9 Science  |  9C Threat from disease  |  Lesson 5: Medians and quartiles</a:t>
            </a: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371600"/>
            <a:ext cx="10515600" cy="457200"/>
          </a:xfrm>
          <a:prstGeom prst="rect">
            <a:avLst/>
          </a:prstGeom>
          <a:noFill/>
          <a:ln/>
        </p:spPr>
        <p:txBody>
          <a:bodyPr wrap="square" lIns="0" tIns="0" rIns="0" bIns="0" rtlCol="0" anchor="ctr"/>
          <a:lstStyle/>
          <a:p>
            <a:pPr indent="0" marL="0">
              <a:buNone/>
            </a:pPr>
            <a:r>
              <a:rPr lang="en-US" sz="1300" b="1" spc="200" kern="0" dirty="0">
                <a:solidFill>
                  <a:srgbClr val="F2CE3E"/>
                </a:solidFill>
              </a:rPr>
              <a:t>YEAR 9 SCIENCE  ·  9C THREAT FROM DISEASE  ·  LESSON 5 OF 7</a:t>
            </a:r>
            <a:endParaRPr lang="en-US" sz="1300" dirty="0"/>
          </a:p>
        </p:txBody>
      </p:sp>
      <p:sp>
        <p:nvSpPr>
          <p:cNvPr id="3" name="Text 0"/>
          <p:cNvSpPr/>
          <p:nvPr>
            <p:ph idx="101" type="title" hasCustomPrompt="1"/>
          </p:nvPr>
        </p:nvSpPr>
        <p:spPr>
          <a:xfrm>
            <a:off x="548640" y="2103120"/>
            <a:ext cx="10515600" cy="1463040"/>
          </a:xfrm>
          <a:prstGeom prst="rect">
            <a:avLst/>
          </a:prstGeom>
          <a:noFill/>
          <a:ln/>
        </p:spPr>
        <p:txBody>
          <a:bodyPr wrap="square" lIns="0" tIns="0" rIns="0" bIns="0" rtlCol="0" anchor="b"/>
          <a:lstStyle/>
          <a:p>
            <a:pPr indent="0" marL="0">
              <a:buNone/>
            </a:pPr>
            <a:r>
              <a:rPr lang="en-US" sz="4400" b="1" dirty="0">
                <a:solidFill>
                  <a:srgbClr val="FFFFFF"/>
                </a:solidFill>
              </a:rPr>
              <a:t>Medians and quartiles</a:t>
            </a:r>
            <a:endParaRPr lang="en-US" sz="4400" dirty="0"/>
          </a:p>
        </p:txBody>
      </p:sp>
      <p:sp>
        <p:nvSpPr>
          <p:cNvPr id="4" name="Text 0"/>
          <p:cNvSpPr/>
          <p:nvPr>
            <p:ph idx="102" type="body" hasCustomPrompt="1"/>
          </p:nvPr>
        </p:nvSpPr>
        <p:spPr>
          <a:xfrm>
            <a:off x="548640" y="3657600"/>
            <a:ext cx="10515600" cy="914400"/>
          </a:xfrm>
          <a:prstGeom prst="rect">
            <a:avLst/>
          </a:prstGeom>
          <a:noFill/>
          <a:ln/>
        </p:spPr>
        <p:txBody>
          <a:bodyPr wrap="square" lIns="0" tIns="0" rIns="0" bIns="0" rtlCol="0" anchor="t"/>
          <a:lstStyle/>
          <a:p>
            <a:pPr indent="0" marL="0">
              <a:buNone/>
            </a:pPr>
            <a:r>
              <a:rPr lang="en-US" sz="2000" dirty="0">
                <a:solidFill>
                  <a:srgbClr val="FFFFFF"/>
                </a:solidFill>
              </a:rPr>
              <a:t>How do scientists tell which patients a medicine really helps?</a:t>
            </a:r>
            <a:endParaRPr lang="en-US" sz="2000" dirty="0"/>
          </a:p>
        </p:txBody>
      </p:sp>
      <p:sp>
        <p:nvSpPr>
          <p:cNvPr id="5" name="Text 3"/>
          <p:cNvSpPr txBox="1"/>
          <p:nvPr/>
        </p:nvSpPr>
        <p:spPr>
          <a:xfrm>
            <a:off x="548640" y="5074920"/>
            <a:ext cx="10515600" cy="365760"/>
          </a:xfrm>
          <a:prstGeom prst="rect">
            <a:avLst/>
          </a:prstGeom>
          <a:noFill/>
          <a:ln/>
        </p:spPr>
        <p:txBody>
          <a:bodyPr wrap="square" lIns="0" tIns="0" rIns="0" bIns="0" rtlCol="0" anchor="ctr"/>
          <a:lstStyle/>
          <a:p>
            <a:pPr indent="0" marL="0">
              <a:buNone/>
            </a:pPr>
            <a:r>
              <a:rPr lang="en-US" sz="1200" dirty="0">
                <a:solidFill>
                  <a:srgbClr val="C9D3E6"/>
                </a:solidFill>
              </a:rPr>
              <a:t>Exploring Science International 9  ·  Student Book pages 46 to 47  ·  Workbook pages 33</a:t>
            </a:r>
            <a:endParaRPr lang="en-US" sz="1200" dirty="0"/>
          </a:p>
        </p:txBody>
      </p:sp>
      <p:pic>
        <p:nvPicPr>
          <p:cNvPr id="6" name="Image 0" descr="/home/user/lessons/Y9_Exploring_Science/source/diagrams/median_quartiles.png">    </p:cNvPr>
          <p:cNvPicPr>
            <a:picLocks noChangeAspect="1"/>
          </p:cNvPicPr>
          <p:nvPr/>
        </p:nvPicPr>
        <p:blipFill>
          <a:blip r:embed="rId1"/>
          <a:stretch>
            <a:fillRect/>
          </a:stretch>
        </p:blipFill>
        <p:spPr>
          <a:xfrm>
            <a:off x="8503920" y="4910328"/>
            <a:ext cx="3291840" cy="115214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Do Now: nine pulse rates</a:t>
            </a:r>
            <a:endParaRPr lang="en-US" sz="3000" dirty="0"/>
          </a:p>
        </p:txBody>
      </p:sp>
      <p:sp>
        <p:nvSpPr>
          <p:cNvPr id="3" name="Shape 1"/>
          <p:cNvSpPr/>
          <p:nvPr/>
        </p:nvSpPr>
        <p:spPr>
          <a:xfrm>
            <a:off x="10308031" y="411480"/>
            <a:ext cx="1335024"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308031" y="411480"/>
            <a:ext cx="1335024"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DO NOW</a:t>
            </a:r>
            <a:endParaRPr lang="en-US" sz="1100" dirty="0"/>
          </a:p>
        </p:txBody>
      </p:sp>
      <p:sp>
        <p:nvSpPr>
          <p:cNvPr id="5" name="Shape 3"/>
          <p:cNvSpPr/>
          <p:nvPr/>
        </p:nvSpPr>
        <p:spPr>
          <a:xfrm>
            <a:off x="10682935" y="914400"/>
            <a:ext cx="914400" cy="914400"/>
          </a:xfrm>
          <a:prstGeom prst="ellipse">
            <a:avLst/>
          </a:prstGeom>
          <a:solidFill>
            <a:srgbClr val="FFFFFF"/>
          </a:solidFill>
          <a:ln w="25400">
            <a:solidFill>
              <a:srgbClr val="7B3A8E"/>
            </a:solidFill>
            <a:prstDash val="solid"/>
          </a:ln>
        </p:spPr>
      </p:sp>
      <p:sp>
        <p:nvSpPr>
          <p:cNvPr id="6" name="Text 4"/>
          <p:cNvSpPr txBox="1"/>
          <p:nvPr/>
        </p:nvSpPr>
        <p:spPr>
          <a:xfrm>
            <a:off x="10682935" y="914400"/>
            <a:ext cx="914400" cy="914400"/>
          </a:xfrm>
          <a:prstGeom prst="rect">
            <a:avLst/>
          </a:prstGeom>
          <a:noFill/>
          <a:ln/>
        </p:spPr>
        <p:txBody>
          <a:bodyPr wrap="square" lIns="0" tIns="0" rIns="0" bIns="0" rtlCol="0" anchor="ctr"/>
          <a:lstStyle/>
          <a:p>
            <a:pPr algn="ctr" indent="0" marL="0">
              <a:buNone/>
            </a:pPr>
            <a:r>
              <a:rPr lang="en-US" sz="2200" b="1" dirty="0">
                <a:solidFill>
                  <a:srgbClr val="7B3A8E"/>
                </a:solidFill>
              </a:rPr>
              <a:t>4</a:t>
            </a:r>
            <a:endParaRPr lang="en-US" sz="2200" dirty="0"/>
          </a:p>
          <a:p>
            <a:pPr algn="ctr" indent="0" marL="0">
              <a:buNone/>
            </a:pPr>
            <a:r>
              <a:rPr lang="en-US" sz="1000" dirty="0">
                <a:solidFill>
                  <a:srgbClr val="5B6574"/>
                </a:solidFill>
              </a:rPr>
              <a:t>min</a:t>
            </a:r>
            <a:endParaRPr lang="en-US" sz="2200" dirty="0"/>
          </a:p>
        </p:txBody>
      </p:sp>
      <p:sp>
        <p:nvSpPr>
          <p:cNvPr id="7" name="Text 5"/>
          <p:cNvSpPr txBox="1"/>
          <p:nvPr/>
        </p:nvSpPr>
        <p:spPr>
          <a:xfrm>
            <a:off x="548640" y="1371600"/>
            <a:ext cx="9692640" cy="4480560"/>
          </a:xfrm>
          <a:prstGeom prst="rect">
            <a:avLst/>
          </a:prstGeom>
          <a:noFill/>
          <a:ln/>
        </p:spPr>
        <p:txBody>
          <a:bodyPr wrap="square" lIns="0" tIns="0" rIns="0" bIns="0" rtlCol="0" anchor="t">
            <a:normAutofit/>
          </a:bodyPr>
          <a:lstStyle/>
          <a:p>
            <a:pPr indent="0" marL="0">
              <a:spcAft>
                <a:spcPts val="1000"/>
              </a:spcAft>
              <a:buNone/>
            </a:pPr>
            <a:r>
              <a:rPr lang="en-US" sz="2000" dirty="0">
                <a:solidFill>
                  <a:srgbClr val="141B26"/>
                </a:solidFill>
              </a:rPr>
              <a:t>Resting pulse rates (beats per minute) of nine students: 72, 65, 80, 58, 90, 66, 75, 61, 70.</a:t>
            </a:r>
            <a:endParaRPr lang="en-US" sz="2000" dirty="0"/>
          </a:p>
          <a:p>
            <a:pPr indent="0" marL="0">
              <a:spcAft>
                <a:spcPts val="1000"/>
              </a:spcAft>
              <a:buNone/>
            </a:pPr>
            <a:r>
              <a:rPr lang="en-US" sz="2000" dirty="0">
                <a:solidFill>
                  <a:srgbClr val="141B26"/>
                </a:solidFill>
              </a:rPr>
              <a:t>1. Write the values in order, smallest first.</a:t>
            </a:r>
            <a:endParaRPr lang="en-US" sz="2000" dirty="0"/>
          </a:p>
          <a:p>
            <a:pPr indent="0" marL="0">
              <a:spcAft>
                <a:spcPts val="1000"/>
              </a:spcAft>
              <a:buNone/>
            </a:pPr>
            <a:r>
              <a:rPr lang="en-US" sz="2000" dirty="0">
                <a:solidFill>
                  <a:srgbClr val="141B26"/>
                </a:solidFill>
              </a:rPr>
              <a:t>2. Which value is in the middle?</a:t>
            </a:r>
            <a:endParaRPr lang="en-US" sz="2000" dirty="0"/>
          </a:p>
          <a:p>
            <a:pPr indent="0" marL="0">
              <a:spcAft>
                <a:spcPts val="1000"/>
              </a:spcAft>
              <a:buNone/>
            </a:pPr>
            <a:r>
              <a:rPr lang="en-US" sz="2000" dirty="0">
                <a:solidFill>
                  <a:srgbClr val="141B26"/>
                </a:solidFill>
              </a:rPr>
              <a:t>3. Calculate the range (largest minus smallest).</a:t>
            </a:r>
            <a:endParaRPr lang="en-US" sz="20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Today</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TODAY</a:t>
            </a:r>
            <a:endParaRPr lang="en-US" sz="1100" dirty="0"/>
          </a:p>
        </p:txBody>
      </p:sp>
      <p:sp>
        <p:nvSpPr>
          <p:cNvPr id="5" name="Text 3"/>
          <p:cNvSpPr txBox="1"/>
          <p:nvPr/>
        </p:nvSpPr>
        <p:spPr>
          <a:xfrm>
            <a:off x="548640" y="1325880"/>
            <a:ext cx="5669280" cy="457200"/>
          </a:xfrm>
          <a:prstGeom prst="rect">
            <a:avLst/>
          </a:prstGeom>
          <a:noFill/>
          <a:ln/>
        </p:spPr>
        <p:txBody>
          <a:bodyPr wrap="square" lIns="0" tIns="0" rIns="0" bIns="0" rtlCol="0" anchor="ctr"/>
          <a:lstStyle/>
          <a:p>
            <a:pPr indent="0" marL="0">
              <a:buNone/>
            </a:pPr>
            <a:r>
              <a:rPr lang="en-US" sz="2000" b="1" dirty="0">
                <a:solidFill>
                  <a:srgbClr val="7B3A8E"/>
                </a:solidFill>
              </a:rPr>
              <a:t>Today I can ...</a:t>
            </a:r>
            <a:endParaRPr lang="en-US" sz="2000" dirty="0"/>
          </a:p>
        </p:txBody>
      </p:sp>
      <p:sp>
        <p:nvSpPr>
          <p:cNvPr id="6" name="Shape 4"/>
          <p:cNvSpPr/>
          <p:nvPr/>
        </p:nvSpPr>
        <p:spPr>
          <a:xfrm>
            <a:off x="594360" y="1947672"/>
            <a:ext cx="292608" cy="292608"/>
          </a:xfrm>
          <a:prstGeom prst="rect">
            <a:avLst/>
          </a:prstGeom>
          <a:solidFill>
            <a:srgbClr val="FFFFFF"/>
          </a:solidFill>
          <a:ln w="19050">
            <a:solidFill>
              <a:srgbClr val="0F2A5F"/>
            </a:solidFill>
            <a:prstDash val="solid"/>
          </a:ln>
        </p:spPr>
      </p:sp>
      <p:sp>
        <p:nvSpPr>
          <p:cNvPr id="7" name="Text 5"/>
          <p:cNvSpPr txBox="1"/>
          <p:nvPr/>
        </p:nvSpPr>
        <p:spPr>
          <a:xfrm>
            <a:off x="1051560" y="1874520"/>
            <a:ext cx="5120640" cy="868680"/>
          </a:xfrm>
          <a:prstGeom prst="rect">
            <a:avLst/>
          </a:prstGeom>
          <a:noFill/>
          <a:ln/>
        </p:spPr>
        <p:txBody>
          <a:bodyPr wrap="square" lIns="0" tIns="0" rIns="0" bIns="0" rtlCol="0" anchor="t">
            <a:normAutofit/>
          </a:bodyPr>
          <a:lstStyle/>
          <a:p>
            <a:pPr indent="0" marL="0">
              <a:buNone/>
            </a:pPr>
            <a:r>
              <a:rPr lang="en-US" sz="1600" dirty="0">
                <a:solidFill>
                  <a:srgbClr val="141B26"/>
                </a:solidFill>
              </a:rPr>
              <a:t>I can find the median, the lower and upper quartiles and the interquartile range of a simple data set.</a:t>
            </a:r>
            <a:endParaRPr lang="en-US" sz="1600" dirty="0"/>
          </a:p>
        </p:txBody>
      </p:sp>
      <p:sp>
        <p:nvSpPr>
          <p:cNvPr id="8" name="Shape 6"/>
          <p:cNvSpPr/>
          <p:nvPr/>
        </p:nvSpPr>
        <p:spPr>
          <a:xfrm>
            <a:off x="594360" y="2907792"/>
            <a:ext cx="292608" cy="292608"/>
          </a:xfrm>
          <a:prstGeom prst="rect">
            <a:avLst/>
          </a:prstGeom>
          <a:solidFill>
            <a:srgbClr val="FFFFFF"/>
          </a:solidFill>
          <a:ln w="19050">
            <a:solidFill>
              <a:srgbClr val="0F2A5F"/>
            </a:solidFill>
            <a:prstDash val="solid"/>
          </a:ln>
        </p:spPr>
      </p:sp>
      <p:sp>
        <p:nvSpPr>
          <p:cNvPr id="9" name="Text 7"/>
          <p:cNvSpPr txBox="1"/>
          <p:nvPr/>
        </p:nvSpPr>
        <p:spPr>
          <a:xfrm>
            <a:off x="1051560" y="2834640"/>
            <a:ext cx="5120640" cy="868680"/>
          </a:xfrm>
          <a:prstGeom prst="rect">
            <a:avLst/>
          </a:prstGeom>
          <a:noFill/>
          <a:ln/>
        </p:spPr>
        <p:txBody>
          <a:bodyPr wrap="square" lIns="0" tIns="0" rIns="0" bIns="0" rtlCol="0" anchor="t">
            <a:normAutofit/>
          </a:bodyPr>
          <a:lstStyle/>
          <a:p>
            <a:pPr indent="0" marL="0">
              <a:buNone/>
            </a:pPr>
            <a:r>
              <a:rPr lang="en-US" sz="1600" dirty="0">
                <a:solidFill>
                  <a:srgbClr val="141B26"/>
                </a:solidFill>
              </a:rPr>
              <a:t>I can use quartiles to compare the variation in two groups and to interpret the results of a medicine trial.</a:t>
            </a:r>
            <a:endParaRPr lang="en-US" sz="1600" dirty="0"/>
          </a:p>
        </p:txBody>
      </p:sp>
      <p:sp>
        <p:nvSpPr>
          <p:cNvPr id="10" name="Text 8"/>
          <p:cNvSpPr txBox="1"/>
          <p:nvPr/>
        </p:nvSpPr>
        <p:spPr>
          <a:xfrm>
            <a:off x="6583680" y="1325880"/>
            <a:ext cx="5029200" cy="457200"/>
          </a:xfrm>
          <a:prstGeom prst="rect">
            <a:avLst/>
          </a:prstGeom>
          <a:noFill/>
          <a:ln/>
        </p:spPr>
        <p:txBody>
          <a:bodyPr wrap="square" lIns="0" tIns="0" rIns="0" bIns="0" rtlCol="0" anchor="ctr"/>
          <a:lstStyle/>
          <a:p>
            <a:pPr indent="0" marL="0">
              <a:buNone/>
            </a:pPr>
            <a:r>
              <a:rPr lang="en-US" sz="2000" b="1" dirty="0">
                <a:solidFill>
                  <a:srgbClr val="7B3A8E"/>
                </a:solidFill>
              </a:rPr>
              <a:t>Key words today</a:t>
            </a:r>
            <a:endParaRPr lang="en-US" sz="2000" dirty="0"/>
          </a:p>
        </p:txBody>
      </p:sp>
      <p:sp>
        <p:nvSpPr>
          <p:cNvPr id="11" name="Text 9"/>
          <p:cNvSpPr txBox="1"/>
          <p:nvPr/>
        </p:nvSpPr>
        <p:spPr>
          <a:xfrm>
            <a:off x="6583680" y="1874520"/>
            <a:ext cx="5029200" cy="4023360"/>
          </a:xfrm>
          <a:prstGeom prst="rect">
            <a:avLst/>
          </a:prstGeom>
          <a:noFill/>
          <a:ln/>
        </p:spPr>
        <p:txBody>
          <a:bodyPr wrap="square" lIns="0" tIns="0" rIns="0" bIns="0" rtlCol="0" anchor="t">
            <a:normAutofit/>
          </a:bodyPr>
          <a:lstStyle/>
          <a:p>
            <a:pPr indent="0" marL="0">
              <a:spcAft>
                <a:spcPts val="500"/>
              </a:spcAft>
              <a:buNone/>
            </a:pPr>
            <a:r>
              <a:rPr lang="en-US" sz="1300" b="1" dirty="0">
                <a:solidFill>
                  <a:srgbClr val="0F2A5F"/>
                </a:solidFill>
              </a:rPr>
              <a:t>median</a:t>
            </a:r>
            <a:pPr indent="0" marL="0">
              <a:spcAft>
                <a:spcPts val="500"/>
              </a:spcAft>
              <a:buNone/>
            </a:pPr>
            <a:r>
              <a:rPr lang="en-US" sz="1300" dirty="0">
                <a:solidFill>
                  <a:srgbClr val="141B26"/>
                </a:solidFill>
              </a:rPr>
              <a:t>  the middle value when the values are written in order</a:t>
            </a:r>
            <a:endParaRPr lang="en-US" sz="1300" dirty="0"/>
          </a:p>
          <a:p>
            <a:pPr indent="0" marL="0">
              <a:spcAft>
                <a:spcPts val="500"/>
              </a:spcAft>
              <a:buNone/>
            </a:pPr>
            <a:r>
              <a:rPr lang="en-US" sz="1300" b="1" dirty="0">
                <a:solidFill>
                  <a:srgbClr val="0F2A5F"/>
                </a:solidFill>
              </a:rPr>
              <a:t>mean</a:t>
            </a:r>
            <a:pPr indent="0" marL="0">
              <a:spcAft>
                <a:spcPts val="500"/>
              </a:spcAft>
              <a:buNone/>
            </a:pPr>
            <a:r>
              <a:rPr lang="en-US" sz="1300" dirty="0">
                <a:solidFill>
                  <a:srgbClr val="141B26"/>
                </a:solidFill>
              </a:rPr>
              <a:t>  the total of the values divided by the number of values</a:t>
            </a:r>
            <a:endParaRPr lang="en-US" sz="1300" dirty="0"/>
          </a:p>
          <a:p>
            <a:pPr indent="0" marL="0">
              <a:spcAft>
                <a:spcPts val="500"/>
              </a:spcAft>
              <a:buNone/>
            </a:pPr>
            <a:r>
              <a:rPr lang="en-US" sz="1300" b="1" dirty="0">
                <a:solidFill>
                  <a:srgbClr val="0F2A5F"/>
                </a:solidFill>
              </a:rPr>
              <a:t>range</a:t>
            </a:r>
            <a:pPr indent="0" marL="0">
              <a:spcAft>
                <a:spcPts val="500"/>
              </a:spcAft>
              <a:buNone/>
            </a:pPr>
            <a:r>
              <a:rPr lang="en-US" sz="1300" dirty="0">
                <a:solidFill>
                  <a:srgbClr val="141B26"/>
                </a:solidFill>
              </a:rPr>
              <a:t>  the largest value minus the smallest value</a:t>
            </a:r>
            <a:endParaRPr lang="en-US" sz="1300" dirty="0"/>
          </a:p>
          <a:p>
            <a:pPr indent="0" marL="0">
              <a:spcAft>
                <a:spcPts val="500"/>
              </a:spcAft>
              <a:buNone/>
            </a:pPr>
            <a:r>
              <a:rPr lang="en-US" sz="1300" b="1" dirty="0">
                <a:solidFill>
                  <a:srgbClr val="0F2A5F"/>
                </a:solidFill>
              </a:rPr>
              <a:t>quartile</a:t>
            </a:r>
            <a:pPr indent="0" marL="0">
              <a:spcAft>
                <a:spcPts val="500"/>
              </a:spcAft>
              <a:buNone/>
            </a:pPr>
            <a:r>
              <a:rPr lang="en-US" sz="1300" dirty="0">
                <a:solidFill>
                  <a:srgbClr val="141B26"/>
                </a:solidFill>
              </a:rPr>
              <a:t>  a value one quarter or three quarters of the way through the ordered data</a:t>
            </a:r>
            <a:endParaRPr lang="en-US" sz="1300" dirty="0"/>
          </a:p>
          <a:p>
            <a:pPr indent="0" marL="0">
              <a:spcAft>
                <a:spcPts val="500"/>
              </a:spcAft>
              <a:buNone/>
            </a:pPr>
            <a:r>
              <a:rPr lang="en-US" sz="1300" b="1" dirty="0">
                <a:solidFill>
                  <a:srgbClr val="0F2A5F"/>
                </a:solidFill>
              </a:rPr>
              <a:t>lower quartile</a:t>
            </a:r>
            <a:pPr indent="0" marL="0">
              <a:spcAft>
                <a:spcPts val="500"/>
              </a:spcAft>
              <a:buNone/>
            </a:pPr>
            <a:r>
              <a:rPr lang="en-US" sz="1300" dirty="0">
                <a:solidFill>
                  <a:srgbClr val="141B26"/>
                </a:solidFill>
              </a:rPr>
              <a:t>  the value one quarter of the way through the ordered data (LQ)</a:t>
            </a:r>
            <a:endParaRPr lang="en-US" sz="1300" dirty="0"/>
          </a:p>
          <a:p>
            <a:pPr indent="0" marL="0">
              <a:spcAft>
                <a:spcPts val="500"/>
              </a:spcAft>
              <a:buNone/>
            </a:pPr>
            <a:r>
              <a:rPr lang="en-US" sz="1300" b="1" dirty="0">
                <a:solidFill>
                  <a:srgbClr val="0F2A5F"/>
                </a:solidFill>
              </a:rPr>
              <a:t>upper quartile</a:t>
            </a:r>
            <a:pPr indent="0" marL="0">
              <a:spcAft>
                <a:spcPts val="500"/>
              </a:spcAft>
              <a:buNone/>
            </a:pPr>
            <a:r>
              <a:rPr lang="en-US" sz="1300" dirty="0">
                <a:solidFill>
                  <a:srgbClr val="141B26"/>
                </a:solidFill>
              </a:rPr>
              <a:t>  the value three quarters of the way through the ordered data (UQ)</a:t>
            </a:r>
            <a:endParaRPr lang="en-US" sz="1300" dirty="0"/>
          </a:p>
          <a:p>
            <a:pPr indent="0" marL="0">
              <a:spcAft>
                <a:spcPts val="500"/>
              </a:spcAft>
              <a:buNone/>
            </a:pPr>
            <a:r>
              <a:rPr lang="en-US" sz="1300" b="1" dirty="0">
                <a:solidFill>
                  <a:srgbClr val="0F2A5F"/>
                </a:solidFill>
              </a:rPr>
              <a:t>interquartile range</a:t>
            </a:r>
            <a:pPr indent="0" marL="0">
              <a:spcAft>
                <a:spcPts val="500"/>
              </a:spcAft>
              <a:buNone/>
            </a:pPr>
            <a:r>
              <a:rPr lang="en-US" sz="1300" dirty="0">
                <a:solidFill>
                  <a:srgbClr val="141B26"/>
                </a:solidFill>
              </a:rPr>
              <a:t>  UQ minus LQ: the spread of the middle 50% of the data</a:t>
            </a:r>
            <a:endParaRPr lang="en-US" sz="1300" dirty="0"/>
          </a:p>
          <a:p>
            <a:pPr indent="0" marL="0">
              <a:spcAft>
                <a:spcPts val="500"/>
              </a:spcAft>
              <a:buNone/>
            </a:pPr>
            <a:r>
              <a:rPr lang="en-US" sz="1300" b="1" dirty="0">
                <a:solidFill>
                  <a:srgbClr val="0F2A5F"/>
                </a:solidFill>
              </a:rPr>
              <a:t>normal distribution</a:t>
            </a:r>
            <a:pPr indent="0" marL="0">
              <a:spcAft>
                <a:spcPts val="500"/>
              </a:spcAft>
              <a:buNone/>
            </a:pPr>
            <a:r>
              <a:rPr lang="en-US" sz="1300" dirty="0">
                <a:solidFill>
                  <a:srgbClr val="141B26"/>
                </a:solidFill>
              </a:rPr>
              <a:t>  the bell-shaped curve seen when a continuous variable is plotted for a population</a:t>
            </a:r>
            <a:endParaRPr lang="en-US" sz="1300" dirty="0"/>
          </a:p>
          <a:p>
            <a:pPr indent="0" marL="0">
              <a:spcAft>
                <a:spcPts val="500"/>
              </a:spcAft>
              <a:buNone/>
            </a:pPr>
            <a:r>
              <a:rPr lang="en-US" sz="1300" b="1" dirty="0">
                <a:solidFill>
                  <a:srgbClr val="0F2A5F"/>
                </a:solidFill>
              </a:rPr>
              <a:t>continuous variation</a:t>
            </a:r>
            <a:pPr indent="0" marL="0">
              <a:spcAft>
                <a:spcPts val="500"/>
              </a:spcAft>
              <a:buNone/>
            </a:pPr>
            <a:r>
              <a:rPr lang="en-US" sz="1300" dirty="0">
                <a:solidFill>
                  <a:srgbClr val="141B26"/>
                </a:solidFill>
              </a:rPr>
              <a:t>  variation that can take any value in a range, e.g. height</a:t>
            </a:r>
            <a:endParaRPr lang="en-US" sz="1300" dirty="0"/>
          </a:p>
          <a:p>
            <a:pPr indent="0" marL="0">
              <a:spcAft>
                <a:spcPts val="500"/>
              </a:spcAft>
              <a:buNone/>
            </a:pPr>
            <a:r>
              <a:rPr lang="en-US" sz="1300" b="1" dirty="0">
                <a:solidFill>
                  <a:srgbClr val="0F2A5F"/>
                </a:solidFill>
              </a:rPr>
              <a:t>clinical trial</a:t>
            </a:r>
            <a:pPr indent="0" marL="0">
              <a:spcAft>
                <a:spcPts val="500"/>
              </a:spcAft>
              <a:buNone/>
            </a:pPr>
            <a:r>
              <a:rPr lang="en-US" sz="1300" dirty="0">
                <a:solidFill>
                  <a:srgbClr val="141B26"/>
                </a:solidFill>
              </a:rPr>
              <a:t>  a test of a medicine on groups of people</a:t>
            </a:r>
            <a:endParaRPr lang="en-US" sz="13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Wonder drug or health scare?</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HOOK</a:t>
            </a:r>
            <a:endParaRPr lang="en-US" sz="1100" dirty="0"/>
          </a:p>
        </p:txBody>
      </p:sp>
      <p:sp>
        <p:nvSpPr>
          <p:cNvPr id="5" name="Text 3"/>
          <p:cNvSpPr txBox="1"/>
          <p:nvPr/>
        </p:nvSpPr>
        <p:spPr>
          <a:xfrm>
            <a:off x="548640" y="1371600"/>
            <a:ext cx="10881360" cy="2377440"/>
          </a:xfrm>
          <a:prstGeom prst="rect">
            <a:avLst/>
          </a:prstGeom>
          <a:noFill/>
          <a:ln/>
        </p:spPr>
        <p:txBody>
          <a:bodyPr wrap="square" lIns="0" tIns="0" rIns="0" bIns="0" rtlCol="0" anchor="t">
            <a:normAutofit/>
          </a:bodyPr>
          <a:lstStyle/>
          <a:p>
            <a:pPr indent="0" marL="0">
              <a:buNone/>
            </a:pPr>
            <a:r>
              <a:rPr lang="en-US" sz="2800" b="1" dirty="0">
                <a:solidFill>
                  <a:srgbClr val="0F2A5F"/>
                </a:solidFill>
              </a:rPr>
              <a:t>'Statins are a new wonder drug.' 'Statins in new health scare.' Two headlines about the same medicine. Trials showed statins protect most people from heart attacks, but a few may be harmed. How can scientists tell which patients a drug helps?</a:t>
            </a:r>
            <a:endParaRPr lang="en-US" sz="2800" dirty="0"/>
          </a:p>
        </p:txBody>
      </p:sp>
      <p:sp>
        <p:nvSpPr>
          <p:cNvPr id="6" name="Text 4"/>
          <p:cNvSpPr txBox="1"/>
          <p:nvPr/>
        </p:nvSpPr>
        <p:spPr>
          <a:xfrm>
            <a:off x="548640" y="3794760"/>
            <a:ext cx="10881360" cy="2103120"/>
          </a:xfrm>
          <a:prstGeom prst="rect">
            <a:avLst/>
          </a:prstGeom>
          <a:noFill/>
          <a:ln/>
        </p:spPr>
        <p:txBody>
          <a:bodyPr wrap="square" lIns="0" tIns="0" rIns="0" bIns="0" rtlCol="0" anchor="t">
            <a:normAutofit/>
          </a:bodyPr>
          <a:lstStyle/>
          <a:p>
            <a:pPr indent="0" marL="0">
              <a:spcAft>
                <a:spcPts val="800"/>
              </a:spcAft>
              <a:buNone/>
            </a:pPr>
            <a:r>
              <a:rPr lang="en-US" sz="1600" dirty="0">
                <a:solidFill>
                  <a:srgbClr val="141B26"/>
                </a:solidFill>
              </a:rPr>
              <a:t>Talk to a partner: what would you need to measure, and how would you compare the patients?</a:t>
            </a:r>
            <a:endParaRPr lang="en-US" sz="16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Median and quartiles</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1234440"/>
            <a:ext cx="10881360" cy="457200"/>
          </a:xfrm>
          <a:prstGeom prst="rect">
            <a:avLst/>
          </a:prstGeom>
          <a:noFill/>
          <a:ln/>
        </p:spPr>
        <p:txBody>
          <a:bodyPr wrap="square" lIns="0" tIns="0" rIns="0" bIns="0" rtlCol="0" anchor="ctr"/>
          <a:lstStyle/>
          <a:p>
            <a:pPr indent="0" marL="0">
              <a:buNone/>
            </a:pPr>
            <a:r>
              <a:rPr lang="en-US" sz="1600" dirty="0">
                <a:solidFill>
                  <a:srgbClr val="141B26"/>
                </a:solidFill>
              </a:rPr>
              <a:t>In a clinical trial, scientists often divide the people into groups, e.g. pulse rate above or below the median. Write the values in order first.</a:t>
            </a:r>
            <a:endParaRPr lang="en-US" sz="1600" dirty="0"/>
          </a:p>
        </p:txBody>
      </p:sp>
      <p:pic>
        <p:nvPicPr>
          <p:cNvPr id="6" name="Image 0" descr="/home/user/lessons/Y9_Exploring_Science/source/diagrams/median_quartiles.png">    </p:cNvPr>
          <p:cNvPicPr>
            <a:picLocks noChangeAspect="1"/>
          </p:cNvPicPr>
          <p:nvPr/>
        </p:nvPicPr>
        <p:blipFill>
          <a:blip r:embed="rId1"/>
          <a:stretch>
            <a:fillRect/>
          </a:stretch>
        </p:blipFill>
        <p:spPr>
          <a:xfrm>
            <a:off x="764177" y="1737360"/>
            <a:ext cx="10450286" cy="3657600"/>
          </a:xfrm>
          <a:prstGeom prst="rect">
            <a:avLst/>
          </a:prstGeom>
        </p:spPr>
      </p:pic>
      <p:sp>
        <p:nvSpPr>
          <p:cNvPr id="7" name="Shape 4"/>
          <p:cNvSpPr/>
          <p:nvPr/>
        </p:nvSpPr>
        <p:spPr>
          <a:xfrm>
            <a:off x="548640" y="5532120"/>
            <a:ext cx="11094415" cy="566928"/>
          </a:xfrm>
          <a:prstGeom prst="rect">
            <a:avLst/>
          </a:prstGeom>
          <a:solidFill>
            <a:srgbClr val="F1E5F4"/>
          </a:solidFill>
          <a:ln w="12700">
            <a:solidFill>
              <a:srgbClr val="F1E5F4"/>
            </a:solidFill>
            <a:prstDash val="solid"/>
          </a:ln>
        </p:spPr>
      </p:sp>
      <p:sp>
        <p:nvSpPr>
          <p:cNvPr id="8" name="Text 5"/>
          <p:cNvSpPr txBox="1"/>
          <p:nvPr/>
        </p:nvSpPr>
        <p:spPr>
          <a:xfrm>
            <a:off x="685800" y="5532120"/>
            <a:ext cx="10820095" cy="566928"/>
          </a:xfrm>
          <a:prstGeom prst="rect">
            <a:avLst/>
          </a:prstGeom>
          <a:noFill/>
          <a:ln/>
        </p:spPr>
        <p:txBody>
          <a:bodyPr wrap="square" lIns="0" tIns="0" rIns="0" bIns="0" rtlCol="0" anchor="ctr">
            <a:normAutofit/>
          </a:bodyPr>
          <a:lstStyle/>
          <a:p>
            <a:pPr indent="0" marL="0">
              <a:buNone/>
            </a:pPr>
            <a:r>
              <a:rPr lang="en-US" sz="1400" b="1" dirty="0">
                <a:solidFill>
                  <a:srgbClr val="7B3A8E"/>
                </a:solidFill>
              </a:rPr>
              <a:t>Key idea  </a:t>
            </a:r>
            <a:pPr indent="0" marL="0">
              <a:buNone/>
            </a:pPr>
            <a:r>
              <a:rPr lang="en-US" sz="1400" dirty="0">
                <a:solidFill>
                  <a:srgbClr val="141B26"/>
                </a:solidFill>
              </a:rPr>
              <a:t>Median = middle value. Quartiles = one quarter and three quarters of the way through. Interquartile range = UQ minus LQ.</a:t>
            </a:r>
            <a:endParaRPr lang="en-US" sz="14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Why use the interquartile range?</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53328"/>
            <a:ext cx="9601200" cy="292608"/>
          </a:xfrm>
          <a:prstGeom prst="rect">
            <a:avLst/>
          </a:prstGeom>
          <a:noFill/>
          <a:ln/>
        </p:spPr>
        <p:txBody>
          <a:bodyPr wrap="square" lIns="0" tIns="0" rIns="0" bIns="0" rtlCol="0" anchor="ctr"/>
          <a:lstStyle/>
          <a:p>
            <a:pPr indent="0" marL="0">
              <a:buNone/>
            </a:pPr>
            <a:r>
              <a:rPr lang="en-US" sz="1200" b="1" dirty="0">
                <a:solidFill>
                  <a:srgbClr val="7B3A8E"/>
                </a:solidFill>
              </a:rPr>
              <a:t>Key words  </a:t>
            </a:r>
            <a:pPr indent="0" marL="0">
              <a:buNone/>
            </a:pPr>
            <a:r>
              <a:rPr lang="en-US" sz="1200" dirty="0">
                <a:solidFill>
                  <a:srgbClr val="7B3A8E"/>
                </a:solidFill>
              </a:rPr>
              <a:t>normal distribution   ·   interquartile range   ·   range</a:t>
            </a:r>
            <a:endParaRPr lang="en-US" sz="1200" dirty="0"/>
          </a:p>
        </p:txBody>
      </p:sp>
      <p:sp>
        <p:nvSpPr>
          <p:cNvPr id="6" name="Text 4"/>
          <p:cNvSpPr txBox="1"/>
          <p:nvPr/>
        </p:nvSpPr>
        <p:spPr>
          <a:xfrm>
            <a:off x="548640" y="1325880"/>
            <a:ext cx="4297680" cy="4069080"/>
          </a:xfrm>
          <a:prstGeom prst="rect">
            <a:avLst/>
          </a:prstGeom>
          <a:noFill/>
          <a:ln/>
        </p:spPr>
        <p:txBody>
          <a:bodyPr wrap="square" lIns="0" tIns="0" rIns="0" bIns="0" rtlCol="0" anchor="t">
            <a:normAutofit/>
          </a:bodyPr>
          <a:lstStyle/>
          <a:p>
            <a:pPr marL="228600" indent="-228600">
              <a:spcAft>
                <a:spcPts val="600"/>
              </a:spcAft>
              <a:buSzPct val="100000"/>
              <a:buChar char="•"/>
            </a:pPr>
            <a:r>
              <a:rPr lang="en-US" sz="1600" dirty="0">
                <a:solidFill>
                  <a:srgbClr val="141B26"/>
                </a:solidFill>
              </a:rPr>
              <a:t>Height shows continuous variation: a bell-shaped normal distribution.</a:t>
            </a:r>
            <a:endParaRPr lang="en-US" sz="1700" dirty="0"/>
          </a:p>
          <a:p>
            <a:pPr marL="228600" indent="-228600">
              <a:spcAft>
                <a:spcPts val="600"/>
              </a:spcAft>
              <a:buSzPct val="100000"/>
              <a:buChar char="•"/>
            </a:pPr>
            <a:r>
              <a:rPr lang="en-US" sz="1600" dirty="0">
                <a:solidFill>
                  <a:srgbClr val="141B26"/>
                </a:solidFill>
              </a:rPr>
              <a:t>The interquartile range is the spread of the middle 50% of the data.</a:t>
            </a:r>
            <a:endParaRPr lang="en-US" sz="1700" dirty="0"/>
          </a:p>
          <a:p>
            <a:pPr marL="228600" indent="-228600">
              <a:spcAft>
                <a:spcPts val="600"/>
              </a:spcAft>
              <a:buSzPct val="100000"/>
              <a:buChar char="•"/>
            </a:pPr>
            <a:r>
              <a:rPr lang="en-US" sz="1600" dirty="0">
                <a:solidFill>
                  <a:srgbClr val="141B26"/>
                </a:solidFill>
              </a:rPr>
              <a:t>It ignores extreme values, so it is better than the range for comparing two groups.</a:t>
            </a:r>
            <a:endParaRPr lang="en-US" sz="1700" dirty="0"/>
          </a:p>
          <a:p>
            <a:pPr marL="228600" indent="-228600">
              <a:spcAft>
                <a:spcPts val="600"/>
              </a:spcAft>
              <a:buSzPct val="100000"/>
              <a:buChar char="•"/>
            </a:pPr>
            <a:r>
              <a:rPr lang="en-US" sz="1600" dirty="0">
                <a:solidFill>
                  <a:srgbClr val="141B26"/>
                </a:solidFill>
              </a:rPr>
              <a:t>Small interquartile range: little variation. Large: a lot of variation.</a:t>
            </a:r>
            <a:endParaRPr lang="en-US" sz="1700" dirty="0"/>
          </a:p>
        </p:txBody>
      </p:sp>
      <p:pic>
        <p:nvPicPr>
          <p:cNvPr id="7" name="Image 0" descr="/home/user/lessons/Y9_Exploring_Science/source/diagrams/height_histogram.png">    </p:cNvPr>
          <p:cNvPicPr>
            <a:picLocks noChangeAspect="1"/>
          </p:cNvPicPr>
          <p:nvPr/>
        </p:nvPicPr>
        <p:blipFill>
          <a:blip r:embed="rId1"/>
          <a:stretch>
            <a:fillRect/>
          </a:stretch>
        </p:blipFill>
        <p:spPr>
          <a:xfrm>
            <a:off x="5029200" y="1545336"/>
            <a:ext cx="6583680" cy="3127248"/>
          </a:xfrm>
          <a:prstGeom prst="rect">
            <a:avLst/>
          </a:prstGeom>
        </p:spPr>
      </p:pic>
      <p:sp>
        <p:nvSpPr>
          <p:cNvPr id="8" name="Shape 5"/>
          <p:cNvSpPr/>
          <p:nvPr/>
        </p:nvSpPr>
        <p:spPr>
          <a:xfrm>
            <a:off x="548640" y="5532120"/>
            <a:ext cx="11094415" cy="566928"/>
          </a:xfrm>
          <a:prstGeom prst="rect">
            <a:avLst/>
          </a:prstGeom>
          <a:solidFill>
            <a:srgbClr val="F1E5F4"/>
          </a:solidFill>
          <a:ln w="12700">
            <a:solidFill>
              <a:srgbClr val="F1E5F4"/>
            </a:solidFill>
            <a:prstDash val="solid"/>
          </a:ln>
        </p:spPr>
      </p:sp>
      <p:sp>
        <p:nvSpPr>
          <p:cNvPr id="9" name="Text 6"/>
          <p:cNvSpPr txBox="1"/>
          <p:nvPr/>
        </p:nvSpPr>
        <p:spPr>
          <a:xfrm>
            <a:off x="685800" y="5532120"/>
            <a:ext cx="10820095" cy="566928"/>
          </a:xfrm>
          <a:prstGeom prst="rect">
            <a:avLst/>
          </a:prstGeom>
          <a:noFill/>
          <a:ln/>
        </p:spPr>
        <p:txBody>
          <a:bodyPr wrap="square" lIns="0" tIns="0" rIns="0" bIns="0" rtlCol="0" anchor="ctr">
            <a:normAutofit/>
          </a:bodyPr>
          <a:lstStyle/>
          <a:p>
            <a:pPr indent="0" marL="0">
              <a:buNone/>
            </a:pPr>
            <a:r>
              <a:rPr lang="en-US" sz="1400" b="1" dirty="0">
                <a:solidFill>
                  <a:srgbClr val="7B3A8E"/>
                </a:solidFill>
              </a:rPr>
              <a:t>Key idea  </a:t>
            </a:r>
            <a:pPr indent="0" marL="0">
              <a:buNone/>
            </a:pPr>
            <a:r>
              <a:rPr lang="en-US" sz="1400" dirty="0">
                <a:solidFill>
                  <a:srgbClr val="141B26"/>
                </a:solidFill>
              </a:rPr>
              <a:t>The interquartile range measures variation without being biased by extreme values.</a:t>
            </a:r>
            <a:endParaRPr lang="en-US" sz="14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Leaves on two trees of the same species</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graphicFrame>
        <p:nvGraphicFramePr>
          <p:cNvPr id="5" name="Chart 0" descr=""/>
          <p:cNvGraphicFramePr/>
          <p:nvPr/>
        </p:nvGraphicFramePr>
        <p:xfrm>
          <a:off x="548640" y="1325880"/>
          <a:ext cx="6400800" cy="44805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7223760" y="1371600"/>
            <a:ext cx="4389120" cy="4389120"/>
          </a:xfrm>
          <a:prstGeom prst="rect">
            <a:avLst/>
          </a:prstGeom>
          <a:noFill/>
          <a:ln/>
        </p:spPr>
        <p:txBody>
          <a:bodyPr wrap="square" lIns="0" tIns="0" rIns="0" bIns="0" rtlCol="0" anchor="t">
            <a:normAutofit/>
          </a:bodyPr>
          <a:lstStyle/>
          <a:p>
            <a:pPr marL="228600" indent="-228600">
              <a:spcAft>
                <a:spcPts val="600"/>
              </a:spcAft>
              <a:buSzPct val="100000"/>
              <a:buChar char="•"/>
            </a:pPr>
            <a:r>
              <a:rPr lang="en-US" sz="1500" dirty="0">
                <a:solidFill>
                  <a:srgbClr val="141B26"/>
                </a:solidFill>
              </a:rPr>
              <a:t>Tree A: narrow interquartile range. Most leaves are about the same length.</a:t>
            </a:r>
            <a:endParaRPr lang="en-US" sz="1500" dirty="0"/>
          </a:p>
          <a:p>
            <a:pPr marL="228600" indent="-228600">
              <a:spcAft>
                <a:spcPts val="600"/>
              </a:spcAft>
              <a:buSzPct val="100000"/>
              <a:buChar char="•"/>
            </a:pPr>
            <a:r>
              <a:rPr lang="en-US" sz="1500" dirty="0">
                <a:solidFill>
                  <a:srgbClr val="141B26"/>
                </a:solidFill>
              </a:rPr>
              <a:t>Tree B: wide interquartile range. A lot of variation.</a:t>
            </a:r>
            <a:endParaRPr lang="en-US" sz="1500" dirty="0"/>
          </a:p>
          <a:p>
            <a:pPr marL="228600" indent="-228600">
              <a:spcAft>
                <a:spcPts val="600"/>
              </a:spcAft>
              <a:buSzPct val="100000"/>
              <a:buChar char="•"/>
            </a:pPr>
            <a:r>
              <a:rPr lang="en-US" sz="1500" dirty="0">
                <a:solidFill>
                  <a:srgbClr val="141B26"/>
                </a:solidFill>
              </a:rPr>
              <a:t>On which tree would you find leaves much shorter or longer than the others?</a:t>
            </a:r>
            <a:endParaRPr lang="en-US" sz="1500" dirty="0"/>
          </a:p>
        </p:txBody>
      </p:sp>
      <p:sp>
        <p:nvSpPr>
          <p:cNvPr id="7" name="Shape 4"/>
          <p:cNvSpPr/>
          <p:nvPr/>
        </p:nvSpPr>
        <p:spPr>
          <a:xfrm>
            <a:off x="548640" y="5852160"/>
            <a:ext cx="11094415" cy="566928"/>
          </a:xfrm>
          <a:prstGeom prst="rect">
            <a:avLst/>
          </a:prstGeom>
          <a:solidFill>
            <a:srgbClr val="F1E5F4"/>
          </a:solidFill>
          <a:ln w="12700">
            <a:solidFill>
              <a:srgbClr val="F1E5F4"/>
            </a:solidFill>
            <a:prstDash val="solid"/>
          </a:ln>
        </p:spPr>
      </p:sp>
      <p:sp>
        <p:nvSpPr>
          <p:cNvPr id="8" name="Text 5"/>
          <p:cNvSpPr txBox="1"/>
          <p:nvPr/>
        </p:nvSpPr>
        <p:spPr>
          <a:xfrm>
            <a:off x="685800" y="5852160"/>
            <a:ext cx="10820095" cy="566928"/>
          </a:xfrm>
          <a:prstGeom prst="rect">
            <a:avLst/>
          </a:prstGeom>
          <a:noFill/>
          <a:ln/>
        </p:spPr>
        <p:txBody>
          <a:bodyPr wrap="square" lIns="0" tIns="0" rIns="0" bIns="0" rtlCol="0" anchor="ctr">
            <a:normAutofit/>
          </a:bodyPr>
          <a:lstStyle/>
          <a:p>
            <a:pPr indent="0" marL="0">
              <a:buNone/>
            </a:pPr>
            <a:r>
              <a:rPr lang="en-US" sz="1400" b="1" dirty="0">
                <a:solidFill>
                  <a:srgbClr val="7B3A8E"/>
                </a:solidFill>
              </a:rPr>
              <a:t>Key idea  </a:t>
            </a:r>
            <a:pPr indent="0" marL="0">
              <a:buNone/>
            </a:pPr>
            <a:r>
              <a:rPr lang="en-US" sz="1400" dirty="0">
                <a:solidFill>
                  <a:srgbClr val="141B26"/>
                </a:solidFill>
              </a:rPr>
              <a:t>A wide interquartile range means more variation in the population.</a:t>
            </a:r>
            <a:endParaRPr lang="en-US" sz="14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Statins: who does the drug help?</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graphicFrame>
        <p:nvGraphicFramePr>
          <p:cNvPr id="5" name="Chart 0" descr=""/>
          <p:cNvGraphicFramePr/>
          <p:nvPr/>
        </p:nvGraphicFramePr>
        <p:xfrm>
          <a:off x="548640" y="1325880"/>
          <a:ext cx="6400800" cy="44805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7223760" y="1371600"/>
            <a:ext cx="4389120" cy="4389120"/>
          </a:xfrm>
          <a:prstGeom prst="rect">
            <a:avLst/>
          </a:prstGeom>
          <a:noFill/>
          <a:ln/>
        </p:spPr>
        <p:txBody>
          <a:bodyPr wrap="square" lIns="0" tIns="0" rIns="0" bIns="0" rtlCol="0" anchor="t">
            <a:normAutofit/>
          </a:bodyPr>
          <a:lstStyle/>
          <a:p>
            <a:pPr marL="228600" indent="-228600">
              <a:spcAft>
                <a:spcPts val="600"/>
              </a:spcAft>
              <a:buSzPct val="100000"/>
              <a:buChar char="•"/>
            </a:pPr>
            <a:r>
              <a:rPr lang="en-US" sz="1500" dirty="0">
                <a:solidFill>
                  <a:srgbClr val="141B26"/>
                </a:solidFill>
              </a:rPr>
              <a:t>Patients were measured for how well they absorb cholesterol and split into quartiles (boundaries 107, 126, 148).</a:t>
            </a:r>
            <a:endParaRPr lang="en-US" sz="1500" dirty="0"/>
          </a:p>
          <a:p>
            <a:pPr marL="228600" indent="-228600">
              <a:spcAft>
                <a:spcPts val="600"/>
              </a:spcAft>
              <a:buSzPct val="100000"/>
              <a:buChar char="•"/>
            </a:pPr>
            <a:r>
              <a:rPr lang="en-US" sz="1500" dirty="0">
                <a:solidFill>
                  <a:srgbClr val="141B26"/>
                </a:solidFill>
              </a:rPr>
              <a:t>In three quartiles the risk fell. In the top quartile it rose.</a:t>
            </a:r>
            <a:endParaRPr lang="en-US" sz="1500" dirty="0"/>
          </a:p>
          <a:p>
            <a:pPr marL="228600" indent="-228600">
              <a:spcAft>
                <a:spcPts val="600"/>
              </a:spcAft>
              <a:buSzPct val="100000"/>
              <a:buChar char="•"/>
            </a:pPr>
            <a:r>
              <a:rPr lang="en-US" sz="1500" dirty="0">
                <a:solidFill>
                  <a:srgbClr val="141B26"/>
                </a:solidFill>
              </a:rPr>
              <a:t>Splitting the data shows the drug helps most people, but not everyone.</a:t>
            </a:r>
            <a:endParaRPr lang="en-US" sz="1500" dirty="0"/>
          </a:p>
        </p:txBody>
      </p:sp>
      <p:sp>
        <p:nvSpPr>
          <p:cNvPr id="7" name="Shape 4"/>
          <p:cNvSpPr/>
          <p:nvPr/>
        </p:nvSpPr>
        <p:spPr>
          <a:xfrm>
            <a:off x="548640" y="5852160"/>
            <a:ext cx="11094415" cy="566928"/>
          </a:xfrm>
          <a:prstGeom prst="rect">
            <a:avLst/>
          </a:prstGeom>
          <a:solidFill>
            <a:srgbClr val="F1E5F4"/>
          </a:solidFill>
          <a:ln w="12700">
            <a:solidFill>
              <a:srgbClr val="F1E5F4"/>
            </a:solidFill>
            <a:prstDash val="solid"/>
          </a:ln>
        </p:spPr>
      </p:sp>
      <p:sp>
        <p:nvSpPr>
          <p:cNvPr id="8" name="Text 5"/>
          <p:cNvSpPr txBox="1"/>
          <p:nvPr/>
        </p:nvSpPr>
        <p:spPr>
          <a:xfrm>
            <a:off x="685800" y="5852160"/>
            <a:ext cx="10820095" cy="566928"/>
          </a:xfrm>
          <a:prstGeom prst="rect">
            <a:avLst/>
          </a:prstGeom>
          <a:noFill/>
          <a:ln/>
        </p:spPr>
        <p:txBody>
          <a:bodyPr wrap="square" lIns="0" tIns="0" rIns="0" bIns="0" rtlCol="0" anchor="ctr">
            <a:normAutofit/>
          </a:bodyPr>
          <a:lstStyle/>
          <a:p>
            <a:pPr indent="0" marL="0">
              <a:buNone/>
            </a:pPr>
            <a:r>
              <a:rPr lang="en-US" sz="1400" b="1" dirty="0">
                <a:solidFill>
                  <a:srgbClr val="7B3A8E"/>
                </a:solidFill>
              </a:rPr>
              <a:t>Key idea  </a:t>
            </a:r>
            <a:pPr indent="0" marL="0">
              <a:buNone/>
            </a:pPr>
            <a:r>
              <a:rPr lang="en-US" sz="1400" dirty="0">
                <a:solidFill>
                  <a:srgbClr val="141B26"/>
                </a:solidFill>
              </a:rPr>
              <a:t>Quartiles let scientists compare groups inside a large set of data.</a:t>
            </a:r>
            <a:endParaRPr lang="en-US" sz="14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Quick check</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CHECK</a:t>
            </a:r>
            <a:endParaRPr lang="en-US" sz="1100" dirty="0"/>
          </a:p>
        </p:txBody>
      </p:sp>
      <p:sp>
        <p:nvSpPr>
          <p:cNvPr id="5" name="Text 3"/>
          <p:cNvSpPr txBox="1"/>
          <p:nvPr/>
        </p:nvSpPr>
        <p:spPr>
          <a:xfrm>
            <a:off x="548640" y="1280160"/>
            <a:ext cx="10881360" cy="411480"/>
          </a:xfrm>
          <a:prstGeom prst="rect">
            <a:avLst/>
          </a:prstGeom>
          <a:noFill/>
          <a:ln/>
        </p:spPr>
        <p:txBody>
          <a:bodyPr wrap="square" lIns="0" tIns="0" rIns="0" bIns="0" rtlCol="0" anchor="ctr"/>
          <a:lstStyle/>
          <a:p>
            <a:pPr indent="0" marL="0">
              <a:buNone/>
            </a:pPr>
            <a:r>
              <a:rPr lang="en-US" sz="1400" i="1" dirty="0">
                <a:solidFill>
                  <a:srgbClr val="5B6574"/>
                </a:solidFill>
              </a:rPr>
              <a:t>Mini whiteboards. One answer each, then we check.</a:t>
            </a:r>
            <a:endParaRPr lang="en-US" sz="1400" dirty="0"/>
          </a:p>
        </p:txBody>
      </p:sp>
      <p:sp>
        <p:nvSpPr>
          <p:cNvPr id="6" name="Shape 4"/>
          <p:cNvSpPr/>
          <p:nvPr/>
        </p:nvSpPr>
        <p:spPr>
          <a:xfrm>
            <a:off x="548640" y="1783080"/>
            <a:ext cx="10881360" cy="713232"/>
          </a:xfrm>
          <a:prstGeom prst="roundRect">
            <a:avLst>
              <a:gd name="adj" fmla="val 10256"/>
            </a:avLst>
          </a:prstGeom>
          <a:solidFill>
            <a:srgbClr val="FFFFFF"/>
          </a:solidFill>
          <a:ln w="12700">
            <a:solidFill>
              <a:srgbClr val="D5DBE3"/>
            </a:solidFill>
            <a:prstDash val="solid"/>
          </a:ln>
        </p:spPr>
      </p:sp>
      <p:sp>
        <p:nvSpPr>
          <p:cNvPr id="7" name="Text 5"/>
          <p:cNvSpPr txBox="1"/>
          <p:nvPr/>
        </p:nvSpPr>
        <p:spPr>
          <a:xfrm>
            <a:off x="731520" y="1783080"/>
            <a:ext cx="10515600" cy="713232"/>
          </a:xfrm>
          <a:prstGeom prst="rect">
            <a:avLst/>
          </a:prstGeom>
          <a:noFill/>
          <a:ln/>
        </p:spPr>
        <p:txBody>
          <a:bodyPr wrap="square" lIns="0" tIns="0" rIns="0" bIns="0" rtlCol="0" anchor="ctr">
            <a:normAutofit/>
          </a:bodyPr>
          <a:lstStyle/>
          <a:p>
            <a:pPr indent="0" marL="0">
              <a:buNone/>
            </a:pPr>
            <a:r>
              <a:rPr lang="en-US" sz="1600" b="1" dirty="0">
                <a:solidFill>
                  <a:srgbClr val="7B3A8E"/>
                </a:solidFill>
              </a:rPr>
              <a:t>Q1  </a:t>
            </a:r>
            <a:pPr indent="0" marL="0">
              <a:buNone/>
            </a:pPr>
            <a:r>
              <a:rPr lang="en-US" sz="1600" dirty="0">
                <a:solidFill>
                  <a:srgbClr val="141B26"/>
                </a:solidFill>
              </a:rPr>
              <a:t>Find the median of 3, 9, 4, 7, 5.</a:t>
            </a:r>
            <a:endParaRPr lang="en-US" sz="1600" dirty="0"/>
          </a:p>
        </p:txBody>
      </p:sp>
      <p:sp>
        <p:nvSpPr>
          <p:cNvPr id="8" name="Shape 6"/>
          <p:cNvSpPr/>
          <p:nvPr/>
        </p:nvSpPr>
        <p:spPr>
          <a:xfrm>
            <a:off x="548640" y="2606040"/>
            <a:ext cx="10881360" cy="713232"/>
          </a:xfrm>
          <a:prstGeom prst="roundRect">
            <a:avLst>
              <a:gd name="adj" fmla="val 10256"/>
            </a:avLst>
          </a:prstGeom>
          <a:solidFill>
            <a:srgbClr val="FFFFFF"/>
          </a:solidFill>
          <a:ln w="12700">
            <a:solidFill>
              <a:srgbClr val="D5DBE3"/>
            </a:solidFill>
            <a:prstDash val="solid"/>
          </a:ln>
        </p:spPr>
      </p:sp>
      <p:sp>
        <p:nvSpPr>
          <p:cNvPr id="9" name="Text 7"/>
          <p:cNvSpPr txBox="1"/>
          <p:nvPr/>
        </p:nvSpPr>
        <p:spPr>
          <a:xfrm>
            <a:off x="731520" y="2606040"/>
            <a:ext cx="10515600" cy="713232"/>
          </a:xfrm>
          <a:prstGeom prst="rect">
            <a:avLst/>
          </a:prstGeom>
          <a:noFill/>
          <a:ln/>
        </p:spPr>
        <p:txBody>
          <a:bodyPr wrap="square" lIns="0" tIns="0" rIns="0" bIns="0" rtlCol="0" anchor="ctr">
            <a:normAutofit/>
          </a:bodyPr>
          <a:lstStyle/>
          <a:p>
            <a:pPr indent="0" marL="0">
              <a:buNone/>
            </a:pPr>
            <a:r>
              <a:rPr lang="en-US" sz="1600" b="1" dirty="0">
                <a:solidFill>
                  <a:srgbClr val="7B3A8E"/>
                </a:solidFill>
              </a:rPr>
              <a:t>Q2  </a:t>
            </a:r>
            <a:pPr indent="0" marL="0">
              <a:buNone/>
            </a:pPr>
            <a:r>
              <a:rPr lang="en-US" sz="1600" dirty="0">
                <a:solidFill>
                  <a:srgbClr val="141B26"/>
                </a:solidFill>
              </a:rPr>
              <a:t>In the ordered set 1 2 3 3 4 5 6 7 7 8 9, what is the lower quartile?</a:t>
            </a:r>
            <a:endParaRPr lang="en-US" sz="1600" dirty="0"/>
          </a:p>
        </p:txBody>
      </p:sp>
      <p:sp>
        <p:nvSpPr>
          <p:cNvPr id="10" name="Shape 8"/>
          <p:cNvSpPr/>
          <p:nvPr/>
        </p:nvSpPr>
        <p:spPr>
          <a:xfrm>
            <a:off x="548640" y="3429000"/>
            <a:ext cx="10881360" cy="713232"/>
          </a:xfrm>
          <a:prstGeom prst="roundRect">
            <a:avLst>
              <a:gd name="adj" fmla="val 10256"/>
            </a:avLst>
          </a:prstGeom>
          <a:solidFill>
            <a:srgbClr val="FFFFFF"/>
          </a:solidFill>
          <a:ln w="12700">
            <a:solidFill>
              <a:srgbClr val="D5DBE3"/>
            </a:solidFill>
            <a:prstDash val="solid"/>
          </a:ln>
        </p:spPr>
      </p:sp>
      <p:sp>
        <p:nvSpPr>
          <p:cNvPr id="11" name="Text 9"/>
          <p:cNvSpPr txBox="1"/>
          <p:nvPr/>
        </p:nvSpPr>
        <p:spPr>
          <a:xfrm>
            <a:off x="731520" y="3429000"/>
            <a:ext cx="10515600" cy="713232"/>
          </a:xfrm>
          <a:prstGeom prst="rect">
            <a:avLst/>
          </a:prstGeom>
          <a:noFill/>
          <a:ln/>
        </p:spPr>
        <p:txBody>
          <a:bodyPr wrap="square" lIns="0" tIns="0" rIns="0" bIns="0" rtlCol="0" anchor="ctr">
            <a:normAutofit/>
          </a:bodyPr>
          <a:lstStyle/>
          <a:p>
            <a:pPr indent="0" marL="0">
              <a:buNone/>
            </a:pPr>
            <a:r>
              <a:rPr lang="en-US" sz="1600" b="1" dirty="0">
                <a:solidFill>
                  <a:srgbClr val="7B3A8E"/>
                </a:solidFill>
              </a:rPr>
              <a:t>Q3  </a:t>
            </a:r>
            <a:pPr indent="0" marL="0">
              <a:buNone/>
            </a:pPr>
            <a:r>
              <a:rPr lang="en-US" sz="1600" dirty="0">
                <a:solidFill>
                  <a:srgbClr val="141B26"/>
                </a:solidFill>
              </a:rPr>
              <a:t>UQ is 7 and LQ is 3. What is the interquartile range?</a:t>
            </a:r>
            <a:endParaRPr lang="en-US" sz="1600" dirty="0"/>
          </a:p>
        </p:txBody>
      </p:sp>
      <p:sp>
        <p:nvSpPr>
          <p:cNvPr id="12" name="Shape 10"/>
          <p:cNvSpPr/>
          <p:nvPr/>
        </p:nvSpPr>
        <p:spPr>
          <a:xfrm>
            <a:off x="548640" y="4251960"/>
            <a:ext cx="10881360" cy="713232"/>
          </a:xfrm>
          <a:prstGeom prst="roundRect">
            <a:avLst>
              <a:gd name="adj" fmla="val 10256"/>
            </a:avLst>
          </a:prstGeom>
          <a:solidFill>
            <a:srgbClr val="FFFFFF"/>
          </a:solidFill>
          <a:ln w="12700">
            <a:solidFill>
              <a:srgbClr val="D5DBE3"/>
            </a:solidFill>
            <a:prstDash val="solid"/>
          </a:ln>
        </p:spPr>
      </p:sp>
      <p:sp>
        <p:nvSpPr>
          <p:cNvPr id="13" name="Text 11"/>
          <p:cNvSpPr txBox="1"/>
          <p:nvPr/>
        </p:nvSpPr>
        <p:spPr>
          <a:xfrm>
            <a:off x="731520" y="4251960"/>
            <a:ext cx="10515600" cy="713232"/>
          </a:xfrm>
          <a:prstGeom prst="rect">
            <a:avLst/>
          </a:prstGeom>
          <a:noFill/>
          <a:ln/>
        </p:spPr>
        <p:txBody>
          <a:bodyPr wrap="square" lIns="0" tIns="0" rIns="0" bIns="0" rtlCol="0" anchor="ctr">
            <a:normAutofit/>
          </a:bodyPr>
          <a:lstStyle/>
          <a:p>
            <a:pPr indent="0" marL="0">
              <a:buNone/>
            </a:pPr>
            <a:r>
              <a:rPr lang="en-US" sz="1600" b="1" dirty="0">
                <a:solidFill>
                  <a:srgbClr val="7B3A8E"/>
                </a:solidFill>
              </a:rPr>
              <a:t>Q4  </a:t>
            </a:r>
            <a:pPr indent="0" marL="0">
              <a:buNone/>
            </a:pPr>
            <a:r>
              <a:rPr lang="en-US" sz="1600" dirty="0">
                <a:solidFill>
                  <a:srgbClr val="141B26"/>
                </a:solidFill>
              </a:rPr>
              <a:t>Does the interquartile range use the smallest and largest values? Yes or no.</a:t>
            </a:r>
            <a:endParaRPr lang="en-US" sz="1600" dirty="0"/>
          </a:p>
        </p:txBody>
      </p:sp>
      <p:sp>
        <p:nvSpPr>
          <p:cNvPr id="14" name="Shape 12"/>
          <p:cNvSpPr/>
          <p:nvPr/>
        </p:nvSpPr>
        <p:spPr>
          <a:xfrm>
            <a:off x="548640" y="5074920"/>
            <a:ext cx="10881360" cy="713232"/>
          </a:xfrm>
          <a:prstGeom prst="roundRect">
            <a:avLst>
              <a:gd name="adj" fmla="val 10256"/>
            </a:avLst>
          </a:prstGeom>
          <a:solidFill>
            <a:srgbClr val="FFFFFF"/>
          </a:solidFill>
          <a:ln w="12700">
            <a:solidFill>
              <a:srgbClr val="D5DBE3"/>
            </a:solidFill>
            <a:prstDash val="solid"/>
          </a:ln>
        </p:spPr>
      </p:sp>
      <p:sp>
        <p:nvSpPr>
          <p:cNvPr id="15" name="Text 13"/>
          <p:cNvSpPr txBox="1"/>
          <p:nvPr/>
        </p:nvSpPr>
        <p:spPr>
          <a:xfrm>
            <a:off x="731520" y="5074920"/>
            <a:ext cx="10515600" cy="713232"/>
          </a:xfrm>
          <a:prstGeom prst="rect">
            <a:avLst/>
          </a:prstGeom>
          <a:noFill/>
          <a:ln/>
        </p:spPr>
        <p:txBody>
          <a:bodyPr wrap="square" lIns="0" tIns="0" rIns="0" bIns="0" rtlCol="0" anchor="ctr">
            <a:normAutofit/>
          </a:bodyPr>
          <a:lstStyle/>
          <a:p>
            <a:pPr indent="0" marL="0">
              <a:buNone/>
            </a:pPr>
            <a:r>
              <a:rPr lang="en-US" sz="1600" b="1" dirty="0">
                <a:solidFill>
                  <a:srgbClr val="7B3A8E"/>
                </a:solidFill>
              </a:rPr>
              <a:t>Q5  </a:t>
            </a:r>
            <a:pPr indent="0" marL="0">
              <a:buNone/>
            </a:pPr>
            <a:r>
              <a:rPr lang="en-US" sz="1600" dirty="0">
                <a:solidFill>
                  <a:srgbClr val="141B26"/>
                </a:solidFill>
              </a:rPr>
              <a:t>What shape is a normal distribution?</a:t>
            </a:r>
            <a:endParaRPr lang="en-US" sz="16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Class data: hand span</a:t>
            </a:r>
            <a:endParaRPr lang="en-US" sz="3000" dirty="0"/>
          </a:p>
        </p:txBody>
      </p:sp>
      <p:sp>
        <p:nvSpPr>
          <p:cNvPr id="3" name="Shape 1"/>
          <p:cNvSpPr/>
          <p:nvPr/>
        </p:nvSpPr>
        <p:spPr>
          <a:xfrm>
            <a:off x="9869119" y="411480"/>
            <a:ext cx="1773936"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9869119" y="411480"/>
            <a:ext cx="1773936"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PRACTICAL</a:t>
            </a:r>
            <a:endParaRPr lang="en-US" sz="1100" dirty="0"/>
          </a:p>
        </p:txBody>
      </p:sp>
      <p:sp>
        <p:nvSpPr>
          <p:cNvPr id="5" name="Text 3"/>
          <p:cNvSpPr txBox="1"/>
          <p:nvPr/>
        </p:nvSpPr>
        <p:spPr>
          <a:xfrm>
            <a:off x="548640" y="1280160"/>
            <a:ext cx="10881360" cy="457200"/>
          </a:xfrm>
          <a:prstGeom prst="rect">
            <a:avLst/>
          </a:prstGeom>
          <a:noFill/>
          <a:ln/>
        </p:spPr>
        <p:txBody>
          <a:bodyPr wrap="square" lIns="0" tIns="0" rIns="0" bIns="0" rtlCol="0" anchor="ctr"/>
          <a:lstStyle/>
          <a:p>
            <a:pPr indent="0" marL="0">
              <a:buNone/>
            </a:pPr>
            <a:r>
              <a:rPr lang="en-US" sz="1500" b="1" dirty="0">
                <a:solidFill>
                  <a:srgbClr val="7B3A8E"/>
                </a:solidFill>
              </a:rPr>
              <a:t>Aim  </a:t>
            </a:r>
            <a:pPr indent="0" marL="0">
              <a:buNone/>
            </a:pPr>
            <a:r>
              <a:rPr lang="en-US" sz="1500" dirty="0">
                <a:solidFill>
                  <a:srgbClr val="141B26"/>
                </a:solidFill>
              </a:rPr>
              <a:t>Collect the hand spans of the class and find the median, quartiles and interquartile range.</a:t>
            </a:r>
            <a:endParaRPr lang="en-US" sz="1500" dirty="0"/>
          </a:p>
        </p:txBody>
      </p:sp>
      <p:sp>
        <p:nvSpPr>
          <p:cNvPr id="6" name="Text 4"/>
          <p:cNvSpPr txBox="1"/>
          <p:nvPr/>
        </p:nvSpPr>
        <p:spPr>
          <a:xfrm>
            <a:off x="548640" y="1828800"/>
            <a:ext cx="4023360" cy="365760"/>
          </a:xfrm>
          <a:prstGeom prst="rect">
            <a:avLst/>
          </a:prstGeom>
          <a:noFill/>
          <a:ln/>
        </p:spPr>
        <p:txBody>
          <a:bodyPr wrap="square" lIns="0" tIns="0" rIns="0" bIns="0" rtlCol="0" anchor="ctr"/>
          <a:lstStyle/>
          <a:p>
            <a:pPr indent="0" marL="0">
              <a:buNone/>
            </a:pPr>
            <a:r>
              <a:rPr lang="en-US" sz="1600" b="1" dirty="0">
                <a:solidFill>
                  <a:srgbClr val="0F2A5F"/>
                </a:solidFill>
              </a:rPr>
              <a:t>Equipment</a:t>
            </a:r>
            <a:endParaRPr lang="en-US" sz="1600" dirty="0"/>
          </a:p>
        </p:txBody>
      </p:sp>
      <p:sp>
        <p:nvSpPr>
          <p:cNvPr id="7" name="Text 5"/>
          <p:cNvSpPr txBox="1"/>
          <p:nvPr/>
        </p:nvSpPr>
        <p:spPr>
          <a:xfrm>
            <a:off x="548640" y="2240280"/>
            <a:ext cx="4023360" cy="3200400"/>
          </a:xfrm>
          <a:prstGeom prst="rect">
            <a:avLst/>
          </a:prstGeom>
          <a:noFill/>
          <a:ln/>
        </p:spPr>
        <p:txBody>
          <a:bodyPr wrap="square" lIns="0" tIns="0" rIns="0" bIns="0" rtlCol="0" anchor="t">
            <a:normAutofit/>
          </a:bodyPr>
          <a:lstStyle/>
          <a:p>
            <a:pPr marL="228600" indent="-228600">
              <a:spcAft>
                <a:spcPts val="600"/>
              </a:spcAft>
              <a:buSzPct val="100000"/>
              <a:buChar char="•"/>
            </a:pPr>
            <a:r>
              <a:rPr lang="en-US" sz="1300" dirty="0">
                <a:solidFill>
                  <a:srgbClr val="141B26"/>
                </a:solidFill>
              </a:rPr>
              <a:t>30 cm ruler</a:t>
            </a:r>
            <a:endParaRPr lang="en-US" sz="1300" dirty="0"/>
          </a:p>
          <a:p>
            <a:pPr marL="228600" indent="-228600">
              <a:spcAft>
                <a:spcPts val="600"/>
              </a:spcAft>
              <a:buSzPct val="100000"/>
              <a:buChar char="•"/>
            </a:pPr>
            <a:r>
              <a:rPr lang="en-US" sz="1300" dirty="0">
                <a:solidFill>
                  <a:srgbClr val="141B26"/>
                </a:solidFill>
              </a:rPr>
              <a:t>the class table on the board</a:t>
            </a:r>
            <a:endParaRPr lang="en-US" sz="1300" dirty="0"/>
          </a:p>
          <a:p>
            <a:pPr marL="228600" indent="-228600">
              <a:spcAft>
                <a:spcPts val="600"/>
              </a:spcAft>
              <a:buSzPct val="100000"/>
              <a:buChar char="•"/>
            </a:pPr>
            <a:r>
              <a:rPr lang="en-US" sz="1300" dirty="0">
                <a:solidFill>
                  <a:srgbClr val="141B26"/>
                </a:solidFill>
              </a:rPr>
              <a:t>Stretch 2 on your worksheet</a:t>
            </a:r>
            <a:endParaRPr lang="en-US" sz="1300" dirty="0"/>
          </a:p>
        </p:txBody>
      </p:sp>
      <p:sp>
        <p:nvSpPr>
          <p:cNvPr id="8" name="Text 6"/>
          <p:cNvSpPr txBox="1"/>
          <p:nvPr/>
        </p:nvSpPr>
        <p:spPr>
          <a:xfrm>
            <a:off x="4937760" y="1828800"/>
            <a:ext cx="6675120" cy="365760"/>
          </a:xfrm>
          <a:prstGeom prst="rect">
            <a:avLst/>
          </a:prstGeom>
          <a:noFill/>
          <a:ln/>
        </p:spPr>
        <p:txBody>
          <a:bodyPr wrap="square" lIns="0" tIns="0" rIns="0" bIns="0" rtlCol="0" anchor="ctr"/>
          <a:lstStyle/>
          <a:p>
            <a:pPr indent="0" marL="0">
              <a:buNone/>
            </a:pPr>
            <a:r>
              <a:rPr lang="en-US" sz="1600" b="1" dirty="0">
                <a:solidFill>
                  <a:srgbClr val="0F2A5F"/>
                </a:solidFill>
              </a:rPr>
              <a:t>Method</a:t>
            </a:r>
            <a:endParaRPr lang="en-US" sz="1600" dirty="0"/>
          </a:p>
        </p:txBody>
      </p:sp>
      <p:sp>
        <p:nvSpPr>
          <p:cNvPr id="9" name="Text 7"/>
          <p:cNvSpPr txBox="1"/>
          <p:nvPr/>
        </p:nvSpPr>
        <p:spPr>
          <a:xfrm>
            <a:off x="4937760" y="2240280"/>
            <a:ext cx="6675120" cy="3200400"/>
          </a:xfrm>
          <a:prstGeom prst="rect">
            <a:avLst/>
          </a:prstGeom>
          <a:noFill/>
          <a:ln/>
        </p:spPr>
        <p:txBody>
          <a:bodyPr wrap="square" lIns="0" tIns="0" rIns="0" bIns="0" rtlCol="0" anchor="t">
            <a:normAutofit/>
          </a:bodyPr>
          <a:lstStyle/>
          <a:p>
            <a:pPr marL="342900" indent="-342900">
              <a:spcAft>
                <a:spcPts val="500"/>
              </a:spcAft>
              <a:buSzPct val="100000"/>
              <a:buFont typeface="+mj-lt"/>
              <a:buAutoNum type="arabicPeriod" startAt="1"/>
            </a:pPr>
            <a:r>
              <a:rPr lang="en-US" sz="1300" dirty="0">
                <a:solidFill>
                  <a:srgbClr val="141B26"/>
                </a:solidFill>
              </a:rPr>
              <a:t>Spread one hand flat on the desk. Measure from the tip of the thumb to the tip of the little finger in cm, to one decimal place.</a:t>
            </a:r>
            <a:endParaRPr lang="en-US" sz="1300" dirty="0"/>
          </a:p>
          <a:p>
            <a:pPr marL="342900" indent="-342900">
              <a:spcAft>
                <a:spcPts val="500"/>
              </a:spcAft>
              <a:buSzPct val="100000"/>
              <a:buFont typeface="+mj-lt"/>
              <a:buAutoNum type="arabicPeriod" startAt="1"/>
            </a:pPr>
            <a:r>
              <a:rPr lang="en-US" sz="1300" dirty="0">
                <a:solidFill>
                  <a:srgbClr val="141B26"/>
                </a:solidFill>
              </a:rPr>
              <a:t>Write your value on the board.</a:t>
            </a:r>
            <a:endParaRPr lang="en-US" sz="1300" dirty="0"/>
          </a:p>
          <a:p>
            <a:pPr marL="342900" indent="-342900">
              <a:spcAft>
                <a:spcPts val="500"/>
              </a:spcAft>
              <a:buSzPct val="100000"/>
              <a:buFont typeface="+mj-lt"/>
              <a:buAutoNum type="arabicPeriod" startAt="1"/>
            </a:pPr>
            <a:r>
              <a:rPr lang="en-US" sz="1300" dirty="0">
                <a:solidFill>
                  <a:srgbClr val="141B26"/>
                </a:solidFill>
              </a:rPr>
              <a:t>Copy the class values on to your worksheet in order, smallest first.</a:t>
            </a:r>
            <a:endParaRPr lang="en-US" sz="1300" dirty="0"/>
          </a:p>
          <a:p>
            <a:pPr marL="342900" indent="-342900">
              <a:spcAft>
                <a:spcPts val="500"/>
              </a:spcAft>
              <a:buSzPct val="100000"/>
              <a:buFont typeface="+mj-lt"/>
              <a:buAutoNum type="arabicPeriod" startAt="1"/>
            </a:pPr>
            <a:r>
              <a:rPr lang="en-US" sz="1300" dirty="0">
                <a:solidFill>
                  <a:srgbClr val="141B26"/>
                </a:solidFill>
              </a:rPr>
              <a:t>Find the median, then the lower and upper quartiles.</a:t>
            </a:r>
            <a:endParaRPr lang="en-US" sz="1300" dirty="0"/>
          </a:p>
          <a:p>
            <a:pPr marL="342900" indent="-342900">
              <a:spcAft>
                <a:spcPts val="500"/>
              </a:spcAft>
              <a:buSzPct val="100000"/>
              <a:buFont typeface="+mj-lt"/>
              <a:buAutoNum type="arabicPeriod" startAt="1"/>
            </a:pPr>
            <a:r>
              <a:rPr lang="en-US" sz="1300" dirty="0">
                <a:solidFill>
                  <a:srgbClr val="141B26"/>
                </a:solidFill>
              </a:rPr>
              <a:t>Calculate the interquartile range. Is the class data roughly a normal distribution?</a:t>
            </a:r>
            <a:endParaRPr lang="en-US" sz="1300" dirty="0"/>
          </a:p>
        </p:txBody>
      </p:sp>
      <p:sp>
        <p:nvSpPr>
          <p:cNvPr id="10" name="Shape 8"/>
          <p:cNvSpPr/>
          <p:nvPr/>
        </p:nvSpPr>
        <p:spPr>
          <a:xfrm>
            <a:off x="548640" y="5532120"/>
            <a:ext cx="10881360" cy="502920"/>
          </a:xfrm>
          <a:prstGeom prst="rect">
            <a:avLst/>
          </a:prstGeom>
          <a:solidFill>
            <a:srgbClr val="F2CE3E"/>
          </a:solidFill>
          <a:ln w="12700">
            <a:solidFill>
              <a:srgbClr val="F2CE3E"/>
            </a:solidFill>
            <a:prstDash val="solid"/>
          </a:ln>
        </p:spPr>
      </p:sp>
      <p:sp>
        <p:nvSpPr>
          <p:cNvPr id="11" name="Text 9"/>
          <p:cNvSpPr txBox="1"/>
          <p:nvPr/>
        </p:nvSpPr>
        <p:spPr>
          <a:xfrm>
            <a:off x="685800" y="5532120"/>
            <a:ext cx="10607040" cy="502920"/>
          </a:xfrm>
          <a:prstGeom prst="rect">
            <a:avLst/>
          </a:prstGeom>
          <a:noFill/>
          <a:ln/>
        </p:spPr>
        <p:txBody>
          <a:bodyPr wrap="square" lIns="0" tIns="0" rIns="0" bIns="0" rtlCol="0" anchor="ctr">
            <a:normAutofit/>
          </a:bodyPr>
          <a:lstStyle/>
          <a:p>
            <a:pPr indent="0" marL="0">
              <a:buNone/>
            </a:pPr>
            <a:r>
              <a:rPr lang="en-US" sz="1300" b="1" dirty="0">
                <a:solidFill>
                  <a:srgbClr val="3A2E00"/>
                </a:solidFill>
              </a:rPr>
              <a:t>Safety  </a:t>
            </a:r>
            <a:pPr indent="0" marL="0">
              <a:buNone/>
            </a:pPr>
            <a:r>
              <a:rPr lang="en-US" sz="1300" dirty="0">
                <a:solidFill>
                  <a:srgbClr val="3A2E00"/>
                </a:solidFill>
              </a:rPr>
              <a:t>No hazards. Measure gently; do not stretch the hand.</a:t>
            </a:r>
            <a:endParaRPr lang="en-US" sz="13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Which headline is fairer?</a:t>
            </a:r>
            <a:endParaRPr lang="en-US" sz="3000" dirty="0"/>
          </a:p>
        </p:txBody>
      </p:sp>
      <p:sp>
        <p:nvSpPr>
          <p:cNvPr id="3" name="Shape 1"/>
          <p:cNvSpPr/>
          <p:nvPr/>
        </p:nvSpPr>
        <p:spPr>
          <a:xfrm>
            <a:off x="8698687" y="411480"/>
            <a:ext cx="2944368"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8698687" y="411480"/>
            <a:ext cx="2944368"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THINK AND REFLECT</a:t>
            </a:r>
            <a:endParaRPr lang="en-US" sz="1100" dirty="0"/>
          </a:p>
        </p:txBody>
      </p:sp>
      <p:sp>
        <p:nvSpPr>
          <p:cNvPr id="5" name="Text 3"/>
          <p:cNvSpPr txBox="1"/>
          <p:nvPr/>
        </p:nvSpPr>
        <p:spPr>
          <a:xfrm>
            <a:off x="548640" y="1325880"/>
            <a:ext cx="10881360" cy="1920240"/>
          </a:xfrm>
          <a:prstGeom prst="rect">
            <a:avLst/>
          </a:prstGeom>
          <a:noFill/>
          <a:ln/>
        </p:spPr>
        <p:txBody>
          <a:bodyPr wrap="square" lIns="0" tIns="0" rIns="0" bIns="0" rtlCol="0" anchor="t">
            <a:normAutofit/>
          </a:bodyPr>
          <a:lstStyle/>
          <a:p>
            <a:pPr indent="0" marL="0">
              <a:buNone/>
            </a:pPr>
            <a:r>
              <a:rPr lang="en-US" sz="2200" b="1" dirty="0">
                <a:solidFill>
                  <a:srgbClr val="0F2A5F"/>
                </a:solidFill>
              </a:rPr>
              <a:t>'Statins are a new wonder drug' and 'Statins in new health scare' both describe the same trial. Using the quartile results, which headline is fairer? Could both be true?</a:t>
            </a:r>
            <a:endParaRPr lang="en-US" sz="2200" dirty="0"/>
          </a:p>
        </p:txBody>
      </p:sp>
      <p:sp>
        <p:nvSpPr>
          <p:cNvPr id="6" name="Shape 4"/>
          <p:cNvSpPr/>
          <p:nvPr/>
        </p:nvSpPr>
        <p:spPr>
          <a:xfrm>
            <a:off x="548640" y="3383280"/>
            <a:ext cx="10881360" cy="2377440"/>
          </a:xfrm>
          <a:prstGeom prst="roundRect">
            <a:avLst>
              <a:gd name="adj" fmla="val 3846"/>
            </a:avLst>
          </a:prstGeom>
          <a:solidFill>
            <a:srgbClr val="FFFFFF"/>
          </a:solidFill>
          <a:ln w="12700">
            <a:solidFill>
              <a:srgbClr val="7B3A8E"/>
            </a:solidFill>
            <a:prstDash val="dash"/>
          </a:ln>
        </p:spPr>
      </p:sp>
      <p:sp>
        <p:nvSpPr>
          <p:cNvPr id="7" name="Text 5"/>
          <p:cNvSpPr txBox="1"/>
          <p:nvPr/>
        </p:nvSpPr>
        <p:spPr>
          <a:xfrm>
            <a:off x="777240" y="3520440"/>
            <a:ext cx="10424160" cy="2148840"/>
          </a:xfrm>
          <a:prstGeom prst="rect">
            <a:avLst/>
          </a:prstGeom>
          <a:noFill/>
          <a:ln/>
        </p:spPr>
        <p:txBody>
          <a:bodyPr wrap="square" lIns="0" tIns="0" rIns="0" bIns="0" rtlCol="0" anchor="t">
            <a:normAutofit/>
          </a:bodyPr>
          <a:lstStyle/>
          <a:p>
            <a:pPr indent="0" marL="0">
              <a:spcAft>
                <a:spcPts val="600"/>
              </a:spcAft>
              <a:buNone/>
            </a:pPr>
            <a:r>
              <a:rPr lang="en-US" sz="1500" b="1" dirty="0">
                <a:solidFill>
                  <a:srgbClr val="7B3A8E"/>
                </a:solidFill>
              </a:rPr>
              <a:t>Sentence frames</a:t>
            </a:r>
            <a:endParaRPr lang="en-US" sz="1500" dirty="0"/>
          </a:p>
          <a:p>
            <a:pPr indent="0" marL="0">
              <a:spcAft>
                <a:spcPts val="600"/>
              </a:spcAft>
              <a:buNone/>
            </a:pPr>
            <a:r>
              <a:rPr lang="en-US" sz="1500" dirty="0">
                <a:solidFill>
                  <a:srgbClr val="141B26"/>
                </a:solidFill>
              </a:rPr>
              <a:t>The results show that for ___ of the patients the risk ___.</a:t>
            </a:r>
            <a:endParaRPr lang="en-US" sz="1500" dirty="0"/>
          </a:p>
          <a:p>
            <a:pPr indent="0" marL="0">
              <a:spcAft>
                <a:spcPts val="600"/>
              </a:spcAft>
              <a:buNone/>
            </a:pPr>
            <a:r>
              <a:rPr lang="en-US" sz="1500" dirty="0">
                <a:solidFill>
                  <a:srgbClr val="141B26"/>
                </a:solidFill>
              </a:rPr>
              <a:t>The headline '___' is fairer because ___.</a:t>
            </a:r>
            <a:endParaRPr lang="en-US" sz="1500" dirty="0"/>
          </a:p>
          <a:p>
            <a:pPr indent="0" marL="0">
              <a:spcAft>
                <a:spcPts val="600"/>
              </a:spcAft>
              <a:buNone/>
            </a:pPr>
            <a:r>
              <a:rPr lang="en-US" sz="1500" dirty="0">
                <a:solidFill>
                  <a:srgbClr val="141B26"/>
                </a:solidFill>
              </a:rPr>
              <a:t>Both could be partly true because ___.</a:t>
            </a:r>
            <a:endParaRPr lang="en-US" sz="15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Exit ticket</a:t>
            </a:r>
            <a:endParaRPr lang="en-US" sz="3000" dirty="0"/>
          </a:p>
        </p:txBody>
      </p:sp>
      <p:sp>
        <p:nvSpPr>
          <p:cNvPr id="3" name="Shape 1"/>
          <p:cNvSpPr/>
          <p:nvPr/>
        </p:nvSpPr>
        <p:spPr>
          <a:xfrm>
            <a:off x="9576511" y="411480"/>
            <a:ext cx="2066544"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9576511" y="411480"/>
            <a:ext cx="2066544"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EXIT TICKET</a:t>
            </a:r>
            <a:endParaRPr lang="en-US" sz="1100" dirty="0"/>
          </a:p>
        </p:txBody>
      </p:sp>
      <p:sp>
        <p:nvSpPr>
          <p:cNvPr id="5" name="Text 3"/>
          <p:cNvSpPr txBox="1"/>
          <p:nvPr/>
        </p:nvSpPr>
        <p:spPr>
          <a:xfrm>
            <a:off x="548640" y="1280160"/>
            <a:ext cx="10881360" cy="411480"/>
          </a:xfrm>
          <a:prstGeom prst="rect">
            <a:avLst/>
          </a:prstGeom>
          <a:noFill/>
          <a:ln/>
        </p:spPr>
        <p:txBody>
          <a:bodyPr wrap="square" lIns="0" tIns="0" rIns="0" bIns="0" rtlCol="0" anchor="ctr"/>
          <a:lstStyle/>
          <a:p>
            <a:pPr indent="0" marL="0">
              <a:buNone/>
            </a:pPr>
            <a:r>
              <a:rPr lang="en-US" sz="1400" i="1" dirty="0">
                <a:solidFill>
                  <a:srgbClr val="5B6574"/>
                </a:solidFill>
              </a:rPr>
              <a:t>On your worksheet exit ticket. Work alone. Hand it in as you leave.</a:t>
            </a:r>
            <a:endParaRPr lang="en-US" sz="1400" dirty="0"/>
          </a:p>
        </p:txBody>
      </p:sp>
      <p:sp>
        <p:nvSpPr>
          <p:cNvPr id="6" name="Text 4"/>
          <p:cNvSpPr txBox="1"/>
          <p:nvPr/>
        </p:nvSpPr>
        <p:spPr>
          <a:xfrm>
            <a:off x="548640" y="1828800"/>
            <a:ext cx="10881360" cy="1188720"/>
          </a:xfrm>
          <a:prstGeom prst="rect">
            <a:avLst/>
          </a:prstGeom>
          <a:noFill/>
          <a:ln/>
        </p:spPr>
        <p:txBody>
          <a:bodyPr wrap="square" lIns="0" tIns="0" rIns="0" bIns="0" rtlCol="0" anchor="t">
            <a:normAutofit/>
          </a:bodyPr>
          <a:lstStyle/>
          <a:p>
            <a:pPr indent="0" marL="0">
              <a:buNone/>
            </a:pPr>
            <a:r>
              <a:rPr lang="en-US" sz="1800" b="1" dirty="0">
                <a:solidFill>
                  <a:srgbClr val="7B3A8E"/>
                </a:solidFill>
              </a:rPr>
              <a:t>1.  </a:t>
            </a:r>
            <a:pPr indent="0" marL="0">
              <a:buNone/>
            </a:pPr>
            <a:r>
              <a:rPr lang="en-US" sz="1800" dirty="0">
                <a:solidFill>
                  <a:srgbClr val="141B26"/>
                </a:solidFill>
              </a:rPr>
              <a:t>Write these values in order and give the median: 12, 5, 9, 20, 7.</a:t>
            </a:r>
            <a:endParaRPr lang="en-US" sz="1800" dirty="0"/>
          </a:p>
        </p:txBody>
      </p:sp>
      <p:sp>
        <p:nvSpPr>
          <p:cNvPr id="7" name="Text 5"/>
          <p:cNvSpPr txBox="1"/>
          <p:nvPr/>
        </p:nvSpPr>
        <p:spPr>
          <a:xfrm>
            <a:off x="548640" y="3017520"/>
            <a:ext cx="10881360" cy="1188720"/>
          </a:xfrm>
          <a:prstGeom prst="rect">
            <a:avLst/>
          </a:prstGeom>
          <a:noFill/>
          <a:ln/>
        </p:spPr>
        <p:txBody>
          <a:bodyPr wrap="square" lIns="0" tIns="0" rIns="0" bIns="0" rtlCol="0" anchor="t">
            <a:normAutofit/>
          </a:bodyPr>
          <a:lstStyle/>
          <a:p>
            <a:pPr indent="0" marL="0">
              <a:buNone/>
            </a:pPr>
            <a:r>
              <a:rPr lang="en-US" sz="1800" b="1" dirty="0">
                <a:solidFill>
                  <a:srgbClr val="7B3A8E"/>
                </a:solidFill>
              </a:rPr>
              <a:t>2.  </a:t>
            </a:r>
            <a:pPr indent="0" marL="0">
              <a:buNone/>
            </a:pPr>
            <a:r>
              <a:rPr lang="en-US" sz="1800" dirty="0">
                <a:solidFill>
                  <a:srgbClr val="141B26"/>
                </a:solidFill>
              </a:rPr>
              <a:t>The upper quartile is 30 and the lower quartile is 18. Calculate the interquartile range.</a:t>
            </a:r>
            <a:endParaRPr lang="en-US" sz="1800" dirty="0"/>
          </a:p>
        </p:txBody>
      </p:sp>
      <p:sp>
        <p:nvSpPr>
          <p:cNvPr id="8" name="Text 6"/>
          <p:cNvSpPr txBox="1"/>
          <p:nvPr/>
        </p:nvSpPr>
        <p:spPr>
          <a:xfrm>
            <a:off x="548640" y="4206240"/>
            <a:ext cx="10881360" cy="1188720"/>
          </a:xfrm>
          <a:prstGeom prst="rect">
            <a:avLst/>
          </a:prstGeom>
          <a:noFill/>
          <a:ln/>
        </p:spPr>
        <p:txBody>
          <a:bodyPr wrap="square" lIns="0" tIns="0" rIns="0" bIns="0" rtlCol="0" anchor="t">
            <a:normAutofit/>
          </a:bodyPr>
          <a:lstStyle/>
          <a:p>
            <a:pPr indent="0" marL="0">
              <a:buNone/>
            </a:pPr>
            <a:r>
              <a:rPr lang="en-US" sz="1800" b="1" dirty="0">
                <a:solidFill>
                  <a:srgbClr val="7B3A8E"/>
                </a:solidFill>
              </a:rPr>
              <a:t>3.  </a:t>
            </a:r>
            <a:pPr indent="0" marL="0">
              <a:buNone/>
            </a:pPr>
            <a:r>
              <a:rPr lang="en-US" sz="1800" dirty="0">
                <a:solidFill>
                  <a:srgbClr val="141B26"/>
                </a:solidFill>
              </a:rPr>
              <a:t>What does a small interquartile range tell you about a population?</a:t>
            </a:r>
            <a:endParaRPr lang="en-US" sz="1800" dirty="0"/>
          </a:p>
        </p:txBody>
      </p:sp>
      <p:sp>
        <p:nvSpPr>
          <p:cNvPr id="9" name="Shape 7"/>
          <p:cNvSpPr/>
          <p:nvPr/>
        </p:nvSpPr>
        <p:spPr>
          <a:xfrm>
            <a:off x="10682935" y="914400"/>
            <a:ext cx="914400" cy="914400"/>
          </a:xfrm>
          <a:prstGeom prst="ellipse">
            <a:avLst/>
          </a:prstGeom>
          <a:solidFill>
            <a:srgbClr val="FFFFFF"/>
          </a:solidFill>
          <a:ln w="25400">
            <a:solidFill>
              <a:srgbClr val="7B3A8E"/>
            </a:solidFill>
            <a:prstDash val="solid"/>
          </a:ln>
        </p:spPr>
      </p:sp>
      <p:sp>
        <p:nvSpPr>
          <p:cNvPr id="10" name="Text 8"/>
          <p:cNvSpPr txBox="1"/>
          <p:nvPr/>
        </p:nvSpPr>
        <p:spPr>
          <a:xfrm>
            <a:off x="10682935" y="914400"/>
            <a:ext cx="914400" cy="914400"/>
          </a:xfrm>
          <a:prstGeom prst="rect">
            <a:avLst/>
          </a:prstGeom>
          <a:noFill/>
          <a:ln/>
        </p:spPr>
        <p:txBody>
          <a:bodyPr wrap="square" lIns="0" tIns="0" rIns="0" bIns="0" rtlCol="0" anchor="ctr"/>
          <a:lstStyle/>
          <a:p>
            <a:pPr algn="ctr" indent="0" marL="0">
              <a:buNone/>
            </a:pPr>
            <a:r>
              <a:rPr lang="en-US" sz="2200" b="1" dirty="0">
                <a:solidFill>
                  <a:srgbClr val="7B3A8E"/>
                </a:solidFill>
              </a:rPr>
              <a:t>4</a:t>
            </a:r>
            <a:endParaRPr lang="en-US" sz="2200" dirty="0"/>
          </a:p>
          <a:p>
            <a:pPr algn="ctr" indent="0" marL="0">
              <a:buNone/>
            </a:pPr>
            <a:r>
              <a:rPr lang="en-US" sz="1000" dirty="0">
                <a:solidFill>
                  <a:srgbClr val="5B6574"/>
                </a:solidFill>
              </a:rPr>
              <a:t>min</a:t>
            </a:r>
            <a:endParaRPr lang="en-US" sz="22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What we learned</a:t>
            </a:r>
            <a:endParaRPr lang="en-US" sz="3000" dirty="0"/>
          </a:p>
        </p:txBody>
      </p:sp>
      <p:sp>
        <p:nvSpPr>
          <p:cNvPr id="3" name="Shape 1"/>
          <p:cNvSpPr/>
          <p:nvPr/>
        </p:nvSpPr>
        <p:spPr>
          <a:xfrm>
            <a:off x="10161727" y="411480"/>
            <a:ext cx="1481328"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161727" y="411480"/>
            <a:ext cx="1481328"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SUMMARY</a:t>
            </a:r>
            <a:endParaRPr lang="en-US" sz="1100" dirty="0"/>
          </a:p>
        </p:txBody>
      </p:sp>
      <p:sp>
        <p:nvSpPr>
          <p:cNvPr id="5" name="Text 3"/>
          <p:cNvSpPr txBox="1"/>
          <p:nvPr/>
        </p:nvSpPr>
        <p:spPr>
          <a:xfrm>
            <a:off x="548640" y="1371600"/>
            <a:ext cx="10881360" cy="448056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1700" dirty="0">
                <a:solidFill>
                  <a:srgbClr val="141B26"/>
                </a:solidFill>
              </a:rPr>
              <a:t>Order the values first. The median is the middle value.</a:t>
            </a:r>
            <a:endParaRPr lang="en-US" sz="1700" dirty="0"/>
          </a:p>
          <a:p>
            <a:pPr marL="342900" indent="-342900">
              <a:spcAft>
                <a:spcPts val="1000"/>
              </a:spcAft>
              <a:buSzPct val="100000"/>
              <a:buChar char="✓"/>
            </a:pPr>
            <a:r>
              <a:rPr lang="en-US" sz="1700" dirty="0">
                <a:solidFill>
                  <a:srgbClr val="141B26"/>
                </a:solidFill>
              </a:rPr>
              <a:t>Quartiles are one quarter and three quarters of the way through; interquartile range = UQ minus LQ.</a:t>
            </a:r>
            <a:endParaRPr lang="en-US" sz="1700" dirty="0"/>
          </a:p>
          <a:p>
            <a:pPr marL="342900" indent="-342900">
              <a:spcAft>
                <a:spcPts val="1000"/>
              </a:spcAft>
              <a:buSzPct val="100000"/>
              <a:buChar char="✓"/>
            </a:pPr>
            <a:r>
              <a:rPr lang="en-US" sz="1700" dirty="0">
                <a:solidFill>
                  <a:srgbClr val="141B26"/>
                </a:solidFill>
              </a:rPr>
              <a:t>The interquartile range measures the variation in the middle 50% and ignores extreme values.</a:t>
            </a:r>
            <a:endParaRPr lang="en-US" sz="1700" dirty="0"/>
          </a:p>
          <a:p>
            <a:pPr marL="342900" indent="-342900">
              <a:spcAft>
                <a:spcPts val="1000"/>
              </a:spcAft>
              <a:buSzPct val="100000"/>
              <a:buChar char="✓"/>
            </a:pPr>
            <a:r>
              <a:rPr lang="en-US" sz="1700" dirty="0">
                <a:solidFill>
                  <a:srgbClr val="141B26"/>
                </a:solidFill>
              </a:rPr>
              <a:t>Splitting trial data into quartiles shows who a medicine helps and who it does not.</a:t>
            </a:r>
            <a:endParaRPr lang="en-US" sz="1700" dirty="0"/>
          </a:p>
        </p:txBody>
      </p:sp>
      <p:sp>
        <p:nvSpPr>
          <p:cNvPr id="6" name="Text 4"/>
          <p:cNvSpPr txBox="1"/>
          <p:nvPr/>
        </p:nvSpPr>
        <p:spPr>
          <a:xfrm>
            <a:off x="548640" y="5577840"/>
            <a:ext cx="10881360" cy="411480"/>
          </a:xfrm>
          <a:prstGeom prst="rect">
            <a:avLst/>
          </a:prstGeom>
          <a:noFill/>
          <a:ln/>
        </p:spPr>
        <p:txBody>
          <a:bodyPr wrap="square" lIns="0" tIns="0" rIns="0" bIns="0" rtlCol="0" anchor="ctr"/>
          <a:lstStyle/>
          <a:p>
            <a:pPr indent="0" marL="0">
              <a:buNone/>
            </a:pPr>
            <a:r>
              <a:rPr lang="en-US" sz="1300" b="1" dirty="0">
                <a:solidFill>
                  <a:srgbClr val="7B3A8E"/>
                </a:solidFill>
              </a:rPr>
              <a:t>Next lesson  </a:t>
            </a:r>
            <a:pPr indent="0" marL="0">
              <a:buNone/>
            </a:pPr>
            <a:r>
              <a:rPr lang="en-US" sz="1300" dirty="0">
                <a:solidFill>
                  <a:srgbClr val="141B26"/>
                </a:solidFill>
              </a:rPr>
              <a:t>Ecology: how scientists estimate how many organisms live in an area, and how they are spread out.</a:t>
            </a:r>
            <a:endParaRPr lang="en-US" sz="13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Year 9 Science">
  <a:themeElements>
    <a:clrScheme name="Year 9 Science">
      <a:dk1>
        <a:srgbClr val="141B26"/>
      </a:dk1>
      <a:lt1>
        <a:srgbClr val="FFFFFF"/>
      </a:lt1>
      <a:dk2>
        <a:srgbClr val="0F2A5F"/>
      </a:dk2>
      <a:lt2>
        <a:srgbClr val="EEF1F5"/>
      </a:lt2>
      <a:accent1>
        <a:srgbClr val="7B3A8E"/>
      </a:accent1>
      <a:accent2>
        <a:srgbClr val="F2CE3E"/>
      </a:accent2>
      <a:accent3>
        <a:srgbClr val="5B6574"/>
      </a:accent3>
      <a:accent4>
        <a:srgbClr val="D5DBE3"/>
      </a:accent4>
      <a:accent5>
        <a:srgbClr val="F1E5F4"/>
      </a:accent5>
      <a:accent6>
        <a:srgbClr val="1E7DB0"/>
      </a:accent6>
      <a:hlink>
        <a:srgbClr val="1E7DB0"/>
      </a:hlink>
      <a:folHlink>
        <a:srgbClr val="7B3A8E"/>
      </a:folHlink>
    </a:clrScheme>
    <a:fontScheme name="Year 9 Scie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9C Lesson 5: Medians and quartiles</dc:title>
  <dc:subject>PptxGenJS Presentation</dc:subject>
  <dc:creator>Year 9 Science</dc:creator>
  <cp:lastModifiedBy>Year 9 Science</cp:lastModifiedBy>
  <cp:revision>1</cp:revision>
  <dcterms:created xsi:type="dcterms:W3CDTF">2026-10-28T01:49:10Z</dcterms:created>
  <dcterms:modified xsi:type="dcterms:W3CDTF">2026-10-28T01:49:10Z</dcterms:modified>
</cp:coreProperties>
</file>