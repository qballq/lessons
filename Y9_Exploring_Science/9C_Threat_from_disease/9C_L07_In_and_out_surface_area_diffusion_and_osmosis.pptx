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lesson of 9C. It brings together diffusion (Year 7), surface area and osmosis, and ends with the Combatting pandemics review. If you can, cut and measure the potato strips and put them into the two liquids right after the Do Now, so they have 25 minutes to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Surface area 6 x 1 cm2 = 6 cm2; volume 1 cm3; oxygen. If strips are being set up now, one student per group measures the length of each strip (mm) and records it in Core 3 before the strips go into the liquids.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The Chinese key words version has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 intestine absorbs digested food into the blood by diffusion. Villi (finger-like folds) give it a large surface area. Tropical sprue flattens them, so far less food and fewer vitamins diffuse into the blood: the soldiers developed deficiency diseases such as anaemia (too little vitamin B12).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cm cube: 6 cm2 / 1 cm3 = 6:1. 2 cm cube: 24 / 8 = 3:1. 3 cm cube: 54 / 27 = 2:1. The volume grows faster than the surface. Ask: which cube has the most surface for each cm3 inside? (The smallest.) Cuboid formula for the worksheet: SA = 2(l x h) + 2(l x w) + 2(w x h); V = l x w 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unicellular organisms split in two when they reach a certain size, because their SA:V ratio would otherwise become too small for diffusion to supply the inside. The anteater calculation is in the Challenge: ants per gram of body mass.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Particles never stop moving; once they are evenly spread there is no net movement, but diffusion of individual particles continues. Link: oxygen diffuses out of a leaf faster on a hot day (faster particles) and a windy day (the wind removes oxygen from outside the leaf, keeping the concentration gradient steep).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 X is dilute (more water molecules), side Y is concentrated. Water moves both ways, but more goes from X to Y, so the level on Y rises. Like diffusion, osmosis is faster when warmer and with a bigger concentration difference. Cell membranes are partially permeable: a cell in pure water gains water; a cell in strong salt solution loses it (the potato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three lines aloud. Groups that are not confident with knives use pre-cut strips. Keep the tubes labelled W (water) and S (salt).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the strip in water gets slightly longer, heavier and firmer (water enters the cells by osmosis); the strip in salt solution gets shorter, lighter and floppy (water leaves the cells). If time is short, measure at the start of the exit ticket. The plasmolysis photo on the worksheet shows the same thing in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A, D, B, B, C, C. These are the six questions on Workbook page 38. Students correct any errors using the Student Book and their notes, then explain the correction to a partner.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 pandemic is a disease spreading across the whole world. An infected person can fly to another country before symptoms appear, so the pathogen reaches many countries and millions of people within days; the chain of infection is long and fast. Slowing it: testing travellers, quarantine, vaccination, hygiene, reducing travel during outbreaks.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the diffusion of water molecules through a partially permeable membrane from where there are more water molecules to where there are fewer; 24 : 8 = 3 : 1; an infected person can travel to another country before they know they are ill, carrying the pathogen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36 to 38 (9Ce In and out; Combatting pandemics). Collect the potato results if they were measured 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9C Threat from disease  |  Lesson 7: In and out: surface area, diffusion and osmosis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9C Threat from disease  |  Lesson 7: In and out: surface area, diffusion and osmosis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9C Threat from disease  |  Lesson 7: In and out: surface area, diffusion and osmosis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9C Threat from disease  |  Lesson 7: In and out: surface area, diffusion and osmosis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9C THREAT FROM DISEASE  ·  LESSON 7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In and out: surface area, diffusion and osmosis</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How do substances get into and out of cells, and why does size matter?</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50 to 52  ·  Workbook pages 36 to 38</a:t>
            </a:r>
            <a:endParaRPr lang="en-US" sz="1400" dirty="0"/>
          </a:p>
        </p:txBody>
      </p:sp>
      <p:pic>
        <p:nvPicPr>
          <p:cNvPr id="6" name="Image 0" descr="/home/user/lessons/Y9_Exploring_Science/images/villi.jpg">    </p:cNvPr>
          <p:cNvPicPr>
            <a:picLocks noChangeAspect="1"/>
          </p:cNvPicPr>
          <p:nvPr/>
        </p:nvPicPr>
        <p:blipFill>
          <a:blip r:embed="rId1"/>
          <a:stretch>
            <a:fillRect/>
          </a:stretch>
        </p:blipFill>
        <p:spPr>
          <a:xfrm>
            <a:off x="8930640" y="4572000"/>
            <a:ext cx="2438400"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a 1 cm cube</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96926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A cube has sides of 1 cm.</a:t>
            </a:r>
            <a:endParaRPr lang="en-US" sz="2400" dirty="0"/>
          </a:p>
          <a:p>
            <a:pPr indent="0" marL="0">
              <a:spcAft>
                <a:spcPts val="1200"/>
              </a:spcAft>
              <a:buNone/>
            </a:pPr>
            <a:r>
              <a:rPr lang="en-US" sz="2400" dirty="0">
                <a:solidFill>
                  <a:srgbClr val="141B26"/>
                </a:solidFill>
              </a:rPr>
              <a:t>1. Calculate its surface area. (It has 6 faces.)</a:t>
            </a:r>
            <a:endParaRPr lang="en-US" sz="2400" dirty="0"/>
          </a:p>
          <a:p>
            <a:pPr indent="0" marL="0">
              <a:spcAft>
                <a:spcPts val="1200"/>
              </a:spcAft>
              <a:buNone/>
            </a:pPr>
            <a:r>
              <a:rPr lang="en-US" sz="2400" dirty="0">
                <a:solidFill>
                  <a:srgbClr val="141B26"/>
                </a:solidFill>
              </a:rPr>
              <a:t>2. Calculate its volume.</a:t>
            </a:r>
            <a:endParaRPr lang="en-US" sz="2400" dirty="0"/>
          </a:p>
          <a:p>
            <a:pPr indent="0" marL="0">
              <a:spcAft>
                <a:spcPts val="1200"/>
              </a:spcAft>
              <a:buNone/>
            </a:pPr>
            <a:r>
              <a:rPr lang="en-US" sz="2400" dirty="0">
                <a:solidFill>
                  <a:srgbClr val="141B26"/>
                </a:solidFill>
              </a:rPr>
              <a:t>3. Which gas diffuses into cells so they can respire?</a:t>
            </a:r>
            <a:endParaRPr lang="en-US" sz="2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calculate a surface area : volume ratio and explain why it matters for cells and organisms.</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describe how osmosis happens through a partially permeable membrane and use it to explain what I see.</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surface area</a:t>
            </a:r>
            <a:endParaRPr lang="en-US" sz="2100" dirty="0"/>
          </a:p>
          <a:p>
            <a:pPr marL="304800" indent="-304800">
              <a:spcAft>
                <a:spcPts val="600"/>
              </a:spcAft>
              <a:buSzPct val="100000"/>
              <a:buChar char="•"/>
            </a:pPr>
            <a:r>
              <a:rPr lang="en-US" sz="2100" b="1" dirty="0">
                <a:solidFill>
                  <a:srgbClr val="0F2A5F"/>
                </a:solidFill>
              </a:rPr>
              <a:t>volume</a:t>
            </a:r>
            <a:endParaRPr lang="en-US" sz="2100" dirty="0"/>
          </a:p>
          <a:p>
            <a:pPr marL="304800" indent="-304800">
              <a:spcAft>
                <a:spcPts val="600"/>
              </a:spcAft>
              <a:buSzPct val="100000"/>
              <a:buChar char="•"/>
            </a:pPr>
            <a:r>
              <a:rPr lang="en-US" sz="2100" b="1" dirty="0">
                <a:solidFill>
                  <a:srgbClr val="0F2A5F"/>
                </a:solidFill>
              </a:rPr>
              <a:t>ratio</a:t>
            </a:r>
            <a:endParaRPr lang="en-US" sz="2100" dirty="0"/>
          </a:p>
          <a:p>
            <a:pPr marL="304800" indent="-304800">
              <a:spcAft>
                <a:spcPts val="600"/>
              </a:spcAft>
              <a:buSzPct val="100000"/>
              <a:buChar char="•"/>
            </a:pPr>
            <a:r>
              <a:rPr lang="en-US" sz="2100" b="1" dirty="0">
                <a:solidFill>
                  <a:srgbClr val="0F2A5F"/>
                </a:solidFill>
              </a:rPr>
              <a:t>diffusion</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1800" b="1" dirty="0">
                <a:solidFill>
                  <a:srgbClr val="0F2A5F"/>
                </a:solidFill>
              </a:rPr>
              <a:t>concentration gradient</a:t>
            </a:r>
            <a:endParaRPr lang="en-US" sz="1800" dirty="0"/>
          </a:p>
          <a:p>
            <a:pPr marL="304800" indent="-304800">
              <a:spcAft>
                <a:spcPts val="600"/>
              </a:spcAft>
              <a:buSzPct val="100000"/>
              <a:buChar char="•"/>
            </a:pPr>
            <a:r>
              <a:rPr lang="en-US" sz="1800" b="1" dirty="0">
                <a:solidFill>
                  <a:srgbClr val="0F2A5F"/>
                </a:solidFill>
              </a:rPr>
              <a:t>osmosis</a:t>
            </a:r>
            <a:endParaRPr lang="en-US" sz="1800" dirty="0"/>
          </a:p>
          <a:p>
            <a:pPr marL="304800" indent="-304800">
              <a:spcAft>
                <a:spcPts val="600"/>
              </a:spcAft>
              <a:buSzPct val="100000"/>
              <a:buChar char="•"/>
            </a:pPr>
            <a:r>
              <a:rPr lang="en-US" sz="1800" b="1" dirty="0">
                <a:solidFill>
                  <a:srgbClr val="0F2A5F"/>
                </a:solidFill>
              </a:rPr>
              <a:t>partially permeable membrane</a:t>
            </a:r>
            <a:endParaRPr lang="en-US" sz="1800" dirty="0"/>
          </a:p>
          <a:p>
            <a:pPr marL="304800" indent="-304800">
              <a:spcAft>
                <a:spcPts val="600"/>
              </a:spcAft>
              <a:buSzPct val="100000"/>
              <a:buChar char="•"/>
            </a:pPr>
            <a:r>
              <a:rPr lang="en-US" sz="1800" b="1" dirty="0">
                <a:solidFill>
                  <a:srgbClr val="0F2A5F"/>
                </a:solidFill>
              </a:rPr>
              <a:t>cell membrane</a:t>
            </a:r>
            <a:endParaRPr lang="en-US" sz="18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unicellular</a:t>
            </a:r>
            <a:endParaRPr lang="en-US" sz="2200" dirty="0"/>
          </a:p>
          <a:p>
            <a:pPr marL="304800" indent="-304800">
              <a:spcAft>
                <a:spcPts val="600"/>
              </a:spcAft>
              <a:buSzPct val="100000"/>
              <a:buChar char="•"/>
            </a:pPr>
            <a:r>
              <a:rPr lang="en-US" sz="2200" b="1" dirty="0">
                <a:solidFill>
                  <a:srgbClr val="0F2A5F"/>
                </a:solidFill>
              </a:rPr>
              <a:t>villi</a:t>
            </a:r>
            <a:endParaRPr lang="en-US" sz="2200" dirty="0"/>
          </a:p>
          <a:p>
            <a:pPr marL="304800" indent="-304800">
              <a:spcAft>
                <a:spcPts val="600"/>
              </a:spcAft>
              <a:buSzPct val="100000"/>
              <a:buChar char="•"/>
            </a:pPr>
            <a:r>
              <a:rPr lang="en-US" sz="2200" b="1" dirty="0">
                <a:solidFill>
                  <a:srgbClr val="0F2A5F"/>
                </a:solidFill>
              </a:rPr>
              <a:t>pandemic</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 deadly flat surface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5394960" cy="2651760"/>
          </a:xfrm>
          <a:prstGeom prst="rect">
            <a:avLst/>
          </a:prstGeom>
          <a:noFill/>
          <a:ln/>
        </p:spPr>
        <p:txBody>
          <a:bodyPr wrap="square" lIns="0" tIns="0" rIns="0" bIns="0" rtlCol="0" anchor="t"/>
          <a:lstStyle/>
          <a:p>
            <a:pPr indent="0" marL="0">
              <a:buNone/>
            </a:pPr>
            <a:r>
              <a:rPr lang="en-US" sz="2400" b="1" dirty="0">
                <a:solidFill>
                  <a:srgbClr val="0F2A5F"/>
                </a:solidFill>
              </a:rPr>
              <a:t>In the Second World War, one in six Allied soldiers who died in the tropics was killed by tropical sprue, a disease that flattens the lining of the small intestine. Why would a flatter lining be deadly?</a:t>
            </a:r>
            <a:endParaRPr lang="en-US" sz="2400" dirty="0"/>
          </a:p>
        </p:txBody>
      </p:sp>
      <p:sp>
        <p:nvSpPr>
          <p:cNvPr id="6" name="Text 4"/>
          <p:cNvSpPr txBox="1"/>
          <p:nvPr/>
        </p:nvSpPr>
        <p:spPr>
          <a:xfrm>
            <a:off x="548640" y="4114800"/>
            <a:ext cx="539496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Talk to a partner: what does the small intestine do, and how does a flat lining stop it?</a:t>
            </a:r>
            <a:endParaRPr lang="en-US" sz="2000" dirty="0"/>
          </a:p>
        </p:txBody>
      </p:sp>
      <p:pic>
        <p:nvPicPr>
          <p:cNvPr id="7" name="Image 0" descr="/home/user/lessons/Y9_Exploring_Science/images/villi.jpg">    </p:cNvPr>
          <p:cNvPicPr>
            <a:picLocks noChangeAspect="1"/>
          </p:cNvPicPr>
          <p:nvPr/>
        </p:nvPicPr>
        <p:blipFill>
          <a:blip r:embed="rId1"/>
          <a:stretch>
            <a:fillRect/>
          </a:stretch>
        </p:blipFill>
        <p:spPr>
          <a:xfrm>
            <a:off x="6309360" y="1394460"/>
            <a:ext cx="5303520" cy="3977640"/>
          </a:xfrm>
          <a:prstGeom prst="rect">
            <a:avLst/>
          </a:prstGeom>
        </p:spPr>
      </p:pic>
      <p:sp>
        <p:nvSpPr>
          <p:cNvPr id="8" name="Text 5"/>
          <p:cNvSpPr txBox="1"/>
          <p:nvPr/>
        </p:nvSpPr>
        <p:spPr>
          <a:xfrm>
            <a:off x="6309360" y="5417820"/>
            <a:ext cx="5303520" cy="548640"/>
          </a:xfrm>
          <a:prstGeom prst="rect">
            <a:avLst/>
          </a:prstGeom>
          <a:noFill/>
          <a:ln/>
        </p:spPr>
        <p:txBody>
          <a:bodyPr wrap="square" lIns="0" tIns="0" rIns="0" bIns="0" rtlCol="0" anchor="t"/>
          <a:lstStyle/>
          <a:p>
            <a:pPr algn="l" indent="0" marL="0">
              <a:buNone/>
            </a:pPr>
            <a:r>
              <a:rPr lang="en-US" sz="1300" dirty="0">
                <a:solidFill>
                  <a:srgbClr val="141B26"/>
                </a:solidFill>
              </a:rPr>
              <a:t>Villi lining the small intestine (microscope view)</a:t>
            </a:r>
            <a:pPr algn="l" indent="0" marL="0">
              <a:buNone/>
            </a:pPr>
            <a:endParaRPr lang="en-US" sz="1300" dirty="0"/>
          </a:p>
          <a:p>
            <a:pPr algn="l" indent="0" marL="0">
              <a:buNone/>
            </a:pPr>
            <a:r>
              <a:rPr lang="en-US" sz="900" dirty="0">
                <a:solidFill>
                  <a:srgbClr val="5B6574"/>
                </a:solidFill>
              </a:rPr>
              <a:t>Image: euthman, CC BY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Surface area : volume ratio</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800" dirty="0">
                <a:solidFill>
                  <a:srgbClr val="141B26"/>
                </a:solidFill>
              </a:rPr>
              <a:t>Surface area / volume gives the SA:V ratio. Compare the three cubes.</a:t>
            </a:r>
            <a:endParaRPr lang="en-US" sz="1800" dirty="0"/>
          </a:p>
        </p:txBody>
      </p:sp>
      <p:pic>
        <p:nvPicPr>
          <p:cNvPr id="6" name="Image 0" descr="/home/user/lessons/Y9_Exploring_Science/source/diagrams/sa_v_cubes.png">    </p:cNvPr>
          <p:cNvPicPr>
            <a:picLocks noChangeAspect="1"/>
          </p:cNvPicPr>
          <p:nvPr/>
        </p:nvPicPr>
        <p:blipFill>
          <a:blip r:embed="rId1"/>
          <a:stretch>
            <a:fillRect/>
          </a:stretch>
        </p:blipFill>
        <p:spPr>
          <a:xfrm>
            <a:off x="2139215" y="1737360"/>
            <a:ext cx="7700211"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As an object gets bigger, its surface area : volume ratio gets smaller.</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Why the ratio matters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unicellular   ·   villi   ·   surface area</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1900" dirty="0">
                <a:solidFill>
                  <a:srgbClr val="141B26"/>
                </a:solidFill>
              </a:rPr>
              <a:t>A unicellular organism has enough surface for diffusion to supply its whole volume.</a:t>
            </a:r>
            <a:endParaRPr lang="en-US" sz="1900" dirty="0"/>
          </a:p>
          <a:p>
            <a:pPr marL="304800" indent="-304800">
              <a:spcAft>
                <a:spcPts val="800"/>
              </a:spcAft>
              <a:buSzPct val="100000"/>
              <a:buChar char="•"/>
            </a:pPr>
            <a:r>
              <a:rPr lang="en-US" sz="1900" dirty="0">
                <a:solidFill>
                  <a:srgbClr val="141B26"/>
                </a:solidFill>
              </a:rPr>
              <a:t>Large organisms have too little outside surface, so they have organs with large surface areas (villi, lungs, leaves) and transport systems.</a:t>
            </a:r>
            <a:endParaRPr lang="en-US" sz="1900" dirty="0"/>
          </a:p>
          <a:p>
            <a:pPr marL="304800" indent="-304800">
              <a:spcAft>
                <a:spcPts val="800"/>
              </a:spcAft>
              <a:buSzPct val="100000"/>
              <a:buChar char="•"/>
            </a:pPr>
            <a:r>
              <a:rPr lang="en-US" sz="1900" dirty="0">
                <a:solidFill>
                  <a:srgbClr val="141B26"/>
                </a:solidFill>
              </a:rPr>
              <a:t>Small animals have a larger SA:V ratio, so they lose energy (cool down) faster and must eat more for their size.</a:t>
            </a:r>
            <a:endParaRPr lang="en-US" sz="1900" dirty="0"/>
          </a:p>
          <a:p>
            <a:pPr marL="304800" indent="-304800">
              <a:spcAft>
                <a:spcPts val="800"/>
              </a:spcAft>
              <a:buSzPct val="100000"/>
              <a:buChar char="•"/>
            </a:pPr>
            <a:r>
              <a:rPr lang="en-US" sz="1900" dirty="0">
                <a:solidFill>
                  <a:srgbClr val="141B26"/>
                </a:solidFill>
              </a:rPr>
              <a:t>A silky anteater (under 400 g) eats up to 5000 ants a day; a giant anteater (40 kg) eats 30 000.</a:t>
            </a:r>
            <a:endParaRPr lang="en-US" sz="1900" dirty="0"/>
          </a:p>
        </p:txBody>
      </p:sp>
      <p:pic>
        <p:nvPicPr>
          <p:cNvPr id="7" name="Image 0" descr="/home/user/lessons/Y9_Exploring_Science/images/giant_anteater.jpg">    </p:cNvPr>
          <p:cNvPicPr>
            <a:picLocks noChangeAspect="1"/>
          </p:cNvPicPr>
          <p:nvPr/>
        </p:nvPicPr>
        <p:blipFill>
          <a:blip r:embed="rId1"/>
          <a:stretch>
            <a:fillRect/>
          </a:stretch>
        </p:blipFill>
        <p:spPr>
          <a:xfrm>
            <a:off x="6659880" y="1280160"/>
            <a:ext cx="4876800" cy="3657600"/>
          </a:xfrm>
          <a:prstGeom prst="rect">
            <a:avLst/>
          </a:prstGeom>
        </p:spPr>
      </p:pic>
      <p:sp>
        <p:nvSpPr>
          <p:cNvPr id="8" name="Text 5"/>
          <p:cNvSpPr txBox="1"/>
          <p:nvPr/>
        </p:nvSpPr>
        <p:spPr>
          <a:xfrm>
            <a:off x="6583680" y="4983480"/>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A giant anteater (about 40 kg)</a:t>
            </a:r>
            <a:pPr algn="l" indent="0" marL="0">
              <a:buNone/>
            </a:pPr>
            <a:endParaRPr lang="en-US" sz="1300" dirty="0"/>
          </a:p>
          <a:p>
            <a:pPr algn="l" indent="0" marL="0">
              <a:buNone/>
            </a:pPr>
            <a:r>
              <a:rPr lang="en-US" sz="900" dirty="0">
                <a:solidFill>
                  <a:srgbClr val="5B6574"/>
                </a:solidFill>
              </a:rPr>
              <a:t>Image: D-Stanley, CC BY 2.0,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Large surface area : volume ratio = fast exchange with the surroundings.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Diffusion: a reminder</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500" dirty="0">
                <a:solidFill>
                  <a:srgbClr val="141B26"/>
                </a:solidFill>
              </a:rPr>
              <a:t>All particles move randomly. Where there is a concentration gradient, more particles move from the higher concentration to the lower than the other way.</a:t>
            </a:r>
            <a:endParaRPr lang="en-US" sz="1500" dirty="0"/>
          </a:p>
        </p:txBody>
      </p:sp>
      <p:pic>
        <p:nvPicPr>
          <p:cNvPr id="6" name="Image 0" descr="/home/user/lessons/Y9_Exploring_Science/source/diagrams/diffusion_gradient.png">    </p:cNvPr>
          <p:cNvPicPr>
            <a:picLocks noChangeAspect="1"/>
          </p:cNvPicPr>
          <p:nvPr/>
        </p:nvPicPr>
        <p:blipFill>
          <a:blip r:embed="rId1"/>
          <a:stretch>
            <a:fillRect/>
          </a:stretch>
        </p:blipFill>
        <p:spPr>
          <a:xfrm>
            <a:off x="1112520" y="1737360"/>
            <a:ext cx="9753600"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Diffusion is faster when it is warmer and when the concentration difference is bigger.</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Osmosis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500" dirty="0">
                <a:solidFill>
                  <a:srgbClr val="141B26"/>
                </a:solidFill>
              </a:rPr>
              <a:t>Some membranes have tiny holes that let small molecules (water) through but not large ones (sugar). They are partially permeable.</a:t>
            </a:r>
            <a:endParaRPr lang="en-US" sz="1500" dirty="0"/>
          </a:p>
        </p:txBody>
      </p:sp>
      <p:pic>
        <p:nvPicPr>
          <p:cNvPr id="6" name="Image 0" descr="/home/user/lessons/Y9_Exploring_Science/source/diagrams/osmosis_membrane.png">    </p:cNvPr>
          <p:cNvPicPr>
            <a:picLocks noChangeAspect="1"/>
          </p:cNvPicPr>
          <p:nvPr/>
        </p:nvPicPr>
        <p:blipFill>
          <a:blip r:embed="rId1"/>
          <a:stretch>
            <a:fillRect/>
          </a:stretch>
        </p:blipFill>
        <p:spPr>
          <a:xfrm>
            <a:off x="1809206" y="1737360"/>
            <a:ext cx="8360229"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Osmosis is the diffusion of water molecules through a partially permeable membrane, from where there are more water molecules to where there are fewer.</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400" b="1" dirty="0">
                <a:solidFill>
                  <a:srgbClr val="3A2E00"/>
                </a:solidFill>
              </a:rPr>
              <a:t>Safety: potato strips</a:t>
            </a:r>
            <a:endParaRPr lang="en-US" sz="3400" dirty="0"/>
          </a:p>
        </p:txBody>
      </p:sp>
      <p:sp>
        <p:nvSpPr>
          <p:cNvPr id="3" name="Shape 1"/>
          <p:cNvSpPr/>
          <p:nvPr/>
        </p:nvSpPr>
        <p:spPr>
          <a:xfrm>
            <a:off x="10308031" y="411480"/>
            <a:ext cx="1335024" cy="384048"/>
          </a:xfrm>
          <a:prstGeom prst="roundRect">
            <a:avLst>
              <a:gd name="adj" fmla="val 50000"/>
            </a:avLst>
          </a:prstGeom>
          <a:solidFill>
            <a:srgbClr val="3A2E00"/>
          </a:solidFill>
          <a:ln w="12700">
            <a:solidFill>
              <a:srgbClr val="3A2E00"/>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SAFETY</a:t>
            </a:r>
            <a:endParaRPr lang="en-US" sz="1100" dirty="0"/>
          </a:p>
        </p:txBody>
      </p:sp>
      <p:sp>
        <p:nvSpPr>
          <p:cNvPr id="5" name="Text 3"/>
          <p:cNvSpPr txBox="1"/>
          <p:nvPr/>
        </p:nvSpPr>
        <p:spPr>
          <a:xfrm>
            <a:off x="548640" y="1371600"/>
            <a:ext cx="10881360" cy="4572000"/>
          </a:xfrm>
          <a:prstGeom prst="rect">
            <a:avLst/>
          </a:prstGeom>
          <a:noFill/>
          <a:ln/>
        </p:spPr>
        <p:txBody>
          <a:bodyPr wrap="square" lIns="0" tIns="0" rIns="0" bIns="0" rtlCol="0" anchor="t"/>
          <a:lstStyle/>
          <a:p>
            <a:pPr marL="304800" indent="-304800">
              <a:spcAft>
                <a:spcPts val="800"/>
              </a:spcAft>
              <a:buSzPct val="100000"/>
              <a:buChar char="•"/>
            </a:pPr>
            <a:r>
              <a:rPr lang="en-US" sz="2600" dirty="0">
                <a:solidFill>
                  <a:srgbClr val="3A2E00"/>
                </a:solidFill>
              </a:rPr>
              <a:t>Cut potato with a cork borer or knife on a board, cutting away from your fingers, or use the strips your teacher has prepared.</a:t>
            </a:r>
            <a:endParaRPr lang="en-US" sz="2600" dirty="0"/>
          </a:p>
          <a:p>
            <a:pPr marL="304800" indent="-304800">
              <a:spcAft>
                <a:spcPts val="800"/>
              </a:spcAft>
              <a:buSzPct val="100000"/>
              <a:buChar char="•"/>
            </a:pPr>
            <a:r>
              <a:rPr lang="en-US" sz="2600" dirty="0">
                <a:solidFill>
                  <a:srgbClr val="3A2E00"/>
                </a:solidFill>
              </a:rPr>
              <a:t>Salt solution is harmless to touch but slippery on the floor. Wipe up spills at once.</a:t>
            </a:r>
            <a:endParaRPr lang="en-US" sz="2600" dirty="0"/>
          </a:p>
          <a:p>
            <a:pPr marL="304800" indent="-304800">
              <a:spcAft>
                <a:spcPts val="800"/>
              </a:spcAft>
              <a:buSzPct val="100000"/>
              <a:buChar char="•"/>
            </a:pPr>
            <a:r>
              <a:rPr lang="en-US" sz="2600" dirty="0">
                <a:solidFill>
                  <a:srgbClr val="3A2E00"/>
                </a:solidFill>
              </a:rPr>
              <a:t>Do not eat the potato. Wash your hands at the end.</a:t>
            </a:r>
            <a:endParaRPr lang="en-US"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Osmosis in potato strips</a:t>
            </a:r>
            <a:endParaRPr lang="en-US" sz="3000" dirty="0"/>
          </a:p>
        </p:txBody>
      </p:sp>
      <p:sp>
        <p:nvSpPr>
          <p:cNvPr id="3" name="Shape 1"/>
          <p:cNvSpPr/>
          <p:nvPr/>
        </p:nvSpPr>
        <p:spPr>
          <a:xfrm>
            <a:off x="9869119" y="411480"/>
            <a:ext cx="1773936"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869119" y="411480"/>
            <a:ext cx="1773936"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PRACTICAL</a:t>
            </a:r>
            <a:endParaRPr lang="en-US" sz="1100" dirty="0"/>
          </a:p>
        </p:txBody>
      </p:sp>
      <p:sp>
        <p:nvSpPr>
          <p:cNvPr id="5" name="Text 3"/>
          <p:cNvSpPr txBox="1"/>
          <p:nvPr/>
        </p:nvSpPr>
        <p:spPr>
          <a:xfrm>
            <a:off x="548640" y="1280160"/>
            <a:ext cx="10881360" cy="457200"/>
          </a:xfrm>
          <a:prstGeom prst="rect">
            <a:avLst/>
          </a:prstGeom>
          <a:noFill/>
          <a:ln/>
        </p:spPr>
        <p:txBody>
          <a:bodyPr wrap="square" lIns="0" tIns="0" rIns="0" bIns="0" rtlCol="0" anchor="ctr"/>
          <a:lstStyle/>
          <a:p>
            <a:pPr indent="0" marL="0">
              <a:buNone/>
            </a:pPr>
            <a:r>
              <a:rPr lang="en-US" sz="1800" b="1" dirty="0">
                <a:solidFill>
                  <a:srgbClr val="7B3A8E"/>
                </a:solidFill>
              </a:rPr>
              <a:t>Aim  </a:t>
            </a:r>
            <a:pPr indent="0" marL="0">
              <a:buNone/>
            </a:pPr>
            <a:r>
              <a:rPr lang="en-US" sz="1800" dirty="0">
                <a:solidFill>
                  <a:srgbClr val="141B26"/>
                </a:solidFill>
              </a:rPr>
              <a:t>Find out what happens to potato tissue in pure water and in strong salt solution.</a:t>
            </a:r>
            <a:endParaRPr lang="en-US" sz="1800" dirty="0"/>
          </a:p>
        </p:txBody>
      </p:sp>
      <p:sp>
        <p:nvSpPr>
          <p:cNvPr id="6" name="Text 4"/>
          <p:cNvSpPr txBox="1"/>
          <p:nvPr/>
        </p:nvSpPr>
        <p:spPr>
          <a:xfrm>
            <a:off x="548640" y="1828800"/>
            <a:ext cx="4023360" cy="365760"/>
          </a:xfrm>
          <a:prstGeom prst="rect">
            <a:avLst/>
          </a:prstGeom>
          <a:noFill/>
          <a:ln/>
        </p:spPr>
        <p:txBody>
          <a:bodyPr wrap="square" lIns="0" tIns="0" rIns="0" bIns="0" rtlCol="0" anchor="ctr"/>
          <a:lstStyle/>
          <a:p>
            <a:pPr indent="0" marL="0">
              <a:buNone/>
            </a:pPr>
            <a:r>
              <a:rPr lang="en-US" sz="1800" b="1" dirty="0">
                <a:solidFill>
                  <a:srgbClr val="0F2A5F"/>
                </a:solidFill>
              </a:rPr>
              <a:t>Equipment</a:t>
            </a:r>
            <a:endParaRPr lang="en-US" sz="1800" dirty="0"/>
          </a:p>
        </p:txBody>
      </p:sp>
      <p:sp>
        <p:nvSpPr>
          <p:cNvPr id="7" name="Text 5"/>
          <p:cNvSpPr txBox="1"/>
          <p:nvPr/>
        </p:nvSpPr>
        <p:spPr>
          <a:xfrm>
            <a:off x="548640" y="2240280"/>
            <a:ext cx="4023360" cy="3200400"/>
          </a:xfrm>
          <a:prstGeom prst="rect">
            <a:avLst/>
          </a:prstGeom>
          <a:noFill/>
          <a:ln/>
        </p:spPr>
        <p:txBody>
          <a:bodyPr wrap="square" lIns="0" tIns="0" rIns="0" bIns="0" rtlCol="0" anchor="t"/>
          <a:lstStyle/>
          <a:p>
            <a:pPr marL="304800" indent="-304800">
              <a:spcAft>
                <a:spcPts val="800"/>
              </a:spcAft>
              <a:buSzPct val="100000"/>
              <a:buChar char="•"/>
            </a:pPr>
            <a:r>
              <a:rPr lang="en-US" sz="1600" dirty="0">
                <a:solidFill>
                  <a:srgbClr val="141B26"/>
                </a:solidFill>
              </a:rPr>
              <a:t>two potato strips of equal size</a:t>
            </a:r>
            <a:endParaRPr lang="en-US" sz="1600" dirty="0"/>
          </a:p>
          <a:p>
            <a:pPr marL="304800" indent="-304800">
              <a:spcAft>
                <a:spcPts val="800"/>
              </a:spcAft>
              <a:buSzPct val="100000"/>
              <a:buChar char="•"/>
            </a:pPr>
            <a:r>
              <a:rPr lang="en-US" sz="1600" dirty="0">
                <a:solidFill>
                  <a:srgbClr val="141B26"/>
                </a:solidFill>
              </a:rPr>
              <a:t>two tubes or beakers, labelled W and S</a:t>
            </a:r>
            <a:endParaRPr lang="en-US" sz="1600" dirty="0"/>
          </a:p>
          <a:p>
            <a:pPr marL="304800" indent="-304800">
              <a:spcAft>
                <a:spcPts val="800"/>
              </a:spcAft>
              <a:buSzPct val="100000"/>
              <a:buChar char="•"/>
            </a:pPr>
            <a:r>
              <a:rPr lang="en-US" sz="1600" dirty="0">
                <a:solidFill>
                  <a:srgbClr val="141B26"/>
                </a:solidFill>
              </a:rPr>
              <a:t>pure water and strong salt solution</a:t>
            </a:r>
            <a:endParaRPr lang="en-US" sz="1600" dirty="0"/>
          </a:p>
          <a:p>
            <a:pPr marL="304800" indent="-304800">
              <a:spcAft>
                <a:spcPts val="800"/>
              </a:spcAft>
              <a:buSzPct val="100000"/>
              <a:buChar char="•"/>
            </a:pPr>
            <a:r>
              <a:rPr lang="en-US" sz="1600" dirty="0">
                <a:solidFill>
                  <a:srgbClr val="141B26"/>
                </a:solidFill>
              </a:rPr>
              <a:t>ruler (mm), paper towel, optional balance</a:t>
            </a:r>
            <a:endParaRPr lang="en-US" sz="1600" dirty="0"/>
          </a:p>
        </p:txBody>
      </p:sp>
      <p:sp>
        <p:nvSpPr>
          <p:cNvPr id="8" name="Text 6"/>
          <p:cNvSpPr txBox="1"/>
          <p:nvPr/>
        </p:nvSpPr>
        <p:spPr>
          <a:xfrm>
            <a:off x="4937760" y="1828800"/>
            <a:ext cx="6675120" cy="365760"/>
          </a:xfrm>
          <a:prstGeom prst="rect">
            <a:avLst/>
          </a:prstGeom>
          <a:noFill/>
          <a:ln/>
        </p:spPr>
        <p:txBody>
          <a:bodyPr wrap="square" lIns="0" tIns="0" rIns="0" bIns="0" rtlCol="0" anchor="ctr"/>
          <a:lstStyle/>
          <a:p>
            <a:pPr indent="0" marL="0">
              <a:buNone/>
            </a:pPr>
            <a:r>
              <a:rPr lang="en-US" sz="1800" b="1" dirty="0">
                <a:solidFill>
                  <a:srgbClr val="0F2A5F"/>
                </a:solidFill>
              </a:rPr>
              <a:t>Method</a:t>
            </a:r>
            <a:endParaRPr lang="en-US" sz="1800" dirty="0"/>
          </a:p>
        </p:txBody>
      </p:sp>
      <p:sp>
        <p:nvSpPr>
          <p:cNvPr id="9" name="Text 7"/>
          <p:cNvSpPr txBox="1"/>
          <p:nvPr/>
        </p:nvSpPr>
        <p:spPr>
          <a:xfrm>
            <a:off x="4937760" y="2240280"/>
            <a:ext cx="6675120" cy="3200400"/>
          </a:xfrm>
          <a:prstGeom prst="rect">
            <a:avLst/>
          </a:prstGeom>
          <a:noFill/>
          <a:ln/>
        </p:spPr>
        <p:txBody>
          <a:bodyPr wrap="square" lIns="0" tIns="0" rIns="0" bIns="0" rtlCol="0" anchor="t"/>
          <a:lstStyle/>
          <a:p>
            <a:pPr marL="342900" indent="-342900">
              <a:spcAft>
                <a:spcPts val="600"/>
              </a:spcAft>
              <a:buSzPct val="100000"/>
              <a:buFont typeface="+mj-lt"/>
              <a:buAutoNum type="arabicPeriod" startAt="1"/>
            </a:pPr>
            <a:r>
              <a:rPr lang="en-US" sz="1600" dirty="0">
                <a:solidFill>
                  <a:srgbClr val="141B26"/>
                </a:solidFill>
              </a:rPr>
              <a:t>Measure the length of each strip to the nearest mm (and the mass, if you have a balance). Record in Core 3.</a:t>
            </a:r>
            <a:endParaRPr lang="en-US" sz="1600" dirty="0"/>
          </a:p>
          <a:p>
            <a:pPr marL="342900" indent="-342900">
              <a:spcAft>
                <a:spcPts val="600"/>
              </a:spcAft>
              <a:buSzPct val="100000"/>
              <a:buFont typeface="+mj-lt"/>
              <a:buAutoNum type="arabicPeriod" startAt="1"/>
            </a:pPr>
            <a:r>
              <a:rPr lang="en-US" sz="1600" dirty="0">
                <a:solidFill>
                  <a:srgbClr val="141B26"/>
                </a:solidFill>
              </a:rPr>
              <a:t>Put strip A into water (W) and strip B into salt solution (S). Note the time.</a:t>
            </a:r>
            <a:endParaRPr lang="en-US" sz="1600" dirty="0"/>
          </a:p>
          <a:p>
            <a:pPr marL="342900" indent="-342900">
              <a:spcAft>
                <a:spcPts val="600"/>
              </a:spcAft>
              <a:buSzPct val="100000"/>
              <a:buFont typeface="+mj-lt"/>
              <a:buAutoNum type="arabicPeriod" startAt="1"/>
            </a:pPr>
            <a:r>
              <a:rPr lang="en-US" sz="1600" dirty="0">
                <a:solidFill>
                  <a:srgbClr val="141B26"/>
                </a:solidFill>
              </a:rPr>
              <a:t>Work on the worksheet while you wait (at least 15 minutes).</a:t>
            </a:r>
            <a:endParaRPr lang="en-US" sz="1600" dirty="0"/>
          </a:p>
          <a:p>
            <a:pPr marL="342900" indent="-342900">
              <a:spcAft>
                <a:spcPts val="600"/>
              </a:spcAft>
              <a:buSzPct val="100000"/>
              <a:buFont typeface="+mj-lt"/>
              <a:buAutoNum type="arabicPeriod" startAt="1"/>
            </a:pPr>
            <a:r>
              <a:rPr lang="en-US" sz="1600" dirty="0">
                <a:solidFill>
                  <a:srgbClr val="141B26"/>
                </a:solidFill>
              </a:rPr>
              <a:t>Take the strips out, blot them gently and measure again.</a:t>
            </a:r>
            <a:endParaRPr lang="en-US" sz="1600" dirty="0"/>
          </a:p>
          <a:p>
            <a:pPr marL="342900" indent="-342900">
              <a:spcAft>
                <a:spcPts val="600"/>
              </a:spcAft>
              <a:buSzPct val="100000"/>
              <a:buFont typeface="+mj-lt"/>
              <a:buAutoNum type="arabicPeriod" startAt="1"/>
            </a:pPr>
            <a:r>
              <a:rPr lang="en-US" sz="1600" dirty="0">
                <a:solidFill>
                  <a:srgbClr val="141B26"/>
                </a:solidFill>
              </a:rPr>
              <a:t>Calculate the change in length (and mass). Feel each strip: firm or floppy?</a:t>
            </a:r>
            <a:endParaRPr lang="en-US" sz="1600" dirty="0"/>
          </a:p>
          <a:p>
            <a:pPr marL="342900" indent="-342900">
              <a:spcAft>
                <a:spcPts val="600"/>
              </a:spcAft>
              <a:buSzPct val="100000"/>
              <a:buFont typeface="+mj-lt"/>
              <a:buAutoNum type="arabicPeriod" startAt="1"/>
            </a:pPr>
            <a:r>
              <a:rPr lang="en-US" sz="1600" dirty="0">
                <a:solidFill>
                  <a:srgbClr val="141B26"/>
                </a:solidFill>
              </a:rPr>
              <a:t>Explain the changes using osmosis and the words partially permeable membrane.</a:t>
            </a:r>
            <a:endParaRPr lang="en-US" sz="1600" dirty="0"/>
          </a:p>
        </p:txBody>
      </p:sp>
      <p:sp>
        <p:nvSpPr>
          <p:cNvPr id="10" name="Shape 8"/>
          <p:cNvSpPr/>
          <p:nvPr/>
        </p:nvSpPr>
        <p:spPr>
          <a:xfrm>
            <a:off x="548640" y="5532120"/>
            <a:ext cx="10881360" cy="502920"/>
          </a:xfrm>
          <a:prstGeom prst="rect">
            <a:avLst/>
          </a:prstGeom>
          <a:solidFill>
            <a:srgbClr val="F2CE3E"/>
          </a:solidFill>
          <a:ln w="12700">
            <a:solidFill>
              <a:srgbClr val="F2CE3E"/>
            </a:solidFill>
            <a:prstDash val="solid"/>
          </a:ln>
        </p:spPr>
      </p:sp>
      <p:sp>
        <p:nvSpPr>
          <p:cNvPr id="11" name="Text 9"/>
          <p:cNvSpPr txBox="1"/>
          <p:nvPr/>
        </p:nvSpPr>
        <p:spPr>
          <a:xfrm>
            <a:off x="685800" y="5532120"/>
            <a:ext cx="10607040" cy="502920"/>
          </a:xfrm>
          <a:prstGeom prst="rect">
            <a:avLst/>
          </a:prstGeom>
          <a:noFill/>
          <a:ln/>
        </p:spPr>
        <p:txBody>
          <a:bodyPr wrap="square" lIns="0" tIns="0" rIns="0" bIns="0" rtlCol="0" anchor="ctr"/>
          <a:lstStyle/>
          <a:p>
            <a:pPr indent="0" marL="0">
              <a:buNone/>
            </a:pPr>
            <a:r>
              <a:rPr lang="en-US" sz="1500" b="1" dirty="0">
                <a:solidFill>
                  <a:srgbClr val="3A2E00"/>
                </a:solidFill>
              </a:rPr>
              <a:t>Safety  </a:t>
            </a:r>
            <a:pPr indent="0" marL="0">
              <a:buNone/>
            </a:pPr>
            <a:r>
              <a:rPr lang="en-US" sz="1500" dirty="0">
                <a:solidFill>
                  <a:srgbClr val="3A2E00"/>
                </a:solidFill>
              </a:rPr>
              <a:t>Knives on a board, cutting away from fingers. Wipe up spills. Wash hands.</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Combatting pandemics: unit review</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Choose A, B, C or D. Then check any wrong answers with the Student Book.</a:t>
            </a:r>
            <a:endParaRPr lang="en-US" sz="1600" dirty="0"/>
          </a:p>
        </p:txBody>
      </p:sp>
      <p:sp>
        <p:nvSpPr>
          <p:cNvPr id="6" name="Shape 4"/>
          <p:cNvSpPr/>
          <p:nvPr/>
        </p:nvSpPr>
        <p:spPr>
          <a:xfrm>
            <a:off x="548640" y="1783080"/>
            <a:ext cx="10881360" cy="576072"/>
          </a:xfrm>
          <a:prstGeom prst="roundRect">
            <a:avLst>
              <a:gd name="adj" fmla="val 12698"/>
            </a:avLst>
          </a:prstGeom>
          <a:solidFill>
            <a:srgbClr val="FFFFFF"/>
          </a:solidFill>
          <a:ln w="12700">
            <a:solidFill>
              <a:srgbClr val="D5DBE3"/>
            </a:solidFill>
            <a:prstDash val="solid"/>
          </a:ln>
        </p:spPr>
      </p:sp>
      <p:sp>
        <p:nvSpPr>
          <p:cNvPr id="7" name="Text 5"/>
          <p:cNvSpPr txBox="1"/>
          <p:nvPr/>
        </p:nvSpPr>
        <p:spPr>
          <a:xfrm>
            <a:off x="731520" y="1783080"/>
            <a:ext cx="10515600" cy="576072"/>
          </a:xfrm>
          <a:prstGeom prst="rect">
            <a:avLst/>
          </a:prstGeom>
          <a:noFill/>
          <a:ln/>
        </p:spPr>
        <p:txBody>
          <a:bodyPr wrap="square" lIns="0" tIns="0" rIns="0" bIns="0" rtlCol="0" anchor="ctr"/>
          <a:lstStyle/>
          <a:p>
            <a:pPr indent="0" marL="0">
              <a:buNone/>
            </a:pPr>
            <a:r>
              <a:rPr lang="en-US" sz="1600" b="1" dirty="0">
                <a:solidFill>
                  <a:srgbClr val="7B3A8E"/>
                </a:solidFill>
              </a:rPr>
              <a:t>Q1  </a:t>
            </a:r>
            <a:pPr indent="0" marL="0">
              <a:buNone/>
            </a:pPr>
            <a:r>
              <a:rPr lang="en-US" sz="1600" dirty="0">
                <a:solidFill>
                  <a:srgbClr val="141B26"/>
                </a:solidFill>
              </a:rPr>
              <a:t>Which disease is caused by a pathogen? A measles  B type 1 diabetes  C cardiovascular disease  D lung cancer</a:t>
            </a:r>
            <a:endParaRPr lang="en-US" sz="1600" dirty="0"/>
          </a:p>
        </p:txBody>
      </p:sp>
      <p:sp>
        <p:nvSpPr>
          <p:cNvPr id="8" name="Shape 6"/>
          <p:cNvSpPr/>
          <p:nvPr/>
        </p:nvSpPr>
        <p:spPr>
          <a:xfrm>
            <a:off x="548640" y="2468880"/>
            <a:ext cx="10881360" cy="576072"/>
          </a:xfrm>
          <a:prstGeom prst="roundRect">
            <a:avLst>
              <a:gd name="adj" fmla="val 12698"/>
            </a:avLst>
          </a:prstGeom>
          <a:solidFill>
            <a:srgbClr val="FFFFFF"/>
          </a:solidFill>
          <a:ln w="12700">
            <a:solidFill>
              <a:srgbClr val="D5DBE3"/>
            </a:solidFill>
            <a:prstDash val="solid"/>
          </a:ln>
        </p:spPr>
      </p:sp>
      <p:sp>
        <p:nvSpPr>
          <p:cNvPr id="9" name="Text 7"/>
          <p:cNvSpPr txBox="1"/>
          <p:nvPr/>
        </p:nvSpPr>
        <p:spPr>
          <a:xfrm>
            <a:off x="731520" y="2468880"/>
            <a:ext cx="10515600" cy="576072"/>
          </a:xfrm>
          <a:prstGeom prst="rect">
            <a:avLst/>
          </a:prstGeom>
          <a:noFill/>
          <a:ln/>
        </p:spPr>
        <p:txBody>
          <a:bodyPr wrap="square" lIns="0" tIns="0" rIns="0" bIns="0" rtlCol="0" anchor="ctr"/>
          <a:lstStyle/>
          <a:p>
            <a:pPr indent="0" marL="0">
              <a:buNone/>
            </a:pPr>
            <a:r>
              <a:rPr lang="en-US" sz="1600" b="1" dirty="0">
                <a:solidFill>
                  <a:srgbClr val="7B3A8E"/>
                </a:solidFill>
              </a:rPr>
              <a:t>Q2  </a:t>
            </a:r>
            <a:pPr indent="0" marL="0">
              <a:buNone/>
            </a:pPr>
            <a:r>
              <a:rPr lang="en-US" sz="1600" dirty="0">
                <a:solidFill>
                  <a:srgbClr val="141B26"/>
                </a:solidFill>
              </a:rPr>
              <a:t>Which cells give immunity to a repeat infection? A phagocytes  B red blood cells  C platelets  D memory lymphocytes</a:t>
            </a:r>
            <a:endParaRPr lang="en-US" sz="1600" dirty="0"/>
          </a:p>
        </p:txBody>
      </p:sp>
      <p:sp>
        <p:nvSpPr>
          <p:cNvPr id="10" name="Shape 8"/>
          <p:cNvSpPr/>
          <p:nvPr/>
        </p:nvSpPr>
        <p:spPr>
          <a:xfrm>
            <a:off x="548640" y="3154680"/>
            <a:ext cx="10881360" cy="576072"/>
          </a:xfrm>
          <a:prstGeom prst="roundRect">
            <a:avLst>
              <a:gd name="adj" fmla="val 12698"/>
            </a:avLst>
          </a:prstGeom>
          <a:solidFill>
            <a:srgbClr val="FFFFFF"/>
          </a:solidFill>
          <a:ln w="12700">
            <a:solidFill>
              <a:srgbClr val="D5DBE3"/>
            </a:solidFill>
            <a:prstDash val="solid"/>
          </a:ln>
        </p:spPr>
      </p:sp>
      <p:sp>
        <p:nvSpPr>
          <p:cNvPr id="11" name="Text 9"/>
          <p:cNvSpPr txBox="1"/>
          <p:nvPr/>
        </p:nvSpPr>
        <p:spPr>
          <a:xfrm>
            <a:off x="731520" y="3154680"/>
            <a:ext cx="10515600" cy="576072"/>
          </a:xfrm>
          <a:prstGeom prst="rect">
            <a:avLst/>
          </a:prstGeom>
          <a:noFill/>
          <a:ln/>
        </p:spPr>
        <p:txBody>
          <a:bodyPr wrap="square" lIns="0" tIns="0" rIns="0" bIns="0" rtlCol="0" anchor="ctr"/>
          <a:lstStyle/>
          <a:p>
            <a:pPr indent="0" marL="0">
              <a:buNone/>
            </a:pPr>
            <a:r>
              <a:rPr lang="en-US" sz="1600" b="1" dirty="0">
                <a:solidFill>
                  <a:srgbClr val="7B3A8E"/>
                </a:solidFill>
              </a:rPr>
              <a:t>Q3  </a:t>
            </a:r>
            <a:pPr indent="0" marL="0">
              <a:buNone/>
            </a:pPr>
            <a:r>
              <a:rPr lang="en-US" sz="1600" dirty="0">
                <a:solidFill>
                  <a:srgbClr val="141B26"/>
                </a:solidFill>
              </a:rPr>
              <a:t>Which part of the nervous system contains receptor cells? A brain  B sense organ  C spinal cord  D effector</a:t>
            </a:r>
            <a:endParaRPr lang="en-US" sz="1600" dirty="0"/>
          </a:p>
        </p:txBody>
      </p:sp>
      <p:sp>
        <p:nvSpPr>
          <p:cNvPr id="12" name="Shape 10"/>
          <p:cNvSpPr/>
          <p:nvPr/>
        </p:nvSpPr>
        <p:spPr>
          <a:xfrm>
            <a:off x="548640" y="3840480"/>
            <a:ext cx="10881360" cy="576072"/>
          </a:xfrm>
          <a:prstGeom prst="roundRect">
            <a:avLst>
              <a:gd name="adj" fmla="val 12698"/>
            </a:avLst>
          </a:prstGeom>
          <a:solidFill>
            <a:srgbClr val="FFFFFF"/>
          </a:solidFill>
          <a:ln w="12700">
            <a:solidFill>
              <a:srgbClr val="D5DBE3"/>
            </a:solidFill>
            <a:prstDash val="solid"/>
          </a:ln>
        </p:spPr>
      </p:sp>
      <p:sp>
        <p:nvSpPr>
          <p:cNvPr id="13" name="Text 11"/>
          <p:cNvSpPr txBox="1"/>
          <p:nvPr/>
        </p:nvSpPr>
        <p:spPr>
          <a:xfrm>
            <a:off x="731520" y="3840480"/>
            <a:ext cx="10515600" cy="576072"/>
          </a:xfrm>
          <a:prstGeom prst="rect">
            <a:avLst/>
          </a:prstGeom>
          <a:noFill/>
          <a:ln/>
        </p:spPr>
        <p:txBody>
          <a:bodyPr wrap="square" lIns="0" tIns="0" rIns="0" bIns="0" rtlCol="0" anchor="ctr"/>
          <a:lstStyle/>
          <a:p>
            <a:pPr indent="0" marL="0">
              <a:buNone/>
            </a:pPr>
            <a:r>
              <a:rPr lang="en-US" sz="1600" b="1" dirty="0">
                <a:solidFill>
                  <a:srgbClr val="7B3A8E"/>
                </a:solidFill>
              </a:rPr>
              <a:t>Q4  </a:t>
            </a:r>
            <a:pPr indent="0" marL="0">
              <a:buNone/>
            </a:pPr>
            <a:r>
              <a:rPr lang="en-US" sz="1600" dirty="0">
                <a:solidFill>
                  <a:srgbClr val="141B26"/>
                </a:solidFill>
              </a:rPr>
              <a:t>Which word describes a chemical messenger in the body? A enzyme  B hormone  C carbohydrate  D lipid</a:t>
            </a:r>
            <a:endParaRPr lang="en-US" sz="1600" dirty="0"/>
          </a:p>
        </p:txBody>
      </p:sp>
      <p:sp>
        <p:nvSpPr>
          <p:cNvPr id="14" name="Shape 12"/>
          <p:cNvSpPr/>
          <p:nvPr/>
        </p:nvSpPr>
        <p:spPr>
          <a:xfrm>
            <a:off x="548640" y="4526280"/>
            <a:ext cx="10881360" cy="576072"/>
          </a:xfrm>
          <a:prstGeom prst="roundRect">
            <a:avLst>
              <a:gd name="adj" fmla="val 12698"/>
            </a:avLst>
          </a:prstGeom>
          <a:solidFill>
            <a:srgbClr val="FFFFFF"/>
          </a:solidFill>
          <a:ln w="12700">
            <a:solidFill>
              <a:srgbClr val="D5DBE3"/>
            </a:solidFill>
            <a:prstDash val="solid"/>
          </a:ln>
        </p:spPr>
      </p:sp>
      <p:sp>
        <p:nvSpPr>
          <p:cNvPr id="15" name="Text 13"/>
          <p:cNvSpPr txBox="1"/>
          <p:nvPr/>
        </p:nvSpPr>
        <p:spPr>
          <a:xfrm>
            <a:off x="731520" y="4526280"/>
            <a:ext cx="10515600" cy="576072"/>
          </a:xfrm>
          <a:prstGeom prst="rect">
            <a:avLst/>
          </a:prstGeom>
          <a:noFill/>
          <a:ln/>
        </p:spPr>
        <p:txBody>
          <a:bodyPr wrap="square" lIns="0" tIns="0" rIns="0" bIns="0" rtlCol="0" anchor="ctr"/>
          <a:lstStyle/>
          <a:p>
            <a:pPr indent="0" marL="0">
              <a:buNone/>
            </a:pPr>
            <a:r>
              <a:rPr lang="en-US" sz="1600" b="1" dirty="0">
                <a:solidFill>
                  <a:srgbClr val="7B3A8E"/>
                </a:solidFill>
              </a:rPr>
              <a:t>Q5  </a:t>
            </a:r>
            <a:pPr indent="0" marL="0">
              <a:buNone/>
            </a:pPr>
            <a:r>
              <a:rPr lang="en-US" sz="1600" dirty="0">
                <a:solidFill>
                  <a:srgbClr val="141B26"/>
                </a:solidFill>
              </a:rPr>
              <a:t>Which word describes an organism containing a gene from another species? A mutant  B hybrid  C transgenic  D pathogen</a:t>
            </a:r>
            <a:endParaRPr lang="en-US" sz="1600" dirty="0"/>
          </a:p>
        </p:txBody>
      </p:sp>
      <p:sp>
        <p:nvSpPr>
          <p:cNvPr id="16" name="Shape 14"/>
          <p:cNvSpPr/>
          <p:nvPr/>
        </p:nvSpPr>
        <p:spPr>
          <a:xfrm>
            <a:off x="548640" y="5212080"/>
            <a:ext cx="10881360" cy="576072"/>
          </a:xfrm>
          <a:prstGeom prst="roundRect">
            <a:avLst>
              <a:gd name="adj" fmla="val 12698"/>
            </a:avLst>
          </a:prstGeom>
          <a:solidFill>
            <a:srgbClr val="FFFFFF"/>
          </a:solidFill>
          <a:ln w="12700">
            <a:solidFill>
              <a:srgbClr val="D5DBE3"/>
            </a:solidFill>
            <a:prstDash val="solid"/>
          </a:ln>
        </p:spPr>
      </p:sp>
      <p:sp>
        <p:nvSpPr>
          <p:cNvPr id="17" name="Text 15"/>
          <p:cNvSpPr txBox="1"/>
          <p:nvPr/>
        </p:nvSpPr>
        <p:spPr>
          <a:xfrm>
            <a:off x="731520" y="5212080"/>
            <a:ext cx="10515600" cy="576072"/>
          </a:xfrm>
          <a:prstGeom prst="rect">
            <a:avLst/>
          </a:prstGeom>
          <a:noFill/>
          <a:ln/>
        </p:spPr>
        <p:txBody>
          <a:bodyPr wrap="square" lIns="0" tIns="0" rIns="0" bIns="0" rtlCol="0" anchor="ctr"/>
          <a:lstStyle/>
          <a:p>
            <a:pPr indent="0" marL="0">
              <a:buNone/>
            </a:pPr>
            <a:r>
              <a:rPr lang="en-US" sz="1600" b="1" dirty="0">
                <a:solidFill>
                  <a:srgbClr val="7B3A8E"/>
                </a:solidFill>
              </a:rPr>
              <a:t>Q6  </a:t>
            </a:r>
            <a:pPr indent="0" marL="0">
              <a:buNone/>
            </a:pPr>
            <a:r>
              <a:rPr lang="en-US" sz="1600" dirty="0">
                <a:solidFill>
                  <a:srgbClr val="141B26"/>
                </a:solidFill>
              </a:rPr>
              <a:t>A cell is placed in pure water. In which direction does water flow? A from cell into water  B in both directions equally  C from water into cell  D no flow</a:t>
            </a:r>
            <a:endParaRPr lang="en-US" sz="16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Why pandemics spread faster now</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In 1918 a flu pandemic took months to cross the world. In 2020 a new virus reached every continent within weeks. Explain why rapid international travel makes a pandemic more likely.</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A pandemic is ___.</a:t>
            </a:r>
            <a:endParaRPr lang="en-US" sz="1800" dirty="0"/>
          </a:p>
          <a:p>
            <a:pPr indent="0" marL="0">
              <a:spcAft>
                <a:spcPts val="600"/>
              </a:spcAft>
              <a:buNone/>
            </a:pPr>
            <a:r>
              <a:rPr lang="en-US" sz="1800" dirty="0">
                <a:solidFill>
                  <a:srgbClr val="141B26"/>
                </a:solidFill>
              </a:rPr>
              <a:t>An infected person can ___ before they ___, so ___.</a:t>
            </a:r>
            <a:endParaRPr lang="en-US" sz="1800" dirty="0"/>
          </a:p>
          <a:p>
            <a:pPr indent="0" marL="0">
              <a:spcAft>
                <a:spcPts val="600"/>
              </a:spcAft>
              <a:buNone/>
            </a:pPr>
            <a:r>
              <a:rPr lang="en-US" sz="1800" dirty="0">
                <a:solidFill>
                  <a:srgbClr val="141B26"/>
                </a:solidFill>
              </a:rPr>
              <a:t>To slow a pandemic, countries could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What is osmosis?</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A 2 cm cube has a surface area of 24 cm2 and a volume of 8 cm3. State its surface area : volume ratio.</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Give one reason why rapid international travel makes a pandemic more likely.</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 in 9C</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Surface area : volume ratio gets smaller as organisms get bigger, so large organisms need organs with big surfaces and transport systems.</a:t>
            </a:r>
            <a:endParaRPr lang="en-US" sz="2000" dirty="0"/>
          </a:p>
          <a:p>
            <a:pPr marL="342900" indent="-342900">
              <a:spcAft>
                <a:spcPts val="1200"/>
              </a:spcAft>
              <a:buSzPct val="100000"/>
              <a:buChar char="✓"/>
            </a:pPr>
            <a:r>
              <a:rPr lang="en-US" sz="2000" dirty="0">
                <a:solidFill>
                  <a:srgbClr val="141B26"/>
                </a:solidFill>
              </a:rPr>
              <a:t>Diffusion is the net movement of particles down a concentration gradient; faster when warmer and when the gradient is steeper.</a:t>
            </a:r>
            <a:endParaRPr lang="en-US" sz="2000" dirty="0"/>
          </a:p>
          <a:p>
            <a:pPr marL="342900" indent="-342900">
              <a:spcAft>
                <a:spcPts val="1200"/>
              </a:spcAft>
              <a:buSzPct val="100000"/>
              <a:buChar char="✓"/>
            </a:pPr>
            <a:r>
              <a:rPr lang="en-US" sz="2000" dirty="0">
                <a:solidFill>
                  <a:srgbClr val="141B26"/>
                </a:solidFill>
              </a:rPr>
              <a:t>Osmosis is the diffusion of water through a partially permeable membrane.</a:t>
            </a:r>
            <a:endParaRPr lang="en-US" sz="2000" dirty="0"/>
          </a:p>
          <a:p>
            <a:pPr marL="342900" indent="-342900">
              <a:spcAft>
                <a:spcPts val="1200"/>
              </a:spcAft>
              <a:buSzPct val="100000"/>
              <a:buChar char="✓"/>
            </a:pPr>
            <a:r>
              <a:rPr lang="en-US" sz="2000" dirty="0">
                <a:solidFill>
                  <a:srgbClr val="141B26"/>
                </a:solidFill>
              </a:rPr>
              <a:t>Unit review: pathogens, immunity, nerves and hormones, treatments, statistics and ecology all help us understand and fight disease.</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400" b="1" dirty="0">
                <a:solidFill>
                  <a:srgbClr val="7B3A8E"/>
                </a:solidFill>
              </a:rPr>
              <a:t>Next lesson  </a:t>
            </a:r>
            <a:pPr indent="0" marL="0">
              <a:buNone/>
            </a:pPr>
            <a:r>
              <a:rPr lang="en-US" sz="1400" dirty="0">
                <a:solidFill>
                  <a:srgbClr val="141B26"/>
                </a:solidFill>
              </a:rPr>
              <a:t>End of 9C. Revise the unit with Workbook pages 27 to 38 and the key words boxes on your worksheets.</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9C Lesson 7: In and out: surface area, diffusion and osmosis</dc:title>
  <dc:subject>PptxGenJS Presentation</dc:subject>
  <dc:creator>Year 9 Science</dc:creator>
  <cp:lastModifiedBy>Year 9 Science</cp:lastModifiedBy>
  <cp:revision>1</cp:revision>
  <dcterms:created xsi:type="dcterms:W3CDTF">2026-10-28T09:46:00Z</dcterms:created>
  <dcterms:modified xsi:type="dcterms:W3CDTF">2026-10-28T09:46:00Z</dcterms:modified>
</cp:coreProperties>
</file>