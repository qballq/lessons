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9C, Threat from disease. This unit covers what causes disease, how the body fights it, how we treat it, and the ecology and cell biology that explain outbreaks. Today: the big picture of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Expected reasons: clean water and sewers, better food, vaccines, medicines such as antibiotics, hospitals. A microorganism is a living thing too small to see without a microscope. Accept flu, cholera, chickenpox, malaria, Covid-19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Students with the Chinese key words sheet have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 suspected the water carried the disease. The pump's well was next to a leaking cesspit, so sewage with cholera bacteria got into the drinking water. The handle was removed and the outbreak stopped. This is hygiene: keeping drinking water separate from sewage.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Polio is caused by a virus that attacks the nervous system, so signals cannot reach muscles and the person cannot move. An international immunisation programme has almost wiped it out. Ask: which of these four changes could a single family do for itself, and which need a whole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row: infectious (a pathogen gets in), deficiency (a nutrient is missing), genetic (a fault in the DNA, present from birth), lifestyle (smoking, poor diet, too little exercise raise the risk), autoimmune (the immune system attacks the body, e.g. type 1 diabetes). Ask students to name one more example for the first two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Bacteria, fungi and protoctists are three kingdoms of living organisms. Viruses are not classed as living: they cannot do anything on their own and must get inside a cell to copy themselves. Chickenpox is a virus; athlete's foot is a fungus; malaria is a protoctist carried by mosquitoes; cholera is a bacterium.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deficiency; infectious (communicable); no, it is autoimmune and non-communicable; bacteria, fungi or protoctists (viruses are not a kingdom of living things); a rash or spots, itching, a raised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match question has one example for each type. Common error: calling cardiovascular disease infectious because it is common. Circulate and ask students to say the cause of each disease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hygiene, vaccines and antibiotics have cut deaths from infectious diseases, so people live longer, and diseases of older age (heart disease, cancer) become the main causes of death; lifestyle factors (smoking, diet, exercise) also matter. Keep the discussion factual and avoid singling out anyone's family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microorganism that causes disease; e.g. scurvy (lack of vitamin C) or sickle cell disease (faulty gene) or type 1 diabetes (immune system attacks the body): none is caused by a pathogen, so it cannot pass from person to person; bacteria, viruses, fungi, protoctists. Collect the strips before students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27 and 28 (9Ca Threat from disease; Diseases). Students with the Chinese key words sheet may answer in either language but should use the English key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1: Threat from disease</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1: Threat from disease</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1: Threat from disease</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1: Threat from disease</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9C THREAT FROM DISEASE  ·  LESSON 1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Threat from disease</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What makes us ill, and why do we live so much longer than people did 180 years ago?</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37 to 38  ·  Workbook pages 27 to 28</a:t>
            </a:r>
            <a:endParaRPr lang="en-US" sz="1200" dirty="0"/>
          </a:p>
        </p:txBody>
      </p:sp>
      <p:pic>
        <p:nvPicPr>
          <p:cNvPr id="6" name="Image 0" descr="/home/user/lessons/Y9_Exploring_Science/images/broad_street_pump.jpg">    </p:cNvPr>
          <p:cNvPicPr>
            <a:picLocks noChangeAspect="1"/>
          </p:cNvPicPr>
          <p:nvPr/>
        </p:nvPicPr>
        <p:blipFill>
          <a:blip r:embed="rId1"/>
          <a:stretch>
            <a:fillRect/>
          </a:stretch>
        </p:blipFill>
        <p:spPr>
          <a:xfrm>
            <a:off x="8930640" y="4572000"/>
            <a:ext cx="24384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living longer</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In England and Wales in the 1840s, the median age of death was 46. Today it is 83.</a:t>
            </a:r>
            <a:endParaRPr lang="en-US" sz="2000" dirty="0"/>
          </a:p>
          <a:p>
            <a:pPr indent="0" marL="0">
              <a:spcAft>
                <a:spcPts val="1000"/>
              </a:spcAft>
              <a:buNone/>
            </a:pPr>
            <a:r>
              <a:rPr lang="en-US" sz="2000" dirty="0">
                <a:solidFill>
                  <a:srgbClr val="141B26"/>
                </a:solidFill>
              </a:rPr>
              <a:t>1. Suggest two reasons why people live longer today.</a:t>
            </a:r>
            <a:endParaRPr lang="en-US" sz="2000" dirty="0"/>
          </a:p>
          <a:p>
            <a:pPr indent="0" marL="0">
              <a:spcAft>
                <a:spcPts val="1000"/>
              </a:spcAft>
              <a:buNone/>
            </a:pPr>
            <a:r>
              <a:rPr lang="en-US" sz="2000" dirty="0">
                <a:solidFill>
                  <a:srgbClr val="141B26"/>
                </a:solidFill>
              </a:rPr>
              <a:t>2. Name one disease caused by a microorganism.</a:t>
            </a:r>
            <a:endParaRPr lang="en-US" sz="2000" dirty="0"/>
          </a:p>
          <a:p>
            <a:pPr indent="0" marL="0">
              <a:spcAft>
                <a:spcPts val="1000"/>
              </a:spcAft>
              <a:buNone/>
            </a:pPr>
            <a:r>
              <a:rPr lang="en-US" sz="2000" dirty="0">
                <a:solidFill>
                  <a:srgbClr val="141B26"/>
                </a:solidFill>
              </a:rPr>
              <a:t>3. What is a microorganism?</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explain how hygiene, diet, immunisation and medicines have helped people live longer.</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give examples of the five types of disease and say which ones can be passed from person to person.</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disease</a:t>
            </a:r>
            <a:pPr indent="0" marL="0">
              <a:spcAft>
                <a:spcPts val="500"/>
              </a:spcAft>
              <a:buNone/>
            </a:pPr>
            <a:r>
              <a:rPr lang="en-US" sz="1300" dirty="0">
                <a:solidFill>
                  <a:srgbClr val="141B26"/>
                </a:solidFill>
              </a:rPr>
              <a:t>  something that makes you ill</a:t>
            </a:r>
            <a:endParaRPr lang="en-US" sz="1300" dirty="0"/>
          </a:p>
          <a:p>
            <a:pPr indent="0" marL="0">
              <a:spcAft>
                <a:spcPts val="500"/>
              </a:spcAft>
              <a:buNone/>
            </a:pPr>
            <a:r>
              <a:rPr lang="en-US" sz="1300" b="1" dirty="0">
                <a:solidFill>
                  <a:srgbClr val="0F2A5F"/>
                </a:solidFill>
              </a:rPr>
              <a:t>pathogen</a:t>
            </a:r>
            <a:pPr indent="0" marL="0">
              <a:spcAft>
                <a:spcPts val="500"/>
              </a:spcAft>
              <a:buNone/>
            </a:pPr>
            <a:r>
              <a:rPr lang="en-US" sz="1300" dirty="0">
                <a:solidFill>
                  <a:srgbClr val="141B26"/>
                </a:solidFill>
              </a:rPr>
              <a:t>  a microorganism that causes disease</a:t>
            </a:r>
            <a:endParaRPr lang="en-US" sz="1300" dirty="0"/>
          </a:p>
          <a:p>
            <a:pPr indent="0" marL="0">
              <a:spcAft>
                <a:spcPts val="500"/>
              </a:spcAft>
              <a:buNone/>
            </a:pPr>
            <a:r>
              <a:rPr lang="en-US" sz="1300" b="1" dirty="0">
                <a:solidFill>
                  <a:srgbClr val="0F2A5F"/>
                </a:solidFill>
              </a:rPr>
              <a:t>infectious disease</a:t>
            </a:r>
            <a:pPr indent="0" marL="0">
              <a:spcAft>
                <a:spcPts val="500"/>
              </a:spcAft>
              <a:buNone/>
            </a:pPr>
            <a:r>
              <a:rPr lang="en-US" sz="1300" dirty="0">
                <a:solidFill>
                  <a:srgbClr val="141B26"/>
                </a:solidFill>
              </a:rPr>
              <a:t>  a disease caused by a pathogen that can pass from person to person (communicable)</a:t>
            </a:r>
            <a:endParaRPr lang="en-US" sz="1300" dirty="0"/>
          </a:p>
          <a:p>
            <a:pPr indent="0" marL="0">
              <a:spcAft>
                <a:spcPts val="500"/>
              </a:spcAft>
              <a:buNone/>
            </a:pPr>
            <a:r>
              <a:rPr lang="en-US" sz="1300" b="1" dirty="0">
                <a:solidFill>
                  <a:srgbClr val="0F2A5F"/>
                </a:solidFill>
              </a:rPr>
              <a:t>non-communicable</a:t>
            </a:r>
            <a:pPr indent="0" marL="0">
              <a:spcAft>
                <a:spcPts val="500"/>
              </a:spcAft>
              <a:buNone/>
            </a:pPr>
            <a:r>
              <a:rPr lang="en-US" sz="1300" dirty="0">
                <a:solidFill>
                  <a:srgbClr val="141B26"/>
                </a:solidFill>
              </a:rPr>
              <a:t>  cannot be passed from person to person</a:t>
            </a:r>
            <a:endParaRPr lang="en-US" sz="1300" dirty="0"/>
          </a:p>
          <a:p>
            <a:pPr indent="0" marL="0">
              <a:spcAft>
                <a:spcPts val="500"/>
              </a:spcAft>
              <a:buNone/>
            </a:pPr>
            <a:r>
              <a:rPr lang="en-US" sz="1300" b="1" dirty="0">
                <a:solidFill>
                  <a:srgbClr val="0F2A5F"/>
                </a:solidFill>
              </a:rPr>
              <a:t>deficiency disease</a:t>
            </a:r>
            <a:pPr indent="0" marL="0">
              <a:spcAft>
                <a:spcPts val="500"/>
              </a:spcAft>
              <a:buNone/>
            </a:pPr>
            <a:r>
              <a:rPr lang="en-US" sz="1300" dirty="0">
                <a:solidFill>
                  <a:srgbClr val="141B26"/>
                </a:solidFill>
              </a:rPr>
              <a:t>  a disease caused by a lack of a nutrient in the diet</a:t>
            </a:r>
            <a:endParaRPr lang="en-US" sz="1300" dirty="0"/>
          </a:p>
          <a:p>
            <a:pPr indent="0" marL="0">
              <a:spcAft>
                <a:spcPts val="500"/>
              </a:spcAft>
              <a:buNone/>
            </a:pPr>
            <a:r>
              <a:rPr lang="en-US" sz="1300" b="1" dirty="0">
                <a:solidFill>
                  <a:srgbClr val="0F2A5F"/>
                </a:solidFill>
              </a:rPr>
              <a:t>genetic disease</a:t>
            </a:r>
            <a:pPr indent="0" marL="0">
              <a:spcAft>
                <a:spcPts val="500"/>
              </a:spcAft>
              <a:buNone/>
            </a:pPr>
            <a:r>
              <a:rPr lang="en-US" sz="1300" dirty="0">
                <a:solidFill>
                  <a:srgbClr val="141B26"/>
                </a:solidFill>
              </a:rPr>
              <a:t>  a disease caused by a fault in the DNA</a:t>
            </a:r>
            <a:endParaRPr lang="en-US" sz="1300" dirty="0"/>
          </a:p>
          <a:p>
            <a:pPr indent="0" marL="0">
              <a:spcAft>
                <a:spcPts val="500"/>
              </a:spcAft>
              <a:buNone/>
            </a:pPr>
            <a:r>
              <a:rPr lang="en-US" sz="1300" b="1" dirty="0">
                <a:solidFill>
                  <a:srgbClr val="0F2A5F"/>
                </a:solidFill>
              </a:rPr>
              <a:t>lifestyle disease</a:t>
            </a:r>
            <a:pPr indent="0" marL="0">
              <a:spcAft>
                <a:spcPts val="500"/>
              </a:spcAft>
              <a:buNone/>
            </a:pPr>
            <a:r>
              <a:rPr lang="en-US" sz="1300" dirty="0">
                <a:solidFill>
                  <a:srgbClr val="141B26"/>
                </a:solidFill>
              </a:rPr>
              <a:t>  a disease made more likely by the way we live, e.g. smoking</a:t>
            </a:r>
            <a:endParaRPr lang="en-US" sz="1300" dirty="0"/>
          </a:p>
          <a:p>
            <a:pPr indent="0" marL="0">
              <a:spcAft>
                <a:spcPts val="500"/>
              </a:spcAft>
              <a:buNone/>
            </a:pPr>
            <a:r>
              <a:rPr lang="en-US" sz="1300" b="1" dirty="0">
                <a:solidFill>
                  <a:srgbClr val="0F2A5F"/>
                </a:solidFill>
              </a:rPr>
              <a:t>autoimmune disease</a:t>
            </a:r>
            <a:pPr indent="0" marL="0">
              <a:spcAft>
                <a:spcPts val="500"/>
              </a:spcAft>
              <a:buNone/>
            </a:pPr>
            <a:r>
              <a:rPr lang="en-US" sz="1300" dirty="0">
                <a:solidFill>
                  <a:srgbClr val="141B26"/>
                </a:solidFill>
              </a:rPr>
              <a:t>  a disease in which the body's own white blood cells attack it</a:t>
            </a:r>
            <a:endParaRPr lang="en-US" sz="1300" dirty="0"/>
          </a:p>
          <a:p>
            <a:pPr indent="0" marL="0">
              <a:spcAft>
                <a:spcPts val="500"/>
              </a:spcAft>
              <a:buNone/>
            </a:pPr>
            <a:r>
              <a:rPr lang="en-US" sz="1300" b="1" dirty="0">
                <a:solidFill>
                  <a:srgbClr val="0F2A5F"/>
                </a:solidFill>
              </a:rPr>
              <a:t>symptom</a:t>
            </a:r>
            <a:pPr indent="0" marL="0">
              <a:spcAft>
                <a:spcPts val="500"/>
              </a:spcAft>
              <a:buNone/>
            </a:pPr>
            <a:r>
              <a:rPr lang="en-US" sz="1300" dirty="0">
                <a:solidFill>
                  <a:srgbClr val="141B26"/>
                </a:solidFill>
              </a:rPr>
              <a:t>  an obvious effect of a disease, e.g. a rash</a:t>
            </a:r>
            <a:endParaRPr lang="en-US" sz="1300" dirty="0"/>
          </a:p>
          <a:p>
            <a:pPr indent="0" marL="0">
              <a:spcAft>
                <a:spcPts val="500"/>
              </a:spcAft>
              <a:buNone/>
            </a:pPr>
            <a:r>
              <a:rPr lang="en-US" sz="1300" b="1" dirty="0">
                <a:solidFill>
                  <a:srgbClr val="0F2A5F"/>
                </a:solidFill>
              </a:rPr>
              <a:t>hygiene</a:t>
            </a:r>
            <a:pPr indent="0" marL="0">
              <a:spcAft>
                <a:spcPts val="500"/>
              </a:spcAft>
              <a:buNone/>
            </a:pPr>
            <a:r>
              <a:rPr lang="en-US" sz="1300" dirty="0">
                <a:solidFill>
                  <a:srgbClr val="141B26"/>
                </a:solidFill>
              </a:rPr>
              <a:t>  keeping things clean so pathogens do not spread</a:t>
            </a:r>
            <a:endParaRPr lang="en-US" sz="1300" dirty="0"/>
          </a:p>
          <a:p>
            <a:pPr indent="0" marL="0">
              <a:spcAft>
                <a:spcPts val="500"/>
              </a:spcAft>
              <a:buNone/>
            </a:pPr>
            <a:r>
              <a:rPr lang="en-US" sz="1300" b="1" dirty="0">
                <a:solidFill>
                  <a:srgbClr val="0F2A5F"/>
                </a:solidFill>
              </a:rPr>
              <a:t>immunisation</a:t>
            </a:r>
            <a:pPr indent="0" marL="0">
              <a:spcAft>
                <a:spcPts val="500"/>
              </a:spcAft>
              <a:buNone/>
            </a:pPr>
            <a:r>
              <a:rPr lang="en-US" sz="1300" dirty="0">
                <a:solidFill>
                  <a:srgbClr val="141B26"/>
                </a:solidFill>
              </a:rPr>
              <a:t>  giving a vaccine to protect against a disease</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Broad Street pump, 1854</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In one London street, hundreds of people died of cholera in a few days. Dr John Snow mapped every death. Almost all the victims drank from one water pump. What did he suspect?</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how could water make people ill?</a:t>
            </a:r>
            <a:endParaRPr lang="en-US" sz="1600" dirty="0"/>
          </a:p>
        </p:txBody>
      </p:sp>
      <p:pic>
        <p:nvPicPr>
          <p:cNvPr id="7" name="Image 0" descr="/home/user/lessons/Y9_Exploring_Science/images/broad_street_pump.jpg">    </p:cNvPr>
          <p:cNvPicPr>
            <a:picLocks noChangeAspect="1"/>
          </p:cNvPicPr>
          <p:nvPr/>
        </p:nvPicPr>
        <p:blipFill>
          <a:blip r:embed="rId1"/>
          <a:stretch>
            <a:fillRect/>
          </a:stretch>
        </p:blipFill>
        <p:spPr>
          <a:xfrm>
            <a:off x="6309360" y="1394460"/>
            <a:ext cx="5303520" cy="3977640"/>
          </a:xfrm>
          <a:prstGeom prst="rect">
            <a:avLst/>
          </a:prstGeom>
        </p:spPr>
      </p:pic>
      <p:sp>
        <p:nvSpPr>
          <p:cNvPr id="8" name="Text 5"/>
          <p:cNvSpPr txBox="1"/>
          <p:nvPr/>
        </p:nvSpPr>
        <p:spPr>
          <a:xfrm>
            <a:off x="6309360" y="5417820"/>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The John Snow pub on Broadwick (Broad) Street, Soho, next to the site of the cholera pump</a:t>
            </a:r>
            <a:pPr algn="l" indent="0" marL="0">
              <a:buNone/>
            </a:pPr>
            <a:endParaRPr lang="en-US" sz="1100" dirty="0"/>
          </a:p>
          <a:p>
            <a:pPr algn="l" indent="0" marL="0">
              <a:buNone/>
            </a:pPr>
            <a:r>
              <a:rPr lang="en-US" sz="800" dirty="0">
                <a:solidFill>
                  <a:srgbClr val="5B6574"/>
                </a:solidFill>
              </a:rPr>
              <a:t>Image: Ewan-M, CC BY-SA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Why do we live longer?</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hygiene   ·   pathogen   ·   immunisation</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Hygiene keeps drinking water separate from sewage, which contains pathogens (cholera, typhoid).</a:t>
            </a:r>
            <a:endParaRPr lang="en-US" sz="1700" dirty="0"/>
          </a:p>
          <a:p>
            <a:pPr marL="228600" indent="-228600">
              <a:spcAft>
                <a:spcPts val="600"/>
              </a:spcAft>
              <a:buSzPct val="100000"/>
              <a:buChar char="•"/>
            </a:pPr>
            <a:r>
              <a:rPr lang="en-US" sz="1700" dirty="0">
                <a:solidFill>
                  <a:srgbClr val="141B26"/>
                </a:solidFill>
              </a:rPr>
              <a:t>Better diet: healthier bodies fight disease better.</a:t>
            </a:r>
            <a:endParaRPr lang="en-US" sz="1700" dirty="0"/>
          </a:p>
          <a:p>
            <a:pPr marL="228600" indent="-228600">
              <a:spcAft>
                <a:spcPts val="600"/>
              </a:spcAft>
              <a:buSzPct val="100000"/>
              <a:buChar char="•"/>
            </a:pPr>
            <a:r>
              <a:rPr lang="en-US" sz="1700" dirty="0">
                <a:solidFill>
                  <a:srgbClr val="141B26"/>
                </a:solidFill>
              </a:rPr>
              <a:t>Immunisation protects against particular diseases. Polio paralysed or killed about half a million people a year in the 1940s; today there are a few hundred cases.</a:t>
            </a:r>
            <a:endParaRPr lang="en-US" sz="1700" dirty="0"/>
          </a:p>
          <a:p>
            <a:pPr marL="228600" indent="-228600">
              <a:spcAft>
                <a:spcPts val="600"/>
              </a:spcAft>
              <a:buSzPct val="100000"/>
              <a:buChar char="•"/>
            </a:pPr>
            <a:r>
              <a:rPr lang="en-US" sz="1700" dirty="0">
                <a:solidFill>
                  <a:srgbClr val="141B26"/>
                </a:solidFill>
              </a:rPr>
              <a:t>Medicines, including antibiotics for bacterial diseases.</a:t>
            </a:r>
            <a:endParaRPr lang="en-US" sz="1700" dirty="0"/>
          </a:p>
        </p:txBody>
      </p:sp>
      <p:pic>
        <p:nvPicPr>
          <p:cNvPr id="7" name="Image 0" descr="/home/user/lessons/Y9_Exploring_Science/images/polio_vaccine.jpg">    </p:cNvPr>
          <p:cNvPicPr>
            <a:picLocks noChangeAspect="1"/>
          </p:cNvPicPr>
          <p:nvPr/>
        </p:nvPicPr>
        <p:blipFill>
          <a:blip r:embed="rId1"/>
          <a:stretch>
            <a:fillRect/>
          </a:stretch>
        </p:blipFill>
        <p:spPr>
          <a:xfrm>
            <a:off x="6583680" y="1431741"/>
            <a:ext cx="5029200" cy="3354437"/>
          </a:xfrm>
          <a:prstGeom prst="rect">
            <a:avLst/>
          </a:prstGeom>
        </p:spPr>
      </p:pic>
      <p:sp>
        <p:nvSpPr>
          <p:cNvPr id="8" name="Text 5"/>
          <p:cNvSpPr txBox="1"/>
          <p:nvPr/>
        </p:nvSpPr>
        <p:spPr>
          <a:xfrm>
            <a:off x="6583680" y="4831899"/>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Oral polio vaccine being given to a child</a:t>
            </a:r>
            <a:pPr algn="l" indent="0" marL="0">
              <a:buNone/>
            </a:pPr>
            <a:endParaRPr lang="en-US" sz="1100" dirty="0"/>
          </a:p>
          <a:p>
            <a:pPr algn="l" indent="0" marL="0">
              <a:buNone/>
            </a:pPr>
            <a:r>
              <a:rPr lang="en-US" sz="800" dirty="0">
                <a:solidFill>
                  <a:srgbClr val="5B6574"/>
                </a:solidFill>
              </a:rPr>
              <a:t>Image: hdptcar,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Hygiene, diet, immunisation and medicines have cut deaths from infectious diseases.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Five types of disease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A disease is something that makes you ill. Diseases have many different causes.</a:t>
            </a:r>
            <a:endParaRPr lang="en-US" sz="1600" dirty="0"/>
          </a:p>
        </p:txBody>
      </p:sp>
      <p:pic>
        <p:nvPicPr>
          <p:cNvPr id="6" name="Image 0" descr="/home/user/lessons/Y9_Exploring_Science/source/diagrams/disease_types.png">    </p:cNvPr>
          <p:cNvPicPr>
            <a:picLocks noChangeAspect="1"/>
          </p:cNvPicPr>
          <p:nvPr/>
        </p:nvPicPr>
        <p:blipFill>
          <a:blip r:embed="rId1"/>
          <a:stretch>
            <a:fillRect/>
          </a:stretch>
        </p:blipFill>
        <p:spPr>
          <a:xfrm>
            <a:off x="2420930" y="1737360"/>
            <a:ext cx="7136780"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Only infectious diseases can be passed from person to person. The other four types are non-communicable.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Pathogens and symptoms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pathogen   ·   symptom   ·   infectious disease</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Pathogens are microorganisms that get into the body and change how it works.</a:t>
            </a:r>
            <a:endParaRPr lang="en-US" sz="1700" dirty="0"/>
          </a:p>
          <a:p>
            <a:pPr marL="228600" indent="-228600">
              <a:spcAft>
                <a:spcPts val="600"/>
              </a:spcAft>
              <a:buSzPct val="100000"/>
              <a:buChar char="•"/>
            </a:pPr>
            <a:r>
              <a:rPr lang="en-US" sz="1700" dirty="0">
                <a:solidFill>
                  <a:srgbClr val="141B26"/>
                </a:solidFill>
              </a:rPr>
              <a:t>They include bacteria, fungi, protoctists and viruses.</a:t>
            </a:r>
            <a:endParaRPr lang="en-US" sz="1700" dirty="0"/>
          </a:p>
          <a:p>
            <a:pPr marL="228600" indent="-228600">
              <a:spcAft>
                <a:spcPts val="600"/>
              </a:spcAft>
              <a:buSzPct val="100000"/>
              <a:buChar char="•"/>
            </a:pPr>
            <a:r>
              <a:rPr lang="en-US" sz="1700" dirty="0">
                <a:solidFill>
                  <a:srgbClr val="141B26"/>
                </a:solidFill>
              </a:rPr>
              <a:t>The obvious effects of a disease are its symptoms: a rash, a raised temperature, a cough.</a:t>
            </a:r>
            <a:endParaRPr lang="en-US" sz="1700" dirty="0"/>
          </a:p>
          <a:p>
            <a:pPr marL="228600" indent="-228600">
              <a:spcAft>
                <a:spcPts val="600"/>
              </a:spcAft>
              <a:buSzPct val="100000"/>
              <a:buChar char="•"/>
            </a:pPr>
            <a:r>
              <a:rPr lang="en-US" sz="1700" dirty="0">
                <a:solidFill>
                  <a:srgbClr val="141B26"/>
                </a:solidFill>
              </a:rPr>
              <a:t>In richer countries, most deaths are now from changes inside the body, not from infections.</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A pathogen is a microorganism that causes disease.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One answer each, then we check.</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Scurvy is caused by too little vitamin C. Which type of disease is it?</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Flu is caused by a virus. Which type of disease is it?</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Can you catch type 1 diabetes from a friend? Yes or no.</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Name one kingdom of organisms that includes pathogens.</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Give one symptom of chickenpox.</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sorting diseases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Core: match each type of disease to its example, then tick communicable or non-communicable.</a:t>
            </a:r>
            <a:endParaRPr lang="en-US" sz="1700" dirty="0"/>
          </a:p>
        </p:txBody>
      </p:sp>
      <p:sp>
        <p:nvSpPr>
          <p:cNvPr id="10" name="Shape 8"/>
          <p:cNvSpPr/>
          <p:nvPr/>
        </p:nvSpPr>
        <p:spPr>
          <a:xfrm>
            <a:off x="548640" y="2313432"/>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134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67712"/>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Core: fill the gaps using the word bank; decide what type of disease anaemia is.</a:t>
            </a:r>
            <a:endParaRPr lang="en-US" sz="1700" dirty="0"/>
          </a:p>
        </p:txBody>
      </p:sp>
      <p:sp>
        <p:nvSpPr>
          <p:cNvPr id="13" name="Shape 11"/>
          <p:cNvSpPr/>
          <p:nvPr/>
        </p:nvSpPr>
        <p:spPr>
          <a:xfrm>
            <a:off x="548640" y="3209544"/>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0954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163824"/>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Stretch: write definitions; explain why polio stops muscles working.</a:t>
            </a:r>
            <a:endParaRPr lang="en-US" sz="1700" dirty="0"/>
          </a:p>
        </p:txBody>
      </p:sp>
      <p:sp>
        <p:nvSpPr>
          <p:cNvPr id="16" name="Shape 14"/>
          <p:cNvSpPr/>
          <p:nvPr/>
        </p:nvSpPr>
        <p:spPr>
          <a:xfrm>
            <a:off x="548640" y="4105656"/>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0565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059936"/>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Challenge: why are most deaths in richer countries now non-communicable? How do medicines get into cells?</a:t>
            </a:r>
            <a:endParaRPr lang="en-US" sz="1700" dirty="0"/>
          </a:p>
        </p:txBody>
      </p:sp>
      <p:sp>
        <p:nvSpPr>
          <p:cNvPr id="19" name="Shape 17"/>
          <p:cNvSpPr/>
          <p:nvPr/>
        </p:nvSpPr>
        <p:spPr>
          <a:xfrm>
            <a:off x="548640" y="5001768"/>
            <a:ext cx="457200" cy="457200"/>
          </a:xfrm>
          <a:prstGeom prst="ellipse">
            <a:avLst/>
          </a:prstGeom>
          <a:solidFill>
            <a:srgbClr val="7B3A8E"/>
          </a:solidFill>
          <a:ln w="12700">
            <a:solidFill>
              <a:srgbClr val="7B3A8E"/>
            </a:solidFill>
            <a:prstDash val="solid"/>
          </a:ln>
        </p:spPr>
      </p:sp>
      <p:sp>
        <p:nvSpPr>
          <p:cNvPr id="20" name="Text 18"/>
          <p:cNvSpPr txBox="1"/>
          <p:nvPr/>
        </p:nvSpPr>
        <p:spPr>
          <a:xfrm>
            <a:off x="548640" y="50017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1" name="Text 19"/>
          <p:cNvSpPr txBox="1"/>
          <p:nvPr/>
        </p:nvSpPr>
        <p:spPr>
          <a:xfrm>
            <a:off x="1188720" y="4956048"/>
            <a:ext cx="9418320" cy="896112"/>
          </a:xfrm>
          <a:prstGeom prst="rect">
            <a:avLst/>
          </a:prstGeom>
          <a:noFill/>
          <a:ln/>
        </p:spPr>
        <p:txBody>
          <a:bodyPr wrap="square" lIns="0" tIns="0" rIns="0" bIns="0" rtlCol="0" anchor="t">
            <a:normAutofit/>
          </a:bodyPr>
          <a:lstStyle/>
          <a:p>
            <a:pPr indent="0" marL="0">
              <a:buNone/>
            </a:pPr>
            <a:r>
              <a:rPr lang="en-US" sz="1700" dirty="0">
                <a:solidFill>
                  <a:srgbClr val="141B26"/>
                </a:solidFill>
              </a:rPr>
              <a:t>Finished? Answer the My thinking question.</a:t>
            </a:r>
            <a:endParaRPr lang="en-US" sz="1700" dirty="0"/>
          </a:p>
        </p:txBody>
      </p:sp>
      <p:sp>
        <p:nvSpPr>
          <p:cNvPr id="22" name="Text 20"/>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Use the key words box. Write the type of disease, not just the name of the disease.</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 changing threat</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In richer countries, the main causes of death are now non-communicable diseases such as heart disease and cancer, not infections. Why has this changed over the last 180 years?</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Fewer people die from infections because ___.</a:t>
            </a:r>
            <a:endParaRPr lang="en-US" sz="1500" dirty="0"/>
          </a:p>
          <a:p>
            <a:pPr indent="0" marL="0">
              <a:spcAft>
                <a:spcPts val="600"/>
              </a:spcAft>
              <a:buNone/>
            </a:pPr>
            <a:r>
              <a:rPr lang="en-US" sz="1500" dirty="0">
                <a:solidFill>
                  <a:srgbClr val="141B26"/>
                </a:solidFill>
              </a:rPr>
              <a:t>More people now die from ___ because they live long enough to ___.</a:t>
            </a:r>
            <a:endParaRPr lang="en-US" sz="1500" dirty="0"/>
          </a:p>
          <a:p>
            <a:pPr indent="0" marL="0">
              <a:spcAft>
                <a:spcPts val="600"/>
              </a:spcAft>
              <a:buNone/>
            </a:pPr>
            <a:r>
              <a:rPr lang="en-US" sz="1500" dirty="0">
                <a:solidFill>
                  <a:srgbClr val="141B26"/>
                </a:solidFill>
              </a:rPr>
              <a:t>One thing we could do about lifestyle diseases is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What is a pathogen?</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Give one example of a non-communicable disease and explain why it is non-communicable.</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Name two types of microorganism that can be pathogens.</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People live longer because of hygiene, better diet, immunisation and medicines.</a:t>
            </a:r>
            <a:endParaRPr lang="en-US" sz="1700" dirty="0"/>
          </a:p>
          <a:p>
            <a:pPr marL="342900" indent="-342900">
              <a:spcAft>
                <a:spcPts val="1000"/>
              </a:spcAft>
              <a:buSzPct val="100000"/>
              <a:buChar char="✓"/>
            </a:pPr>
            <a:r>
              <a:rPr lang="en-US" sz="1700" dirty="0">
                <a:solidFill>
                  <a:srgbClr val="141B26"/>
                </a:solidFill>
              </a:rPr>
              <a:t>Pathogens are microorganisms (bacteria, viruses, fungi, protoctists) that cause infectious diseases.</a:t>
            </a:r>
            <a:endParaRPr lang="en-US" sz="1700" dirty="0"/>
          </a:p>
          <a:p>
            <a:pPr marL="342900" indent="-342900">
              <a:spcAft>
                <a:spcPts val="1000"/>
              </a:spcAft>
              <a:buSzPct val="100000"/>
              <a:buChar char="✓"/>
            </a:pPr>
            <a:r>
              <a:rPr lang="en-US" sz="1700" dirty="0">
                <a:solidFill>
                  <a:srgbClr val="141B26"/>
                </a:solidFill>
              </a:rPr>
              <a:t>Deficiency, genetic, lifestyle and autoimmune diseases are non-communicable: they cannot be passed on.</a:t>
            </a:r>
            <a:endParaRPr lang="en-US" sz="1700" dirty="0"/>
          </a:p>
          <a:p>
            <a:pPr marL="342900" indent="-342900">
              <a:spcAft>
                <a:spcPts val="1000"/>
              </a:spcAft>
              <a:buSzPct val="100000"/>
              <a:buChar char="✓"/>
            </a:pPr>
            <a:r>
              <a:rPr lang="en-US" sz="1700" dirty="0">
                <a:solidFill>
                  <a:srgbClr val="141B26"/>
                </a:solidFill>
              </a:rPr>
              <a:t>Symptoms are the obvious effects of a disease.</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Immunity and vaccination: how white blood cells destroy pathogens, and why you only get measles once.</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1: Threat from disease</dc:title>
  <dc:subject>PptxGenJS Presentation</dc:subject>
  <dc:creator>Year 9 Science</dc:creator>
  <cp:lastModifiedBy>Year 9 Science</cp:lastModifiedBy>
  <cp:revision>1</cp:revision>
  <dcterms:created xsi:type="dcterms:W3CDTF">2026-10-28T01:48:55Z</dcterms:created>
  <dcterms:modified xsi:type="dcterms:W3CDTF">2026-10-28T01:48:55Z</dcterms:modified>
</cp:coreProperties>
</file>