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9C, Threat from disease. This unit covers what causes disease, how the body fights it, how we treat it, and the ecology and cell biology that explain outbreaks. Today: the big picture of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in books. Expected reasons: clean water and sewers, better food, vaccines, medicines such as antibiotics, hospitals. A microorganism is a living thing too small to see without a microscope. Accept flu, cholera, chickenpox, malaria, Covid-19 and so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goal aloud. Point out the key words box on the worksheet. Students with the Chinese key words sheet have the same words with Chinese beside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Snow suspected the water carried the disease. The pump's well was next to a leaking cesspit, so sewage with cholera bacteria got into the drinking water. The handle was removed and the outbreak stopped. This is hygiene: keeping drinking water separate from sewage.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Polio is caused by a virus that attacks the nervous system, so signals cannot reach muscles and the person cannot move. An international immunisation programme has almost wiped it out. Ask: which of these four changes could a single family do for itself, and which need a whole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row: infectious (a pathogen gets in), deficiency (a nutrient is missing), genetic (a fault in the DNA, present from birth), lifestyle (smoking, poor diet, too little exercise raise the risk), autoimmune (the immune system attacks the body, e.g. type 1 diabetes). Ask students to name one more example for the first two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Bacteria, fungi and protoctists are three kingdoms of living organisms. Viruses are not classed as living: they cannot do anything on their own and must get inside a cell to copy themselves. Chickenpox is a virus; athlete's foot is a fungus; malaria is a protoctist carried by mosquitoes; cholera is a bacterium.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deficiency; infectious (communicable); no, it is autoimmune and non-communicable; bacteria, fungi or protoctists (viruses are not a kingdom of living things); a rash or spots, itching, a raised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match question has one example for each type. Common error: calling cardiovascular disease infectious because it is common. Circulate and ask students to say the cause of each disease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hygiene, vaccines and antibiotics have cut deaths from infectious diseases, so people live longer, and diseases of older age (heart disease, cancer) become the main causes of death; lifestyle factors (smoking, diet, exercise) also matter. Keep the discussion factual and avoid singling out anyone's family habits.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a microorganism that causes disease; e.g. scurvy (lack of vitamin C) or sickle cell disease (faulty gene) or type 1 diabetes (immune system attacks the body): none is caused by a pathogen, so it cannot pass from person to person; bacteria, viruses, fungi, protoctists. Collect the strips before students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Homework: Workbook pages 27 and 28 (9Ca Threat from disease; Diseases). Students with the Chinese key words sheet may answer in either language but should use the English key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F2A5F"/>
        </a:solidFill>
      </p:bgPr>
    </p:bg>
    <p:spTree>
      <p:nvGrpSpPr>
        <p:cNvPr id="1" name=""/>
        <p:cNvGrpSpPr/>
        <p:nvPr/>
      </p:nvGrpSpPr>
      <p:grpSpPr>
        <a:xfrm>
          <a:off x="0" y="0"/>
          <a:ext cx="0" cy="0"/>
          <a:chOff x="0" y="0"/>
          <a:chExt cx="0" cy="0"/>
        </a:xfrm>
      </p:grpSpPr>
      <p:pic>
        <p:nvPicPr>
          <p:cNvPr id="2" name="Image 0" descr="/home/user/lessons/design/assets/school_logo_horizontal_white.png">    </p:cNvPr>
          <p:cNvPicPr>
            <a:picLocks noChangeAspect="1"/>
          </p:cNvPicPr>
          <p:nvPr/>
        </p:nvPicPr>
        <p:blipFill>
          <a:blip r:embed="rId1"/>
          <a:stretch>
            <a:fillRect/>
          </a:stretch>
        </p:blipFill>
        <p:spPr>
          <a:xfrm>
            <a:off x="548640" y="5715000"/>
            <a:ext cx="2011680" cy="832104"/>
          </a:xfrm>
          <a:prstGeom prst="rect">
            <a:avLst/>
          </a:prstGeom>
        </p:spPr>
      </p:pic>
      <p:sp>
        <p:nvSpPr>
          <p:cNvPr id="3" name="Text 0"/>
          <p:cNvSpPr/>
          <p:nvPr>
            <p:ph idx="101" type="title" hasCustomPrompt="1"/>
          </p:nvPr>
        </p:nvSpPr>
        <p:spPr>
          <a:xfrm>
            <a:off x="548640" y="2103120"/>
            <a:ext cx="10515600" cy="1463040"/>
          </a:xfrm>
          <a:prstGeom prst="rect">
            <a:avLst/>
          </a:prstGeom>
          <a:noFill/>
          <a:ln/>
        </p:spPr>
        <p:txBody>
          <a:bodyPr wrap="square" rtlCol="0"/>
          <a:lstStyle>
            <a:lvl1pPr indent="0" marL="0">
              <a:buNone/>
              <a:defRPr lang="en-US" sz="4400" b="1" dirty="0">
                <a:solidFill>
                  <a:srgbClr val="FFFFFF"/>
                </a:solidFill>
              </a:defRPr>
            </a:lvl1pPr>
          </a:lstStyle>
          <a:p>
            <a:pPr indent="0" marL="0">
              <a:buNone/>
            </a:pPr>
            <a:endParaRPr lang="en-US" sz="4400" dirty="0"/>
          </a:p>
        </p:txBody>
      </p:sp>
      <p:sp>
        <p:nvSpPr>
          <p:cNvPr id="4" name="Text 0"/>
          <p:cNvSpPr/>
          <p:nvPr>
            <p:ph idx="102" type="body" hasCustomPrompt="1"/>
          </p:nvPr>
        </p:nvSpPr>
        <p:spPr>
          <a:xfrm>
            <a:off x="548640" y="3657600"/>
            <a:ext cx="10515600" cy="1097280"/>
          </a:xfrm>
          <a:prstGeom prst="rect">
            <a:avLst/>
          </a:prstGeom>
          <a:noFill/>
          <a:ln/>
        </p:spPr>
        <p:txBody>
          <a:bodyPr wrap="square" rtlCol="0"/>
          <a:lstStyle>
            <a:lvl1pPr indent="0" marL="0">
              <a:buNone/>
              <a:defRPr lang="en-US" sz="2400" dirty="0">
                <a:solidFill>
                  <a:srgbClr val="FFFFFF"/>
                </a:solidFill>
              </a:defRPr>
            </a:lvl1pPr>
          </a:lstStyle>
          <a:p>
            <a:pPr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1000" dirty="0">
                <a:solidFill>
                  <a:srgbClr val="5B6574"/>
                </a:solidFill>
              </a:rPr>
              <a:t>Year 9 Science  |  9C Threat from disease  |  Lesson 1: Threat from disease</a:t>
            </a:r>
            <a:endParaRPr lang="en-US" sz="10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NT">
    <p:bg>
      <p:bgPr>
        <a:solidFill>
          <a:srgbClr val="F1E5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1000" dirty="0">
                <a:solidFill>
                  <a:srgbClr val="5B6574"/>
                </a:solidFill>
              </a:rPr>
              <a:t>Year 9 Science  |  9C Threat from disease  |  Lesson 1: Threat from disease</a:t>
            </a:r>
            <a:endParaRPr lang="en-US" sz="10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AGE">
    <p:bg>
      <p:bgPr>
        <a:solidFill>
          <a:srgbClr val="EEF1F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1000" dirty="0">
                <a:solidFill>
                  <a:srgbClr val="5B6574"/>
                </a:solidFill>
              </a:rPr>
              <a:t>Year 9 Science  |  9C Threat from disease  |  Lesson 1: Threat from disease</a:t>
            </a:r>
            <a:endParaRPr lang="en-US" sz="10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AFETY">
    <p:bg>
      <p:bgPr>
        <a:solidFill>
          <a:srgbClr val="F2CE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400" b="1" dirty="0">
                <a:solidFill>
                  <a:srgbClr val="3A2E00"/>
                </a:solidFill>
              </a:defRPr>
            </a:lvl1pPr>
          </a:lstStyle>
          <a:p>
            <a:pPr indent="0" marL="0">
              <a:buNone/>
            </a:pPr>
            <a:endParaRPr lang="en-US" sz="34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3A2E00"/>
                </a:solidFill>
              </a:rPr>
              <a:t>Year 9 Science  |  9C Threat from disease  |  Lesson 1: Threat from disease</a:t>
            </a: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10515600" cy="457200"/>
          </a:xfrm>
          <a:prstGeom prst="rect">
            <a:avLst/>
          </a:prstGeom>
          <a:noFill/>
          <a:ln/>
        </p:spPr>
        <p:txBody>
          <a:bodyPr wrap="square" lIns="0" tIns="0" rIns="0" bIns="0" rtlCol="0" anchor="ctr"/>
          <a:lstStyle/>
          <a:p>
            <a:pPr indent="0" marL="0">
              <a:buNone/>
            </a:pPr>
            <a:r>
              <a:rPr lang="en-US" sz="1400" b="1" spc="200" kern="0" dirty="0">
                <a:solidFill>
                  <a:srgbClr val="F2CE3E"/>
                </a:solidFill>
              </a:rPr>
              <a:t>YEAR 9 SCIENCE  ·  9C THREAT FROM DISEASE  ·  LESSON 1 OF 7</a:t>
            </a:r>
            <a:endParaRPr lang="en-US" sz="1400" dirty="0"/>
          </a:p>
        </p:txBody>
      </p:sp>
      <p:sp>
        <p:nvSpPr>
          <p:cNvPr id="3" name="Text 0"/>
          <p:cNvSpPr/>
          <p:nvPr>
            <p:ph idx="101" type="title" hasCustomPrompt="1"/>
          </p:nvPr>
        </p:nvSpPr>
        <p:spPr>
          <a:xfrm>
            <a:off x="548640" y="2103120"/>
            <a:ext cx="10515600" cy="1463040"/>
          </a:xfrm>
          <a:prstGeom prst="rect">
            <a:avLst/>
          </a:prstGeom>
          <a:noFill/>
          <a:ln/>
        </p:spPr>
        <p:txBody>
          <a:bodyPr wrap="square" lIns="0" tIns="0" rIns="0" bIns="0" rtlCol="0" anchor="b"/>
          <a:lstStyle/>
          <a:p>
            <a:pPr indent="0" marL="0">
              <a:buNone/>
            </a:pPr>
            <a:r>
              <a:rPr lang="en-US" sz="4400" b="1" dirty="0">
                <a:solidFill>
                  <a:srgbClr val="FFFFFF"/>
                </a:solidFill>
              </a:rPr>
              <a:t>Threat from disease</a:t>
            </a:r>
            <a:endParaRPr lang="en-US" sz="4400" dirty="0"/>
          </a:p>
        </p:txBody>
      </p:sp>
      <p:sp>
        <p:nvSpPr>
          <p:cNvPr id="4" name="Text 0"/>
          <p:cNvSpPr/>
          <p:nvPr>
            <p:ph idx="102" type="body" hasCustomPrompt="1"/>
          </p:nvPr>
        </p:nvSpPr>
        <p:spPr>
          <a:xfrm>
            <a:off x="548640" y="3657600"/>
            <a:ext cx="10515600" cy="1097280"/>
          </a:xfrm>
          <a:prstGeom prst="rect">
            <a:avLst/>
          </a:prstGeom>
          <a:noFill/>
          <a:ln/>
        </p:spPr>
        <p:txBody>
          <a:bodyPr wrap="square" lIns="0" tIns="0" rIns="0" bIns="0" rtlCol="0" anchor="t"/>
          <a:lstStyle/>
          <a:p>
            <a:pPr indent="0" marL="0">
              <a:buNone/>
            </a:pPr>
            <a:r>
              <a:rPr lang="en-US" sz="2400" dirty="0">
                <a:solidFill>
                  <a:srgbClr val="FFFFFF"/>
                </a:solidFill>
              </a:rPr>
              <a:t>What makes us ill, and why do we live so much longer than people did 180 years ago?</a:t>
            </a:r>
            <a:endParaRPr lang="en-US" sz="2400" dirty="0"/>
          </a:p>
        </p:txBody>
      </p:sp>
      <p:sp>
        <p:nvSpPr>
          <p:cNvPr id="5" name="Text 3"/>
          <p:cNvSpPr txBox="1"/>
          <p:nvPr/>
        </p:nvSpPr>
        <p:spPr>
          <a:xfrm>
            <a:off x="548640" y="5074920"/>
            <a:ext cx="10515600" cy="365760"/>
          </a:xfrm>
          <a:prstGeom prst="rect">
            <a:avLst/>
          </a:prstGeom>
          <a:noFill/>
          <a:ln/>
        </p:spPr>
        <p:txBody>
          <a:bodyPr wrap="square" lIns="0" tIns="0" rIns="0" bIns="0" rtlCol="0" anchor="ctr"/>
          <a:lstStyle/>
          <a:p>
            <a:pPr indent="0" marL="0">
              <a:buNone/>
            </a:pPr>
            <a:r>
              <a:rPr lang="en-US" sz="1400" dirty="0">
                <a:solidFill>
                  <a:srgbClr val="C9D3E6"/>
                </a:solidFill>
              </a:rPr>
              <a:t>Exploring Science International 9  ·  Student Book pages 37 to 38  ·  Workbook pages 27 to 28</a:t>
            </a:r>
            <a:endParaRPr lang="en-US" sz="1400" dirty="0"/>
          </a:p>
        </p:txBody>
      </p:sp>
      <p:pic>
        <p:nvPicPr>
          <p:cNvPr id="6" name="Image 0" descr="/home/user/lessons/Y9_Exploring_Science/images/broad_street_pump.jpg">    </p:cNvPr>
          <p:cNvPicPr>
            <a:picLocks noChangeAspect="1"/>
          </p:cNvPicPr>
          <p:nvPr/>
        </p:nvPicPr>
        <p:blipFill>
          <a:blip r:embed="rId1"/>
          <a:stretch>
            <a:fillRect/>
          </a:stretch>
        </p:blipFill>
        <p:spPr>
          <a:xfrm>
            <a:off x="8930640" y="4572000"/>
            <a:ext cx="2438400" cy="18288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Do Now: living longer</a:t>
            </a:r>
            <a:endParaRPr lang="en-US" sz="3000" dirty="0"/>
          </a:p>
        </p:txBody>
      </p:sp>
      <p:sp>
        <p:nvSpPr>
          <p:cNvPr id="3" name="Shape 1"/>
          <p:cNvSpPr/>
          <p:nvPr/>
        </p:nvSpPr>
        <p:spPr>
          <a:xfrm>
            <a:off x="10308031" y="411480"/>
            <a:ext cx="133502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308031" y="411480"/>
            <a:ext cx="133502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DO NOW</a:t>
            </a:r>
            <a:endParaRPr lang="en-US" sz="1100" dirty="0"/>
          </a:p>
        </p:txBody>
      </p:sp>
      <p:sp>
        <p:nvSpPr>
          <p:cNvPr id="5" name="Shape 3"/>
          <p:cNvSpPr/>
          <p:nvPr/>
        </p:nvSpPr>
        <p:spPr>
          <a:xfrm>
            <a:off x="10682935" y="914400"/>
            <a:ext cx="914400" cy="914400"/>
          </a:xfrm>
          <a:prstGeom prst="ellipse">
            <a:avLst/>
          </a:prstGeom>
          <a:solidFill>
            <a:srgbClr val="FFFFFF"/>
          </a:solidFill>
          <a:ln w="25400">
            <a:solidFill>
              <a:srgbClr val="7B3A8E"/>
            </a:solidFill>
            <a:prstDash val="solid"/>
          </a:ln>
        </p:spPr>
      </p:sp>
      <p:sp>
        <p:nvSpPr>
          <p:cNvPr id="6" name="Text 4"/>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4</a:t>
            </a:r>
            <a:endParaRPr lang="en-US" sz="2200" dirty="0"/>
          </a:p>
          <a:p>
            <a:pPr algn="ctr" indent="0" marL="0">
              <a:buNone/>
            </a:pPr>
            <a:r>
              <a:rPr lang="en-US" sz="1000" dirty="0">
                <a:solidFill>
                  <a:srgbClr val="5B6574"/>
                </a:solidFill>
              </a:rPr>
              <a:t>min</a:t>
            </a:r>
            <a:endParaRPr lang="en-US" sz="2200" dirty="0"/>
          </a:p>
        </p:txBody>
      </p:sp>
      <p:sp>
        <p:nvSpPr>
          <p:cNvPr id="7" name="Text 5"/>
          <p:cNvSpPr txBox="1"/>
          <p:nvPr/>
        </p:nvSpPr>
        <p:spPr>
          <a:xfrm>
            <a:off x="548640" y="1371600"/>
            <a:ext cx="9692640" cy="4480560"/>
          </a:xfrm>
          <a:prstGeom prst="rect">
            <a:avLst/>
          </a:prstGeom>
          <a:noFill/>
          <a:ln/>
        </p:spPr>
        <p:txBody>
          <a:bodyPr wrap="square" lIns="0" tIns="0" rIns="0" bIns="0" rtlCol="0" anchor="t"/>
          <a:lstStyle/>
          <a:p>
            <a:pPr indent="0" marL="0">
              <a:spcAft>
                <a:spcPts val="1200"/>
              </a:spcAft>
              <a:buNone/>
            </a:pPr>
            <a:r>
              <a:rPr lang="en-US" sz="2400" dirty="0">
                <a:solidFill>
                  <a:srgbClr val="141B26"/>
                </a:solidFill>
              </a:rPr>
              <a:t>In England and Wales in the 1840s, the median age of death was 46. Today it is 83.</a:t>
            </a:r>
            <a:endParaRPr lang="en-US" sz="2400" dirty="0"/>
          </a:p>
          <a:p>
            <a:pPr indent="0" marL="0">
              <a:spcAft>
                <a:spcPts val="1200"/>
              </a:spcAft>
              <a:buNone/>
            </a:pPr>
            <a:r>
              <a:rPr lang="en-US" sz="2400" dirty="0">
                <a:solidFill>
                  <a:srgbClr val="141B26"/>
                </a:solidFill>
              </a:rPr>
              <a:t>1. Suggest two reasons why people live longer today.</a:t>
            </a:r>
            <a:endParaRPr lang="en-US" sz="2400" dirty="0"/>
          </a:p>
          <a:p>
            <a:pPr indent="0" marL="0">
              <a:spcAft>
                <a:spcPts val="1200"/>
              </a:spcAft>
              <a:buNone/>
            </a:pPr>
            <a:r>
              <a:rPr lang="en-US" sz="2400" dirty="0">
                <a:solidFill>
                  <a:srgbClr val="141B26"/>
                </a:solidFill>
              </a:rPr>
              <a:t>2. Name one disease caused by a microorganism.</a:t>
            </a:r>
            <a:endParaRPr lang="en-US" sz="2400" dirty="0"/>
          </a:p>
          <a:p>
            <a:pPr indent="0" marL="0">
              <a:spcAft>
                <a:spcPts val="1200"/>
              </a:spcAft>
              <a:buNone/>
            </a:pPr>
            <a:r>
              <a:rPr lang="en-US" sz="2400" dirty="0">
                <a:solidFill>
                  <a:srgbClr val="141B26"/>
                </a:solidFill>
              </a:rPr>
              <a:t>3. What is a microorganism?</a:t>
            </a:r>
            <a:endParaRPr lang="en-US" sz="2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Today</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TODAY</a:t>
            </a:r>
            <a:endParaRPr lang="en-US" sz="1100" dirty="0"/>
          </a:p>
        </p:txBody>
      </p:sp>
      <p:sp>
        <p:nvSpPr>
          <p:cNvPr id="5" name="Text 3"/>
          <p:cNvSpPr txBox="1"/>
          <p:nvPr/>
        </p:nvSpPr>
        <p:spPr>
          <a:xfrm>
            <a:off x="548640" y="1280160"/>
            <a:ext cx="5486400" cy="411480"/>
          </a:xfrm>
          <a:prstGeom prst="rect">
            <a:avLst/>
          </a:prstGeom>
          <a:noFill/>
          <a:ln/>
        </p:spPr>
        <p:txBody>
          <a:bodyPr wrap="square" lIns="0" tIns="0" rIns="0" bIns="0" rtlCol="0" anchor="ctr"/>
          <a:lstStyle/>
          <a:p>
            <a:pPr indent="0" marL="0">
              <a:buNone/>
            </a:pPr>
            <a:r>
              <a:rPr lang="en-US" sz="2200" b="1" dirty="0">
                <a:solidFill>
                  <a:srgbClr val="7B3A8E"/>
                </a:solidFill>
              </a:rPr>
              <a:t>Today I can ...</a:t>
            </a:r>
            <a:endParaRPr lang="en-US" sz="2200" dirty="0"/>
          </a:p>
        </p:txBody>
      </p:sp>
      <p:sp>
        <p:nvSpPr>
          <p:cNvPr id="6" name="Shape 4"/>
          <p:cNvSpPr/>
          <p:nvPr/>
        </p:nvSpPr>
        <p:spPr>
          <a:xfrm>
            <a:off x="594360" y="1810512"/>
            <a:ext cx="310896" cy="310896"/>
          </a:xfrm>
          <a:prstGeom prst="rect">
            <a:avLst/>
          </a:prstGeom>
          <a:solidFill>
            <a:srgbClr val="FFFFFF"/>
          </a:solidFill>
          <a:ln w="19050">
            <a:solidFill>
              <a:srgbClr val="0F2A5F"/>
            </a:solidFill>
            <a:prstDash val="solid"/>
          </a:ln>
        </p:spPr>
      </p:sp>
      <p:sp>
        <p:nvSpPr>
          <p:cNvPr id="7" name="Text 5"/>
          <p:cNvSpPr txBox="1"/>
          <p:nvPr/>
        </p:nvSpPr>
        <p:spPr>
          <a:xfrm>
            <a:off x="1097280" y="1737360"/>
            <a:ext cx="10332720" cy="868680"/>
          </a:xfrm>
          <a:prstGeom prst="rect">
            <a:avLst/>
          </a:prstGeom>
          <a:noFill/>
          <a:ln/>
        </p:spPr>
        <p:txBody>
          <a:bodyPr wrap="square" lIns="0" tIns="0" rIns="0" bIns="0" rtlCol="0" anchor="t"/>
          <a:lstStyle/>
          <a:p>
            <a:pPr indent="0" marL="0">
              <a:buNone/>
            </a:pPr>
            <a:r>
              <a:rPr lang="en-US" sz="2000" dirty="0">
                <a:solidFill>
                  <a:srgbClr val="141B26"/>
                </a:solidFill>
              </a:rPr>
              <a:t>I can explain how hygiene, diet, immunisation and medicines have helped people live longer.</a:t>
            </a:r>
            <a:endParaRPr lang="en-US" sz="2000" dirty="0"/>
          </a:p>
        </p:txBody>
      </p:sp>
      <p:sp>
        <p:nvSpPr>
          <p:cNvPr id="8" name="Shape 6"/>
          <p:cNvSpPr/>
          <p:nvPr/>
        </p:nvSpPr>
        <p:spPr>
          <a:xfrm>
            <a:off x="594360" y="2679192"/>
            <a:ext cx="310896" cy="310896"/>
          </a:xfrm>
          <a:prstGeom prst="rect">
            <a:avLst/>
          </a:prstGeom>
          <a:solidFill>
            <a:srgbClr val="FFFFFF"/>
          </a:solidFill>
          <a:ln w="19050">
            <a:solidFill>
              <a:srgbClr val="0F2A5F"/>
            </a:solidFill>
            <a:prstDash val="solid"/>
          </a:ln>
        </p:spPr>
      </p:sp>
      <p:sp>
        <p:nvSpPr>
          <p:cNvPr id="9" name="Text 7"/>
          <p:cNvSpPr txBox="1"/>
          <p:nvPr/>
        </p:nvSpPr>
        <p:spPr>
          <a:xfrm>
            <a:off x="1097280" y="2606040"/>
            <a:ext cx="10332720" cy="868680"/>
          </a:xfrm>
          <a:prstGeom prst="rect">
            <a:avLst/>
          </a:prstGeom>
          <a:noFill/>
          <a:ln/>
        </p:spPr>
        <p:txBody>
          <a:bodyPr wrap="square" lIns="0" tIns="0" rIns="0" bIns="0" rtlCol="0" anchor="t"/>
          <a:lstStyle/>
          <a:p>
            <a:pPr indent="0" marL="0">
              <a:buNone/>
            </a:pPr>
            <a:r>
              <a:rPr lang="en-US" sz="2000" dirty="0">
                <a:solidFill>
                  <a:srgbClr val="141B26"/>
                </a:solidFill>
              </a:rPr>
              <a:t>I can give examples of the five types of disease and say which ones can be passed from person to person.</a:t>
            </a:r>
            <a:endParaRPr lang="en-US" sz="2000" dirty="0"/>
          </a:p>
        </p:txBody>
      </p:sp>
      <p:sp>
        <p:nvSpPr>
          <p:cNvPr id="10" name="Text 8"/>
          <p:cNvSpPr txBox="1"/>
          <p:nvPr/>
        </p:nvSpPr>
        <p:spPr>
          <a:xfrm>
            <a:off x="548640" y="3611880"/>
            <a:ext cx="5486400" cy="411480"/>
          </a:xfrm>
          <a:prstGeom prst="rect">
            <a:avLst/>
          </a:prstGeom>
          <a:noFill/>
          <a:ln/>
        </p:spPr>
        <p:txBody>
          <a:bodyPr wrap="square" lIns="0" tIns="0" rIns="0" bIns="0" rtlCol="0" anchor="ctr"/>
          <a:lstStyle/>
          <a:p>
            <a:pPr indent="0" marL="0">
              <a:buNone/>
            </a:pPr>
            <a:r>
              <a:rPr lang="en-US" sz="2200" b="1" dirty="0">
                <a:solidFill>
                  <a:srgbClr val="7B3A8E"/>
                </a:solidFill>
              </a:rPr>
              <a:t>Key words today</a:t>
            </a:r>
            <a:endParaRPr lang="en-US" sz="2200" dirty="0"/>
          </a:p>
        </p:txBody>
      </p:sp>
      <p:sp>
        <p:nvSpPr>
          <p:cNvPr id="11" name="Text 9"/>
          <p:cNvSpPr txBox="1"/>
          <p:nvPr/>
        </p:nvSpPr>
        <p:spPr>
          <a:xfrm>
            <a:off x="548640" y="4069080"/>
            <a:ext cx="3515258" cy="1920240"/>
          </a:xfrm>
          <a:prstGeom prst="rect">
            <a:avLst/>
          </a:prstGeom>
          <a:noFill/>
          <a:ln/>
        </p:spPr>
        <p:txBody>
          <a:bodyPr wrap="square" lIns="0" tIns="0" rIns="0" bIns="0" rtlCol="0" anchor="t"/>
          <a:lstStyle/>
          <a:p>
            <a:pPr marL="304800" indent="-304800">
              <a:spcAft>
                <a:spcPts val="600"/>
              </a:spcAft>
              <a:buSzPct val="100000"/>
              <a:buChar char="•"/>
            </a:pPr>
            <a:r>
              <a:rPr lang="en-US" sz="2100" b="1" dirty="0">
                <a:solidFill>
                  <a:srgbClr val="0F2A5F"/>
                </a:solidFill>
              </a:rPr>
              <a:t>disease</a:t>
            </a:r>
            <a:endParaRPr lang="en-US" sz="2100" dirty="0"/>
          </a:p>
          <a:p>
            <a:pPr marL="304800" indent="-304800">
              <a:spcAft>
                <a:spcPts val="600"/>
              </a:spcAft>
              <a:buSzPct val="100000"/>
              <a:buChar char="•"/>
            </a:pPr>
            <a:r>
              <a:rPr lang="en-US" sz="2100" b="1" dirty="0">
                <a:solidFill>
                  <a:srgbClr val="0F2A5F"/>
                </a:solidFill>
              </a:rPr>
              <a:t>pathogen</a:t>
            </a:r>
            <a:endParaRPr lang="en-US" sz="2100" dirty="0"/>
          </a:p>
          <a:p>
            <a:pPr marL="304800" indent="-304800">
              <a:spcAft>
                <a:spcPts val="600"/>
              </a:spcAft>
              <a:buSzPct val="100000"/>
              <a:buChar char="•"/>
            </a:pPr>
            <a:r>
              <a:rPr lang="en-US" sz="2100" b="1" dirty="0">
                <a:solidFill>
                  <a:srgbClr val="0F2A5F"/>
                </a:solidFill>
              </a:rPr>
              <a:t>infectious disease</a:t>
            </a:r>
            <a:endParaRPr lang="en-US" sz="2100" dirty="0"/>
          </a:p>
          <a:p>
            <a:pPr marL="304800" indent="-304800">
              <a:spcAft>
                <a:spcPts val="600"/>
              </a:spcAft>
              <a:buSzPct val="100000"/>
              <a:buChar char="•"/>
            </a:pPr>
            <a:r>
              <a:rPr lang="en-US" sz="2100" b="1" dirty="0">
                <a:solidFill>
                  <a:srgbClr val="0F2A5F"/>
                </a:solidFill>
              </a:rPr>
              <a:t>non-communicable</a:t>
            </a:r>
            <a:endParaRPr lang="en-US" sz="2100" dirty="0"/>
          </a:p>
        </p:txBody>
      </p:sp>
      <p:sp>
        <p:nvSpPr>
          <p:cNvPr id="12" name="Text 10"/>
          <p:cNvSpPr txBox="1"/>
          <p:nvPr/>
        </p:nvSpPr>
        <p:spPr>
          <a:xfrm>
            <a:off x="4338218" y="4069080"/>
            <a:ext cx="3515258" cy="1920240"/>
          </a:xfrm>
          <a:prstGeom prst="rect">
            <a:avLst/>
          </a:prstGeom>
          <a:noFill/>
          <a:ln/>
        </p:spPr>
        <p:txBody>
          <a:bodyPr wrap="square" lIns="0" tIns="0" rIns="0" bIns="0" rtlCol="0" anchor="t"/>
          <a:lstStyle/>
          <a:p>
            <a:pPr marL="304800" indent="-304800">
              <a:spcAft>
                <a:spcPts val="600"/>
              </a:spcAft>
              <a:buSzPct val="100000"/>
              <a:buChar char="•"/>
            </a:pPr>
            <a:r>
              <a:rPr lang="en-US" sz="2100" b="1" dirty="0">
                <a:solidFill>
                  <a:srgbClr val="0F2A5F"/>
                </a:solidFill>
              </a:rPr>
              <a:t>deficiency disease</a:t>
            </a:r>
            <a:endParaRPr lang="en-US" sz="2100" dirty="0"/>
          </a:p>
          <a:p>
            <a:pPr marL="304800" indent="-304800">
              <a:spcAft>
                <a:spcPts val="600"/>
              </a:spcAft>
              <a:buSzPct val="100000"/>
              <a:buChar char="•"/>
            </a:pPr>
            <a:r>
              <a:rPr lang="en-US" sz="2100" b="1" dirty="0">
                <a:solidFill>
                  <a:srgbClr val="0F2A5F"/>
                </a:solidFill>
              </a:rPr>
              <a:t>genetic disease</a:t>
            </a:r>
            <a:endParaRPr lang="en-US" sz="2100" dirty="0"/>
          </a:p>
          <a:p>
            <a:pPr marL="304800" indent="-304800">
              <a:spcAft>
                <a:spcPts val="600"/>
              </a:spcAft>
              <a:buSzPct val="100000"/>
              <a:buChar char="•"/>
            </a:pPr>
            <a:r>
              <a:rPr lang="en-US" sz="2100" b="1" dirty="0">
                <a:solidFill>
                  <a:srgbClr val="0F2A5F"/>
                </a:solidFill>
              </a:rPr>
              <a:t>lifestyle disease</a:t>
            </a:r>
            <a:endParaRPr lang="en-US" sz="2100" dirty="0"/>
          </a:p>
          <a:p>
            <a:pPr marL="304800" indent="-304800">
              <a:spcAft>
                <a:spcPts val="600"/>
              </a:spcAft>
              <a:buSzPct val="100000"/>
              <a:buChar char="•"/>
            </a:pPr>
            <a:r>
              <a:rPr lang="en-US" sz="2100" b="1" dirty="0">
                <a:solidFill>
                  <a:srgbClr val="0F2A5F"/>
                </a:solidFill>
              </a:rPr>
              <a:t>autoimmune disease</a:t>
            </a:r>
            <a:endParaRPr lang="en-US" sz="2100" dirty="0"/>
          </a:p>
        </p:txBody>
      </p:sp>
      <p:sp>
        <p:nvSpPr>
          <p:cNvPr id="13" name="Text 11"/>
          <p:cNvSpPr txBox="1"/>
          <p:nvPr/>
        </p:nvSpPr>
        <p:spPr>
          <a:xfrm>
            <a:off x="8127797" y="4069080"/>
            <a:ext cx="3515258" cy="1920240"/>
          </a:xfrm>
          <a:prstGeom prst="rect">
            <a:avLst/>
          </a:prstGeom>
          <a:noFill/>
          <a:ln/>
        </p:spPr>
        <p:txBody>
          <a:bodyPr wrap="square" lIns="0" tIns="0" rIns="0" bIns="0" rtlCol="0" anchor="t"/>
          <a:lstStyle/>
          <a:p>
            <a:pPr marL="304800" indent="-304800">
              <a:spcAft>
                <a:spcPts val="600"/>
              </a:spcAft>
              <a:buSzPct val="100000"/>
              <a:buChar char="•"/>
            </a:pPr>
            <a:r>
              <a:rPr lang="en-US" sz="2200" b="1" dirty="0">
                <a:solidFill>
                  <a:srgbClr val="0F2A5F"/>
                </a:solidFill>
              </a:rPr>
              <a:t>symptom</a:t>
            </a:r>
            <a:endParaRPr lang="en-US" sz="2200" dirty="0"/>
          </a:p>
          <a:p>
            <a:pPr marL="304800" indent="-304800">
              <a:spcAft>
                <a:spcPts val="600"/>
              </a:spcAft>
              <a:buSzPct val="100000"/>
              <a:buChar char="•"/>
            </a:pPr>
            <a:r>
              <a:rPr lang="en-US" sz="2200" b="1" dirty="0">
                <a:solidFill>
                  <a:srgbClr val="0F2A5F"/>
                </a:solidFill>
              </a:rPr>
              <a:t>hygiene</a:t>
            </a:r>
            <a:endParaRPr lang="en-US" sz="2200" dirty="0"/>
          </a:p>
          <a:p>
            <a:pPr marL="304800" indent="-304800">
              <a:spcAft>
                <a:spcPts val="600"/>
              </a:spcAft>
              <a:buSzPct val="100000"/>
              <a:buChar char="•"/>
            </a:pPr>
            <a:r>
              <a:rPr lang="en-US" sz="2200" b="1" dirty="0">
                <a:solidFill>
                  <a:srgbClr val="0F2A5F"/>
                </a:solidFill>
              </a:rPr>
              <a:t>immunisation</a:t>
            </a:r>
            <a:endParaRPr lang="en-US" sz="2200" dirty="0"/>
          </a:p>
        </p:txBody>
      </p:sp>
      <p:sp>
        <p:nvSpPr>
          <p:cNvPr id="14" name="Text 12"/>
          <p:cNvSpPr txBox="1"/>
          <p:nvPr/>
        </p:nvSpPr>
        <p:spPr>
          <a:xfrm>
            <a:off x="548640" y="6035040"/>
            <a:ext cx="10881360" cy="320040"/>
          </a:xfrm>
          <a:prstGeom prst="rect">
            <a:avLst/>
          </a:prstGeom>
          <a:noFill/>
          <a:ln/>
        </p:spPr>
        <p:txBody>
          <a:bodyPr wrap="square" lIns="0" tIns="0" rIns="0" bIns="0" rtlCol="0" anchor="ctr"/>
          <a:lstStyle/>
          <a:p>
            <a:pPr indent="0" marL="0">
              <a:buNone/>
            </a:pPr>
            <a:r>
              <a:rPr lang="en-US" sz="1400" i="1" dirty="0">
                <a:solidFill>
                  <a:srgbClr val="5B6574"/>
                </a:solidFill>
              </a:rPr>
              <a:t>Meanings are in the key words box on your worksheet.</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The Broad Street pump, 1854</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HOOK</a:t>
            </a:r>
            <a:endParaRPr lang="en-US" sz="1100" dirty="0"/>
          </a:p>
        </p:txBody>
      </p:sp>
      <p:sp>
        <p:nvSpPr>
          <p:cNvPr id="5" name="Text 3"/>
          <p:cNvSpPr txBox="1"/>
          <p:nvPr/>
        </p:nvSpPr>
        <p:spPr>
          <a:xfrm>
            <a:off x="548640" y="1371600"/>
            <a:ext cx="5394960" cy="2651760"/>
          </a:xfrm>
          <a:prstGeom prst="rect">
            <a:avLst/>
          </a:prstGeom>
          <a:noFill/>
          <a:ln/>
        </p:spPr>
        <p:txBody>
          <a:bodyPr wrap="square" lIns="0" tIns="0" rIns="0" bIns="0" rtlCol="0" anchor="t"/>
          <a:lstStyle/>
          <a:p>
            <a:pPr indent="0" marL="0">
              <a:buNone/>
            </a:pPr>
            <a:r>
              <a:rPr lang="en-US" sz="2700" b="1" dirty="0">
                <a:solidFill>
                  <a:srgbClr val="0F2A5F"/>
                </a:solidFill>
              </a:rPr>
              <a:t>In one London street, hundreds of people died of cholera in a few days. Dr John Snow mapped every death. Almost all the victims drank from one water pump. What did he suspect?</a:t>
            </a:r>
            <a:endParaRPr lang="en-US" sz="2700" dirty="0"/>
          </a:p>
        </p:txBody>
      </p:sp>
      <p:sp>
        <p:nvSpPr>
          <p:cNvPr id="6" name="Text 4"/>
          <p:cNvSpPr txBox="1"/>
          <p:nvPr/>
        </p:nvSpPr>
        <p:spPr>
          <a:xfrm>
            <a:off x="548640" y="4114800"/>
            <a:ext cx="5394960" cy="1828800"/>
          </a:xfrm>
          <a:prstGeom prst="rect">
            <a:avLst/>
          </a:prstGeom>
          <a:noFill/>
          <a:ln/>
        </p:spPr>
        <p:txBody>
          <a:bodyPr wrap="square" lIns="0" tIns="0" rIns="0" bIns="0" rtlCol="0" anchor="t"/>
          <a:lstStyle/>
          <a:p>
            <a:pPr indent="0" marL="0">
              <a:spcAft>
                <a:spcPts val="800"/>
              </a:spcAft>
              <a:buNone/>
            </a:pPr>
            <a:r>
              <a:rPr lang="en-US" sz="2000" dirty="0">
                <a:solidFill>
                  <a:srgbClr val="141B26"/>
                </a:solidFill>
              </a:rPr>
              <a:t>Talk to a partner: how could water make people ill?</a:t>
            </a:r>
            <a:endParaRPr lang="en-US" sz="2000" dirty="0"/>
          </a:p>
        </p:txBody>
      </p:sp>
      <p:pic>
        <p:nvPicPr>
          <p:cNvPr id="7" name="Image 0" descr="/home/user/lessons/Y9_Exploring_Science/images/broad_street_pump.jpg">    </p:cNvPr>
          <p:cNvPicPr>
            <a:picLocks noChangeAspect="1"/>
          </p:cNvPicPr>
          <p:nvPr/>
        </p:nvPicPr>
        <p:blipFill>
          <a:blip r:embed="rId1"/>
          <a:stretch>
            <a:fillRect/>
          </a:stretch>
        </p:blipFill>
        <p:spPr>
          <a:xfrm>
            <a:off x="6309360" y="1394460"/>
            <a:ext cx="5303520" cy="3977640"/>
          </a:xfrm>
          <a:prstGeom prst="rect">
            <a:avLst/>
          </a:prstGeom>
        </p:spPr>
      </p:pic>
      <p:sp>
        <p:nvSpPr>
          <p:cNvPr id="8" name="Text 5"/>
          <p:cNvSpPr txBox="1"/>
          <p:nvPr/>
        </p:nvSpPr>
        <p:spPr>
          <a:xfrm>
            <a:off x="6309360" y="5417820"/>
            <a:ext cx="5303520" cy="548640"/>
          </a:xfrm>
          <a:prstGeom prst="rect">
            <a:avLst/>
          </a:prstGeom>
          <a:noFill/>
          <a:ln/>
        </p:spPr>
        <p:txBody>
          <a:bodyPr wrap="square" lIns="0" tIns="0" rIns="0" bIns="0" rtlCol="0" anchor="t"/>
          <a:lstStyle/>
          <a:p>
            <a:pPr algn="l" indent="0" marL="0">
              <a:buNone/>
            </a:pPr>
            <a:r>
              <a:rPr lang="en-US" sz="1300" dirty="0">
                <a:solidFill>
                  <a:srgbClr val="141B26"/>
                </a:solidFill>
              </a:rPr>
              <a:t>The John Snow pub on Broadwick (Broad) Street, Soho, next to the site of the cholera pump</a:t>
            </a:r>
            <a:pPr algn="l" indent="0" marL="0">
              <a:buNone/>
            </a:pPr>
            <a:endParaRPr lang="en-US" sz="1300" dirty="0"/>
          </a:p>
          <a:p>
            <a:pPr algn="l" indent="0" marL="0">
              <a:buNone/>
            </a:pPr>
            <a:r>
              <a:rPr lang="en-US" sz="900" dirty="0">
                <a:solidFill>
                  <a:srgbClr val="5B6574"/>
                </a:solidFill>
              </a:rPr>
              <a:t>Image: Ewan-M, CC BY-SA 2.0, via Wikimedia Commons</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Why do we live longer?</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35040"/>
            <a:ext cx="9601200" cy="310896"/>
          </a:xfrm>
          <a:prstGeom prst="rect">
            <a:avLst/>
          </a:prstGeom>
          <a:noFill/>
          <a:ln/>
        </p:spPr>
        <p:txBody>
          <a:bodyPr wrap="square" lIns="0" tIns="0" rIns="0" bIns="0" rtlCol="0" anchor="ctr"/>
          <a:lstStyle/>
          <a:p>
            <a:pPr indent="0" marL="0">
              <a:buNone/>
            </a:pPr>
            <a:r>
              <a:rPr lang="en-US" sz="1400" b="1" dirty="0">
                <a:solidFill>
                  <a:srgbClr val="7B3A8E"/>
                </a:solidFill>
              </a:rPr>
              <a:t>Key words  </a:t>
            </a:r>
            <a:pPr indent="0" marL="0">
              <a:buNone/>
            </a:pPr>
            <a:r>
              <a:rPr lang="en-US" sz="1400" dirty="0">
                <a:solidFill>
                  <a:srgbClr val="7B3A8E"/>
                </a:solidFill>
              </a:rPr>
              <a:t>hygiene   ·   pathogen   ·   immunisation</a:t>
            </a:r>
            <a:endParaRPr lang="en-US" sz="1400" dirty="0"/>
          </a:p>
        </p:txBody>
      </p:sp>
      <p:sp>
        <p:nvSpPr>
          <p:cNvPr id="6" name="Text 4"/>
          <p:cNvSpPr txBox="1"/>
          <p:nvPr/>
        </p:nvSpPr>
        <p:spPr>
          <a:xfrm>
            <a:off x="548640" y="1325880"/>
            <a:ext cx="5760720" cy="4069080"/>
          </a:xfrm>
          <a:prstGeom prst="rect">
            <a:avLst/>
          </a:prstGeom>
          <a:noFill/>
          <a:ln/>
        </p:spPr>
        <p:txBody>
          <a:bodyPr wrap="square" lIns="0" tIns="0" rIns="0" bIns="0" rtlCol="0" anchor="t"/>
          <a:lstStyle/>
          <a:p>
            <a:pPr marL="304800" indent="-304800">
              <a:spcAft>
                <a:spcPts val="800"/>
              </a:spcAft>
              <a:buSzPct val="100000"/>
              <a:buChar char="•"/>
            </a:pPr>
            <a:r>
              <a:rPr lang="en-US" sz="2000" dirty="0">
                <a:solidFill>
                  <a:srgbClr val="141B26"/>
                </a:solidFill>
              </a:rPr>
              <a:t>Hygiene keeps drinking water separate from sewage, which contains pathogens (cholera, typhoid).</a:t>
            </a:r>
            <a:endParaRPr lang="en-US" sz="2000" dirty="0"/>
          </a:p>
          <a:p>
            <a:pPr marL="304800" indent="-304800">
              <a:spcAft>
                <a:spcPts val="800"/>
              </a:spcAft>
              <a:buSzPct val="100000"/>
              <a:buChar char="•"/>
            </a:pPr>
            <a:r>
              <a:rPr lang="en-US" sz="2000" dirty="0">
                <a:solidFill>
                  <a:srgbClr val="141B26"/>
                </a:solidFill>
              </a:rPr>
              <a:t>Better diet: healthier bodies fight disease better.</a:t>
            </a:r>
            <a:endParaRPr lang="en-US" sz="2000" dirty="0"/>
          </a:p>
          <a:p>
            <a:pPr marL="304800" indent="-304800">
              <a:spcAft>
                <a:spcPts val="800"/>
              </a:spcAft>
              <a:buSzPct val="100000"/>
              <a:buChar char="•"/>
            </a:pPr>
            <a:r>
              <a:rPr lang="en-US" sz="2000" dirty="0">
                <a:solidFill>
                  <a:srgbClr val="141B26"/>
                </a:solidFill>
              </a:rPr>
              <a:t>Immunisation protects against particular diseases. Polio paralysed or killed about half a million people a year in the 1940s; today there are a few hundred cases.</a:t>
            </a:r>
            <a:endParaRPr lang="en-US" sz="2000" dirty="0"/>
          </a:p>
          <a:p>
            <a:pPr marL="304800" indent="-304800">
              <a:spcAft>
                <a:spcPts val="800"/>
              </a:spcAft>
              <a:buSzPct val="100000"/>
              <a:buChar char="•"/>
            </a:pPr>
            <a:r>
              <a:rPr lang="en-US" sz="2000" dirty="0">
                <a:solidFill>
                  <a:srgbClr val="141B26"/>
                </a:solidFill>
              </a:rPr>
              <a:t>Medicines, including antibiotics for bacterial diseases.</a:t>
            </a:r>
            <a:endParaRPr lang="en-US" sz="2000" dirty="0"/>
          </a:p>
        </p:txBody>
      </p:sp>
      <p:pic>
        <p:nvPicPr>
          <p:cNvPr id="7" name="Image 0" descr="/home/user/lessons/Y9_Exploring_Science/images/polio_vaccine.jpg">    </p:cNvPr>
          <p:cNvPicPr>
            <a:picLocks noChangeAspect="1"/>
          </p:cNvPicPr>
          <p:nvPr/>
        </p:nvPicPr>
        <p:blipFill>
          <a:blip r:embed="rId1"/>
          <a:stretch>
            <a:fillRect/>
          </a:stretch>
        </p:blipFill>
        <p:spPr>
          <a:xfrm>
            <a:off x="6583680" y="1431741"/>
            <a:ext cx="5029200" cy="3354437"/>
          </a:xfrm>
          <a:prstGeom prst="rect">
            <a:avLst/>
          </a:prstGeom>
        </p:spPr>
      </p:pic>
      <p:sp>
        <p:nvSpPr>
          <p:cNvPr id="8" name="Text 5"/>
          <p:cNvSpPr txBox="1"/>
          <p:nvPr/>
        </p:nvSpPr>
        <p:spPr>
          <a:xfrm>
            <a:off x="6583680" y="4831899"/>
            <a:ext cx="5029200" cy="548640"/>
          </a:xfrm>
          <a:prstGeom prst="rect">
            <a:avLst/>
          </a:prstGeom>
          <a:noFill/>
          <a:ln/>
        </p:spPr>
        <p:txBody>
          <a:bodyPr wrap="square" lIns="0" tIns="0" rIns="0" bIns="0" rtlCol="0" anchor="t"/>
          <a:lstStyle/>
          <a:p>
            <a:pPr algn="l" indent="0" marL="0">
              <a:buNone/>
            </a:pPr>
            <a:r>
              <a:rPr lang="en-US" sz="1300" dirty="0">
                <a:solidFill>
                  <a:srgbClr val="141B26"/>
                </a:solidFill>
              </a:rPr>
              <a:t>Oral polio vaccine being given to a child</a:t>
            </a:r>
            <a:pPr algn="l" indent="0" marL="0">
              <a:buNone/>
            </a:pPr>
            <a:endParaRPr lang="en-US" sz="1300" dirty="0"/>
          </a:p>
          <a:p>
            <a:pPr algn="l" indent="0" marL="0">
              <a:buNone/>
            </a:pPr>
            <a:r>
              <a:rPr lang="en-US" sz="900" dirty="0">
                <a:solidFill>
                  <a:srgbClr val="5B6574"/>
                </a:solidFill>
              </a:rPr>
              <a:t>Image: hdptcar, CC BY 2.0, via Wikimedia Commons</a:t>
            </a:r>
            <a:endParaRPr lang="en-US" sz="1300" dirty="0"/>
          </a:p>
        </p:txBody>
      </p:sp>
      <p:sp>
        <p:nvSpPr>
          <p:cNvPr id="9" name="Shape 6"/>
          <p:cNvSpPr/>
          <p:nvPr/>
        </p:nvSpPr>
        <p:spPr>
          <a:xfrm>
            <a:off x="548640" y="5532120"/>
            <a:ext cx="11094415" cy="566928"/>
          </a:xfrm>
          <a:prstGeom prst="rect">
            <a:avLst/>
          </a:prstGeom>
          <a:solidFill>
            <a:srgbClr val="F1E5F4"/>
          </a:solidFill>
          <a:ln w="12700">
            <a:solidFill>
              <a:srgbClr val="F1E5F4"/>
            </a:solidFill>
            <a:prstDash val="solid"/>
          </a:ln>
        </p:spPr>
      </p:sp>
      <p:sp>
        <p:nvSpPr>
          <p:cNvPr id="10" name="Text 7"/>
          <p:cNvSpPr txBox="1"/>
          <p:nvPr/>
        </p:nvSpPr>
        <p:spPr>
          <a:xfrm>
            <a:off x="685800" y="553212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Hygiene, diet, immunisation and medicines have cut deaths from infectious diseases.</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Five types of disease</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1234440"/>
            <a:ext cx="10881360" cy="457200"/>
          </a:xfrm>
          <a:prstGeom prst="rect">
            <a:avLst/>
          </a:prstGeom>
          <a:noFill/>
          <a:ln/>
        </p:spPr>
        <p:txBody>
          <a:bodyPr wrap="square" lIns="0" tIns="0" rIns="0" bIns="0" rtlCol="0" anchor="ctr"/>
          <a:lstStyle/>
          <a:p>
            <a:pPr indent="0" marL="0">
              <a:buNone/>
            </a:pPr>
            <a:r>
              <a:rPr lang="en-US" sz="1800" dirty="0">
                <a:solidFill>
                  <a:srgbClr val="141B26"/>
                </a:solidFill>
              </a:rPr>
              <a:t>A disease is something that makes you ill. Diseases have many different causes.</a:t>
            </a:r>
            <a:endParaRPr lang="en-US" sz="1800" dirty="0"/>
          </a:p>
        </p:txBody>
      </p:sp>
      <p:pic>
        <p:nvPicPr>
          <p:cNvPr id="6" name="Image 0" descr="/home/user/lessons/Y9_Exploring_Science/source/diagrams/disease_types.png">    </p:cNvPr>
          <p:cNvPicPr>
            <a:picLocks noChangeAspect="1"/>
          </p:cNvPicPr>
          <p:nvPr/>
        </p:nvPicPr>
        <p:blipFill>
          <a:blip r:embed="rId1"/>
          <a:stretch>
            <a:fillRect/>
          </a:stretch>
        </p:blipFill>
        <p:spPr>
          <a:xfrm>
            <a:off x="2420930" y="1737360"/>
            <a:ext cx="7136780" cy="3657600"/>
          </a:xfrm>
          <a:prstGeom prst="rect">
            <a:avLst/>
          </a:prstGeom>
        </p:spPr>
      </p:pic>
      <p:sp>
        <p:nvSpPr>
          <p:cNvPr id="7" name="Shape 4"/>
          <p:cNvSpPr/>
          <p:nvPr/>
        </p:nvSpPr>
        <p:spPr>
          <a:xfrm>
            <a:off x="548640" y="5532120"/>
            <a:ext cx="11094415" cy="566928"/>
          </a:xfrm>
          <a:prstGeom prst="rect">
            <a:avLst/>
          </a:prstGeom>
          <a:solidFill>
            <a:srgbClr val="F1E5F4"/>
          </a:solidFill>
          <a:ln w="12700">
            <a:solidFill>
              <a:srgbClr val="F1E5F4"/>
            </a:solidFill>
            <a:prstDash val="solid"/>
          </a:ln>
        </p:spPr>
      </p:sp>
      <p:sp>
        <p:nvSpPr>
          <p:cNvPr id="8" name="Text 5"/>
          <p:cNvSpPr txBox="1"/>
          <p:nvPr/>
        </p:nvSpPr>
        <p:spPr>
          <a:xfrm>
            <a:off x="685800" y="553212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Only infectious diseases can be passed from person to person. The other four types are non-communicable.</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Pathogens and symptoms</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35040"/>
            <a:ext cx="9601200" cy="310896"/>
          </a:xfrm>
          <a:prstGeom prst="rect">
            <a:avLst/>
          </a:prstGeom>
          <a:noFill/>
          <a:ln/>
        </p:spPr>
        <p:txBody>
          <a:bodyPr wrap="square" lIns="0" tIns="0" rIns="0" bIns="0" rtlCol="0" anchor="ctr"/>
          <a:lstStyle/>
          <a:p>
            <a:pPr indent="0" marL="0">
              <a:buNone/>
            </a:pPr>
            <a:r>
              <a:rPr lang="en-US" sz="1400" b="1" dirty="0">
                <a:solidFill>
                  <a:srgbClr val="7B3A8E"/>
                </a:solidFill>
              </a:rPr>
              <a:t>Key words  </a:t>
            </a:r>
            <a:pPr indent="0" marL="0">
              <a:buNone/>
            </a:pPr>
            <a:r>
              <a:rPr lang="en-US" sz="1400" dirty="0">
                <a:solidFill>
                  <a:srgbClr val="7B3A8E"/>
                </a:solidFill>
              </a:rPr>
              <a:t>pathogen   ·   symptom   ·   infectious disease</a:t>
            </a:r>
            <a:endParaRPr lang="en-US" sz="1400" dirty="0"/>
          </a:p>
        </p:txBody>
      </p:sp>
      <p:sp>
        <p:nvSpPr>
          <p:cNvPr id="6" name="Text 4"/>
          <p:cNvSpPr txBox="1"/>
          <p:nvPr/>
        </p:nvSpPr>
        <p:spPr>
          <a:xfrm>
            <a:off x="548640" y="1325880"/>
            <a:ext cx="10881360" cy="4069080"/>
          </a:xfrm>
          <a:prstGeom prst="rect">
            <a:avLst/>
          </a:prstGeom>
          <a:noFill/>
          <a:ln/>
        </p:spPr>
        <p:txBody>
          <a:bodyPr wrap="square" lIns="0" tIns="0" rIns="0" bIns="0" rtlCol="0" anchor="t"/>
          <a:lstStyle/>
          <a:p>
            <a:pPr marL="304800" indent="-304800">
              <a:spcAft>
                <a:spcPts val="800"/>
              </a:spcAft>
              <a:buSzPct val="100000"/>
              <a:buChar char="•"/>
            </a:pPr>
            <a:r>
              <a:rPr lang="en-US" sz="2000" dirty="0">
                <a:solidFill>
                  <a:srgbClr val="141B26"/>
                </a:solidFill>
              </a:rPr>
              <a:t>Pathogens are microorganisms that get into the body and change how it works.</a:t>
            </a:r>
            <a:endParaRPr lang="en-US" sz="2000" dirty="0"/>
          </a:p>
          <a:p>
            <a:pPr marL="304800" indent="-304800">
              <a:spcAft>
                <a:spcPts val="800"/>
              </a:spcAft>
              <a:buSzPct val="100000"/>
              <a:buChar char="•"/>
            </a:pPr>
            <a:r>
              <a:rPr lang="en-US" sz="2000" dirty="0">
                <a:solidFill>
                  <a:srgbClr val="141B26"/>
                </a:solidFill>
              </a:rPr>
              <a:t>They include bacteria, fungi, protoctists and viruses.</a:t>
            </a:r>
            <a:endParaRPr lang="en-US" sz="2000" dirty="0"/>
          </a:p>
          <a:p>
            <a:pPr marL="304800" indent="-304800">
              <a:spcAft>
                <a:spcPts val="800"/>
              </a:spcAft>
              <a:buSzPct val="100000"/>
              <a:buChar char="•"/>
            </a:pPr>
            <a:r>
              <a:rPr lang="en-US" sz="2000" dirty="0">
                <a:solidFill>
                  <a:srgbClr val="141B26"/>
                </a:solidFill>
              </a:rPr>
              <a:t>The obvious effects of a disease are its symptoms: a rash, a raised temperature, a cough.</a:t>
            </a:r>
            <a:endParaRPr lang="en-US" sz="2000" dirty="0"/>
          </a:p>
          <a:p>
            <a:pPr marL="304800" indent="-304800">
              <a:spcAft>
                <a:spcPts val="800"/>
              </a:spcAft>
              <a:buSzPct val="100000"/>
              <a:buChar char="•"/>
            </a:pPr>
            <a:r>
              <a:rPr lang="en-US" sz="2000" dirty="0">
                <a:solidFill>
                  <a:srgbClr val="141B26"/>
                </a:solidFill>
              </a:rPr>
              <a:t>In richer countries, most deaths are now from changes inside the body, not from infections.</a:t>
            </a:r>
            <a:endParaRPr lang="en-US" sz="2000" dirty="0"/>
          </a:p>
        </p:txBody>
      </p:sp>
      <p:sp>
        <p:nvSpPr>
          <p:cNvPr id="7" name="Shape 5"/>
          <p:cNvSpPr/>
          <p:nvPr/>
        </p:nvSpPr>
        <p:spPr>
          <a:xfrm>
            <a:off x="548640" y="5532120"/>
            <a:ext cx="11094415" cy="566928"/>
          </a:xfrm>
          <a:prstGeom prst="rect">
            <a:avLst/>
          </a:prstGeom>
          <a:solidFill>
            <a:srgbClr val="F1E5F4"/>
          </a:solidFill>
          <a:ln w="12700">
            <a:solidFill>
              <a:srgbClr val="F1E5F4"/>
            </a:solidFill>
            <a:prstDash val="solid"/>
          </a:ln>
        </p:spPr>
      </p:sp>
      <p:sp>
        <p:nvSpPr>
          <p:cNvPr id="8" name="Text 6"/>
          <p:cNvSpPr txBox="1"/>
          <p:nvPr/>
        </p:nvSpPr>
        <p:spPr>
          <a:xfrm>
            <a:off x="685800" y="553212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A pathogen is a microorganism that causes disease.</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Quick check</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CHECK</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600" i="1" dirty="0">
                <a:solidFill>
                  <a:srgbClr val="5B6574"/>
                </a:solidFill>
              </a:rPr>
              <a:t>Mini whiteboards. One answer each, then we check.</a:t>
            </a:r>
            <a:endParaRPr lang="en-US" sz="1600" dirty="0"/>
          </a:p>
        </p:txBody>
      </p:sp>
      <p:sp>
        <p:nvSpPr>
          <p:cNvPr id="6" name="Shape 4"/>
          <p:cNvSpPr/>
          <p:nvPr/>
        </p:nvSpPr>
        <p:spPr>
          <a:xfrm>
            <a:off x="548640" y="1783080"/>
            <a:ext cx="10881360" cy="713232"/>
          </a:xfrm>
          <a:prstGeom prst="roundRect">
            <a:avLst>
              <a:gd name="adj" fmla="val 10256"/>
            </a:avLst>
          </a:prstGeom>
          <a:solidFill>
            <a:srgbClr val="FFFFFF"/>
          </a:solidFill>
          <a:ln w="12700">
            <a:solidFill>
              <a:srgbClr val="D5DBE3"/>
            </a:solidFill>
            <a:prstDash val="solid"/>
          </a:ln>
        </p:spPr>
      </p:sp>
      <p:sp>
        <p:nvSpPr>
          <p:cNvPr id="7" name="Text 5"/>
          <p:cNvSpPr txBox="1"/>
          <p:nvPr/>
        </p:nvSpPr>
        <p:spPr>
          <a:xfrm>
            <a:off x="731520" y="178308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Q1  </a:t>
            </a:r>
            <a:pPr indent="0" marL="0">
              <a:buNone/>
            </a:pPr>
            <a:r>
              <a:rPr lang="en-US" sz="2000" dirty="0">
                <a:solidFill>
                  <a:srgbClr val="141B26"/>
                </a:solidFill>
              </a:rPr>
              <a:t>Scurvy is caused by too little vitamin C. Which type of disease is it?</a:t>
            </a:r>
            <a:endParaRPr lang="en-US" sz="2000" dirty="0"/>
          </a:p>
        </p:txBody>
      </p:sp>
      <p:sp>
        <p:nvSpPr>
          <p:cNvPr id="8" name="Shape 6"/>
          <p:cNvSpPr/>
          <p:nvPr/>
        </p:nvSpPr>
        <p:spPr>
          <a:xfrm>
            <a:off x="548640" y="2606040"/>
            <a:ext cx="10881360" cy="713232"/>
          </a:xfrm>
          <a:prstGeom prst="roundRect">
            <a:avLst>
              <a:gd name="adj" fmla="val 10256"/>
            </a:avLst>
          </a:prstGeom>
          <a:solidFill>
            <a:srgbClr val="FFFFFF"/>
          </a:solidFill>
          <a:ln w="12700">
            <a:solidFill>
              <a:srgbClr val="D5DBE3"/>
            </a:solidFill>
            <a:prstDash val="solid"/>
          </a:ln>
        </p:spPr>
      </p:sp>
      <p:sp>
        <p:nvSpPr>
          <p:cNvPr id="9" name="Text 7"/>
          <p:cNvSpPr txBox="1"/>
          <p:nvPr/>
        </p:nvSpPr>
        <p:spPr>
          <a:xfrm>
            <a:off x="731520" y="260604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Q2  </a:t>
            </a:r>
            <a:pPr indent="0" marL="0">
              <a:buNone/>
            </a:pPr>
            <a:r>
              <a:rPr lang="en-US" sz="2000" dirty="0">
                <a:solidFill>
                  <a:srgbClr val="141B26"/>
                </a:solidFill>
              </a:rPr>
              <a:t>Flu is caused by a virus. Which type of disease is it?</a:t>
            </a:r>
            <a:endParaRPr lang="en-US" sz="2000" dirty="0"/>
          </a:p>
        </p:txBody>
      </p:sp>
      <p:sp>
        <p:nvSpPr>
          <p:cNvPr id="10" name="Shape 8"/>
          <p:cNvSpPr/>
          <p:nvPr/>
        </p:nvSpPr>
        <p:spPr>
          <a:xfrm>
            <a:off x="548640" y="3429000"/>
            <a:ext cx="10881360" cy="713232"/>
          </a:xfrm>
          <a:prstGeom prst="roundRect">
            <a:avLst>
              <a:gd name="adj" fmla="val 10256"/>
            </a:avLst>
          </a:prstGeom>
          <a:solidFill>
            <a:srgbClr val="FFFFFF"/>
          </a:solidFill>
          <a:ln w="12700">
            <a:solidFill>
              <a:srgbClr val="D5DBE3"/>
            </a:solidFill>
            <a:prstDash val="solid"/>
          </a:ln>
        </p:spPr>
      </p:sp>
      <p:sp>
        <p:nvSpPr>
          <p:cNvPr id="11" name="Text 9"/>
          <p:cNvSpPr txBox="1"/>
          <p:nvPr/>
        </p:nvSpPr>
        <p:spPr>
          <a:xfrm>
            <a:off x="731520" y="342900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Q3  </a:t>
            </a:r>
            <a:pPr indent="0" marL="0">
              <a:buNone/>
            </a:pPr>
            <a:r>
              <a:rPr lang="en-US" sz="2000" dirty="0">
                <a:solidFill>
                  <a:srgbClr val="141B26"/>
                </a:solidFill>
              </a:rPr>
              <a:t>Can you catch type 1 diabetes from a friend? Yes or no.</a:t>
            </a:r>
            <a:endParaRPr lang="en-US" sz="2000" dirty="0"/>
          </a:p>
        </p:txBody>
      </p:sp>
      <p:sp>
        <p:nvSpPr>
          <p:cNvPr id="12" name="Shape 10"/>
          <p:cNvSpPr/>
          <p:nvPr/>
        </p:nvSpPr>
        <p:spPr>
          <a:xfrm>
            <a:off x="548640" y="4251960"/>
            <a:ext cx="10881360" cy="713232"/>
          </a:xfrm>
          <a:prstGeom prst="roundRect">
            <a:avLst>
              <a:gd name="adj" fmla="val 10256"/>
            </a:avLst>
          </a:prstGeom>
          <a:solidFill>
            <a:srgbClr val="FFFFFF"/>
          </a:solidFill>
          <a:ln w="12700">
            <a:solidFill>
              <a:srgbClr val="D5DBE3"/>
            </a:solidFill>
            <a:prstDash val="solid"/>
          </a:ln>
        </p:spPr>
      </p:sp>
      <p:sp>
        <p:nvSpPr>
          <p:cNvPr id="13" name="Text 11"/>
          <p:cNvSpPr txBox="1"/>
          <p:nvPr/>
        </p:nvSpPr>
        <p:spPr>
          <a:xfrm>
            <a:off x="731520" y="425196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Q4  </a:t>
            </a:r>
            <a:pPr indent="0" marL="0">
              <a:buNone/>
            </a:pPr>
            <a:r>
              <a:rPr lang="en-US" sz="2000" dirty="0">
                <a:solidFill>
                  <a:srgbClr val="141B26"/>
                </a:solidFill>
              </a:rPr>
              <a:t>Name one kingdom of organisms that includes pathogens.</a:t>
            </a:r>
            <a:endParaRPr lang="en-US" sz="2000" dirty="0"/>
          </a:p>
        </p:txBody>
      </p:sp>
      <p:sp>
        <p:nvSpPr>
          <p:cNvPr id="14" name="Shape 12"/>
          <p:cNvSpPr/>
          <p:nvPr/>
        </p:nvSpPr>
        <p:spPr>
          <a:xfrm>
            <a:off x="548640" y="5074920"/>
            <a:ext cx="10881360" cy="713232"/>
          </a:xfrm>
          <a:prstGeom prst="roundRect">
            <a:avLst>
              <a:gd name="adj" fmla="val 10256"/>
            </a:avLst>
          </a:prstGeom>
          <a:solidFill>
            <a:srgbClr val="FFFFFF"/>
          </a:solidFill>
          <a:ln w="12700">
            <a:solidFill>
              <a:srgbClr val="D5DBE3"/>
            </a:solidFill>
            <a:prstDash val="solid"/>
          </a:ln>
        </p:spPr>
      </p:sp>
      <p:sp>
        <p:nvSpPr>
          <p:cNvPr id="15" name="Text 13"/>
          <p:cNvSpPr txBox="1"/>
          <p:nvPr/>
        </p:nvSpPr>
        <p:spPr>
          <a:xfrm>
            <a:off x="731520" y="507492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Q5  </a:t>
            </a:r>
            <a:pPr indent="0" marL="0">
              <a:buNone/>
            </a:pPr>
            <a:r>
              <a:rPr lang="en-US" sz="2000" dirty="0">
                <a:solidFill>
                  <a:srgbClr val="141B26"/>
                </a:solidFill>
              </a:rPr>
              <a:t>Give one symptom of chickenpox.</a:t>
            </a:r>
            <a:endParaRPr lang="en-US" sz="20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Your turn: sorting diseases</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DO</a:t>
            </a:r>
            <a:endParaRPr lang="en-US" sz="1100" dirty="0"/>
          </a:p>
        </p:txBody>
      </p:sp>
      <p:sp>
        <p:nvSpPr>
          <p:cNvPr id="5" name="Shape 3"/>
          <p:cNvSpPr/>
          <p:nvPr/>
        </p:nvSpPr>
        <p:spPr>
          <a:xfrm>
            <a:off x="10682935" y="914400"/>
            <a:ext cx="914400" cy="914400"/>
          </a:xfrm>
          <a:prstGeom prst="ellipse">
            <a:avLst/>
          </a:prstGeom>
          <a:solidFill>
            <a:srgbClr val="FFFFFF"/>
          </a:solidFill>
          <a:ln w="25400">
            <a:solidFill>
              <a:srgbClr val="7B3A8E"/>
            </a:solidFill>
            <a:prstDash val="solid"/>
          </a:ln>
        </p:spPr>
      </p:sp>
      <p:sp>
        <p:nvSpPr>
          <p:cNvPr id="6" name="Text 4"/>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14</a:t>
            </a:r>
            <a:endParaRPr lang="en-US" sz="2200" dirty="0"/>
          </a:p>
          <a:p>
            <a:pPr algn="ctr" indent="0" marL="0">
              <a:buNone/>
            </a:pPr>
            <a:r>
              <a:rPr lang="en-US" sz="1000" dirty="0">
                <a:solidFill>
                  <a:srgbClr val="5B6574"/>
                </a:solidFill>
              </a:rPr>
              <a:t>min</a:t>
            </a:r>
            <a:endParaRPr lang="en-US" sz="2200" dirty="0"/>
          </a:p>
        </p:txBody>
      </p:sp>
      <p:sp>
        <p:nvSpPr>
          <p:cNvPr id="7" name="Shape 5"/>
          <p:cNvSpPr/>
          <p:nvPr/>
        </p:nvSpPr>
        <p:spPr>
          <a:xfrm>
            <a:off x="548640" y="1417320"/>
            <a:ext cx="457200" cy="457200"/>
          </a:xfrm>
          <a:prstGeom prst="ellipse">
            <a:avLst/>
          </a:prstGeom>
          <a:solidFill>
            <a:srgbClr val="7B3A8E"/>
          </a:solidFill>
          <a:ln w="12700">
            <a:solidFill>
              <a:srgbClr val="7B3A8E"/>
            </a:solidFill>
            <a:prstDash val="solid"/>
          </a:ln>
        </p:spPr>
      </p:sp>
      <p:sp>
        <p:nvSpPr>
          <p:cNvPr id="8" name="Text 6"/>
          <p:cNvSpPr txBox="1"/>
          <p:nvPr/>
        </p:nvSpPr>
        <p:spPr>
          <a:xfrm>
            <a:off x="548640" y="1417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7"/>
          <p:cNvSpPr txBox="1"/>
          <p:nvPr/>
        </p:nvSpPr>
        <p:spPr>
          <a:xfrm>
            <a:off x="1188720" y="1371600"/>
            <a:ext cx="9418320" cy="896112"/>
          </a:xfrm>
          <a:prstGeom prst="rect">
            <a:avLst/>
          </a:prstGeom>
          <a:noFill/>
          <a:ln/>
        </p:spPr>
        <p:txBody>
          <a:bodyPr wrap="square" lIns="0" tIns="0" rIns="0" bIns="0" rtlCol="0" anchor="t"/>
          <a:lstStyle/>
          <a:p>
            <a:pPr indent="0" marL="0">
              <a:buNone/>
            </a:pPr>
            <a:r>
              <a:rPr lang="en-US" sz="2000" dirty="0">
                <a:solidFill>
                  <a:srgbClr val="141B26"/>
                </a:solidFill>
              </a:rPr>
              <a:t>Core: match each type of disease to its example, then tick communicable or non-communicable.</a:t>
            </a:r>
            <a:endParaRPr lang="en-US" sz="2000" dirty="0"/>
          </a:p>
        </p:txBody>
      </p:sp>
      <p:sp>
        <p:nvSpPr>
          <p:cNvPr id="10" name="Shape 8"/>
          <p:cNvSpPr/>
          <p:nvPr/>
        </p:nvSpPr>
        <p:spPr>
          <a:xfrm>
            <a:off x="548640" y="2313432"/>
            <a:ext cx="457200" cy="457200"/>
          </a:xfrm>
          <a:prstGeom prst="ellipse">
            <a:avLst/>
          </a:prstGeom>
          <a:solidFill>
            <a:srgbClr val="7B3A8E"/>
          </a:solidFill>
          <a:ln w="12700">
            <a:solidFill>
              <a:srgbClr val="7B3A8E"/>
            </a:solidFill>
            <a:prstDash val="solid"/>
          </a:ln>
        </p:spPr>
      </p:sp>
      <p:sp>
        <p:nvSpPr>
          <p:cNvPr id="11" name="Text 9"/>
          <p:cNvSpPr txBox="1"/>
          <p:nvPr/>
        </p:nvSpPr>
        <p:spPr>
          <a:xfrm>
            <a:off x="548640" y="231343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10"/>
          <p:cNvSpPr txBox="1"/>
          <p:nvPr/>
        </p:nvSpPr>
        <p:spPr>
          <a:xfrm>
            <a:off x="1188720" y="2267712"/>
            <a:ext cx="9418320" cy="896112"/>
          </a:xfrm>
          <a:prstGeom prst="rect">
            <a:avLst/>
          </a:prstGeom>
          <a:noFill/>
          <a:ln/>
        </p:spPr>
        <p:txBody>
          <a:bodyPr wrap="square" lIns="0" tIns="0" rIns="0" bIns="0" rtlCol="0" anchor="t"/>
          <a:lstStyle/>
          <a:p>
            <a:pPr indent="0" marL="0">
              <a:buNone/>
            </a:pPr>
            <a:r>
              <a:rPr lang="en-US" sz="2000" dirty="0">
                <a:solidFill>
                  <a:srgbClr val="141B26"/>
                </a:solidFill>
              </a:rPr>
              <a:t>Core: fill the gaps using the word bank; decide what type of disease anaemia is.</a:t>
            </a:r>
            <a:endParaRPr lang="en-US" sz="2000" dirty="0"/>
          </a:p>
        </p:txBody>
      </p:sp>
      <p:sp>
        <p:nvSpPr>
          <p:cNvPr id="13" name="Shape 11"/>
          <p:cNvSpPr/>
          <p:nvPr/>
        </p:nvSpPr>
        <p:spPr>
          <a:xfrm>
            <a:off x="548640" y="3209544"/>
            <a:ext cx="457200" cy="457200"/>
          </a:xfrm>
          <a:prstGeom prst="ellipse">
            <a:avLst/>
          </a:prstGeom>
          <a:solidFill>
            <a:srgbClr val="7B3A8E"/>
          </a:solidFill>
          <a:ln w="12700">
            <a:solidFill>
              <a:srgbClr val="7B3A8E"/>
            </a:solidFill>
            <a:prstDash val="solid"/>
          </a:ln>
        </p:spPr>
      </p:sp>
      <p:sp>
        <p:nvSpPr>
          <p:cNvPr id="14" name="Text 12"/>
          <p:cNvSpPr txBox="1"/>
          <p:nvPr/>
        </p:nvSpPr>
        <p:spPr>
          <a:xfrm>
            <a:off x="548640" y="320954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5" name="Text 13"/>
          <p:cNvSpPr txBox="1"/>
          <p:nvPr/>
        </p:nvSpPr>
        <p:spPr>
          <a:xfrm>
            <a:off x="1188720" y="3163824"/>
            <a:ext cx="9418320" cy="896112"/>
          </a:xfrm>
          <a:prstGeom prst="rect">
            <a:avLst/>
          </a:prstGeom>
          <a:noFill/>
          <a:ln/>
        </p:spPr>
        <p:txBody>
          <a:bodyPr wrap="square" lIns="0" tIns="0" rIns="0" bIns="0" rtlCol="0" anchor="t"/>
          <a:lstStyle/>
          <a:p>
            <a:pPr indent="0" marL="0">
              <a:buNone/>
            </a:pPr>
            <a:r>
              <a:rPr lang="en-US" sz="2000" dirty="0">
                <a:solidFill>
                  <a:srgbClr val="141B26"/>
                </a:solidFill>
              </a:rPr>
              <a:t>Stretch: write definitions; explain why polio stops muscles working.</a:t>
            </a:r>
            <a:endParaRPr lang="en-US" sz="2000" dirty="0"/>
          </a:p>
        </p:txBody>
      </p:sp>
      <p:sp>
        <p:nvSpPr>
          <p:cNvPr id="16" name="Shape 14"/>
          <p:cNvSpPr/>
          <p:nvPr/>
        </p:nvSpPr>
        <p:spPr>
          <a:xfrm>
            <a:off x="548640" y="4105656"/>
            <a:ext cx="457200" cy="457200"/>
          </a:xfrm>
          <a:prstGeom prst="ellipse">
            <a:avLst/>
          </a:prstGeom>
          <a:solidFill>
            <a:srgbClr val="7B3A8E"/>
          </a:solidFill>
          <a:ln w="12700">
            <a:solidFill>
              <a:srgbClr val="7B3A8E"/>
            </a:solidFill>
            <a:prstDash val="solid"/>
          </a:ln>
        </p:spPr>
      </p:sp>
      <p:sp>
        <p:nvSpPr>
          <p:cNvPr id="17" name="Text 15"/>
          <p:cNvSpPr txBox="1"/>
          <p:nvPr/>
        </p:nvSpPr>
        <p:spPr>
          <a:xfrm>
            <a:off x="548640" y="410565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8" name="Text 16"/>
          <p:cNvSpPr txBox="1"/>
          <p:nvPr/>
        </p:nvSpPr>
        <p:spPr>
          <a:xfrm>
            <a:off x="1188720" y="4059936"/>
            <a:ext cx="9418320" cy="896112"/>
          </a:xfrm>
          <a:prstGeom prst="rect">
            <a:avLst/>
          </a:prstGeom>
          <a:noFill/>
          <a:ln/>
        </p:spPr>
        <p:txBody>
          <a:bodyPr wrap="square" lIns="0" tIns="0" rIns="0" bIns="0" rtlCol="0" anchor="t"/>
          <a:lstStyle/>
          <a:p>
            <a:pPr indent="0" marL="0">
              <a:buNone/>
            </a:pPr>
            <a:r>
              <a:rPr lang="en-US" sz="2000" dirty="0">
                <a:solidFill>
                  <a:srgbClr val="141B26"/>
                </a:solidFill>
              </a:rPr>
              <a:t>Challenge: why are most deaths in richer countries now non-communicable? How do medicines get into cells?</a:t>
            </a:r>
            <a:endParaRPr lang="en-US" sz="2000" dirty="0"/>
          </a:p>
        </p:txBody>
      </p:sp>
      <p:sp>
        <p:nvSpPr>
          <p:cNvPr id="19" name="Shape 17"/>
          <p:cNvSpPr/>
          <p:nvPr/>
        </p:nvSpPr>
        <p:spPr>
          <a:xfrm>
            <a:off x="548640" y="5001768"/>
            <a:ext cx="457200" cy="457200"/>
          </a:xfrm>
          <a:prstGeom prst="ellipse">
            <a:avLst/>
          </a:prstGeom>
          <a:solidFill>
            <a:srgbClr val="7B3A8E"/>
          </a:solidFill>
          <a:ln w="12700">
            <a:solidFill>
              <a:srgbClr val="7B3A8E"/>
            </a:solidFill>
            <a:prstDash val="solid"/>
          </a:ln>
        </p:spPr>
      </p:sp>
      <p:sp>
        <p:nvSpPr>
          <p:cNvPr id="20" name="Text 18"/>
          <p:cNvSpPr txBox="1"/>
          <p:nvPr/>
        </p:nvSpPr>
        <p:spPr>
          <a:xfrm>
            <a:off x="548640" y="50017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21" name="Text 19"/>
          <p:cNvSpPr txBox="1"/>
          <p:nvPr/>
        </p:nvSpPr>
        <p:spPr>
          <a:xfrm>
            <a:off x="1188720" y="4956048"/>
            <a:ext cx="9418320" cy="896112"/>
          </a:xfrm>
          <a:prstGeom prst="rect">
            <a:avLst/>
          </a:prstGeom>
          <a:noFill/>
          <a:ln/>
        </p:spPr>
        <p:txBody>
          <a:bodyPr wrap="square" lIns="0" tIns="0" rIns="0" bIns="0" rtlCol="0" anchor="t"/>
          <a:lstStyle/>
          <a:p>
            <a:pPr indent="0" marL="0">
              <a:buNone/>
            </a:pPr>
            <a:r>
              <a:rPr lang="en-US" sz="2000" dirty="0">
                <a:solidFill>
                  <a:srgbClr val="141B26"/>
                </a:solidFill>
              </a:rPr>
              <a:t>Finished? Answer the My thinking question.</a:t>
            </a:r>
            <a:endParaRPr lang="en-US" sz="2000" dirty="0"/>
          </a:p>
        </p:txBody>
      </p:sp>
      <p:sp>
        <p:nvSpPr>
          <p:cNvPr id="22" name="Text 20"/>
          <p:cNvSpPr txBox="1"/>
          <p:nvPr/>
        </p:nvSpPr>
        <p:spPr>
          <a:xfrm>
            <a:off x="548640" y="5577840"/>
            <a:ext cx="10881360" cy="411480"/>
          </a:xfrm>
          <a:prstGeom prst="rect">
            <a:avLst/>
          </a:prstGeom>
          <a:noFill/>
          <a:ln/>
        </p:spPr>
        <p:txBody>
          <a:bodyPr wrap="square" lIns="0" tIns="0" rIns="0" bIns="0" rtlCol="0" anchor="ctr"/>
          <a:lstStyle/>
          <a:p>
            <a:pPr indent="0" marL="0">
              <a:buNone/>
            </a:pPr>
            <a:r>
              <a:rPr lang="en-US" sz="1500" i="1" dirty="0">
                <a:solidFill>
                  <a:srgbClr val="5B6574"/>
                </a:solidFill>
              </a:rPr>
              <a:t>Use the key words box. Write the type of disease, not just the name of the disease.</a:t>
            </a:r>
            <a:endParaRPr lang="en-US" sz="15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A changing threat</a:t>
            </a:r>
            <a:endParaRPr lang="en-US" sz="3000" dirty="0"/>
          </a:p>
        </p:txBody>
      </p:sp>
      <p:sp>
        <p:nvSpPr>
          <p:cNvPr id="3" name="Shape 1"/>
          <p:cNvSpPr/>
          <p:nvPr/>
        </p:nvSpPr>
        <p:spPr>
          <a:xfrm>
            <a:off x="8698687" y="411480"/>
            <a:ext cx="294436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8698687" y="411480"/>
            <a:ext cx="294436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THINK AND REFLECT</a:t>
            </a:r>
            <a:endParaRPr lang="en-US" sz="1100" dirty="0"/>
          </a:p>
        </p:txBody>
      </p:sp>
      <p:sp>
        <p:nvSpPr>
          <p:cNvPr id="5" name="Text 3"/>
          <p:cNvSpPr txBox="1"/>
          <p:nvPr/>
        </p:nvSpPr>
        <p:spPr>
          <a:xfrm>
            <a:off x="548640" y="1325880"/>
            <a:ext cx="10881360" cy="1920240"/>
          </a:xfrm>
          <a:prstGeom prst="rect">
            <a:avLst/>
          </a:prstGeom>
          <a:noFill/>
          <a:ln/>
        </p:spPr>
        <p:txBody>
          <a:bodyPr wrap="square" lIns="0" tIns="0" rIns="0" bIns="0" rtlCol="0" anchor="t"/>
          <a:lstStyle/>
          <a:p>
            <a:pPr indent="0" marL="0">
              <a:buNone/>
            </a:pPr>
            <a:r>
              <a:rPr lang="en-US" sz="2600" b="1" dirty="0">
                <a:solidFill>
                  <a:srgbClr val="0F2A5F"/>
                </a:solidFill>
              </a:rPr>
              <a:t>In richer countries, the main causes of death are now non-communicable diseases such as heart disease and cancer, not infections. Why has this changed over the last 180 years?</a:t>
            </a:r>
            <a:endParaRPr lang="en-US" sz="2600" dirty="0"/>
          </a:p>
        </p:txBody>
      </p:sp>
      <p:sp>
        <p:nvSpPr>
          <p:cNvPr id="6" name="Shape 4"/>
          <p:cNvSpPr/>
          <p:nvPr/>
        </p:nvSpPr>
        <p:spPr>
          <a:xfrm>
            <a:off x="548640" y="3383280"/>
            <a:ext cx="10881360" cy="2377440"/>
          </a:xfrm>
          <a:prstGeom prst="roundRect">
            <a:avLst>
              <a:gd name="adj" fmla="val 3846"/>
            </a:avLst>
          </a:prstGeom>
          <a:solidFill>
            <a:srgbClr val="FFFFFF"/>
          </a:solidFill>
          <a:ln w="12700">
            <a:solidFill>
              <a:srgbClr val="7B3A8E"/>
            </a:solidFill>
            <a:prstDash val="dash"/>
          </a:ln>
        </p:spPr>
      </p:sp>
      <p:sp>
        <p:nvSpPr>
          <p:cNvPr id="7" name="Text 5"/>
          <p:cNvSpPr txBox="1"/>
          <p:nvPr/>
        </p:nvSpPr>
        <p:spPr>
          <a:xfrm>
            <a:off x="777240" y="3520440"/>
            <a:ext cx="10424160" cy="2148840"/>
          </a:xfrm>
          <a:prstGeom prst="rect">
            <a:avLst/>
          </a:prstGeom>
          <a:noFill/>
          <a:ln/>
        </p:spPr>
        <p:txBody>
          <a:bodyPr wrap="square" lIns="0" tIns="0" rIns="0" bIns="0" rtlCol="0" anchor="t"/>
          <a:lstStyle/>
          <a:p>
            <a:pPr indent="0" marL="0">
              <a:spcAft>
                <a:spcPts val="600"/>
              </a:spcAft>
              <a:buNone/>
            </a:pPr>
            <a:r>
              <a:rPr lang="en-US" sz="1800" b="1" dirty="0">
                <a:solidFill>
                  <a:srgbClr val="7B3A8E"/>
                </a:solidFill>
              </a:rPr>
              <a:t>Sentence frames</a:t>
            </a:r>
            <a:endParaRPr lang="en-US" sz="1800" dirty="0"/>
          </a:p>
          <a:p>
            <a:pPr indent="0" marL="0">
              <a:spcAft>
                <a:spcPts val="600"/>
              </a:spcAft>
              <a:buNone/>
            </a:pPr>
            <a:r>
              <a:rPr lang="en-US" sz="1800" dirty="0">
                <a:solidFill>
                  <a:srgbClr val="141B26"/>
                </a:solidFill>
              </a:rPr>
              <a:t>Fewer people die from infections because ___.</a:t>
            </a:r>
            <a:endParaRPr lang="en-US" sz="1800" dirty="0"/>
          </a:p>
          <a:p>
            <a:pPr indent="0" marL="0">
              <a:spcAft>
                <a:spcPts val="600"/>
              </a:spcAft>
              <a:buNone/>
            </a:pPr>
            <a:r>
              <a:rPr lang="en-US" sz="1800" dirty="0">
                <a:solidFill>
                  <a:srgbClr val="141B26"/>
                </a:solidFill>
              </a:rPr>
              <a:t>More people now die from ___ because they live long enough to ___.</a:t>
            </a:r>
            <a:endParaRPr lang="en-US" sz="1800" dirty="0"/>
          </a:p>
          <a:p>
            <a:pPr indent="0" marL="0">
              <a:spcAft>
                <a:spcPts val="600"/>
              </a:spcAft>
              <a:buNone/>
            </a:pPr>
            <a:r>
              <a:rPr lang="en-US" sz="1800" dirty="0">
                <a:solidFill>
                  <a:srgbClr val="141B26"/>
                </a:solidFill>
              </a:rPr>
              <a:t>One thing we could do about lifestyle diseases is ___.</a:t>
            </a:r>
            <a:endParaRPr lang="en-US" sz="18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Exit ticket</a:t>
            </a:r>
            <a:endParaRPr lang="en-US" sz="3000" dirty="0"/>
          </a:p>
        </p:txBody>
      </p:sp>
      <p:sp>
        <p:nvSpPr>
          <p:cNvPr id="3" name="Shape 1"/>
          <p:cNvSpPr/>
          <p:nvPr/>
        </p:nvSpPr>
        <p:spPr>
          <a:xfrm>
            <a:off x="9576511" y="411480"/>
            <a:ext cx="206654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9576511" y="411480"/>
            <a:ext cx="206654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EXIT TICKET</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600" i="1" dirty="0">
                <a:solidFill>
                  <a:srgbClr val="5B6574"/>
                </a:solidFill>
              </a:rPr>
              <a:t>On your worksheet exit ticket. Work alone. Hand it in as you leave.</a:t>
            </a:r>
            <a:endParaRPr lang="en-US" sz="1600" dirty="0"/>
          </a:p>
        </p:txBody>
      </p:sp>
      <p:sp>
        <p:nvSpPr>
          <p:cNvPr id="6" name="Text 4"/>
          <p:cNvSpPr txBox="1"/>
          <p:nvPr/>
        </p:nvSpPr>
        <p:spPr>
          <a:xfrm>
            <a:off x="548640" y="1828800"/>
            <a:ext cx="9692640" cy="1188720"/>
          </a:xfrm>
          <a:prstGeom prst="rect">
            <a:avLst/>
          </a:prstGeom>
          <a:noFill/>
          <a:ln/>
        </p:spPr>
        <p:txBody>
          <a:bodyPr wrap="square" lIns="0" tIns="0" rIns="0" bIns="0" rtlCol="0" anchor="t"/>
          <a:lstStyle/>
          <a:p>
            <a:pPr indent="0" marL="0">
              <a:buNone/>
            </a:pPr>
            <a:r>
              <a:rPr lang="en-US" sz="2200" b="1" dirty="0">
                <a:solidFill>
                  <a:srgbClr val="7B3A8E"/>
                </a:solidFill>
              </a:rPr>
              <a:t>1.  </a:t>
            </a:r>
            <a:pPr indent="0" marL="0">
              <a:buNone/>
            </a:pPr>
            <a:r>
              <a:rPr lang="en-US" sz="2200" dirty="0">
                <a:solidFill>
                  <a:srgbClr val="141B26"/>
                </a:solidFill>
              </a:rPr>
              <a:t>What is a pathogen?</a:t>
            </a:r>
            <a:endParaRPr lang="en-US" sz="2200" dirty="0"/>
          </a:p>
        </p:txBody>
      </p:sp>
      <p:sp>
        <p:nvSpPr>
          <p:cNvPr id="7" name="Text 5"/>
          <p:cNvSpPr txBox="1"/>
          <p:nvPr/>
        </p:nvSpPr>
        <p:spPr>
          <a:xfrm>
            <a:off x="548640" y="3017520"/>
            <a:ext cx="9692640" cy="1188720"/>
          </a:xfrm>
          <a:prstGeom prst="rect">
            <a:avLst/>
          </a:prstGeom>
          <a:noFill/>
          <a:ln/>
        </p:spPr>
        <p:txBody>
          <a:bodyPr wrap="square" lIns="0" tIns="0" rIns="0" bIns="0" rtlCol="0" anchor="t"/>
          <a:lstStyle/>
          <a:p>
            <a:pPr indent="0" marL="0">
              <a:buNone/>
            </a:pPr>
            <a:r>
              <a:rPr lang="en-US" sz="2200" b="1" dirty="0">
                <a:solidFill>
                  <a:srgbClr val="7B3A8E"/>
                </a:solidFill>
              </a:rPr>
              <a:t>2.  </a:t>
            </a:r>
            <a:pPr indent="0" marL="0">
              <a:buNone/>
            </a:pPr>
            <a:r>
              <a:rPr lang="en-US" sz="2200" dirty="0">
                <a:solidFill>
                  <a:srgbClr val="141B26"/>
                </a:solidFill>
              </a:rPr>
              <a:t>Give one example of a non-communicable disease and explain why it is non-communicable.</a:t>
            </a:r>
            <a:endParaRPr lang="en-US" sz="2200" dirty="0"/>
          </a:p>
        </p:txBody>
      </p:sp>
      <p:sp>
        <p:nvSpPr>
          <p:cNvPr id="8" name="Text 6"/>
          <p:cNvSpPr txBox="1"/>
          <p:nvPr/>
        </p:nvSpPr>
        <p:spPr>
          <a:xfrm>
            <a:off x="548640" y="4206240"/>
            <a:ext cx="9692640" cy="1188720"/>
          </a:xfrm>
          <a:prstGeom prst="rect">
            <a:avLst/>
          </a:prstGeom>
          <a:noFill/>
          <a:ln/>
        </p:spPr>
        <p:txBody>
          <a:bodyPr wrap="square" lIns="0" tIns="0" rIns="0" bIns="0" rtlCol="0" anchor="t"/>
          <a:lstStyle/>
          <a:p>
            <a:pPr indent="0" marL="0">
              <a:buNone/>
            </a:pPr>
            <a:r>
              <a:rPr lang="en-US" sz="2200" b="1" dirty="0">
                <a:solidFill>
                  <a:srgbClr val="7B3A8E"/>
                </a:solidFill>
              </a:rPr>
              <a:t>3.  </a:t>
            </a:r>
            <a:pPr indent="0" marL="0">
              <a:buNone/>
            </a:pPr>
            <a:r>
              <a:rPr lang="en-US" sz="2200" dirty="0">
                <a:solidFill>
                  <a:srgbClr val="141B26"/>
                </a:solidFill>
              </a:rPr>
              <a:t>Name two types of microorganism that can be pathogens.</a:t>
            </a:r>
            <a:endParaRPr lang="en-US" sz="2200" dirty="0"/>
          </a:p>
        </p:txBody>
      </p:sp>
      <p:sp>
        <p:nvSpPr>
          <p:cNvPr id="9" name="Shape 7"/>
          <p:cNvSpPr/>
          <p:nvPr/>
        </p:nvSpPr>
        <p:spPr>
          <a:xfrm>
            <a:off x="10682935" y="914400"/>
            <a:ext cx="914400" cy="914400"/>
          </a:xfrm>
          <a:prstGeom prst="ellipse">
            <a:avLst/>
          </a:prstGeom>
          <a:solidFill>
            <a:srgbClr val="FFFFFF"/>
          </a:solidFill>
          <a:ln w="25400">
            <a:solidFill>
              <a:srgbClr val="7B3A8E"/>
            </a:solidFill>
            <a:prstDash val="solid"/>
          </a:ln>
        </p:spPr>
      </p:sp>
      <p:sp>
        <p:nvSpPr>
          <p:cNvPr id="10" name="Text 8"/>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4</a:t>
            </a:r>
            <a:endParaRPr lang="en-US" sz="2200" dirty="0"/>
          </a:p>
          <a:p>
            <a:pPr algn="ctr" indent="0" marL="0">
              <a:buNone/>
            </a:pPr>
            <a:r>
              <a:rPr lang="en-US" sz="1000" dirty="0">
                <a:solidFill>
                  <a:srgbClr val="5B6574"/>
                </a:solidFill>
              </a:rPr>
              <a:t>min</a:t>
            </a:r>
            <a:endParaRPr lang="en-US" sz="22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What we learned</a:t>
            </a:r>
            <a:endParaRPr lang="en-US" sz="3000" dirty="0"/>
          </a:p>
        </p:txBody>
      </p:sp>
      <p:sp>
        <p:nvSpPr>
          <p:cNvPr id="3" name="Shape 1"/>
          <p:cNvSpPr/>
          <p:nvPr/>
        </p:nvSpPr>
        <p:spPr>
          <a:xfrm>
            <a:off x="10161727" y="411480"/>
            <a:ext cx="148132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161727" y="411480"/>
            <a:ext cx="148132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SUMMARY</a:t>
            </a:r>
            <a:endParaRPr lang="en-US" sz="1100" dirty="0"/>
          </a:p>
        </p:txBody>
      </p:sp>
      <p:sp>
        <p:nvSpPr>
          <p:cNvPr id="5" name="Text 3"/>
          <p:cNvSpPr txBox="1"/>
          <p:nvPr/>
        </p:nvSpPr>
        <p:spPr>
          <a:xfrm>
            <a:off x="548640" y="1371600"/>
            <a:ext cx="10881360" cy="411480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rgbClr val="141B26"/>
                </a:solidFill>
              </a:rPr>
              <a:t>People live longer because of hygiene, better diet, immunisation and medicines.</a:t>
            </a:r>
            <a:endParaRPr lang="en-US" sz="2000" dirty="0"/>
          </a:p>
          <a:p>
            <a:pPr marL="342900" indent="-342900">
              <a:spcAft>
                <a:spcPts val="1200"/>
              </a:spcAft>
              <a:buSzPct val="100000"/>
              <a:buChar char="✓"/>
            </a:pPr>
            <a:r>
              <a:rPr lang="en-US" sz="2000" dirty="0">
                <a:solidFill>
                  <a:srgbClr val="141B26"/>
                </a:solidFill>
              </a:rPr>
              <a:t>Pathogens are microorganisms (bacteria, viruses, fungi, protoctists) that cause infectious diseases.</a:t>
            </a:r>
            <a:endParaRPr lang="en-US" sz="2000" dirty="0"/>
          </a:p>
          <a:p>
            <a:pPr marL="342900" indent="-342900">
              <a:spcAft>
                <a:spcPts val="1200"/>
              </a:spcAft>
              <a:buSzPct val="100000"/>
              <a:buChar char="✓"/>
            </a:pPr>
            <a:r>
              <a:rPr lang="en-US" sz="2000" dirty="0">
                <a:solidFill>
                  <a:srgbClr val="141B26"/>
                </a:solidFill>
              </a:rPr>
              <a:t>Deficiency, genetic, lifestyle and autoimmune diseases are non-communicable: they cannot be passed on.</a:t>
            </a:r>
            <a:endParaRPr lang="en-US" sz="2000" dirty="0"/>
          </a:p>
          <a:p>
            <a:pPr marL="342900" indent="-342900">
              <a:spcAft>
                <a:spcPts val="1200"/>
              </a:spcAft>
              <a:buSzPct val="100000"/>
              <a:buChar char="✓"/>
            </a:pPr>
            <a:r>
              <a:rPr lang="en-US" sz="2000" dirty="0">
                <a:solidFill>
                  <a:srgbClr val="141B26"/>
                </a:solidFill>
              </a:rPr>
              <a:t>Symptoms are the obvious effects of a disease.</a:t>
            </a:r>
            <a:endParaRPr lang="en-US" sz="2000" dirty="0"/>
          </a:p>
        </p:txBody>
      </p:sp>
      <p:sp>
        <p:nvSpPr>
          <p:cNvPr id="6" name="Text 4"/>
          <p:cNvSpPr txBox="1"/>
          <p:nvPr/>
        </p:nvSpPr>
        <p:spPr>
          <a:xfrm>
            <a:off x="548640" y="5577840"/>
            <a:ext cx="10881360" cy="411480"/>
          </a:xfrm>
          <a:prstGeom prst="rect">
            <a:avLst/>
          </a:prstGeom>
          <a:noFill/>
          <a:ln/>
        </p:spPr>
        <p:txBody>
          <a:bodyPr wrap="square" lIns="0" tIns="0" rIns="0" bIns="0" rtlCol="0" anchor="ctr"/>
          <a:lstStyle/>
          <a:p>
            <a:pPr indent="0" marL="0">
              <a:buNone/>
            </a:pPr>
            <a:r>
              <a:rPr lang="en-US" sz="1400" b="1" dirty="0">
                <a:solidFill>
                  <a:srgbClr val="7B3A8E"/>
                </a:solidFill>
              </a:rPr>
              <a:t>Next lesson  </a:t>
            </a:r>
            <a:pPr indent="0" marL="0">
              <a:buNone/>
            </a:pPr>
            <a:r>
              <a:rPr lang="en-US" sz="1400" dirty="0">
                <a:solidFill>
                  <a:srgbClr val="141B26"/>
                </a:solidFill>
              </a:rPr>
              <a:t>Immunity and vaccination: how white blood cells destroy pathogens, and why you only get measles once.</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Year 9 Science">
  <a:themeElements>
    <a:clrScheme name="Year 9 Science">
      <a:dk1>
        <a:srgbClr val="141B26"/>
      </a:dk1>
      <a:lt1>
        <a:srgbClr val="FFFFFF"/>
      </a:lt1>
      <a:dk2>
        <a:srgbClr val="0F2A5F"/>
      </a:dk2>
      <a:lt2>
        <a:srgbClr val="EEF1F5"/>
      </a:lt2>
      <a:accent1>
        <a:srgbClr val="7B3A8E"/>
      </a:accent1>
      <a:accent2>
        <a:srgbClr val="F2CE3E"/>
      </a:accent2>
      <a:accent3>
        <a:srgbClr val="5B6574"/>
      </a:accent3>
      <a:accent4>
        <a:srgbClr val="D5DBE3"/>
      </a:accent4>
      <a:accent5>
        <a:srgbClr val="F1E5F4"/>
      </a:accent5>
      <a:accent6>
        <a:srgbClr val="1E7DB0"/>
      </a:accent6>
      <a:hlink>
        <a:srgbClr val="1E7DB0"/>
      </a:hlink>
      <a:folHlink>
        <a:srgbClr val="7B3A8E"/>
      </a:folHlink>
    </a:clrScheme>
    <a:fontScheme name="Year 9 Sci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9C Lesson 1: Threat from disease</dc:title>
  <dc:subject>PptxGenJS Presentation</dc:subject>
  <dc:creator>Year 9 Science</dc:creator>
  <cp:lastModifiedBy>Year 9 Science</cp:lastModifiedBy>
  <cp:revision>1</cp:revision>
  <dcterms:created xsi:type="dcterms:W3CDTF">2026-10-28T09:45:35Z</dcterms:created>
  <dcterms:modified xsi:type="dcterms:W3CDTF">2026-10-28T09:45:35Z</dcterms:modified>
</cp:coreProperties>
</file>