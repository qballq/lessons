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of 9C. Last lesson: what causes disease. Today: what the body does about it, and how vaccines use the same system. The Challenge links to the Veterinary science STEM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in books. Do not confirm answers yet; collect ideas on the board (white blood cells, antibodies, 'the body remembers'). A pathogen is a microorganism that causes disease. Q3: any sensible idea: white blood cells, raised temperature, skin as a barrier, coughing and sneezing.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goal aloud. Point out the key words box on the worksheet. The Chinese key words version has the same words with Chinese beside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phagocyte surrounds the bacteria, takes them inside itself (ingests them) and digests them with enzymes. Phagocytes work on any pathogen. The other kind of white blood cell, lymphocytes, are more particular, as we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 phagocyte surrounds and ingests a microorganism, then digests it. Right: a lymphocyte makes antibodies, proteins that stick to the outside of the pathogen. Antibodies can make pathogens burst, stick together in clumps, or be easier for phagocytes to ingest. Point out the memory cells box: we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key and lock: one antibody fits one pathogen. Ask: if you are immune to measles, are you immune to chickenpox? No: different surface, different antibody needed. That is why a child can have measles and still get chickenpox.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curves: the first response is slow and small, so you are ill for days. The second is fast and large, so the pathogen never gets a chance to multiply. This is why you only get measles once. Ask: where could a vaccine fit on this graph? (It gives the first response without the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vaccine cannot cause the disease because it does not contain a working pathogen, but the surface parts are enough for lymphocytes to make the right antibody and memory cells. Community protection: a pathogen needs a chain of people to pass through; vaccinated people break the chain. Antibiotics do not work on viruses (Lesson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phagocytes; antibodies (proteins that stick to pathogens); memory cells stay ready and make the right antibodies very quickly the second time, so you are immune; no, antibodies are specific and chickenpox has a different surface; parts of the pathogen's surface coating (or a dead or weakened pathogen).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Half-life hint for Challenge: 10 mg/kg falls to 5 after one half-life (64 hours), then to 2.5 after two (128 hours). 128 hours is about 5.3 days, so a new dose is needed by day 5. Circulate and check the gap fill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measles spreads from person to person; vaccinated people do not become ill or pass it on, so the chain of infection is broken and the virus rarely reaches an unvaccinated person. This only works when most people are vaccinated. Link to the polio story from Lesson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phagocytes ingest and digest microorganisms, lymphocytes make antibodies; memory cells remain after the first infection and make the specific antibodies very quickly next time; parts of the pathogen's surface coating (or a dead or weakened pathogen) that cannot cause the disease but still trigger antibodies and memory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Workbook pages 29 and 30 (9Ca Diseases; Veterinary science). The model of half-life on page 30 can be designed at home and tried in a later lesson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home/user/lessons/design/assets/school_logo_horizontal_white.png">    </p:cNvPr>
          <p:cNvPicPr>
            <a:picLocks noChangeAspect="1"/>
          </p:cNvPicPr>
          <p:nvPr/>
        </p:nvPicPr>
        <p:blipFill>
          <a:blip r:embed="rId1"/>
          <a:stretch>
            <a:fillRect/>
          </a:stretch>
        </p:blipFill>
        <p:spPr>
          <a:xfrm>
            <a:off x="548640" y="5715000"/>
            <a:ext cx="2011680" cy="832104"/>
          </a:xfrm>
          <a:prstGeom prst="rect">
            <a:avLst/>
          </a:prstGeom>
        </p:spPr>
      </p:pic>
      <p:sp>
        <p:nvSpPr>
          <p:cNvPr id="3" name="Text 0"/>
          <p:cNvSpPr/>
          <p:nvPr>
            <p:ph idx="101" type="title" hasCustomPrompt="1"/>
          </p:nvPr>
        </p:nvSpPr>
        <p:spPr>
          <a:xfrm>
            <a:off x="548640" y="2103120"/>
            <a:ext cx="10515600" cy="146304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4" name="Text 0"/>
          <p:cNvSpPr/>
          <p:nvPr>
            <p:ph idx="102" type="body" hasCustomPrompt="1"/>
          </p:nvPr>
        </p:nvSpPr>
        <p:spPr>
          <a:xfrm>
            <a:off x="548640" y="3657600"/>
            <a:ext cx="10515600" cy="914400"/>
          </a:xfrm>
          <a:prstGeom prst="rect">
            <a:avLst/>
          </a:prstGeom>
          <a:noFill/>
          <a:ln/>
        </p:spPr>
        <p:txBody>
          <a:bodyPr wrap="square" rtlCol="0"/>
          <a:lstStyle>
            <a:lvl1pPr indent="0" marL="0">
              <a:buNone/>
              <a:defRPr lang="en-US" sz="2000" dirty="0">
                <a:solidFill>
                  <a:srgbClr val="FFFFFF"/>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9C Threat from disease  |  Lesson 2: Immunity and vaccination</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F1E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9C Threat from disease  |  Lesson 2: Immunity and vaccination</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p:bg>
      <p:bgPr>
        <a:solidFill>
          <a:srgbClr val="EEF1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9C Threat from disease  |  Lesson 2: Immunity and vaccination</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FETY">
    <p:bg>
      <p:bgPr>
        <a:solidFill>
          <a:srgbClr val="F2CE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3A2E00"/>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3A2E00"/>
                </a:solidFill>
              </a:rPr>
              <a:t>Year 9 Science  |  9C Threat from disease  |  Lesson 2: Immunity and vaccination</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515600" cy="457200"/>
          </a:xfrm>
          <a:prstGeom prst="rect">
            <a:avLst/>
          </a:prstGeom>
          <a:noFill/>
          <a:ln/>
        </p:spPr>
        <p:txBody>
          <a:bodyPr wrap="square" lIns="0" tIns="0" rIns="0" bIns="0" rtlCol="0" anchor="ctr"/>
          <a:lstStyle/>
          <a:p>
            <a:pPr indent="0" marL="0">
              <a:buNone/>
            </a:pPr>
            <a:r>
              <a:rPr lang="en-US" sz="1300" b="1" spc="200" kern="0" dirty="0">
                <a:solidFill>
                  <a:srgbClr val="F2CE3E"/>
                </a:solidFill>
              </a:rPr>
              <a:t>YEAR 9 SCIENCE  ·  9C THREAT FROM DISEASE  ·  LESSON 2 OF 7</a:t>
            </a:r>
            <a:endParaRPr lang="en-US" sz="1300" dirty="0"/>
          </a:p>
        </p:txBody>
      </p:sp>
      <p:sp>
        <p:nvSpPr>
          <p:cNvPr id="3" name="Text 0"/>
          <p:cNvSpPr/>
          <p:nvPr>
            <p:ph idx="101" type="title" hasCustomPrompt="1"/>
          </p:nvPr>
        </p:nvSpPr>
        <p:spPr>
          <a:xfrm>
            <a:off x="548640" y="2103120"/>
            <a:ext cx="10515600" cy="1463040"/>
          </a:xfrm>
          <a:prstGeom prst="rect">
            <a:avLst/>
          </a:prstGeom>
          <a:noFill/>
          <a:ln/>
        </p:spPr>
        <p:txBody>
          <a:bodyPr wrap="square" lIns="0" tIns="0" rIns="0" bIns="0" rtlCol="0" anchor="b"/>
          <a:lstStyle/>
          <a:p>
            <a:pPr indent="0" marL="0">
              <a:buNone/>
            </a:pPr>
            <a:r>
              <a:rPr lang="en-US" sz="4400" b="1" dirty="0">
                <a:solidFill>
                  <a:srgbClr val="FFFFFF"/>
                </a:solidFill>
              </a:rPr>
              <a:t>Immunity and vaccination</a:t>
            </a:r>
            <a:endParaRPr lang="en-US" sz="4400" dirty="0"/>
          </a:p>
        </p:txBody>
      </p:sp>
      <p:sp>
        <p:nvSpPr>
          <p:cNvPr id="4" name="Text 0"/>
          <p:cNvSpPr/>
          <p:nvPr>
            <p:ph idx="102" type="body" hasCustomPrompt="1"/>
          </p:nvPr>
        </p:nvSpPr>
        <p:spPr>
          <a:xfrm>
            <a:off x="548640" y="3657600"/>
            <a:ext cx="10515600" cy="914400"/>
          </a:xfrm>
          <a:prstGeom prst="rect">
            <a:avLst/>
          </a:prstGeom>
          <a:noFill/>
          <a:ln/>
        </p:spPr>
        <p:txBody>
          <a:bodyPr wrap="square" lIns="0" tIns="0" rIns="0" bIns="0" rtlCol="0" anchor="t"/>
          <a:lstStyle/>
          <a:p>
            <a:pPr indent="0" marL="0">
              <a:buNone/>
            </a:pPr>
            <a:r>
              <a:rPr lang="en-US" sz="2000" dirty="0">
                <a:solidFill>
                  <a:srgbClr val="FFFFFF"/>
                </a:solidFill>
              </a:rPr>
              <a:t>How does your body beat a pathogen, and how can a vaccine make you immune without the disease?</a:t>
            </a:r>
            <a:endParaRPr lang="en-US" sz="2000" dirty="0"/>
          </a:p>
        </p:txBody>
      </p:sp>
      <p:sp>
        <p:nvSpPr>
          <p:cNvPr id="5" name="Text 3"/>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200" dirty="0">
                <a:solidFill>
                  <a:srgbClr val="C9D3E6"/>
                </a:solidFill>
              </a:rPr>
              <a:t>Exploring Science International 9  ·  Student Book pages 39 to 41  ·  Workbook pages 29 to 30</a:t>
            </a:r>
            <a:endParaRPr lang="en-US" sz="1200" dirty="0"/>
          </a:p>
        </p:txBody>
      </p:sp>
      <p:pic>
        <p:nvPicPr>
          <p:cNvPr id="6" name="Image 0" descr="/home/user/lessons/Y9_Exploring_Science/images/phagocyte_bacteria.jpg">    </p:cNvPr>
          <p:cNvPicPr>
            <a:picLocks noChangeAspect="1"/>
          </p:cNvPicPr>
          <p:nvPr/>
        </p:nvPicPr>
        <p:blipFill>
          <a:blip r:embed="rId1"/>
          <a:stretch>
            <a:fillRect/>
          </a:stretch>
        </p:blipFill>
        <p:spPr>
          <a:xfrm>
            <a:off x="9275624" y="4572000"/>
            <a:ext cx="1748433"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Do Now: once is enough</a:t>
            </a:r>
            <a:endParaRPr lang="en-US" sz="3000" dirty="0"/>
          </a:p>
        </p:txBody>
      </p:sp>
      <p:sp>
        <p:nvSpPr>
          <p:cNvPr id="3" name="Shape 1"/>
          <p:cNvSpPr/>
          <p:nvPr/>
        </p:nvSpPr>
        <p:spPr>
          <a:xfrm>
            <a:off x="10308031" y="411480"/>
            <a:ext cx="133502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 NOW</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7" name="Text 5"/>
          <p:cNvSpPr txBox="1"/>
          <p:nvPr/>
        </p:nvSpPr>
        <p:spPr>
          <a:xfrm>
            <a:off x="548640" y="1371600"/>
            <a:ext cx="9692640" cy="4480560"/>
          </a:xfrm>
          <a:prstGeom prst="rect">
            <a:avLst/>
          </a:prstGeom>
          <a:noFill/>
          <a:ln/>
        </p:spPr>
        <p:txBody>
          <a:bodyPr wrap="square" lIns="0" tIns="0" rIns="0" bIns="0" rtlCol="0" anchor="t">
            <a:normAutofit/>
          </a:bodyPr>
          <a:lstStyle/>
          <a:p>
            <a:pPr indent="0" marL="0">
              <a:spcAft>
                <a:spcPts val="1000"/>
              </a:spcAft>
              <a:buNone/>
            </a:pPr>
            <a:r>
              <a:rPr lang="en-US" sz="2000" dirty="0">
                <a:solidFill>
                  <a:srgbClr val="141B26"/>
                </a:solidFill>
              </a:rPr>
              <a:t>Many people had chickenpox as a small child.</a:t>
            </a:r>
            <a:endParaRPr lang="en-US" sz="2000" dirty="0"/>
          </a:p>
          <a:p>
            <a:pPr indent="0" marL="0">
              <a:spcAft>
                <a:spcPts val="1000"/>
              </a:spcAft>
              <a:buNone/>
            </a:pPr>
            <a:r>
              <a:rPr lang="en-US" sz="2000" dirty="0">
                <a:solidFill>
                  <a:srgbClr val="141B26"/>
                </a:solidFill>
              </a:rPr>
              <a:t>If a friend has it now, they will almost certainly not catch it again.</a:t>
            </a:r>
            <a:endParaRPr lang="en-US" sz="2000" dirty="0"/>
          </a:p>
          <a:p>
            <a:pPr indent="0" marL="0">
              <a:spcAft>
                <a:spcPts val="1000"/>
              </a:spcAft>
              <a:buNone/>
            </a:pPr>
            <a:r>
              <a:rPr lang="en-US" sz="2000" dirty="0">
                <a:solidFill>
                  <a:srgbClr val="141B26"/>
                </a:solidFill>
              </a:rPr>
              <a:t>1. Suggest why you only get chickenpox once.</a:t>
            </a:r>
            <a:endParaRPr lang="en-US" sz="2000" dirty="0"/>
          </a:p>
          <a:p>
            <a:pPr indent="0" marL="0">
              <a:spcAft>
                <a:spcPts val="1000"/>
              </a:spcAft>
              <a:buNone/>
            </a:pPr>
            <a:r>
              <a:rPr lang="en-US" sz="2000" dirty="0">
                <a:solidFill>
                  <a:srgbClr val="141B26"/>
                </a:solidFill>
              </a:rPr>
              <a:t>2. What is a pathogen? (last lesson)</a:t>
            </a:r>
            <a:endParaRPr lang="en-US" sz="2000" dirty="0"/>
          </a:p>
          <a:p>
            <a:pPr indent="0" marL="0">
              <a:spcAft>
                <a:spcPts val="1000"/>
              </a:spcAft>
              <a:buNone/>
            </a:pPr>
            <a:r>
              <a:rPr lang="en-US" sz="2000" dirty="0">
                <a:solidFill>
                  <a:srgbClr val="141B26"/>
                </a:solidFill>
              </a:rPr>
              <a:t>3. Name two things your body does to fight an infection.</a:t>
            </a:r>
            <a:endParaRPr lang="en-US" sz="20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Today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TODAY</a:t>
            </a:r>
            <a:endParaRPr lang="en-US" sz="1100" dirty="0"/>
          </a:p>
        </p:txBody>
      </p:sp>
      <p:sp>
        <p:nvSpPr>
          <p:cNvPr id="5" name="Text 3"/>
          <p:cNvSpPr txBox="1"/>
          <p:nvPr/>
        </p:nvSpPr>
        <p:spPr>
          <a:xfrm>
            <a:off x="548640" y="1325880"/>
            <a:ext cx="5669280" cy="457200"/>
          </a:xfrm>
          <a:prstGeom prst="rect">
            <a:avLst/>
          </a:prstGeom>
          <a:noFill/>
          <a:ln/>
        </p:spPr>
        <p:txBody>
          <a:bodyPr wrap="square" lIns="0" tIns="0" rIns="0" bIns="0" rtlCol="0" anchor="ctr"/>
          <a:lstStyle/>
          <a:p>
            <a:pPr indent="0" marL="0">
              <a:buNone/>
            </a:pPr>
            <a:r>
              <a:rPr lang="en-US" sz="2000" b="1" dirty="0">
                <a:solidFill>
                  <a:srgbClr val="7B3A8E"/>
                </a:solidFill>
              </a:rPr>
              <a:t>Today I can ...</a:t>
            </a:r>
            <a:endParaRPr lang="en-US" sz="2000" dirty="0"/>
          </a:p>
        </p:txBody>
      </p:sp>
      <p:sp>
        <p:nvSpPr>
          <p:cNvPr id="6" name="Shape 4"/>
          <p:cNvSpPr/>
          <p:nvPr/>
        </p:nvSpPr>
        <p:spPr>
          <a:xfrm>
            <a:off x="594360" y="1947672"/>
            <a:ext cx="292608" cy="292608"/>
          </a:xfrm>
          <a:prstGeom prst="rect">
            <a:avLst/>
          </a:prstGeom>
          <a:solidFill>
            <a:srgbClr val="FFFFFF"/>
          </a:solidFill>
          <a:ln w="19050">
            <a:solidFill>
              <a:srgbClr val="0F2A5F"/>
            </a:solidFill>
            <a:prstDash val="solid"/>
          </a:ln>
        </p:spPr>
      </p:sp>
      <p:sp>
        <p:nvSpPr>
          <p:cNvPr id="7" name="Text 5"/>
          <p:cNvSpPr txBox="1"/>
          <p:nvPr/>
        </p:nvSpPr>
        <p:spPr>
          <a:xfrm>
            <a:off x="1051560" y="1874520"/>
            <a:ext cx="5120640" cy="868680"/>
          </a:xfrm>
          <a:prstGeom prst="rect">
            <a:avLst/>
          </a:prstGeom>
          <a:noFill/>
          <a:ln/>
        </p:spPr>
        <p:txBody>
          <a:bodyPr wrap="square" lIns="0" tIns="0" rIns="0" bIns="0" rtlCol="0" anchor="t">
            <a:normAutofit/>
          </a:bodyPr>
          <a:lstStyle/>
          <a:p>
            <a:pPr indent="0" marL="0">
              <a:buNone/>
            </a:pPr>
            <a:r>
              <a:rPr lang="en-US" sz="1600" dirty="0">
                <a:solidFill>
                  <a:srgbClr val="141B26"/>
                </a:solidFill>
              </a:rPr>
              <a:t>I can describe how phagocytes and lymphocytes destroy microorganisms in the body.</a:t>
            </a:r>
            <a:endParaRPr lang="en-US" sz="1600" dirty="0"/>
          </a:p>
        </p:txBody>
      </p:sp>
      <p:sp>
        <p:nvSpPr>
          <p:cNvPr id="8" name="Shape 6"/>
          <p:cNvSpPr/>
          <p:nvPr/>
        </p:nvSpPr>
        <p:spPr>
          <a:xfrm>
            <a:off x="594360" y="2907792"/>
            <a:ext cx="292608" cy="292608"/>
          </a:xfrm>
          <a:prstGeom prst="rect">
            <a:avLst/>
          </a:prstGeom>
          <a:solidFill>
            <a:srgbClr val="FFFFFF"/>
          </a:solidFill>
          <a:ln w="19050">
            <a:solidFill>
              <a:srgbClr val="0F2A5F"/>
            </a:solidFill>
            <a:prstDash val="solid"/>
          </a:ln>
        </p:spPr>
      </p:sp>
      <p:sp>
        <p:nvSpPr>
          <p:cNvPr id="9" name="Text 7"/>
          <p:cNvSpPr txBox="1"/>
          <p:nvPr/>
        </p:nvSpPr>
        <p:spPr>
          <a:xfrm>
            <a:off x="1051560" y="2834640"/>
            <a:ext cx="5120640" cy="868680"/>
          </a:xfrm>
          <a:prstGeom prst="rect">
            <a:avLst/>
          </a:prstGeom>
          <a:noFill/>
          <a:ln/>
        </p:spPr>
        <p:txBody>
          <a:bodyPr wrap="square" lIns="0" tIns="0" rIns="0" bIns="0" rtlCol="0" anchor="t">
            <a:normAutofit/>
          </a:bodyPr>
          <a:lstStyle/>
          <a:p>
            <a:pPr indent="0" marL="0">
              <a:buNone/>
            </a:pPr>
            <a:r>
              <a:rPr lang="en-US" sz="1600" dirty="0">
                <a:solidFill>
                  <a:srgbClr val="141B26"/>
                </a:solidFill>
              </a:rPr>
              <a:t>I can explain why you only get many infectious diseases once, and how vaccination protects people and communities.</a:t>
            </a:r>
            <a:endParaRPr lang="en-US" sz="1600" dirty="0"/>
          </a:p>
        </p:txBody>
      </p:sp>
      <p:sp>
        <p:nvSpPr>
          <p:cNvPr id="10" name="Text 8"/>
          <p:cNvSpPr txBox="1"/>
          <p:nvPr/>
        </p:nvSpPr>
        <p:spPr>
          <a:xfrm>
            <a:off x="6583680" y="1325880"/>
            <a:ext cx="5029200" cy="457200"/>
          </a:xfrm>
          <a:prstGeom prst="rect">
            <a:avLst/>
          </a:prstGeom>
          <a:noFill/>
          <a:ln/>
        </p:spPr>
        <p:txBody>
          <a:bodyPr wrap="square" lIns="0" tIns="0" rIns="0" bIns="0" rtlCol="0" anchor="ctr"/>
          <a:lstStyle/>
          <a:p>
            <a:pPr indent="0" marL="0">
              <a:buNone/>
            </a:pPr>
            <a:r>
              <a:rPr lang="en-US" sz="2000" b="1" dirty="0">
                <a:solidFill>
                  <a:srgbClr val="7B3A8E"/>
                </a:solidFill>
              </a:rPr>
              <a:t>Key words today</a:t>
            </a:r>
            <a:endParaRPr lang="en-US" sz="2000" dirty="0"/>
          </a:p>
        </p:txBody>
      </p:sp>
      <p:sp>
        <p:nvSpPr>
          <p:cNvPr id="11" name="Text 9"/>
          <p:cNvSpPr txBox="1"/>
          <p:nvPr/>
        </p:nvSpPr>
        <p:spPr>
          <a:xfrm>
            <a:off x="6583680" y="1874520"/>
            <a:ext cx="5029200" cy="4023360"/>
          </a:xfrm>
          <a:prstGeom prst="rect">
            <a:avLst/>
          </a:prstGeom>
          <a:noFill/>
          <a:ln/>
        </p:spPr>
        <p:txBody>
          <a:bodyPr wrap="square" lIns="0" tIns="0" rIns="0" bIns="0" rtlCol="0" anchor="t">
            <a:normAutofit/>
          </a:bodyPr>
          <a:lstStyle/>
          <a:p>
            <a:pPr indent="0" marL="0">
              <a:spcAft>
                <a:spcPts val="500"/>
              </a:spcAft>
              <a:buNone/>
            </a:pPr>
            <a:r>
              <a:rPr lang="en-US" sz="1300" b="1" dirty="0">
                <a:solidFill>
                  <a:srgbClr val="0F2A5F"/>
                </a:solidFill>
              </a:rPr>
              <a:t>white blood cell</a:t>
            </a:r>
            <a:pPr indent="0" marL="0">
              <a:spcAft>
                <a:spcPts val="500"/>
              </a:spcAft>
              <a:buNone/>
            </a:pPr>
            <a:r>
              <a:rPr lang="en-US" sz="1300" dirty="0">
                <a:solidFill>
                  <a:srgbClr val="141B26"/>
                </a:solidFill>
              </a:rPr>
              <a:t>  a blood cell that fights pathogens</a:t>
            </a:r>
            <a:endParaRPr lang="en-US" sz="1300" dirty="0"/>
          </a:p>
          <a:p>
            <a:pPr indent="0" marL="0">
              <a:spcAft>
                <a:spcPts val="500"/>
              </a:spcAft>
              <a:buNone/>
            </a:pPr>
            <a:r>
              <a:rPr lang="en-US" sz="1300" b="1" dirty="0">
                <a:solidFill>
                  <a:srgbClr val="0F2A5F"/>
                </a:solidFill>
              </a:rPr>
              <a:t>phagocyte</a:t>
            </a:r>
            <a:pPr indent="0" marL="0">
              <a:spcAft>
                <a:spcPts val="500"/>
              </a:spcAft>
              <a:buNone/>
            </a:pPr>
            <a:r>
              <a:rPr lang="en-US" sz="1300" dirty="0">
                <a:solidFill>
                  <a:srgbClr val="141B26"/>
                </a:solidFill>
              </a:rPr>
              <a:t>  a white blood cell that surrounds, ingests and digests microorganisms</a:t>
            </a:r>
            <a:endParaRPr lang="en-US" sz="1300" dirty="0"/>
          </a:p>
          <a:p>
            <a:pPr indent="0" marL="0">
              <a:spcAft>
                <a:spcPts val="500"/>
              </a:spcAft>
              <a:buNone/>
            </a:pPr>
            <a:r>
              <a:rPr lang="en-US" sz="1300" b="1" dirty="0">
                <a:solidFill>
                  <a:srgbClr val="0F2A5F"/>
                </a:solidFill>
              </a:rPr>
              <a:t>lymphocyte</a:t>
            </a:r>
            <a:pPr indent="0" marL="0">
              <a:spcAft>
                <a:spcPts val="500"/>
              </a:spcAft>
              <a:buNone/>
            </a:pPr>
            <a:r>
              <a:rPr lang="en-US" sz="1300" dirty="0">
                <a:solidFill>
                  <a:srgbClr val="141B26"/>
                </a:solidFill>
              </a:rPr>
              <a:t>  a white blood cell that makes antibodies</a:t>
            </a:r>
            <a:endParaRPr lang="en-US" sz="1300" dirty="0"/>
          </a:p>
          <a:p>
            <a:pPr indent="0" marL="0">
              <a:spcAft>
                <a:spcPts val="500"/>
              </a:spcAft>
              <a:buNone/>
            </a:pPr>
            <a:r>
              <a:rPr lang="en-US" sz="1300" b="1" dirty="0">
                <a:solidFill>
                  <a:srgbClr val="0F2A5F"/>
                </a:solidFill>
              </a:rPr>
              <a:t>antibody</a:t>
            </a:r>
            <a:pPr indent="0" marL="0">
              <a:spcAft>
                <a:spcPts val="500"/>
              </a:spcAft>
              <a:buNone/>
            </a:pPr>
            <a:r>
              <a:rPr lang="en-US" sz="1300" dirty="0">
                <a:solidFill>
                  <a:srgbClr val="141B26"/>
                </a:solidFill>
              </a:rPr>
              <a:t>  a protein that sticks to one type of pathogen</a:t>
            </a:r>
            <a:endParaRPr lang="en-US" sz="1300" dirty="0"/>
          </a:p>
          <a:p>
            <a:pPr indent="0" marL="0">
              <a:spcAft>
                <a:spcPts val="500"/>
              </a:spcAft>
              <a:buNone/>
            </a:pPr>
            <a:r>
              <a:rPr lang="en-US" sz="1300" b="1" dirty="0">
                <a:solidFill>
                  <a:srgbClr val="0F2A5F"/>
                </a:solidFill>
              </a:rPr>
              <a:t>specific</a:t>
            </a:r>
            <a:pPr indent="0" marL="0">
              <a:spcAft>
                <a:spcPts val="500"/>
              </a:spcAft>
              <a:buNone/>
            </a:pPr>
            <a:r>
              <a:rPr lang="en-US" sz="1300" dirty="0">
                <a:solidFill>
                  <a:srgbClr val="141B26"/>
                </a:solidFill>
              </a:rPr>
              <a:t>  fits only one type of pathogen</a:t>
            </a:r>
            <a:endParaRPr lang="en-US" sz="1300" dirty="0"/>
          </a:p>
          <a:p>
            <a:pPr indent="0" marL="0">
              <a:spcAft>
                <a:spcPts val="500"/>
              </a:spcAft>
              <a:buNone/>
            </a:pPr>
            <a:r>
              <a:rPr lang="en-US" sz="1300" b="1" dirty="0">
                <a:solidFill>
                  <a:srgbClr val="0F2A5F"/>
                </a:solidFill>
              </a:rPr>
              <a:t>memory cell</a:t>
            </a:r>
            <a:pPr indent="0" marL="0">
              <a:spcAft>
                <a:spcPts val="500"/>
              </a:spcAft>
              <a:buNone/>
            </a:pPr>
            <a:r>
              <a:rPr lang="en-US" sz="1300" dirty="0">
                <a:solidFill>
                  <a:srgbClr val="141B26"/>
                </a:solidFill>
              </a:rPr>
              <a:t>  a lymphocyte that stays in the body ready to make antibodies quickly</a:t>
            </a:r>
            <a:endParaRPr lang="en-US" sz="1300" dirty="0"/>
          </a:p>
          <a:p>
            <a:pPr indent="0" marL="0">
              <a:spcAft>
                <a:spcPts val="500"/>
              </a:spcAft>
              <a:buNone/>
            </a:pPr>
            <a:r>
              <a:rPr lang="en-US" sz="1300" b="1" dirty="0">
                <a:solidFill>
                  <a:srgbClr val="0F2A5F"/>
                </a:solidFill>
              </a:rPr>
              <a:t>immune</a:t>
            </a:r>
            <a:pPr indent="0" marL="0">
              <a:spcAft>
                <a:spcPts val="500"/>
              </a:spcAft>
              <a:buNone/>
            </a:pPr>
            <a:r>
              <a:rPr lang="en-US" sz="1300" dirty="0">
                <a:solidFill>
                  <a:srgbClr val="141B26"/>
                </a:solidFill>
              </a:rPr>
              <a:t>  protected against a disease, so you do not become ill with it</a:t>
            </a:r>
            <a:endParaRPr lang="en-US" sz="1300" dirty="0"/>
          </a:p>
          <a:p>
            <a:pPr indent="0" marL="0">
              <a:spcAft>
                <a:spcPts val="500"/>
              </a:spcAft>
              <a:buNone/>
            </a:pPr>
            <a:r>
              <a:rPr lang="en-US" sz="1300" b="1" dirty="0">
                <a:solidFill>
                  <a:srgbClr val="0F2A5F"/>
                </a:solidFill>
              </a:rPr>
              <a:t>vaccine</a:t>
            </a:r>
            <a:pPr indent="0" marL="0">
              <a:spcAft>
                <a:spcPts val="500"/>
              </a:spcAft>
              <a:buNone/>
            </a:pPr>
            <a:r>
              <a:rPr lang="en-US" sz="1300" dirty="0">
                <a:solidFill>
                  <a:srgbClr val="141B26"/>
                </a:solidFill>
              </a:rPr>
              <a:t>  a substance containing parts of a pathogen, given to make a person immune</a:t>
            </a:r>
            <a:endParaRPr lang="en-US" sz="1300" dirty="0"/>
          </a:p>
          <a:p>
            <a:pPr indent="0" marL="0">
              <a:spcAft>
                <a:spcPts val="500"/>
              </a:spcAft>
              <a:buNone/>
            </a:pPr>
            <a:r>
              <a:rPr lang="en-US" sz="1300" b="1" dirty="0">
                <a:solidFill>
                  <a:srgbClr val="0F2A5F"/>
                </a:solidFill>
              </a:rPr>
              <a:t>virus</a:t>
            </a:r>
            <a:pPr indent="0" marL="0">
              <a:spcAft>
                <a:spcPts val="500"/>
              </a:spcAft>
              <a:buNone/>
            </a:pPr>
            <a:r>
              <a:rPr lang="en-US" sz="1300" dirty="0">
                <a:solidFill>
                  <a:srgbClr val="141B26"/>
                </a:solidFill>
              </a:rPr>
              <a:t>  a very small pathogen that can only copy itself inside a cell</a:t>
            </a:r>
            <a:endParaRPr lang="en-US" sz="1300" dirty="0"/>
          </a:p>
          <a:p>
            <a:pPr indent="0" marL="0">
              <a:spcAft>
                <a:spcPts val="500"/>
              </a:spcAft>
              <a:buNone/>
            </a:pPr>
            <a:r>
              <a:rPr lang="en-US" sz="1300" b="1" dirty="0">
                <a:solidFill>
                  <a:srgbClr val="0F2A5F"/>
                </a:solidFill>
              </a:rPr>
              <a:t>dose</a:t>
            </a:r>
            <a:pPr indent="0" marL="0">
              <a:spcAft>
                <a:spcPts val="500"/>
              </a:spcAft>
              <a:buNone/>
            </a:pPr>
            <a:r>
              <a:rPr lang="en-US" sz="1300" dirty="0">
                <a:solidFill>
                  <a:srgbClr val="141B26"/>
                </a:solidFill>
              </a:rPr>
              <a:t>  the amount of a medicine given at one time</a:t>
            </a:r>
            <a:endParaRPr lang="en-US" sz="1300" dirty="0"/>
          </a:p>
          <a:p>
            <a:pPr indent="0" marL="0">
              <a:spcAft>
                <a:spcPts val="500"/>
              </a:spcAft>
              <a:buNone/>
            </a:pPr>
            <a:r>
              <a:rPr lang="en-US" sz="1300" b="1" dirty="0">
                <a:solidFill>
                  <a:srgbClr val="0F2A5F"/>
                </a:solidFill>
              </a:rPr>
              <a:t>half-life</a:t>
            </a:r>
            <a:pPr indent="0" marL="0">
              <a:spcAft>
                <a:spcPts val="500"/>
              </a:spcAft>
              <a:buNone/>
            </a:pPr>
            <a:r>
              <a:rPr lang="en-US" sz="1300" dirty="0">
                <a:solidFill>
                  <a:srgbClr val="141B26"/>
                </a:solidFill>
              </a:rPr>
              <a:t>  the time for the amount of a medicine in the body to fall by half</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Caught in the act</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HOOK</a:t>
            </a:r>
            <a:endParaRPr lang="en-US" sz="1100" dirty="0"/>
          </a:p>
        </p:txBody>
      </p:sp>
      <p:sp>
        <p:nvSpPr>
          <p:cNvPr id="5" name="Text 3"/>
          <p:cNvSpPr txBox="1"/>
          <p:nvPr/>
        </p:nvSpPr>
        <p:spPr>
          <a:xfrm>
            <a:off x="548640" y="1371600"/>
            <a:ext cx="5394960" cy="2377440"/>
          </a:xfrm>
          <a:prstGeom prst="rect">
            <a:avLst/>
          </a:prstGeom>
          <a:noFill/>
          <a:ln/>
        </p:spPr>
        <p:txBody>
          <a:bodyPr wrap="square" lIns="0" tIns="0" rIns="0" bIns="0" rtlCol="0" anchor="t">
            <a:normAutofit/>
          </a:bodyPr>
          <a:lstStyle/>
          <a:p>
            <a:pPr indent="0" marL="0">
              <a:buNone/>
            </a:pPr>
            <a:r>
              <a:rPr lang="en-US" sz="2800" b="1" dirty="0">
                <a:solidFill>
                  <a:srgbClr val="0F2A5F"/>
                </a:solidFill>
              </a:rPr>
              <a:t>These bacteria have got into your blood. Phagocytes, a type of white blood cell, are on their way. What do you think happens next?</a:t>
            </a:r>
            <a:endParaRPr lang="en-US" sz="2800" dirty="0"/>
          </a:p>
        </p:txBody>
      </p:sp>
      <p:sp>
        <p:nvSpPr>
          <p:cNvPr id="6" name="Text 4"/>
          <p:cNvSpPr txBox="1"/>
          <p:nvPr/>
        </p:nvSpPr>
        <p:spPr>
          <a:xfrm>
            <a:off x="548640" y="3794760"/>
            <a:ext cx="5394960" cy="210312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41B26"/>
                </a:solidFill>
              </a:rPr>
              <a:t>Talk to a partner: what does your body do in the days after a pathogen gets in?</a:t>
            </a:r>
            <a:endParaRPr lang="en-US" sz="1600" dirty="0"/>
          </a:p>
        </p:txBody>
      </p:sp>
      <p:pic>
        <p:nvPicPr>
          <p:cNvPr id="7" name="Image 0" descr="/home/user/lessons/Y9_Exploring_Science/images/phagocyte_bacteria.jpg">    </p:cNvPr>
          <p:cNvPicPr>
            <a:picLocks noChangeAspect="1"/>
          </p:cNvPicPr>
          <p:nvPr/>
        </p:nvPicPr>
        <p:blipFill>
          <a:blip r:embed="rId1"/>
          <a:stretch>
            <a:fillRect/>
          </a:stretch>
        </p:blipFill>
        <p:spPr>
          <a:xfrm>
            <a:off x="6950422" y="1280160"/>
            <a:ext cx="4021395" cy="4206240"/>
          </a:xfrm>
          <a:prstGeom prst="rect">
            <a:avLst/>
          </a:prstGeom>
        </p:spPr>
      </p:pic>
      <p:sp>
        <p:nvSpPr>
          <p:cNvPr id="8" name="Text 5"/>
          <p:cNvSpPr txBox="1"/>
          <p:nvPr/>
        </p:nvSpPr>
        <p:spPr>
          <a:xfrm>
            <a:off x="6309360" y="5532120"/>
            <a:ext cx="5303520" cy="502920"/>
          </a:xfrm>
          <a:prstGeom prst="rect">
            <a:avLst/>
          </a:prstGeom>
          <a:noFill/>
          <a:ln/>
        </p:spPr>
        <p:txBody>
          <a:bodyPr wrap="square" lIns="0" tIns="0" rIns="0" bIns="0" rtlCol="0" anchor="t"/>
          <a:lstStyle/>
          <a:p>
            <a:pPr algn="l" indent="0" marL="0">
              <a:buNone/>
            </a:pPr>
            <a:r>
              <a:rPr lang="en-US" sz="1100" dirty="0">
                <a:solidFill>
                  <a:srgbClr val="141B26"/>
                </a:solidFill>
              </a:rPr>
              <a:t>Bacteria (coloured electron micrograph)</a:t>
            </a:r>
            <a:pPr algn="l" indent="0" marL="0">
              <a:buNone/>
            </a:pPr>
            <a:endParaRPr lang="en-US" sz="1100" dirty="0"/>
          </a:p>
          <a:p>
            <a:pPr algn="l" indent="0" marL="0">
              <a:buNone/>
            </a:pPr>
            <a:r>
              <a:rPr lang="en-US" sz="800" dirty="0">
                <a:solidFill>
                  <a:srgbClr val="5B6574"/>
                </a:solidFill>
              </a:rPr>
              <a:t>Image: National Institutes of Health (NIH), Public domain, via Wikimedia Commons</a:t>
            </a:r>
            <a:endParaRPr lang="en-US" sz="11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Two kinds of white blood cell</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600" dirty="0">
                <a:solidFill>
                  <a:srgbClr val="141B26"/>
                </a:solidFill>
              </a:rPr>
              <a:t>Your blood carries two main types of white blood cell that attack pathogens in different ways.</a:t>
            </a:r>
            <a:endParaRPr lang="en-US" sz="1600" dirty="0"/>
          </a:p>
        </p:txBody>
      </p:sp>
      <p:pic>
        <p:nvPicPr>
          <p:cNvPr id="6" name="Image 0" descr="/home/user/lessons/Y9_Exploring_Science/source/diagrams/immune_response.png">    </p:cNvPr>
          <p:cNvPicPr>
            <a:picLocks noChangeAspect="1"/>
          </p:cNvPicPr>
          <p:nvPr/>
        </p:nvPicPr>
        <p:blipFill>
          <a:blip r:embed="rId1"/>
          <a:stretch>
            <a:fillRect/>
          </a:stretch>
        </p:blipFill>
        <p:spPr>
          <a:xfrm>
            <a:off x="2420930" y="1737360"/>
            <a:ext cx="7136780" cy="3657600"/>
          </a:xfrm>
          <a:prstGeom prst="rect">
            <a:avLst/>
          </a:prstGeom>
        </p:spPr>
      </p:pic>
      <p:sp>
        <p:nvSpPr>
          <p:cNvPr id="7" name="Shape 4"/>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5"/>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Phagocytes ingest pathogens. Lymphocytes make antibodies that fit the surface of one type of pathogen.</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Why you are ill before you get better</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lymphocyte   ·   antibody   ·   specific</a:t>
            </a:r>
            <a:endParaRPr lang="en-US" sz="1200" dirty="0"/>
          </a:p>
        </p:txBody>
      </p:sp>
      <p:sp>
        <p:nvSpPr>
          <p:cNvPr id="6" name="Text 4"/>
          <p:cNvSpPr txBox="1"/>
          <p:nvPr/>
        </p:nvSpPr>
        <p:spPr>
          <a:xfrm>
            <a:off x="548640" y="1325880"/>
            <a:ext cx="576072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700" dirty="0">
                <a:solidFill>
                  <a:srgbClr val="141B26"/>
                </a:solidFill>
              </a:rPr>
              <a:t>Each type of pathogen has a different surface, so it needs a different antibody.</a:t>
            </a:r>
            <a:endParaRPr lang="en-US" sz="1700" dirty="0"/>
          </a:p>
          <a:p>
            <a:pPr marL="228600" indent="-228600">
              <a:spcAft>
                <a:spcPts val="600"/>
              </a:spcAft>
              <a:buSzPct val="100000"/>
              <a:buChar char="•"/>
            </a:pPr>
            <a:r>
              <a:rPr lang="en-US" sz="1700" dirty="0">
                <a:solidFill>
                  <a:srgbClr val="141B26"/>
                </a:solidFill>
              </a:rPr>
              <a:t>Lymphocytes must make new, specific antibodies for each new pathogen.</a:t>
            </a:r>
            <a:endParaRPr lang="en-US" sz="1700" dirty="0"/>
          </a:p>
          <a:p>
            <a:pPr marL="228600" indent="-228600">
              <a:spcAft>
                <a:spcPts val="600"/>
              </a:spcAft>
              <a:buSzPct val="100000"/>
              <a:buChar char="•"/>
            </a:pPr>
            <a:r>
              <a:rPr lang="en-US" sz="1700" dirty="0">
                <a:solidFill>
                  <a:srgbClr val="141B26"/>
                </a:solidFill>
              </a:rPr>
              <a:t>This takes days. Meanwhile the pathogen multiplies and you feel ill.</a:t>
            </a:r>
            <a:endParaRPr lang="en-US" sz="1700" dirty="0"/>
          </a:p>
          <a:p>
            <a:pPr marL="228600" indent="-228600">
              <a:spcAft>
                <a:spcPts val="600"/>
              </a:spcAft>
              <a:buSzPct val="100000"/>
              <a:buChar char="•"/>
            </a:pPr>
            <a:r>
              <a:rPr lang="en-US" sz="1700" dirty="0">
                <a:solidFill>
                  <a:srgbClr val="141B26"/>
                </a:solidFill>
              </a:rPr>
              <a:t>Once there are enough antibodies, the pathogens are destroyed and you recover.</a:t>
            </a:r>
            <a:endParaRPr lang="en-US" sz="1700" dirty="0"/>
          </a:p>
        </p:txBody>
      </p:sp>
      <p:pic>
        <p:nvPicPr>
          <p:cNvPr id="7" name="Image 0" descr="/home/user/lessons/Y9_Exploring_Science/images/lymphocyte.jpg">    </p:cNvPr>
          <p:cNvPicPr>
            <a:picLocks noChangeAspect="1"/>
          </p:cNvPicPr>
          <p:nvPr/>
        </p:nvPicPr>
        <p:blipFill>
          <a:blip r:embed="rId1"/>
          <a:stretch>
            <a:fillRect/>
          </a:stretch>
        </p:blipFill>
        <p:spPr>
          <a:xfrm>
            <a:off x="7107362" y="1280160"/>
            <a:ext cx="3981835" cy="3657600"/>
          </a:xfrm>
          <a:prstGeom prst="rect">
            <a:avLst/>
          </a:prstGeom>
        </p:spPr>
      </p:pic>
      <p:sp>
        <p:nvSpPr>
          <p:cNvPr id="8" name="Text 5"/>
          <p:cNvSpPr txBox="1"/>
          <p:nvPr/>
        </p:nvSpPr>
        <p:spPr>
          <a:xfrm>
            <a:off x="6583680" y="4983480"/>
            <a:ext cx="5029200" cy="502920"/>
          </a:xfrm>
          <a:prstGeom prst="rect">
            <a:avLst/>
          </a:prstGeom>
          <a:noFill/>
          <a:ln/>
        </p:spPr>
        <p:txBody>
          <a:bodyPr wrap="square" lIns="0" tIns="0" rIns="0" bIns="0" rtlCol="0" anchor="t"/>
          <a:lstStyle/>
          <a:p>
            <a:pPr algn="l" indent="0" marL="0">
              <a:buNone/>
            </a:pPr>
            <a:r>
              <a:rPr lang="en-US" sz="1100" dirty="0">
                <a:solidFill>
                  <a:srgbClr val="141B26"/>
                </a:solidFill>
              </a:rPr>
              <a:t>A lymphocyte (electron micrograph)</a:t>
            </a:r>
            <a:pPr algn="l" indent="0" marL="0">
              <a:buNone/>
            </a:pPr>
            <a:endParaRPr lang="en-US" sz="1100" dirty="0"/>
          </a:p>
          <a:p>
            <a:pPr algn="l" indent="0" marL="0">
              <a:buNone/>
            </a:pPr>
            <a:r>
              <a:rPr lang="en-US" sz="800" dirty="0">
                <a:solidFill>
                  <a:srgbClr val="5B6574"/>
                </a:solidFill>
              </a:rPr>
              <a:t>Image: Unknown photographer/artist (False color modifications made by myself--DO11.10), Public domain, via Wikimedia Commons</a:t>
            </a:r>
            <a:endParaRPr lang="en-US" sz="11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Antibodies are specific: each type fits only one type of pathogen.</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Memory cells make you immune</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600" dirty="0">
                <a:solidFill>
                  <a:srgbClr val="141B26"/>
                </a:solidFill>
              </a:rPr>
              <a:t>After an infection, some lymphocytes stay in the body as memory cells.</a:t>
            </a:r>
            <a:endParaRPr lang="en-US" sz="1600" dirty="0"/>
          </a:p>
        </p:txBody>
      </p:sp>
      <p:pic>
        <p:nvPicPr>
          <p:cNvPr id="6" name="Image 0" descr="/home/user/lessons/Y9_Exploring_Science/source/diagrams/antibody_response.png">    </p:cNvPr>
          <p:cNvPicPr>
            <a:picLocks noChangeAspect="1"/>
          </p:cNvPicPr>
          <p:nvPr/>
        </p:nvPicPr>
        <p:blipFill>
          <a:blip r:embed="rId1"/>
          <a:stretch>
            <a:fillRect/>
          </a:stretch>
        </p:blipFill>
        <p:spPr>
          <a:xfrm>
            <a:off x="1809206" y="1737360"/>
            <a:ext cx="8360229" cy="3657600"/>
          </a:xfrm>
          <a:prstGeom prst="rect">
            <a:avLst/>
          </a:prstGeom>
        </p:spPr>
      </p:pic>
      <p:sp>
        <p:nvSpPr>
          <p:cNvPr id="7" name="Shape 4"/>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5"/>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The second time the same pathogen gets in, memory cells make antibodies fast and in large numbers: the pathogen is destroyed before you feel ill. You are immune.</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Vaccines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vaccine   ·   immune   ·   virus</a:t>
            </a:r>
            <a:endParaRPr lang="en-US" sz="1200" dirty="0"/>
          </a:p>
        </p:txBody>
      </p:sp>
      <p:sp>
        <p:nvSpPr>
          <p:cNvPr id="6" name="Text 4"/>
          <p:cNvSpPr txBox="1"/>
          <p:nvPr/>
        </p:nvSpPr>
        <p:spPr>
          <a:xfrm>
            <a:off x="548640" y="1325880"/>
            <a:ext cx="576072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700" dirty="0">
                <a:solidFill>
                  <a:srgbClr val="141B26"/>
                </a:solidFill>
              </a:rPr>
              <a:t>A vaccine contains parts of the surface coating of a pathogen (or a dead or weakened form).</a:t>
            </a:r>
            <a:endParaRPr lang="en-US" sz="1700" dirty="0"/>
          </a:p>
          <a:p>
            <a:pPr marL="228600" indent="-228600">
              <a:spcAft>
                <a:spcPts val="600"/>
              </a:spcAft>
              <a:buSzPct val="100000"/>
              <a:buChar char="•"/>
            </a:pPr>
            <a:r>
              <a:rPr lang="en-US" sz="1700" dirty="0">
                <a:solidFill>
                  <a:srgbClr val="141B26"/>
                </a:solidFill>
              </a:rPr>
              <a:t>Lymphocytes make antibodies and memory cells against it, without you having the disease.</a:t>
            </a:r>
            <a:endParaRPr lang="en-US" sz="1700" dirty="0"/>
          </a:p>
          <a:p>
            <a:pPr marL="228600" indent="-228600">
              <a:spcAft>
                <a:spcPts val="600"/>
              </a:spcAft>
              <a:buSzPct val="100000"/>
              <a:buChar char="•"/>
            </a:pPr>
            <a:r>
              <a:rPr lang="en-US" sz="1700" dirty="0">
                <a:solidFill>
                  <a:srgbClr val="141B26"/>
                </a:solidFill>
              </a:rPr>
              <a:t>If most people in a community are vaccinated, the pathogen cannot spread, which also protects people who cannot be vaccinated.</a:t>
            </a:r>
            <a:endParaRPr lang="en-US" sz="1700" dirty="0"/>
          </a:p>
          <a:p>
            <a:pPr marL="228600" indent="-228600">
              <a:spcAft>
                <a:spcPts val="600"/>
              </a:spcAft>
              <a:buSzPct val="100000"/>
              <a:buChar char="•"/>
            </a:pPr>
            <a:r>
              <a:rPr lang="en-US" sz="1700" dirty="0">
                <a:solidFill>
                  <a:srgbClr val="141B26"/>
                </a:solidFill>
              </a:rPr>
              <a:t>Viruses are not living: they can only copy themselves inside a cell.</a:t>
            </a:r>
            <a:endParaRPr lang="en-US" sz="1700" dirty="0"/>
          </a:p>
        </p:txBody>
      </p:sp>
      <p:pic>
        <p:nvPicPr>
          <p:cNvPr id="7" name="Image 0" descr="/home/user/lessons/Y9_Exploring_Science/images/vaccination.jpg">    </p:cNvPr>
          <p:cNvPicPr>
            <a:picLocks noChangeAspect="1"/>
          </p:cNvPicPr>
          <p:nvPr/>
        </p:nvPicPr>
        <p:blipFill>
          <a:blip r:embed="rId1"/>
          <a:stretch>
            <a:fillRect/>
          </a:stretch>
        </p:blipFill>
        <p:spPr>
          <a:xfrm>
            <a:off x="7719536" y="1280160"/>
            <a:ext cx="2757488" cy="3657600"/>
          </a:xfrm>
          <a:prstGeom prst="rect">
            <a:avLst/>
          </a:prstGeom>
        </p:spPr>
      </p:pic>
      <p:sp>
        <p:nvSpPr>
          <p:cNvPr id="8" name="Text 5"/>
          <p:cNvSpPr txBox="1"/>
          <p:nvPr/>
        </p:nvSpPr>
        <p:spPr>
          <a:xfrm>
            <a:off x="6583680" y="4983480"/>
            <a:ext cx="5029200" cy="502920"/>
          </a:xfrm>
          <a:prstGeom prst="rect">
            <a:avLst/>
          </a:prstGeom>
          <a:noFill/>
          <a:ln/>
        </p:spPr>
        <p:txBody>
          <a:bodyPr wrap="square" lIns="0" tIns="0" rIns="0" bIns="0" rtlCol="0" anchor="t"/>
          <a:lstStyle/>
          <a:p>
            <a:pPr algn="l" indent="0" marL="0">
              <a:buNone/>
            </a:pPr>
            <a:r>
              <a:rPr lang="en-US" sz="1100" dirty="0">
                <a:solidFill>
                  <a:srgbClr val="141B26"/>
                </a:solidFill>
              </a:rPr>
              <a:t>A vaccination</a:t>
            </a:r>
            <a:pPr algn="l" indent="0" marL="0">
              <a:buNone/>
            </a:pPr>
            <a:endParaRPr lang="en-US" sz="1100" dirty="0"/>
          </a:p>
          <a:p>
            <a:pPr algn="l" indent="0" marL="0">
              <a:buNone/>
            </a:pPr>
            <a:r>
              <a:rPr lang="en-US" sz="800" dirty="0">
                <a:solidFill>
                  <a:srgbClr val="5B6574"/>
                </a:solidFill>
              </a:rPr>
              <a:t>Image: SELF Magazine, CC BY 2.0, via Wikimedia Commons</a:t>
            </a:r>
            <a:endParaRPr lang="en-US" sz="11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Vaccination makes you immune without being ill.</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Quick check</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CHECK</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400" i="1" dirty="0">
                <a:solidFill>
                  <a:srgbClr val="5B6574"/>
                </a:solidFill>
              </a:rPr>
              <a:t>Mini whiteboards. One answer each, then we check.</a:t>
            </a:r>
            <a:endParaRPr lang="en-US" sz="1400" dirty="0"/>
          </a:p>
        </p:txBody>
      </p:sp>
      <p:sp>
        <p:nvSpPr>
          <p:cNvPr id="6" name="Shape 4"/>
          <p:cNvSpPr/>
          <p:nvPr/>
        </p:nvSpPr>
        <p:spPr>
          <a:xfrm>
            <a:off x="548640" y="1783080"/>
            <a:ext cx="10881360" cy="713232"/>
          </a:xfrm>
          <a:prstGeom prst="roundRect">
            <a:avLst>
              <a:gd name="adj" fmla="val 10256"/>
            </a:avLst>
          </a:prstGeom>
          <a:solidFill>
            <a:srgbClr val="FFFFFF"/>
          </a:solidFill>
          <a:ln w="12700">
            <a:solidFill>
              <a:srgbClr val="D5DBE3"/>
            </a:solidFill>
            <a:prstDash val="solid"/>
          </a:ln>
        </p:spPr>
      </p:sp>
      <p:sp>
        <p:nvSpPr>
          <p:cNvPr id="7" name="Text 5"/>
          <p:cNvSpPr txBox="1"/>
          <p:nvPr/>
        </p:nvSpPr>
        <p:spPr>
          <a:xfrm>
            <a:off x="731520" y="178308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Q1  </a:t>
            </a:r>
            <a:pPr indent="0" marL="0">
              <a:buNone/>
            </a:pPr>
            <a:r>
              <a:rPr lang="en-US" sz="1600" dirty="0">
                <a:solidFill>
                  <a:srgbClr val="141B26"/>
                </a:solidFill>
              </a:rPr>
              <a:t>Which type of white blood cell ingests (eats) microorganisms?</a:t>
            </a:r>
            <a:endParaRPr lang="en-US" sz="1600" dirty="0"/>
          </a:p>
        </p:txBody>
      </p:sp>
      <p:sp>
        <p:nvSpPr>
          <p:cNvPr id="8" name="Shape 6"/>
          <p:cNvSpPr/>
          <p:nvPr/>
        </p:nvSpPr>
        <p:spPr>
          <a:xfrm>
            <a:off x="548640" y="2606040"/>
            <a:ext cx="10881360" cy="713232"/>
          </a:xfrm>
          <a:prstGeom prst="roundRect">
            <a:avLst>
              <a:gd name="adj" fmla="val 10256"/>
            </a:avLst>
          </a:prstGeom>
          <a:solidFill>
            <a:srgbClr val="FFFFFF"/>
          </a:solidFill>
          <a:ln w="12700">
            <a:solidFill>
              <a:srgbClr val="D5DBE3"/>
            </a:solidFill>
            <a:prstDash val="solid"/>
          </a:ln>
        </p:spPr>
      </p:sp>
      <p:sp>
        <p:nvSpPr>
          <p:cNvPr id="9" name="Text 7"/>
          <p:cNvSpPr txBox="1"/>
          <p:nvPr/>
        </p:nvSpPr>
        <p:spPr>
          <a:xfrm>
            <a:off x="731520" y="260604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Q2  </a:t>
            </a:r>
            <a:pPr indent="0" marL="0">
              <a:buNone/>
            </a:pPr>
            <a:r>
              <a:rPr lang="en-US" sz="1600" dirty="0">
                <a:solidFill>
                  <a:srgbClr val="141B26"/>
                </a:solidFill>
              </a:rPr>
              <a:t>What do lymphocytes make?</a:t>
            </a:r>
            <a:endParaRPr lang="en-US" sz="1600" dirty="0"/>
          </a:p>
        </p:txBody>
      </p:sp>
      <p:sp>
        <p:nvSpPr>
          <p:cNvPr id="10" name="Shape 8"/>
          <p:cNvSpPr/>
          <p:nvPr/>
        </p:nvSpPr>
        <p:spPr>
          <a:xfrm>
            <a:off x="548640" y="3429000"/>
            <a:ext cx="10881360" cy="713232"/>
          </a:xfrm>
          <a:prstGeom prst="roundRect">
            <a:avLst>
              <a:gd name="adj" fmla="val 10256"/>
            </a:avLst>
          </a:prstGeom>
          <a:solidFill>
            <a:srgbClr val="FFFFFF"/>
          </a:solidFill>
          <a:ln w="12700">
            <a:solidFill>
              <a:srgbClr val="D5DBE3"/>
            </a:solidFill>
            <a:prstDash val="solid"/>
          </a:ln>
        </p:spPr>
      </p:sp>
      <p:sp>
        <p:nvSpPr>
          <p:cNvPr id="11" name="Text 9"/>
          <p:cNvSpPr txBox="1"/>
          <p:nvPr/>
        </p:nvSpPr>
        <p:spPr>
          <a:xfrm>
            <a:off x="731520" y="342900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Q3  </a:t>
            </a:r>
            <a:pPr indent="0" marL="0">
              <a:buNone/>
            </a:pPr>
            <a:r>
              <a:rPr lang="en-US" sz="1600" dirty="0">
                <a:solidFill>
                  <a:srgbClr val="141B26"/>
                </a:solidFill>
              </a:rPr>
              <a:t>Why do you only get measles once?</a:t>
            </a:r>
            <a:endParaRPr lang="en-US" sz="1600" dirty="0"/>
          </a:p>
        </p:txBody>
      </p:sp>
      <p:sp>
        <p:nvSpPr>
          <p:cNvPr id="12" name="Shape 10"/>
          <p:cNvSpPr/>
          <p:nvPr/>
        </p:nvSpPr>
        <p:spPr>
          <a:xfrm>
            <a:off x="548640" y="4251960"/>
            <a:ext cx="10881360" cy="713232"/>
          </a:xfrm>
          <a:prstGeom prst="roundRect">
            <a:avLst>
              <a:gd name="adj" fmla="val 10256"/>
            </a:avLst>
          </a:prstGeom>
          <a:solidFill>
            <a:srgbClr val="FFFFFF"/>
          </a:solidFill>
          <a:ln w="12700">
            <a:solidFill>
              <a:srgbClr val="D5DBE3"/>
            </a:solidFill>
            <a:prstDash val="solid"/>
          </a:ln>
        </p:spPr>
      </p:sp>
      <p:sp>
        <p:nvSpPr>
          <p:cNvPr id="13" name="Text 11"/>
          <p:cNvSpPr txBox="1"/>
          <p:nvPr/>
        </p:nvSpPr>
        <p:spPr>
          <a:xfrm>
            <a:off x="731520" y="425196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Q4  </a:t>
            </a:r>
            <a:pPr indent="0" marL="0">
              <a:buNone/>
            </a:pPr>
            <a:r>
              <a:rPr lang="en-US" sz="1600" dirty="0">
                <a:solidFill>
                  <a:srgbClr val="141B26"/>
                </a:solidFill>
              </a:rPr>
              <a:t>Does a measles vaccine protect you against chickenpox? Yes or no, and why.</a:t>
            </a:r>
            <a:endParaRPr lang="en-US" sz="1600" dirty="0"/>
          </a:p>
        </p:txBody>
      </p:sp>
      <p:sp>
        <p:nvSpPr>
          <p:cNvPr id="14" name="Shape 12"/>
          <p:cNvSpPr/>
          <p:nvPr/>
        </p:nvSpPr>
        <p:spPr>
          <a:xfrm>
            <a:off x="548640" y="5074920"/>
            <a:ext cx="10881360" cy="713232"/>
          </a:xfrm>
          <a:prstGeom prst="roundRect">
            <a:avLst>
              <a:gd name="adj" fmla="val 10256"/>
            </a:avLst>
          </a:prstGeom>
          <a:solidFill>
            <a:srgbClr val="FFFFFF"/>
          </a:solidFill>
          <a:ln w="12700">
            <a:solidFill>
              <a:srgbClr val="D5DBE3"/>
            </a:solidFill>
            <a:prstDash val="solid"/>
          </a:ln>
        </p:spPr>
      </p:sp>
      <p:sp>
        <p:nvSpPr>
          <p:cNvPr id="15" name="Text 13"/>
          <p:cNvSpPr txBox="1"/>
          <p:nvPr/>
        </p:nvSpPr>
        <p:spPr>
          <a:xfrm>
            <a:off x="731520" y="507492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Q5  </a:t>
            </a:r>
            <a:pPr indent="0" marL="0">
              <a:buNone/>
            </a:pPr>
            <a:r>
              <a:rPr lang="en-US" sz="1600" dirty="0">
                <a:solidFill>
                  <a:srgbClr val="141B26"/>
                </a:solidFill>
              </a:rPr>
              <a:t>What does a vaccine contain?</a:t>
            </a:r>
            <a:endParaRPr lang="en-US" sz="16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Your turn: fighting infection</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14</a:t>
            </a:r>
            <a:endParaRPr lang="en-US" sz="2200" dirty="0"/>
          </a:p>
          <a:p>
            <a:pPr algn="ctr" indent="0" marL="0">
              <a:buNone/>
            </a:pPr>
            <a:r>
              <a:rPr lang="en-US" sz="1000" dirty="0">
                <a:solidFill>
                  <a:srgbClr val="5B6574"/>
                </a:solidFill>
              </a:rPr>
              <a:t>min</a:t>
            </a:r>
            <a:endParaRPr lang="en-US" sz="2200" dirty="0"/>
          </a:p>
        </p:txBody>
      </p:sp>
      <p:sp>
        <p:nvSpPr>
          <p:cNvPr id="7" name="Shape 5"/>
          <p:cNvSpPr/>
          <p:nvPr/>
        </p:nvSpPr>
        <p:spPr>
          <a:xfrm>
            <a:off x="548640" y="1417320"/>
            <a:ext cx="457200" cy="457200"/>
          </a:xfrm>
          <a:prstGeom prst="ellipse">
            <a:avLst/>
          </a:prstGeom>
          <a:solidFill>
            <a:srgbClr val="7B3A8E"/>
          </a:solidFill>
          <a:ln w="12700">
            <a:solidFill>
              <a:srgbClr val="7B3A8E"/>
            </a:solidFill>
            <a:prstDash val="solid"/>
          </a:ln>
        </p:spPr>
      </p:sp>
      <p:sp>
        <p:nvSpPr>
          <p:cNvPr id="8" name="Text 6"/>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txBox="1"/>
          <p:nvPr/>
        </p:nvSpPr>
        <p:spPr>
          <a:xfrm>
            <a:off x="1188720" y="1371600"/>
            <a:ext cx="9418320" cy="914400"/>
          </a:xfrm>
          <a:prstGeom prst="rect">
            <a:avLst/>
          </a:prstGeom>
          <a:noFill/>
          <a:ln/>
        </p:spPr>
        <p:txBody>
          <a:bodyPr wrap="square" lIns="0" tIns="0" rIns="0" bIns="0" rtlCol="0" anchor="t">
            <a:normAutofit/>
          </a:bodyPr>
          <a:lstStyle/>
          <a:p>
            <a:pPr indent="0" marL="0">
              <a:buNone/>
            </a:pPr>
            <a:r>
              <a:rPr lang="en-US" sz="1700" dirty="0">
                <a:solidFill>
                  <a:srgbClr val="141B26"/>
                </a:solidFill>
              </a:rPr>
              <a:t>Core: complete the gap fill with the word bank, match the key words, then decide true or false.</a:t>
            </a:r>
            <a:endParaRPr lang="en-US" sz="1700" dirty="0"/>
          </a:p>
        </p:txBody>
      </p:sp>
      <p:sp>
        <p:nvSpPr>
          <p:cNvPr id="10" name="Shape 8"/>
          <p:cNvSpPr/>
          <p:nvPr/>
        </p:nvSpPr>
        <p:spPr>
          <a:xfrm>
            <a:off x="548640" y="2331720"/>
            <a:ext cx="457200" cy="457200"/>
          </a:xfrm>
          <a:prstGeom prst="ellipse">
            <a:avLst/>
          </a:prstGeom>
          <a:solidFill>
            <a:srgbClr val="7B3A8E"/>
          </a:solidFill>
          <a:ln w="12700">
            <a:solidFill>
              <a:srgbClr val="7B3A8E"/>
            </a:solidFill>
            <a:prstDash val="solid"/>
          </a:ln>
        </p:spPr>
      </p:sp>
      <p:sp>
        <p:nvSpPr>
          <p:cNvPr id="11" name="Text 9"/>
          <p:cNvSpPr txBox="1"/>
          <p:nvPr/>
        </p:nvSpPr>
        <p:spPr>
          <a:xfrm>
            <a:off x="548640"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1188720" y="2286000"/>
            <a:ext cx="9418320" cy="914400"/>
          </a:xfrm>
          <a:prstGeom prst="rect">
            <a:avLst/>
          </a:prstGeom>
          <a:noFill/>
          <a:ln/>
        </p:spPr>
        <p:txBody>
          <a:bodyPr wrap="square" lIns="0" tIns="0" rIns="0" bIns="0" rtlCol="0" anchor="t">
            <a:normAutofit/>
          </a:bodyPr>
          <a:lstStyle/>
          <a:p>
            <a:pPr indent="0" marL="0">
              <a:buNone/>
            </a:pPr>
            <a:r>
              <a:rPr lang="en-US" sz="1700" dirty="0">
                <a:solidFill>
                  <a:srgbClr val="141B26"/>
                </a:solidFill>
              </a:rPr>
              <a:t>Stretch: measles and chickenpox; how a vaccine protects a child; why viruses are not living.</a:t>
            </a:r>
            <a:endParaRPr lang="en-US" sz="1700" dirty="0"/>
          </a:p>
        </p:txBody>
      </p:sp>
      <p:sp>
        <p:nvSpPr>
          <p:cNvPr id="13" name="Shape 11"/>
          <p:cNvSpPr/>
          <p:nvPr/>
        </p:nvSpPr>
        <p:spPr>
          <a:xfrm>
            <a:off x="548640" y="3246120"/>
            <a:ext cx="457200" cy="457200"/>
          </a:xfrm>
          <a:prstGeom prst="ellipse">
            <a:avLst/>
          </a:prstGeom>
          <a:solidFill>
            <a:srgbClr val="7B3A8E"/>
          </a:solidFill>
          <a:ln w="12700">
            <a:solidFill>
              <a:srgbClr val="7B3A8E"/>
            </a:solidFill>
            <a:prstDash val="solid"/>
          </a:ln>
        </p:spPr>
      </p:sp>
      <p:sp>
        <p:nvSpPr>
          <p:cNvPr id="14" name="Text 12"/>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3"/>
          <p:cNvSpPr txBox="1"/>
          <p:nvPr/>
        </p:nvSpPr>
        <p:spPr>
          <a:xfrm>
            <a:off x="1188720" y="3200400"/>
            <a:ext cx="9418320" cy="914400"/>
          </a:xfrm>
          <a:prstGeom prst="rect">
            <a:avLst/>
          </a:prstGeom>
          <a:noFill/>
          <a:ln/>
        </p:spPr>
        <p:txBody>
          <a:bodyPr wrap="square" lIns="0" tIns="0" rIns="0" bIns="0" rtlCol="0" anchor="t">
            <a:normAutofit/>
          </a:bodyPr>
          <a:lstStyle/>
          <a:p>
            <a:pPr indent="0" marL="0">
              <a:buNone/>
            </a:pPr>
            <a:r>
              <a:rPr lang="en-US" sz="1700" dirty="0">
                <a:solidFill>
                  <a:srgbClr val="141B26"/>
                </a:solidFill>
              </a:rPr>
              <a:t>Challenge: a vet's antibiotic dose. Use the half-life to work out when the ball python needs its next dose.</a:t>
            </a:r>
            <a:endParaRPr lang="en-US" sz="1700" dirty="0"/>
          </a:p>
        </p:txBody>
      </p:sp>
      <p:sp>
        <p:nvSpPr>
          <p:cNvPr id="16" name="Shape 14"/>
          <p:cNvSpPr/>
          <p:nvPr/>
        </p:nvSpPr>
        <p:spPr>
          <a:xfrm>
            <a:off x="548640" y="4160520"/>
            <a:ext cx="457200" cy="457200"/>
          </a:xfrm>
          <a:prstGeom prst="ellipse">
            <a:avLst/>
          </a:prstGeom>
          <a:solidFill>
            <a:srgbClr val="7B3A8E"/>
          </a:solidFill>
          <a:ln w="12700">
            <a:solidFill>
              <a:srgbClr val="7B3A8E"/>
            </a:solidFill>
            <a:prstDash val="solid"/>
          </a:ln>
        </p:spPr>
      </p:sp>
      <p:sp>
        <p:nvSpPr>
          <p:cNvPr id="17" name="Text 15"/>
          <p:cNvSpPr txBox="1"/>
          <p:nvPr/>
        </p:nvSpPr>
        <p:spPr>
          <a:xfrm>
            <a:off x="548640" y="4160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6"/>
          <p:cNvSpPr txBox="1"/>
          <p:nvPr/>
        </p:nvSpPr>
        <p:spPr>
          <a:xfrm>
            <a:off x="1188720" y="4114800"/>
            <a:ext cx="9418320" cy="914400"/>
          </a:xfrm>
          <a:prstGeom prst="rect">
            <a:avLst/>
          </a:prstGeom>
          <a:noFill/>
          <a:ln/>
        </p:spPr>
        <p:txBody>
          <a:bodyPr wrap="square" lIns="0" tIns="0" rIns="0" bIns="0" rtlCol="0" anchor="t">
            <a:normAutofit/>
          </a:bodyPr>
          <a:lstStyle/>
          <a:p>
            <a:pPr indent="0" marL="0">
              <a:buNone/>
            </a:pPr>
            <a:r>
              <a:rPr lang="en-US" sz="1700" dirty="0">
                <a:solidFill>
                  <a:srgbClr val="141B26"/>
                </a:solidFill>
              </a:rPr>
              <a:t>Finished? Answer the My thinking question about flu vaccines.</a:t>
            </a:r>
            <a:endParaRPr lang="en-US" sz="1700" dirty="0"/>
          </a:p>
        </p:txBody>
      </p:sp>
      <p:sp>
        <p:nvSpPr>
          <p:cNvPr id="19" name="Text 17"/>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300" i="1" dirty="0">
                <a:solidFill>
                  <a:srgbClr val="5B6574"/>
                </a:solidFill>
              </a:rPr>
              <a:t>Use the words phagocyte, lymphocyte, antibody and memory cell correctly: they are not the same thing.</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Protecting the whole community</a:t>
            </a:r>
            <a:endParaRPr lang="en-US" sz="3000" dirty="0"/>
          </a:p>
        </p:txBody>
      </p:sp>
      <p:sp>
        <p:nvSpPr>
          <p:cNvPr id="3" name="Shape 1"/>
          <p:cNvSpPr/>
          <p:nvPr/>
        </p:nvSpPr>
        <p:spPr>
          <a:xfrm>
            <a:off x="8698687" y="411480"/>
            <a:ext cx="294436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8698687" y="411480"/>
            <a:ext cx="294436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THINK AND REFLECT</a:t>
            </a:r>
            <a:endParaRPr lang="en-US" sz="1100" dirty="0"/>
          </a:p>
        </p:txBody>
      </p:sp>
      <p:sp>
        <p:nvSpPr>
          <p:cNvPr id="5" name="Text 3"/>
          <p:cNvSpPr txBox="1"/>
          <p:nvPr/>
        </p:nvSpPr>
        <p:spPr>
          <a:xfrm>
            <a:off x="548640" y="1325880"/>
            <a:ext cx="10881360" cy="1920240"/>
          </a:xfrm>
          <a:prstGeom prst="rect">
            <a:avLst/>
          </a:prstGeom>
          <a:noFill/>
          <a:ln/>
        </p:spPr>
        <p:txBody>
          <a:bodyPr wrap="square" lIns="0" tIns="0" rIns="0" bIns="0" rtlCol="0" anchor="t">
            <a:normAutofit/>
          </a:bodyPr>
          <a:lstStyle/>
          <a:p>
            <a:pPr indent="0" marL="0">
              <a:buNone/>
            </a:pPr>
            <a:r>
              <a:rPr lang="en-US" sz="2200" b="1" dirty="0">
                <a:solidFill>
                  <a:srgbClr val="0F2A5F"/>
                </a:solidFill>
              </a:rPr>
              <a:t>In a town, 95% of children are vaccinated against measles. The other 5% cannot be: some are babies, some are too ill. Why are those 5% also protected?</a:t>
            </a:r>
            <a:endParaRPr lang="en-US" sz="2200" dirty="0"/>
          </a:p>
        </p:txBody>
      </p:sp>
      <p:sp>
        <p:nvSpPr>
          <p:cNvPr id="6" name="Shape 4"/>
          <p:cNvSpPr/>
          <p:nvPr/>
        </p:nvSpPr>
        <p:spPr>
          <a:xfrm>
            <a:off x="548640" y="3383280"/>
            <a:ext cx="10881360" cy="2377440"/>
          </a:xfrm>
          <a:prstGeom prst="roundRect">
            <a:avLst>
              <a:gd name="adj" fmla="val 3846"/>
            </a:avLst>
          </a:prstGeom>
          <a:solidFill>
            <a:srgbClr val="FFFFFF"/>
          </a:solidFill>
          <a:ln w="12700">
            <a:solidFill>
              <a:srgbClr val="7B3A8E"/>
            </a:solidFill>
            <a:prstDash val="dash"/>
          </a:ln>
        </p:spPr>
      </p:sp>
      <p:sp>
        <p:nvSpPr>
          <p:cNvPr id="7" name="Text 5"/>
          <p:cNvSpPr txBox="1"/>
          <p:nvPr/>
        </p:nvSpPr>
        <p:spPr>
          <a:xfrm>
            <a:off x="777240" y="3520440"/>
            <a:ext cx="10424160" cy="2148840"/>
          </a:xfrm>
          <a:prstGeom prst="rect">
            <a:avLst/>
          </a:prstGeom>
          <a:noFill/>
          <a:ln/>
        </p:spPr>
        <p:txBody>
          <a:bodyPr wrap="square" lIns="0" tIns="0" rIns="0" bIns="0" rtlCol="0" anchor="t">
            <a:normAutofit/>
          </a:bodyPr>
          <a:lstStyle/>
          <a:p>
            <a:pPr indent="0" marL="0">
              <a:spcAft>
                <a:spcPts val="600"/>
              </a:spcAft>
              <a:buNone/>
            </a:pPr>
            <a:r>
              <a:rPr lang="en-US" sz="1500" b="1" dirty="0">
                <a:solidFill>
                  <a:srgbClr val="7B3A8E"/>
                </a:solidFill>
              </a:rPr>
              <a:t>Sentence frames</a:t>
            </a:r>
            <a:endParaRPr lang="en-US" sz="1500" dirty="0"/>
          </a:p>
          <a:p>
            <a:pPr indent="0" marL="0">
              <a:spcAft>
                <a:spcPts val="600"/>
              </a:spcAft>
              <a:buNone/>
            </a:pPr>
            <a:r>
              <a:rPr lang="en-US" sz="1500" dirty="0">
                <a:solidFill>
                  <a:srgbClr val="141B26"/>
                </a:solidFill>
              </a:rPr>
              <a:t>A pathogen spreads when ___.</a:t>
            </a:r>
            <a:endParaRPr lang="en-US" sz="1500" dirty="0"/>
          </a:p>
          <a:p>
            <a:pPr indent="0" marL="0">
              <a:spcAft>
                <a:spcPts val="600"/>
              </a:spcAft>
              <a:buNone/>
            </a:pPr>
            <a:r>
              <a:rPr lang="en-US" sz="1500" dirty="0">
                <a:solidFill>
                  <a:srgbClr val="141B26"/>
                </a:solidFill>
              </a:rPr>
              <a:t>Vaccinated people cannot ___, so the pathogen ___.</a:t>
            </a:r>
            <a:endParaRPr lang="en-US" sz="1500" dirty="0"/>
          </a:p>
          <a:p>
            <a:pPr indent="0" marL="0">
              <a:spcAft>
                <a:spcPts val="600"/>
              </a:spcAft>
              <a:buNone/>
            </a:pPr>
            <a:r>
              <a:rPr lang="en-US" sz="1500" dirty="0">
                <a:solidFill>
                  <a:srgbClr val="141B26"/>
                </a:solidFill>
              </a:rPr>
              <a:t>The unvaccinated 5% are protected because ___.</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Exit ticket</a:t>
            </a:r>
            <a:endParaRPr lang="en-US" sz="3000" dirty="0"/>
          </a:p>
        </p:txBody>
      </p:sp>
      <p:sp>
        <p:nvSpPr>
          <p:cNvPr id="3" name="Shape 1"/>
          <p:cNvSpPr/>
          <p:nvPr/>
        </p:nvSpPr>
        <p:spPr>
          <a:xfrm>
            <a:off x="9576511" y="411480"/>
            <a:ext cx="206654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576511" y="411480"/>
            <a:ext cx="206654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EXIT TICKET</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400" i="1" dirty="0">
                <a:solidFill>
                  <a:srgbClr val="5B6574"/>
                </a:solidFill>
              </a:rPr>
              <a:t>On your worksheet exit ticket. Work alone. Hand it in as you leave.</a:t>
            </a:r>
            <a:endParaRPr lang="en-US" sz="1400" dirty="0"/>
          </a:p>
        </p:txBody>
      </p:sp>
      <p:sp>
        <p:nvSpPr>
          <p:cNvPr id="6" name="Text 4"/>
          <p:cNvSpPr txBox="1"/>
          <p:nvPr/>
        </p:nvSpPr>
        <p:spPr>
          <a:xfrm>
            <a:off x="548640" y="182880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1.  </a:t>
            </a:r>
            <a:pPr indent="0" marL="0">
              <a:buNone/>
            </a:pPr>
            <a:r>
              <a:rPr lang="en-US" sz="1800" dirty="0">
                <a:solidFill>
                  <a:srgbClr val="141B26"/>
                </a:solidFill>
              </a:rPr>
              <a:t>Name the two types of white blood cell and say what each one does.</a:t>
            </a:r>
            <a:endParaRPr lang="en-US" sz="1800" dirty="0"/>
          </a:p>
        </p:txBody>
      </p:sp>
      <p:sp>
        <p:nvSpPr>
          <p:cNvPr id="7" name="Text 5"/>
          <p:cNvSpPr txBox="1"/>
          <p:nvPr/>
        </p:nvSpPr>
        <p:spPr>
          <a:xfrm>
            <a:off x="548640" y="301752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2.  </a:t>
            </a:r>
            <a:pPr indent="0" marL="0">
              <a:buNone/>
            </a:pPr>
            <a:r>
              <a:rPr lang="en-US" sz="1800" dirty="0">
                <a:solidFill>
                  <a:srgbClr val="141B26"/>
                </a:solidFill>
              </a:rPr>
              <a:t>Why do you only get measles once?</a:t>
            </a:r>
            <a:endParaRPr lang="en-US" sz="1800" dirty="0"/>
          </a:p>
        </p:txBody>
      </p:sp>
      <p:sp>
        <p:nvSpPr>
          <p:cNvPr id="8" name="Text 6"/>
          <p:cNvSpPr txBox="1"/>
          <p:nvPr/>
        </p:nvSpPr>
        <p:spPr>
          <a:xfrm>
            <a:off x="548640" y="420624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3.  </a:t>
            </a:r>
            <a:pPr indent="0" marL="0">
              <a:buNone/>
            </a:pPr>
            <a:r>
              <a:rPr lang="en-US" sz="1800" dirty="0">
                <a:solidFill>
                  <a:srgbClr val="141B26"/>
                </a:solidFill>
              </a:rPr>
              <a:t>What does a vaccine contain, and why does it not give you the disease?</a:t>
            </a:r>
            <a:endParaRPr lang="en-US" sz="1800" dirty="0"/>
          </a:p>
        </p:txBody>
      </p:sp>
      <p:sp>
        <p:nvSpPr>
          <p:cNvPr id="9" name="Shape 7"/>
          <p:cNvSpPr/>
          <p:nvPr/>
        </p:nvSpPr>
        <p:spPr>
          <a:xfrm>
            <a:off x="10682935" y="914400"/>
            <a:ext cx="914400" cy="914400"/>
          </a:xfrm>
          <a:prstGeom prst="ellipse">
            <a:avLst/>
          </a:prstGeom>
          <a:solidFill>
            <a:srgbClr val="FFFFFF"/>
          </a:solidFill>
          <a:ln w="25400">
            <a:solidFill>
              <a:srgbClr val="7B3A8E"/>
            </a:solidFill>
            <a:prstDash val="solid"/>
          </a:ln>
        </p:spPr>
      </p:sp>
      <p:sp>
        <p:nvSpPr>
          <p:cNvPr id="10" name="Text 8"/>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we learned</a:t>
            </a:r>
            <a:endParaRPr lang="en-US" sz="3000" dirty="0"/>
          </a:p>
        </p:txBody>
      </p:sp>
      <p:sp>
        <p:nvSpPr>
          <p:cNvPr id="3" name="Shape 1"/>
          <p:cNvSpPr/>
          <p:nvPr/>
        </p:nvSpPr>
        <p:spPr>
          <a:xfrm>
            <a:off x="10161727" y="411480"/>
            <a:ext cx="148132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161727" y="411480"/>
            <a:ext cx="148132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SUMMARY</a:t>
            </a:r>
            <a:endParaRPr lang="en-US" sz="1100" dirty="0"/>
          </a:p>
        </p:txBody>
      </p:sp>
      <p:sp>
        <p:nvSpPr>
          <p:cNvPr id="5" name="Text 3"/>
          <p:cNvSpPr txBox="1"/>
          <p:nvPr/>
        </p:nvSpPr>
        <p:spPr>
          <a:xfrm>
            <a:off x="548640" y="1371600"/>
            <a:ext cx="10881360" cy="448056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41B26"/>
                </a:solidFill>
              </a:rPr>
              <a:t>Phagocytes ingest and digest pathogens; lymphocytes make specific antibodies.</a:t>
            </a:r>
            <a:endParaRPr lang="en-US" sz="1700" dirty="0"/>
          </a:p>
          <a:p>
            <a:pPr marL="342900" indent="-342900">
              <a:spcAft>
                <a:spcPts val="1000"/>
              </a:spcAft>
              <a:buSzPct val="100000"/>
              <a:buChar char="✓"/>
            </a:pPr>
            <a:r>
              <a:rPr lang="en-US" sz="1700" dirty="0">
                <a:solidFill>
                  <a:srgbClr val="141B26"/>
                </a:solidFill>
              </a:rPr>
              <a:t>Making antibodies for a new pathogen takes days, which is why you are ill before you get better.</a:t>
            </a:r>
            <a:endParaRPr lang="en-US" sz="1700" dirty="0"/>
          </a:p>
          <a:p>
            <a:pPr marL="342900" indent="-342900">
              <a:spcAft>
                <a:spcPts val="1000"/>
              </a:spcAft>
              <a:buSzPct val="100000"/>
              <a:buChar char="✓"/>
            </a:pPr>
            <a:r>
              <a:rPr lang="en-US" sz="1700" dirty="0">
                <a:solidFill>
                  <a:srgbClr val="141B26"/>
                </a:solidFill>
              </a:rPr>
              <a:t>Memory cells make the second response fast and large: you are immune.</a:t>
            </a:r>
            <a:endParaRPr lang="en-US" sz="1700" dirty="0"/>
          </a:p>
          <a:p>
            <a:pPr marL="342900" indent="-342900">
              <a:spcAft>
                <a:spcPts val="1000"/>
              </a:spcAft>
              <a:buSzPct val="100000"/>
              <a:buChar char="✓"/>
            </a:pPr>
            <a:r>
              <a:rPr lang="en-US" sz="1700" dirty="0">
                <a:solidFill>
                  <a:srgbClr val="141B26"/>
                </a:solidFill>
              </a:rPr>
              <a:t>Vaccines contain parts of a pathogen and make you immune without the disease; vaccinating most of a community protects everyone.</a:t>
            </a:r>
            <a:endParaRPr lang="en-US" sz="1700" dirty="0"/>
          </a:p>
        </p:txBody>
      </p:sp>
      <p:sp>
        <p:nvSpPr>
          <p:cNvPr id="6" name="Text 4"/>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300" b="1" dirty="0">
                <a:solidFill>
                  <a:srgbClr val="7B3A8E"/>
                </a:solidFill>
              </a:rPr>
              <a:t>Next lesson  </a:t>
            </a:r>
            <a:pPr indent="0" marL="0">
              <a:buNone/>
            </a:pPr>
            <a:r>
              <a:rPr lang="en-US" sz="1300" dirty="0">
                <a:solidFill>
                  <a:srgbClr val="141B26"/>
                </a:solidFill>
              </a:rPr>
              <a:t>Control systems: how nerves and hormones carry messages around the body, and why polio and chickenpox viruses attack nerve cells.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Year 9 Science">
  <a:themeElements>
    <a:clrScheme name="Year 9 Science">
      <a:dk1>
        <a:srgbClr val="141B26"/>
      </a:dk1>
      <a:lt1>
        <a:srgbClr val="FFFFFF"/>
      </a:lt1>
      <a:dk2>
        <a:srgbClr val="0F2A5F"/>
      </a:dk2>
      <a:lt2>
        <a:srgbClr val="EEF1F5"/>
      </a:lt2>
      <a:accent1>
        <a:srgbClr val="7B3A8E"/>
      </a:accent1>
      <a:accent2>
        <a:srgbClr val="F2CE3E"/>
      </a:accent2>
      <a:accent3>
        <a:srgbClr val="5B6574"/>
      </a:accent3>
      <a:accent4>
        <a:srgbClr val="D5DBE3"/>
      </a:accent4>
      <a:accent5>
        <a:srgbClr val="F1E5F4"/>
      </a:accent5>
      <a:accent6>
        <a:srgbClr val="1E7DB0"/>
      </a:accent6>
      <a:hlink>
        <a:srgbClr val="1E7DB0"/>
      </a:hlink>
      <a:folHlink>
        <a:srgbClr val="7B3A8E"/>
      </a:folHlink>
    </a:clrScheme>
    <a:fontScheme name="Year 9 Sc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9C Lesson 2: Immunity and vaccination</dc:title>
  <dc:subject>PptxGenJS Presentation</dc:subject>
  <dc:creator>Year 9 Science</dc:creator>
  <cp:lastModifiedBy>Year 9 Science</cp:lastModifiedBy>
  <cp:revision>1</cp:revision>
  <dcterms:created xsi:type="dcterms:W3CDTF">2026-10-28T01:48:59Z</dcterms:created>
  <dcterms:modified xsi:type="dcterms:W3CDTF">2026-10-28T01:48:59Z</dcterms:modified>
</cp:coreProperties>
</file>