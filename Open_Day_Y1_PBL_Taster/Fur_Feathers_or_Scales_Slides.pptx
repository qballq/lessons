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b8ab52d2-3d6e-a4a4-c170-0f9093be3d37}">
          <p14:sldIdLst>
            <p14:sldId id="256"/>
            <p14:sldId id="257"/>
            <p14:sldId id="258"/>
          </p14:sldIdLst>
        </p14:section>
        <p14:section name="Learn" id="{3dbb8c66-9588-a2e5-2f08-fda0a1794528}">
          <p14:sldIdLst>
            <p14:sldId id="259"/>
            <p14:sldId id="260"/>
            <p14:sldId id="261"/>
            <p14:sldId id="262"/>
            <p14:sldId id="263"/>
          </p14:sldIdLst>
        </p14:section>
        <p14:section name="Team time" id="{5da693c9-91e4-05c7-5a65-69881442d314}">
          <p14:sldIdLst>
            <p14:sldId id="264"/>
            <p14:sldId id="265"/>
          </p14:sldIdLst>
        </p14:section>
        <p14:section name="Share" id="{321f8c5e-bb20-b331-9a50-53d3aee46f09}">
          <p14:sldIdLst>
            <p14:sldId id="266"/>
            <p14:sldId id="267"/>
          </p14:sldIdLst>
        </p14:section>
        <p14:section name="Think" id="{742a495a-67c2-b91c-58ab-4ec9925a49fa}">
          <p14:sldIdLst>
            <p14:sldId id="268"/>
          </p14:sldIdLst>
        </p14:section>
        <p14:section name="Finish" id="{e110d4bf-d4e9-1cbe-b87b-ff93a01e3032}">
          <p14:sldIdLst>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three tables (or three floor mats), each with a tray: sorting mat, 9 animal cards, 3 texture swatches, 2 glue sticks. Mystery bag with one fur item, one feather, one scaly item. Slides on slide 1. Parent handouts and badges by the door.
Seat children in three mixed groups of four (1 or 2 Lower KG in each, with the older ones). Parents behind or at the sides.
Keep this slide up while they settle. Click when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 Two lines of the Hello chant, twice each, with big actions: "Hello, hello! Wave your hand." "Hello, hello! Clap your hands." Then "Sit down please."
"Today we are animal scientists!" Pretend to put on goggles; children copy. "Scientists look (point to eyes), scientists feel (wiggle fingers), scientists talk (hand to mouth)." Children copy each action. These three actions come back all lesson.
About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the bag. "Shh... a mystery bag. What is inside? Let's feel." Choose an Upper KG child first, then a Lower KG child with you guiding their hand, then another.
For each item: "How does it feel?" Model the three words with actions: SOFT (stroke your arm), SMOOTH (slide palms together), BUMPY (tap fingertips along your arm). Everyone says the word and does the action.
Pull each item out: fur, a feather, the scaly thing. Hold them up. "Who has fur? Who has feathers? Who has scales? That is our big question today." Click.
Language focus for Upper KG: "It feels soft." Lower KG: the word and the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big question: Fur... feathers... or scales?" Point to each swatch. Say it again with a clapping rhythm; children copy.
"Every animal has a cover. Some have fur. Some have feathers. Some have scales. Scientists sort them. Today YOU will sort them."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the fur swatch. "This is fur. It feels soft and fluffy." Pass it quickly round the circle (or one per table) while you continue.
Point to each animal and say the sentence; children repeat: "The cat has fur." "The rabbit has fur." "The lion has fur."
Ask Upper KG: "What has fur?" Lower KG: point to the animal you name.
Say the texture word with its action again (soft and fluffy).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the feathers swatch. "This is feathers. It feels soft and light." Pass it quickly round the circle (or one per table) while you continue.
Point to each animal and say the sentence; children repeat: "The duck has feathers." "The owl has feathers." "The parrot has feathers."
Ask Upper KG: "What has feathers?" Lower KG: point to the animal you name.
Say the texture word with its action again (soft and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the scales swatch. "This is scales. It feels bumpy and hard." Pass it quickly round the circle (or one per table) while you continue.
Point to each animal and say the sentence; children repeat: "The fish has scales." "The snake has scales." "The crocodile has scales."
Ask Upper KG: "What has scales?" Lower KG: point to the animal you name.
Say the texture word with its action again (bumpy and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the lion card. "Lion. Fur, feathers or scales? Let's feel." Touch each swatch, pull a thinking face. "Fur! The lion has fur." Stick it under fur on your demonstration mat (or point on the screen).
Ask the children: "Where does the duck go?" Let them point and call out. "Yes, feathers!" Do not stick it; that is their job.
Click to Team time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each with its action; children copy: LOOK at the animal (eyes), FEEL the swatches (fingers), TALK to your team: "The duck has feathers" (hand to mouth), STICK it on the mat (press).
"Everyone sticks. Everyone talks. Take turns." Name a Team Captain in each group (an Upper KG child) who hands out the cards one at a time; that keeps all four involved.
Send the groups to their trays. Start a 7-minute timer. Click to the next slide and leave it on screen; it shows the mat and the sentence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slide. Walk between the groups. Questions to ask, in this order: "How does it feel?" (texture word), "Fur, feathers or scales?" (sort), "Why?" (Upper KG: "It is soft.").
Lower KG: hand them a card and a swatch to feel together, then let them stick it. Upper KG: ask for the full sentence before they stick.
If a group finishes early: "Can you say all nine?" They go round the mat saying the sentence for each animal.
1-minute warning. Then the signal: "Hands on heads, eyes on me." Click to Show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group comes to the front in turn with their mat; the other two groups are the audience ("Scientists listen" with hand to ear).
Each child says one sentence about one animal: "The parrot has feathers." Upper KG add "It is soft." Lower KG: point to the animal and say the cover word, with you saying the sentence alongside them.
Lead the applause after each group. Keep it to about 1 minute per group. Click to check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check. Scientists check their work." Go column by column: "Fur: cat, rabbit, lion. Thumbs up if your mat says the same."
If a group put an animal elsewhere, do not just correct it: "Interesting! Let's feel again. Bumpy or soft?" Let the group decide and move it. That moment is the lesson: children changing their minds with evidence.
Click to the thinking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question, whole group from their places. "Scientists think about NEW animals too." Point to each: "Dog... fur, feathers or scales?" Children point at the matching column on the screen and call the word. Ask an Upper KG child "Why?" ("It is soft.")
The sheep is the interesting one: wool is a kind of fur. Let them argue a little, then "Scientists say: wool is fur!"
Skip this slide if you are past 20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you asked a question, you felt, you sorted, you worked as a team and you presented. That is what scientists do. You are animal scientists!"
Give each child an Animal Scientist badge as you say their name. Hand each parent the take-home sheet: it explains what they just saw and has a sorting hunt to do at home tonight ("find something soft, smooth and bumpy").
Click to Goodbye.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 Twice per line, big actions:
"Goodbye, goodbye! Wave your hand." (wave)
"Goodbye, goodbye! Clap your hands." (clap)
"Goodbye, goodbye! You're a star!" (arms up)
"Goodbye, goodbye! See you soon!" (two-hand wave)
Click to the parents slide and leave it on screen while families leave. Be available for parents' questions; the handout covers the key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on screen as families leave. The parent handout says the same in more detail, in English and Chinese.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Alternative closing slide. Either this or the previous slide can stay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2A5F"/>
        </a:solidFill>
      </p:bgPr>
    </p:bg>
    <p:spTree>
      <p:nvGrpSpPr>
        <p:cNvPr id="1" name=""/>
        <p:cNvGrpSpPr/>
        <p:nvPr/>
      </p:nvGrpSpPr>
      <p:grpSpPr>
        <a:xfrm>
          <a:off x="0" y="0"/>
          <a:ext cx="0" cy="0"/>
          <a:chOff x="0" y="0"/>
          <a:chExt cx="0" cy="0"/>
        </a:xfrm>
      </p:grpSpPr>
      <p:pic>
        <p:nvPicPr>
          <p:cNvPr id="2" name="Image 0" descr="img/school_logo_horizontal_white.png">    </p:cNvPr>
          <p:cNvPicPr>
            <a:picLocks noChangeAspect="1"/>
          </p:cNvPicPr>
          <p:nvPr/>
        </p:nvPicPr>
        <p:blipFill>
          <a:blip r:embed="rId1"/>
          <a:stretch>
            <a:fillRect/>
          </a:stretch>
        </p:blipFill>
        <p:spPr>
          <a:xfrm>
            <a:off x="457200" y="320040"/>
            <a:ext cx="2194560" cy="914400"/>
          </a:xfrm>
          <a:prstGeom prst="rect">
            <a:avLst/>
          </a:prstGeom>
        </p:spPr>
      </p:pic>
      <p:sp>
        <p:nvSpPr>
          <p:cNvPr id="3" name="Text 0"/>
          <p:cNvSpPr/>
          <p:nvPr>
            <p:ph idx="101" type="title" hasCustomPrompt="1"/>
          </p:nvPr>
        </p:nvSpPr>
        <p:spPr>
          <a:xfrm>
            <a:off x="457200" y="1417320"/>
            <a:ext cx="8229600" cy="1188720"/>
          </a:xfrm>
          <a:prstGeom prst="rect">
            <a:avLst/>
          </a:prstGeom>
          <a:noFill/>
          <a:ln/>
        </p:spPr>
        <p:txBody>
          <a:bodyPr wrap="square" rtlCol="0"/>
          <a:lstStyle>
            <a:lvl1pPr algn="ctr" indent="0" marL="0">
              <a:buNone/>
              <a:defRPr lang="en-US" sz="5400" b="1" dirty="0">
                <a:solidFill>
                  <a:schemeClr val="bg1"/>
                </a:solidFill>
              </a:defRPr>
            </a:lvl1pPr>
          </a:lstStyle>
          <a:p>
            <a:pPr algn="ctr" indent="0" marL="0">
              <a:buNone/>
            </a:pPr>
            <a:r>
              <a:rPr lang="en-US" sz="5400" b="1" dirty="0">
                <a:solidFill>
                  <a:schemeClr val="bg1"/>
                </a:solidFill>
              </a:rPr>
              <a:t>Title</a:t>
            </a:r>
            <a:endParaRPr lang="en-US" sz="5400" dirty="0"/>
          </a:p>
        </p:txBody>
      </p:sp>
      <p:sp>
        <p:nvSpPr>
          <p:cNvPr id="4" name="Text 0"/>
          <p:cNvSpPr/>
          <p:nvPr>
            <p:ph idx="102" type="body" hasCustomPrompt="1"/>
          </p:nvPr>
        </p:nvSpPr>
        <p:spPr>
          <a:xfrm>
            <a:off x="457200" y="2606040"/>
            <a:ext cx="8229600" cy="548640"/>
          </a:xfrm>
          <a:prstGeom prst="rect">
            <a:avLst/>
          </a:prstGeom>
          <a:noFill/>
          <a:ln/>
        </p:spPr>
        <p:txBody>
          <a:bodyPr wrap="square" rtlCol="0"/>
          <a:lstStyle>
            <a:lvl1pPr algn="ctr" indent="0" marL="0">
              <a:buNone/>
              <a:defRPr lang="en-US" sz="2400" dirty="0">
                <a:solidFill>
                  <a:schemeClr val="accent1"/>
                </a:solidFill>
              </a:defRPr>
            </a:lvl1pPr>
          </a:lstStyle>
          <a:p>
            <a:pPr algn="ctr" indent="0" marL="0">
              <a:buNone/>
            </a:pPr>
            <a:r>
              <a:rPr lang="en-US" sz="2400" dirty="0">
                <a:solidFill>
                  <a:schemeClr val="accent1"/>
                </a:solidFill>
              </a:rPr>
              <a:t>Subtitle</a:t>
            </a: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r>
              <a:rPr lang="en-US" sz="4000" b="1" dirty="0">
                <a:solidFill>
                  <a:schemeClr val="tx2"/>
                </a:solidFill>
              </a:rPr>
              <a:t>Title</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rtlCol="0"/>
          <a:lstStyle>
            <a:lvl1pPr algn="l" indent="0" marL="0">
              <a:buNone/>
              <a:defRPr lang="en-US" sz="1200" i="1" dirty="0">
                <a:solidFill>
                  <a:schemeClr val="accent5"/>
                </a:solidFill>
              </a:defRPr>
            </a:lvl1pPr>
          </a:lstStyle>
          <a:p>
            <a:pPr algn="l" indent="0" marL="0">
              <a:buNone/>
            </a:pPr>
            <a:r>
              <a:rPr lang="en-US" sz="1200" i="1" dirty="0">
                <a:solidFill>
                  <a:schemeClr val="accent5"/>
                </a:solidFill>
              </a:rPr>
              <a:t>Teacher cue</a:t>
            </a:r>
            <a:endParaRPr lang="en-US" sz="1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0F2A5F"/>
        </a:solidFill>
      </p:bgPr>
    </p:bg>
    <p:spTree>
      <p:nvGrpSpPr>
        <p:cNvPr id="1" name=""/>
        <p:cNvGrpSpPr/>
        <p:nvPr/>
      </p:nvGrpSpPr>
      <p:grpSpPr>
        <a:xfrm>
          <a:off x="0" y="0"/>
          <a:ext cx="0" cy="0"/>
          <a:chOff x="0" y="0"/>
          <a:chExt cx="0" cy="0"/>
        </a:xfrm>
      </p:grpSpPr>
      <p:pic>
        <p:nvPicPr>
          <p:cNvPr id="2" name="Image 0" descr="img/school_logo_horizontal_white.png">    </p:cNvPr>
          <p:cNvPicPr>
            <a:picLocks noChangeAspect="1"/>
          </p:cNvPicPr>
          <p:nvPr/>
        </p:nvPicPr>
        <p:blipFill>
          <a:blip r:embed="rId1"/>
          <a:stretch>
            <a:fillRect/>
          </a:stretch>
        </p:blipFill>
        <p:spPr>
          <a:xfrm>
            <a:off x="3474720" y="3749040"/>
            <a:ext cx="2194560" cy="914400"/>
          </a:xfrm>
          <a:prstGeom prst="rect">
            <a:avLst/>
          </a:prstGeom>
        </p:spPr>
      </p:pic>
      <p:sp>
        <p:nvSpPr>
          <p:cNvPr id="3" name="Text 0"/>
          <p:cNvSpPr/>
          <p:nvPr>
            <p:ph idx="101" type="title" hasCustomPrompt="1"/>
          </p:nvPr>
        </p:nvSpPr>
        <p:spPr>
          <a:xfrm>
            <a:off x="457200" y="365760"/>
            <a:ext cx="8229600" cy="914400"/>
          </a:xfrm>
          <a:prstGeom prst="rect">
            <a:avLst/>
          </a:prstGeom>
          <a:noFill/>
          <a:ln/>
        </p:spPr>
        <p:txBody>
          <a:bodyPr wrap="square" rtlCol="0"/>
          <a:lstStyle>
            <a:lvl1pPr algn="ctr" indent="0" marL="0">
              <a:buNone/>
              <a:defRPr lang="en-US" sz="4400" b="1" dirty="0">
                <a:solidFill>
                  <a:schemeClr val="bg1"/>
                </a:solidFill>
              </a:defRPr>
            </a:lvl1pPr>
          </a:lstStyle>
          <a:p>
            <a:pPr algn="ctr" indent="0" marL="0">
              <a:buNone/>
            </a:pPr>
            <a:r>
              <a:rPr lang="en-US" sz="4400" b="1" dirty="0">
                <a:solidFill>
                  <a:schemeClr val="bg1"/>
                </a:solidFill>
              </a:rPr>
              <a:t>Title</a:t>
            </a:r>
            <a:endParaRPr lang="en-US" sz="4400" dirty="0"/>
          </a:p>
        </p:txBody>
      </p:sp>
      <p:sp>
        <p:nvSpPr>
          <p:cNvPr id="4" name="Text 0"/>
          <p:cNvSpPr/>
          <p:nvPr>
            <p:ph idx="102" type="body" hasCustomPrompt="1"/>
          </p:nvPr>
        </p:nvSpPr>
        <p:spPr>
          <a:xfrm>
            <a:off x="457200" y="1280160"/>
            <a:ext cx="8229600" cy="548640"/>
          </a:xfrm>
          <a:prstGeom prst="rect">
            <a:avLst/>
          </a:prstGeom>
          <a:noFill/>
          <a:ln/>
        </p:spPr>
        <p:txBody>
          <a:bodyPr wrap="square" rtlCol="0"/>
          <a:lstStyle>
            <a:lvl1pPr algn="ctr" indent="0" marL="0">
              <a:buNone/>
              <a:defRPr lang="en-US" sz="2200" dirty="0">
                <a:solidFill>
                  <a:schemeClr val="accent1"/>
                </a:solidFill>
              </a:defRPr>
            </a:lvl1pPr>
          </a:lstStyle>
          <a:p>
            <a:pPr algn="ctr" indent="0" marL="0">
              <a:buNone/>
            </a:pPr>
            <a:r>
              <a:rPr lang="en-US" sz="2200" dirty="0">
                <a:solidFill>
                  <a:schemeClr val="accent1"/>
                </a:solidFill>
              </a:rPr>
              <a:t>Subtitle</a:t>
            </a: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1-1.png"/><Relationship Id="rId3" Type="http://schemas.openxmlformats.org/officeDocument/2006/relationships/image" Target="../media/image-3-3.png"/><Relationship Id="rId4" Type="http://schemas.openxmlformats.org/officeDocument/2006/relationships/image" Target="../media/image-1-5.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2.png"/><Relationship Id="rId3" Type="http://schemas.openxmlformats.org/officeDocument/2006/relationships/image" Target="../media/image-1-3.png"/><Relationship Id="rId4" Type="http://schemas.openxmlformats.org/officeDocument/2006/relationships/image" Target="../media/image-4-2.png"/><Relationship Id="rId5" Type="http://schemas.openxmlformats.org/officeDocument/2006/relationships/image" Target="../media/image-1-5.png"/><Relationship Id="rId6" Type="http://schemas.openxmlformats.org/officeDocument/2006/relationships/image" Target="../media/image-4-2.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5-4.png"/><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1-4.png"/><Relationship Id="rId6" Type="http://schemas.openxmlformats.org/officeDocument/2006/relationships/image" Target="../media/image-4-2.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1-4.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1-6.png"/><Relationship Id="rId8" Type="http://schemas.openxmlformats.org/officeDocument/2006/relationships/image" Target="../media/image-7-3.png"/><Relationship Id="rId9" Type="http://schemas.openxmlformats.org/officeDocument/2006/relationships/image" Target="../media/image-7-4.png"/><Relationship Id="rId10" Type="http://schemas.openxmlformats.org/officeDocument/2006/relationships/image" Target="../media/image-1-1.png"/><Relationship Id="rId11" Type="http://schemas.openxmlformats.org/officeDocument/2006/relationships/image" Target="../media/image-1-3.png"/><Relationship Id="rId12" Type="http://schemas.openxmlformats.org/officeDocument/2006/relationships/image" Target="../media/image-1-5.png"/><Relationship Id="rId13" Type="http://schemas.openxmlformats.org/officeDocument/2006/relationships/slideLayout" Target="../slideLayouts/slideLayout3.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6-3.png"/><Relationship Id="rId8" Type="http://schemas.openxmlformats.org/officeDocument/2006/relationships/image" Target="../media/image-6-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image" Target="../media/image-7-3.png"/><Relationship Id="rId12" Type="http://schemas.openxmlformats.org/officeDocument/2006/relationships/image" Target="../media/image-7-4.png"/><Relationship Id="rId13" Type="http://schemas.openxmlformats.org/officeDocument/2006/relationships/image" Target="../media/image-12-13.png"/><Relationship Id="rId14" Type="http://schemas.openxmlformats.org/officeDocument/2006/relationships/slideLayout" Target="../slideLayouts/slideLayout3.xml"/><Relationship Id="rId1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1.png"/><Relationship Id="rId6" Type="http://schemas.openxmlformats.org/officeDocument/2006/relationships/image" Target="../media/image-1-3.png"/><Relationship Id="rId7" Type="http://schemas.openxmlformats.org/officeDocument/2006/relationships/image" Target="../media/image-1-5.png"/><Relationship Id="rId8" Type="http://schemas.openxmlformats.org/officeDocument/2006/relationships/slideLayout" Target="../slideLayouts/slideLayout3.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4-1.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4-2.png"/><Relationship Id="rId2" Type="http://schemas.openxmlformats.org/officeDocument/2006/relationships/image" Target="../media/image-2-3.png"/><Relationship Id="rId3" Type="http://schemas.openxmlformats.org/officeDocument/2006/relationships/image" Target="../media/image-11-1.png"/><Relationship Id="rId4" Type="http://schemas.openxmlformats.org/officeDocument/2006/relationships/image" Target="../media/image-9-4.png"/><Relationship Id="rId5" Type="http://schemas.openxmlformats.org/officeDocument/2006/relationships/image" Target="../media/image-2-4.png"/><Relationship Id="rId6" Type="http://schemas.openxmlformats.org/officeDocument/2006/relationships/image" Target="../media/image-16-6.png"/><Relationship Id="rId7" Type="http://schemas.openxmlformats.org/officeDocument/2006/relationships/slideLayout" Target="../slideLayouts/slideLayout4.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1-4.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1-6.png"/><Relationship Id="rId8" Type="http://schemas.openxmlformats.org/officeDocument/2006/relationships/image" Target="../media/image-7-3.png"/><Relationship Id="rId9" Type="http://schemas.openxmlformats.org/officeDocument/2006/relationships/image" Target="../media/image-7-4.png"/><Relationship Id="rId10" Type="http://schemas.openxmlformats.org/officeDocument/2006/relationships/slideLayout" Target="../slideLayouts/slideLayout4.xml"/><Relationship Id="rId11"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457200" y="1417320"/>
            <a:ext cx="8229600" cy="1188720"/>
          </a:xfrm>
          <a:prstGeom prst="rect">
            <a:avLst/>
          </a:prstGeom>
          <a:noFill/>
          <a:ln/>
        </p:spPr>
        <p:txBody>
          <a:bodyPr wrap="square" lIns="0" tIns="0" rIns="0" bIns="0" rtlCol="0" anchor="ctr"/>
          <a:lstStyle/>
          <a:p>
            <a:pPr algn="ctr" indent="0" marL="0">
              <a:buNone/>
            </a:pPr>
            <a:r>
              <a:rPr lang="en-US" sz="5400" b="1" dirty="0">
                <a:solidFill>
                  <a:schemeClr val="bg1"/>
                </a:solidFill>
              </a:rPr>
              <a:t>Fur, Feathers or Scales?</a:t>
            </a:r>
            <a:endParaRPr lang="en-US" sz="5400" dirty="0"/>
          </a:p>
        </p:txBody>
      </p:sp>
      <p:sp>
        <p:nvSpPr>
          <p:cNvPr id="3" name="Text 0"/>
          <p:cNvSpPr/>
          <p:nvPr>
            <p:ph idx="102" type="body" hasCustomPrompt="1"/>
          </p:nvPr>
        </p:nvSpPr>
        <p:spPr>
          <a:xfrm>
            <a:off x="457200" y="2606040"/>
            <a:ext cx="8229600" cy="548640"/>
          </a:xfrm>
          <a:prstGeom prst="rect">
            <a:avLst/>
          </a:prstGeom>
          <a:noFill/>
          <a:ln/>
        </p:spPr>
        <p:txBody>
          <a:bodyPr wrap="square" lIns="0" tIns="0" rIns="0" bIns="0" rtlCol="0"/>
          <a:lstStyle/>
          <a:p>
            <a:pPr algn="ctr" indent="0" marL="0">
              <a:buNone/>
            </a:pPr>
            <a:r>
              <a:rPr lang="en-US" sz="2400" dirty="0">
                <a:solidFill>
                  <a:schemeClr val="accent1"/>
                </a:solidFill>
              </a:rPr>
              <a:t>A Year 1 taster lesson  |  Open Day</a:t>
            </a:r>
            <a:endParaRPr lang="en-US" sz="2400" dirty="0"/>
          </a:p>
        </p:txBody>
      </p:sp>
      <p:pic>
        <p:nvPicPr>
          <p:cNvPr id="4" name="title-tex_fur" descr="img/tex_fur.png">    </p:cNvPr>
          <p:cNvPicPr>
            <a:picLocks noChangeAspect="1"/>
          </p:cNvPicPr>
          <p:nvPr/>
        </p:nvPicPr>
        <p:blipFill>
          <a:blip r:embed="rId1"/>
          <a:stretch>
            <a:fillRect/>
          </a:stretch>
        </p:blipFill>
        <p:spPr>
          <a:xfrm>
            <a:off x="1188720" y="3429000"/>
            <a:ext cx="1005840" cy="1005840"/>
          </a:xfrm>
          <a:prstGeom prst="rect">
            <a:avLst/>
          </a:prstGeom>
        </p:spPr>
      </p:pic>
      <p:pic>
        <p:nvPicPr>
          <p:cNvPr id="5" name="title-cat" descr="img/cat.png">    </p:cNvPr>
          <p:cNvPicPr>
            <a:picLocks noChangeAspect="1"/>
          </p:cNvPicPr>
          <p:nvPr/>
        </p:nvPicPr>
        <p:blipFill>
          <a:blip r:embed="rId2"/>
          <a:stretch>
            <a:fillRect/>
          </a:stretch>
        </p:blipFill>
        <p:spPr>
          <a:xfrm>
            <a:off x="2377440" y="3429000"/>
            <a:ext cx="1005840" cy="1005840"/>
          </a:xfrm>
          <a:prstGeom prst="rect">
            <a:avLst/>
          </a:prstGeom>
        </p:spPr>
      </p:pic>
      <p:pic>
        <p:nvPicPr>
          <p:cNvPr id="6" name="title-tex_feathers" descr="img/tex_feathers.png">    </p:cNvPr>
          <p:cNvPicPr>
            <a:picLocks noChangeAspect="1"/>
          </p:cNvPicPr>
          <p:nvPr/>
        </p:nvPicPr>
        <p:blipFill>
          <a:blip r:embed="rId3"/>
          <a:stretch>
            <a:fillRect/>
          </a:stretch>
        </p:blipFill>
        <p:spPr>
          <a:xfrm>
            <a:off x="3566160" y="3429000"/>
            <a:ext cx="1005840" cy="1005840"/>
          </a:xfrm>
          <a:prstGeom prst="rect">
            <a:avLst/>
          </a:prstGeom>
        </p:spPr>
      </p:pic>
      <p:pic>
        <p:nvPicPr>
          <p:cNvPr id="7" name="title-duck" descr="img/duck.png">    </p:cNvPr>
          <p:cNvPicPr>
            <a:picLocks noChangeAspect="1"/>
          </p:cNvPicPr>
          <p:nvPr/>
        </p:nvPicPr>
        <p:blipFill>
          <a:blip r:embed="rId4"/>
          <a:stretch>
            <a:fillRect/>
          </a:stretch>
        </p:blipFill>
        <p:spPr>
          <a:xfrm>
            <a:off x="4754880" y="3429000"/>
            <a:ext cx="1005840" cy="1005840"/>
          </a:xfrm>
          <a:prstGeom prst="rect">
            <a:avLst/>
          </a:prstGeom>
        </p:spPr>
      </p:pic>
      <p:pic>
        <p:nvPicPr>
          <p:cNvPr id="8" name="title-tex_scales" descr="img/tex_scales.png">    </p:cNvPr>
          <p:cNvPicPr>
            <a:picLocks noChangeAspect="1"/>
          </p:cNvPicPr>
          <p:nvPr/>
        </p:nvPicPr>
        <p:blipFill>
          <a:blip r:embed="rId5"/>
          <a:stretch>
            <a:fillRect/>
          </a:stretch>
        </p:blipFill>
        <p:spPr>
          <a:xfrm>
            <a:off x="5943600" y="3429000"/>
            <a:ext cx="1005840" cy="1005840"/>
          </a:xfrm>
          <a:prstGeom prst="rect">
            <a:avLst/>
          </a:prstGeom>
        </p:spPr>
      </p:pic>
      <p:pic>
        <p:nvPicPr>
          <p:cNvPr id="9" name="title-fish" descr="img/fish.png">    </p:cNvPr>
          <p:cNvPicPr>
            <a:picLocks noChangeAspect="1"/>
          </p:cNvPicPr>
          <p:nvPr/>
        </p:nvPicPr>
        <p:blipFill>
          <a:blip r:embed="rId6"/>
          <a:stretch>
            <a:fillRect/>
          </a:stretch>
        </p:blipFill>
        <p:spPr>
          <a:xfrm>
            <a:off x="7132320" y="3429000"/>
            <a:ext cx="1005840" cy="1005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Hello, scientists!</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1 minute. Hello chant (wave, clap, sit). "Today we are animal scientists!" Everyone puts on pretend goggles.</a:t>
            </a:r>
            <a:endParaRPr lang="en-US" sz="1200" dirty="0"/>
          </a:p>
        </p:txBody>
      </p:sp>
      <p:pic>
        <p:nvPicPr>
          <p:cNvPr id="5" name="sci" descr="img/scientist.png">    </p:cNvPr>
          <p:cNvPicPr>
            <a:picLocks noChangeAspect="1"/>
          </p:cNvPicPr>
          <p:nvPr/>
        </p:nvPicPr>
        <p:blipFill>
          <a:blip r:embed="rId1"/>
          <a:stretch>
            <a:fillRect/>
          </a:stretch>
        </p:blipFill>
        <p:spPr>
          <a:xfrm>
            <a:off x="548640" y="1188720"/>
            <a:ext cx="3200400" cy="3200400"/>
          </a:xfrm>
          <a:prstGeom prst="rect">
            <a:avLst/>
          </a:prstGeom>
        </p:spPr>
      </p:pic>
      <p:sp>
        <p:nvSpPr>
          <p:cNvPr id="6" name="hs-t0"/>
          <p:cNvSpPr/>
          <p:nvPr/>
        </p:nvSpPr>
        <p:spPr>
          <a:xfrm>
            <a:off x="4206240" y="1234440"/>
            <a:ext cx="4480560" cy="1005840"/>
          </a:xfrm>
          <a:prstGeom prst="roundRect">
            <a:avLst>
              <a:gd name="adj" fmla="val 18182"/>
            </a:avLst>
          </a:prstGeom>
          <a:solidFill>
            <a:srgbClr val="E3F1F8"/>
          </a:solidFill>
          <a:ln w="12700">
            <a:solidFill>
              <a:srgbClr val="E3F1F8"/>
            </a:solidFill>
            <a:prstDash val="solid"/>
          </a:ln>
        </p:spPr>
      </p:sp>
      <p:pic>
        <p:nvPicPr>
          <p:cNvPr id="7" name="hs-i0" descr="img/eyes.png">    </p:cNvPr>
          <p:cNvPicPr>
            <a:picLocks noChangeAspect="1"/>
          </p:cNvPicPr>
          <p:nvPr/>
        </p:nvPicPr>
        <p:blipFill>
          <a:blip r:embed="rId2"/>
          <a:stretch>
            <a:fillRect/>
          </a:stretch>
        </p:blipFill>
        <p:spPr>
          <a:xfrm>
            <a:off x="4343400" y="1325880"/>
            <a:ext cx="822960" cy="822960"/>
          </a:xfrm>
          <a:prstGeom prst="rect">
            <a:avLst/>
          </a:prstGeom>
        </p:spPr>
      </p:pic>
      <p:sp>
        <p:nvSpPr>
          <p:cNvPr id="8" name="hs-x0"/>
          <p:cNvSpPr txBox="1"/>
          <p:nvPr/>
        </p:nvSpPr>
        <p:spPr>
          <a:xfrm>
            <a:off x="5349240" y="1234440"/>
            <a:ext cx="3200400" cy="1005840"/>
          </a:xfrm>
          <a:prstGeom prst="rect">
            <a:avLst/>
          </a:prstGeom>
          <a:noFill/>
          <a:ln/>
        </p:spPr>
        <p:txBody>
          <a:bodyPr wrap="square" lIns="0" tIns="0" rIns="0" bIns="0" rtlCol="0" anchor="ctr"/>
          <a:lstStyle/>
          <a:p>
            <a:pPr indent="0" marL="0">
              <a:buNone/>
            </a:pPr>
            <a:r>
              <a:rPr lang="en-US" sz="3600" b="1" dirty="0">
                <a:solidFill>
                  <a:schemeClr val="tx2"/>
                </a:solidFill>
              </a:rPr>
              <a:t>Look</a:t>
            </a:r>
            <a:endParaRPr lang="en-US" sz="3600" dirty="0"/>
          </a:p>
        </p:txBody>
      </p:sp>
      <p:sp>
        <p:nvSpPr>
          <p:cNvPr id="9" name="hs-t1"/>
          <p:cNvSpPr/>
          <p:nvPr/>
        </p:nvSpPr>
        <p:spPr>
          <a:xfrm>
            <a:off x="4206240" y="2350008"/>
            <a:ext cx="4480560" cy="1005840"/>
          </a:xfrm>
          <a:prstGeom prst="roundRect">
            <a:avLst>
              <a:gd name="adj" fmla="val 18182"/>
            </a:avLst>
          </a:prstGeom>
          <a:solidFill>
            <a:srgbClr val="FFF4C2"/>
          </a:solidFill>
          <a:ln w="12700">
            <a:solidFill>
              <a:srgbClr val="FFF4C2"/>
            </a:solidFill>
            <a:prstDash val="solid"/>
          </a:ln>
        </p:spPr>
      </p:sp>
      <p:pic>
        <p:nvPicPr>
          <p:cNvPr id="10" name="hs-i1" descr="img/hand.png">    </p:cNvPr>
          <p:cNvPicPr>
            <a:picLocks noChangeAspect="1"/>
          </p:cNvPicPr>
          <p:nvPr/>
        </p:nvPicPr>
        <p:blipFill>
          <a:blip r:embed="rId3"/>
          <a:stretch>
            <a:fillRect/>
          </a:stretch>
        </p:blipFill>
        <p:spPr>
          <a:xfrm>
            <a:off x="4343400" y="2441448"/>
            <a:ext cx="822960" cy="822960"/>
          </a:xfrm>
          <a:prstGeom prst="rect">
            <a:avLst/>
          </a:prstGeom>
        </p:spPr>
      </p:pic>
      <p:sp>
        <p:nvSpPr>
          <p:cNvPr id="11" name="hs-x1"/>
          <p:cNvSpPr txBox="1"/>
          <p:nvPr/>
        </p:nvSpPr>
        <p:spPr>
          <a:xfrm>
            <a:off x="5349240" y="2350008"/>
            <a:ext cx="3200400" cy="1005840"/>
          </a:xfrm>
          <a:prstGeom prst="rect">
            <a:avLst/>
          </a:prstGeom>
          <a:noFill/>
          <a:ln/>
        </p:spPr>
        <p:txBody>
          <a:bodyPr wrap="square" lIns="0" tIns="0" rIns="0" bIns="0" rtlCol="0" anchor="ctr"/>
          <a:lstStyle/>
          <a:p>
            <a:pPr indent="0" marL="0">
              <a:buNone/>
            </a:pPr>
            <a:r>
              <a:rPr lang="en-US" sz="3600" b="1" dirty="0">
                <a:solidFill>
                  <a:schemeClr val="tx2"/>
                </a:solidFill>
              </a:rPr>
              <a:t>Feel</a:t>
            </a:r>
            <a:endParaRPr lang="en-US" sz="3600" dirty="0"/>
          </a:p>
        </p:txBody>
      </p:sp>
      <p:sp>
        <p:nvSpPr>
          <p:cNvPr id="12" name="hs-t2"/>
          <p:cNvSpPr/>
          <p:nvPr/>
        </p:nvSpPr>
        <p:spPr>
          <a:xfrm>
            <a:off x="4206240" y="3465576"/>
            <a:ext cx="4480560" cy="1005840"/>
          </a:xfrm>
          <a:prstGeom prst="roundRect">
            <a:avLst>
              <a:gd name="adj" fmla="val 18182"/>
            </a:avLst>
          </a:prstGeom>
          <a:solidFill>
            <a:srgbClr val="E3F1F8"/>
          </a:solidFill>
          <a:ln w="12700">
            <a:solidFill>
              <a:srgbClr val="E3F1F8"/>
            </a:solidFill>
            <a:prstDash val="solid"/>
          </a:ln>
        </p:spPr>
      </p:sp>
      <p:pic>
        <p:nvPicPr>
          <p:cNvPr id="13" name="hs-i2" descr="img/talk.png">    </p:cNvPr>
          <p:cNvPicPr>
            <a:picLocks noChangeAspect="1"/>
          </p:cNvPicPr>
          <p:nvPr/>
        </p:nvPicPr>
        <p:blipFill>
          <a:blip r:embed="rId4"/>
          <a:stretch>
            <a:fillRect/>
          </a:stretch>
        </p:blipFill>
        <p:spPr>
          <a:xfrm>
            <a:off x="4343400" y="3557016"/>
            <a:ext cx="822960" cy="822960"/>
          </a:xfrm>
          <a:prstGeom prst="rect">
            <a:avLst/>
          </a:prstGeom>
        </p:spPr>
      </p:pic>
      <p:sp>
        <p:nvSpPr>
          <p:cNvPr id="14" name="hs-x2"/>
          <p:cNvSpPr txBox="1"/>
          <p:nvPr/>
        </p:nvSpPr>
        <p:spPr>
          <a:xfrm>
            <a:off x="5349240" y="3465576"/>
            <a:ext cx="3200400" cy="1005840"/>
          </a:xfrm>
          <a:prstGeom prst="rect">
            <a:avLst/>
          </a:prstGeom>
          <a:noFill/>
          <a:ln/>
        </p:spPr>
        <p:txBody>
          <a:bodyPr wrap="square" lIns="0" tIns="0" rIns="0" bIns="0" rtlCol="0" anchor="ctr"/>
          <a:lstStyle/>
          <a:p>
            <a:pPr indent="0" marL="0">
              <a:buNone/>
            </a:pPr>
            <a:r>
              <a:rPr lang="en-US" sz="3600" b="1" dirty="0">
                <a:solidFill>
                  <a:schemeClr val="tx2"/>
                </a:solidFill>
              </a:rPr>
              <a:t>Talk</a:t>
            </a:r>
            <a:endParaRPr 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The mystery bag</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3 minutes. Three children feel inside (no looking) and say how it feels. Everyone repeats the word with the action. Then reveal.</a:t>
            </a:r>
            <a:endParaRPr lang="en-US" sz="1200" dirty="0"/>
          </a:p>
        </p:txBody>
      </p:sp>
      <p:pic>
        <p:nvPicPr>
          <p:cNvPr id="5" name="bag" descr="img/bag.png">    </p:cNvPr>
          <p:cNvPicPr>
            <a:picLocks noChangeAspect="1"/>
          </p:cNvPicPr>
          <p:nvPr/>
        </p:nvPicPr>
        <p:blipFill>
          <a:blip r:embed="rId1"/>
          <a:stretch>
            <a:fillRect/>
          </a:stretch>
        </p:blipFill>
        <p:spPr>
          <a:xfrm>
            <a:off x="548640" y="1188720"/>
            <a:ext cx="3108960" cy="3108960"/>
          </a:xfrm>
          <a:prstGeom prst="rect">
            <a:avLst/>
          </a:prstGeom>
        </p:spPr>
      </p:pic>
      <p:sp>
        <p:nvSpPr>
          <p:cNvPr id="6" name="mb-t0"/>
          <p:cNvSpPr/>
          <p:nvPr/>
        </p:nvSpPr>
        <p:spPr>
          <a:xfrm>
            <a:off x="4023360" y="1463040"/>
            <a:ext cx="1463040" cy="2651760"/>
          </a:xfrm>
          <a:prstGeom prst="roundRect">
            <a:avLst>
              <a:gd name="adj" fmla="val 12500"/>
            </a:avLst>
          </a:prstGeom>
          <a:solidFill>
            <a:srgbClr val="E3F1F8"/>
          </a:solidFill>
          <a:ln w="12700">
            <a:solidFill>
              <a:srgbClr val="E3F1F8"/>
            </a:solidFill>
            <a:prstDash val="solid"/>
          </a:ln>
        </p:spPr>
      </p:sp>
      <p:pic>
        <p:nvPicPr>
          <p:cNvPr id="7" name="mb-i0" descr="img/tex_fur.png">    </p:cNvPr>
          <p:cNvPicPr>
            <a:picLocks noChangeAspect="1"/>
          </p:cNvPicPr>
          <p:nvPr/>
        </p:nvPicPr>
        <p:blipFill>
          <a:blip r:embed="rId2"/>
          <a:stretch>
            <a:fillRect/>
          </a:stretch>
        </p:blipFill>
        <p:spPr>
          <a:xfrm>
            <a:off x="4160520" y="1600200"/>
            <a:ext cx="1188720" cy="1188720"/>
          </a:xfrm>
          <a:prstGeom prst="rect">
            <a:avLst/>
          </a:prstGeom>
        </p:spPr>
      </p:pic>
      <p:sp>
        <p:nvSpPr>
          <p:cNvPr id="8" name="mb-x0"/>
          <p:cNvSpPr txBox="1"/>
          <p:nvPr/>
        </p:nvSpPr>
        <p:spPr>
          <a:xfrm>
            <a:off x="4023360" y="2926080"/>
            <a:ext cx="1463040" cy="1005840"/>
          </a:xfrm>
          <a:prstGeom prst="rect">
            <a:avLst/>
          </a:prstGeom>
          <a:noFill/>
          <a:ln/>
        </p:spPr>
        <p:txBody>
          <a:bodyPr wrap="square" lIns="0" tIns="0" rIns="0" bIns="0" rtlCol="0" anchor="ctr"/>
          <a:lstStyle/>
          <a:p>
            <a:pPr algn="ctr" indent="0" marL="0">
              <a:buNone/>
            </a:pPr>
            <a:r>
              <a:rPr lang="en-US" sz="2800" b="1" dirty="0">
                <a:solidFill>
                  <a:schemeClr val="tx2"/>
                </a:solidFill>
              </a:rPr>
              <a:t>soft</a:t>
            </a:r>
            <a:endParaRPr lang="en-US" sz="2800" dirty="0"/>
          </a:p>
        </p:txBody>
      </p:sp>
      <p:sp>
        <p:nvSpPr>
          <p:cNvPr id="9" name="mb-t1"/>
          <p:cNvSpPr/>
          <p:nvPr/>
        </p:nvSpPr>
        <p:spPr>
          <a:xfrm>
            <a:off x="5623560" y="1463040"/>
            <a:ext cx="1463040" cy="2651760"/>
          </a:xfrm>
          <a:prstGeom prst="roundRect">
            <a:avLst>
              <a:gd name="adj" fmla="val 12500"/>
            </a:avLst>
          </a:prstGeom>
          <a:solidFill>
            <a:srgbClr val="E3F1F8"/>
          </a:solidFill>
          <a:ln w="12700">
            <a:solidFill>
              <a:srgbClr val="E3F1F8"/>
            </a:solidFill>
            <a:prstDash val="solid"/>
          </a:ln>
        </p:spPr>
      </p:sp>
      <p:pic>
        <p:nvPicPr>
          <p:cNvPr id="10" name="mb-i1" descr="img/feather.png">    </p:cNvPr>
          <p:cNvPicPr>
            <a:picLocks noChangeAspect="1"/>
          </p:cNvPicPr>
          <p:nvPr/>
        </p:nvPicPr>
        <p:blipFill>
          <a:blip r:embed="rId3"/>
          <a:stretch>
            <a:fillRect/>
          </a:stretch>
        </p:blipFill>
        <p:spPr>
          <a:xfrm>
            <a:off x="5760720" y="1600200"/>
            <a:ext cx="1188720" cy="1188720"/>
          </a:xfrm>
          <a:prstGeom prst="rect">
            <a:avLst/>
          </a:prstGeom>
        </p:spPr>
      </p:pic>
      <p:sp>
        <p:nvSpPr>
          <p:cNvPr id="11" name="mb-x1"/>
          <p:cNvSpPr txBox="1"/>
          <p:nvPr/>
        </p:nvSpPr>
        <p:spPr>
          <a:xfrm>
            <a:off x="5623560" y="2926080"/>
            <a:ext cx="1463040" cy="1005840"/>
          </a:xfrm>
          <a:prstGeom prst="rect">
            <a:avLst/>
          </a:prstGeom>
          <a:noFill/>
          <a:ln/>
        </p:spPr>
        <p:txBody>
          <a:bodyPr wrap="square" lIns="0" tIns="0" rIns="0" bIns="0" rtlCol="0" anchor="ctr"/>
          <a:lstStyle/>
          <a:p>
            <a:pPr algn="ctr" indent="0" marL="0">
              <a:buNone/>
            </a:pPr>
            <a:r>
              <a:rPr lang="en-US" sz="2800" b="1" dirty="0">
                <a:solidFill>
                  <a:schemeClr val="tx2"/>
                </a:solidFill>
              </a:rPr>
              <a:t>smooth</a:t>
            </a:r>
            <a:endParaRPr lang="en-US" sz="2800" dirty="0"/>
          </a:p>
        </p:txBody>
      </p:sp>
      <p:sp>
        <p:nvSpPr>
          <p:cNvPr id="12" name="mb-t2"/>
          <p:cNvSpPr/>
          <p:nvPr/>
        </p:nvSpPr>
        <p:spPr>
          <a:xfrm>
            <a:off x="7223760" y="1463040"/>
            <a:ext cx="1463040" cy="2651760"/>
          </a:xfrm>
          <a:prstGeom prst="roundRect">
            <a:avLst>
              <a:gd name="adj" fmla="val 12500"/>
            </a:avLst>
          </a:prstGeom>
          <a:solidFill>
            <a:srgbClr val="E3F1F8"/>
          </a:solidFill>
          <a:ln w="12700">
            <a:solidFill>
              <a:srgbClr val="E3F1F8"/>
            </a:solidFill>
            <a:prstDash val="solid"/>
          </a:ln>
        </p:spPr>
      </p:sp>
      <p:pic>
        <p:nvPicPr>
          <p:cNvPr id="13" name="mb-i2" descr="img/tex_scales.png">    </p:cNvPr>
          <p:cNvPicPr>
            <a:picLocks noChangeAspect="1"/>
          </p:cNvPicPr>
          <p:nvPr/>
        </p:nvPicPr>
        <p:blipFill>
          <a:blip r:embed="rId4"/>
          <a:stretch>
            <a:fillRect/>
          </a:stretch>
        </p:blipFill>
        <p:spPr>
          <a:xfrm>
            <a:off x="7360920" y="1600200"/>
            <a:ext cx="1188720" cy="1188720"/>
          </a:xfrm>
          <a:prstGeom prst="rect">
            <a:avLst/>
          </a:prstGeom>
        </p:spPr>
      </p:pic>
      <p:sp>
        <p:nvSpPr>
          <p:cNvPr id="14" name="mb-x2"/>
          <p:cNvSpPr txBox="1"/>
          <p:nvPr/>
        </p:nvSpPr>
        <p:spPr>
          <a:xfrm>
            <a:off x="7223760" y="2926080"/>
            <a:ext cx="1463040" cy="1005840"/>
          </a:xfrm>
          <a:prstGeom prst="rect">
            <a:avLst/>
          </a:prstGeom>
          <a:noFill/>
          <a:ln/>
        </p:spPr>
        <p:txBody>
          <a:bodyPr wrap="square" lIns="0" tIns="0" rIns="0" bIns="0" rtlCol="0" anchor="ctr"/>
          <a:lstStyle/>
          <a:p>
            <a:pPr algn="ctr" indent="0" marL="0">
              <a:buNone/>
            </a:pPr>
            <a:r>
              <a:rPr lang="en-US" sz="2800" b="1" dirty="0">
                <a:solidFill>
                  <a:schemeClr val="tx2"/>
                </a:solidFill>
              </a:rPr>
              <a:t>bumpy</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Fur, feathers or scales?</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The big question. Say it with a rhythm, children copy, pointing at each swatch. Then click to meet each one.</a:t>
            </a:r>
            <a:endParaRPr lang="en-US" sz="1200" dirty="0"/>
          </a:p>
        </p:txBody>
      </p:sp>
      <p:sp>
        <p:nvSpPr>
          <p:cNvPr id="5" name="bq-t0"/>
          <p:cNvSpPr/>
          <p:nvPr/>
        </p:nvSpPr>
        <p:spPr>
          <a:xfrm>
            <a:off x="457200" y="1188720"/>
            <a:ext cx="2651760" cy="3383280"/>
          </a:xfrm>
          <a:prstGeom prst="roundRect">
            <a:avLst>
              <a:gd name="adj" fmla="val 6897"/>
            </a:avLst>
          </a:prstGeom>
          <a:solidFill>
            <a:srgbClr val="F6E3CF"/>
          </a:solidFill>
          <a:ln w="12700">
            <a:solidFill>
              <a:srgbClr val="F6E3CF"/>
            </a:solidFill>
            <a:prstDash val="solid"/>
          </a:ln>
        </p:spPr>
      </p:sp>
      <p:pic>
        <p:nvPicPr>
          <p:cNvPr id="6" name="bq-i0" descr="img/tex_fur.png">    </p:cNvPr>
          <p:cNvPicPr>
            <a:picLocks noChangeAspect="1"/>
          </p:cNvPicPr>
          <p:nvPr/>
        </p:nvPicPr>
        <p:blipFill>
          <a:blip r:embed="rId1"/>
          <a:stretch>
            <a:fillRect/>
          </a:stretch>
        </p:blipFill>
        <p:spPr>
          <a:xfrm>
            <a:off x="868680" y="1371600"/>
            <a:ext cx="1828800" cy="1828800"/>
          </a:xfrm>
          <a:prstGeom prst="rect">
            <a:avLst/>
          </a:prstGeom>
        </p:spPr>
      </p:pic>
      <p:sp>
        <p:nvSpPr>
          <p:cNvPr id="7" name="bq-x0"/>
          <p:cNvSpPr txBox="1"/>
          <p:nvPr/>
        </p:nvSpPr>
        <p:spPr>
          <a:xfrm>
            <a:off x="457200" y="3291840"/>
            <a:ext cx="2651760" cy="731520"/>
          </a:xfrm>
          <a:prstGeom prst="rect">
            <a:avLst/>
          </a:prstGeom>
          <a:noFill/>
          <a:ln/>
        </p:spPr>
        <p:txBody>
          <a:bodyPr wrap="square" lIns="0" tIns="0" rIns="0" bIns="0" rtlCol="0" anchor="ctr"/>
          <a:lstStyle/>
          <a:p>
            <a:pPr algn="ctr" indent="0" marL="0">
              <a:buNone/>
            </a:pPr>
            <a:r>
              <a:rPr lang="en-US" sz="3600" b="1" dirty="0">
                <a:solidFill>
                  <a:schemeClr val="tx2"/>
                </a:solidFill>
              </a:rPr>
              <a:t>fur</a:t>
            </a:r>
            <a:endParaRPr lang="en-US" sz="3600" dirty="0"/>
          </a:p>
        </p:txBody>
      </p:sp>
      <p:pic>
        <p:nvPicPr>
          <p:cNvPr id="8" name="bq-q0" descr="img/question.png">    </p:cNvPr>
          <p:cNvPicPr>
            <a:picLocks noChangeAspect="1"/>
          </p:cNvPicPr>
          <p:nvPr/>
        </p:nvPicPr>
        <p:blipFill>
          <a:blip r:embed="rId2"/>
          <a:stretch>
            <a:fillRect/>
          </a:stretch>
        </p:blipFill>
        <p:spPr>
          <a:xfrm>
            <a:off x="2514600" y="3931920"/>
            <a:ext cx="502920" cy="502920"/>
          </a:xfrm>
          <a:prstGeom prst="rect">
            <a:avLst/>
          </a:prstGeom>
        </p:spPr>
      </p:pic>
      <p:sp>
        <p:nvSpPr>
          <p:cNvPr id="9" name="bq-t1"/>
          <p:cNvSpPr/>
          <p:nvPr/>
        </p:nvSpPr>
        <p:spPr>
          <a:xfrm>
            <a:off x="3246120" y="1188720"/>
            <a:ext cx="2651760" cy="3383280"/>
          </a:xfrm>
          <a:prstGeom prst="roundRect">
            <a:avLst>
              <a:gd name="adj" fmla="val 6897"/>
            </a:avLst>
          </a:prstGeom>
          <a:solidFill>
            <a:srgbClr val="DCEEF8"/>
          </a:solidFill>
          <a:ln w="12700">
            <a:solidFill>
              <a:srgbClr val="DCEEF8"/>
            </a:solidFill>
            <a:prstDash val="solid"/>
          </a:ln>
        </p:spPr>
      </p:sp>
      <p:pic>
        <p:nvPicPr>
          <p:cNvPr id="10" name="bq-i1" descr="img/tex_feathers.png">    </p:cNvPr>
          <p:cNvPicPr>
            <a:picLocks noChangeAspect="1"/>
          </p:cNvPicPr>
          <p:nvPr/>
        </p:nvPicPr>
        <p:blipFill>
          <a:blip r:embed="rId3"/>
          <a:stretch>
            <a:fillRect/>
          </a:stretch>
        </p:blipFill>
        <p:spPr>
          <a:xfrm>
            <a:off x="3657600" y="1371600"/>
            <a:ext cx="1828800" cy="1828800"/>
          </a:xfrm>
          <a:prstGeom prst="rect">
            <a:avLst/>
          </a:prstGeom>
        </p:spPr>
      </p:pic>
      <p:sp>
        <p:nvSpPr>
          <p:cNvPr id="11" name="bq-x1"/>
          <p:cNvSpPr txBox="1"/>
          <p:nvPr/>
        </p:nvSpPr>
        <p:spPr>
          <a:xfrm>
            <a:off x="3246120" y="3291840"/>
            <a:ext cx="2651760" cy="731520"/>
          </a:xfrm>
          <a:prstGeom prst="rect">
            <a:avLst/>
          </a:prstGeom>
          <a:noFill/>
          <a:ln/>
        </p:spPr>
        <p:txBody>
          <a:bodyPr wrap="square" lIns="0" tIns="0" rIns="0" bIns="0" rtlCol="0" anchor="ctr"/>
          <a:lstStyle/>
          <a:p>
            <a:pPr algn="ctr" indent="0" marL="0">
              <a:buNone/>
            </a:pPr>
            <a:r>
              <a:rPr lang="en-US" sz="3600" b="1" dirty="0">
                <a:solidFill>
                  <a:schemeClr val="tx2"/>
                </a:solidFill>
              </a:rPr>
              <a:t>feathers</a:t>
            </a:r>
            <a:endParaRPr lang="en-US" sz="3600" dirty="0"/>
          </a:p>
        </p:txBody>
      </p:sp>
      <p:pic>
        <p:nvPicPr>
          <p:cNvPr id="12" name="bq-q1" descr="img/question.png">    </p:cNvPr>
          <p:cNvPicPr>
            <a:picLocks noChangeAspect="1"/>
          </p:cNvPicPr>
          <p:nvPr/>
        </p:nvPicPr>
        <p:blipFill>
          <a:blip r:embed="rId4"/>
          <a:stretch>
            <a:fillRect/>
          </a:stretch>
        </p:blipFill>
        <p:spPr>
          <a:xfrm>
            <a:off x="5303520" y="3931920"/>
            <a:ext cx="502920" cy="502920"/>
          </a:xfrm>
          <a:prstGeom prst="rect">
            <a:avLst/>
          </a:prstGeom>
        </p:spPr>
      </p:pic>
      <p:sp>
        <p:nvSpPr>
          <p:cNvPr id="13" name="bq-t2"/>
          <p:cNvSpPr/>
          <p:nvPr/>
        </p:nvSpPr>
        <p:spPr>
          <a:xfrm>
            <a:off x="6035040" y="1188720"/>
            <a:ext cx="2651760" cy="3383280"/>
          </a:xfrm>
          <a:prstGeom prst="roundRect">
            <a:avLst>
              <a:gd name="adj" fmla="val 6897"/>
            </a:avLst>
          </a:prstGeom>
          <a:solidFill>
            <a:srgbClr val="DDEFE0"/>
          </a:solidFill>
          <a:ln w="12700">
            <a:solidFill>
              <a:srgbClr val="DDEFE0"/>
            </a:solidFill>
            <a:prstDash val="solid"/>
          </a:ln>
        </p:spPr>
      </p:sp>
      <p:pic>
        <p:nvPicPr>
          <p:cNvPr id="14" name="bq-i2" descr="img/tex_scales.png">    </p:cNvPr>
          <p:cNvPicPr>
            <a:picLocks noChangeAspect="1"/>
          </p:cNvPicPr>
          <p:nvPr/>
        </p:nvPicPr>
        <p:blipFill>
          <a:blip r:embed="rId5"/>
          <a:stretch>
            <a:fillRect/>
          </a:stretch>
        </p:blipFill>
        <p:spPr>
          <a:xfrm>
            <a:off x="6446520" y="1371600"/>
            <a:ext cx="1828800" cy="1828800"/>
          </a:xfrm>
          <a:prstGeom prst="rect">
            <a:avLst/>
          </a:prstGeom>
        </p:spPr>
      </p:pic>
      <p:sp>
        <p:nvSpPr>
          <p:cNvPr id="15" name="bq-x2"/>
          <p:cNvSpPr txBox="1"/>
          <p:nvPr/>
        </p:nvSpPr>
        <p:spPr>
          <a:xfrm>
            <a:off x="6035040" y="3291840"/>
            <a:ext cx="2651760" cy="731520"/>
          </a:xfrm>
          <a:prstGeom prst="rect">
            <a:avLst/>
          </a:prstGeom>
          <a:noFill/>
          <a:ln/>
        </p:spPr>
        <p:txBody>
          <a:bodyPr wrap="square" lIns="0" tIns="0" rIns="0" bIns="0" rtlCol="0" anchor="ctr"/>
          <a:lstStyle/>
          <a:p>
            <a:pPr algn="ctr" indent="0" marL="0">
              <a:buNone/>
            </a:pPr>
            <a:r>
              <a:rPr lang="en-US" sz="3600" b="1" dirty="0">
                <a:solidFill>
                  <a:schemeClr val="tx2"/>
                </a:solidFill>
              </a:rPr>
              <a:t>scales</a:t>
            </a:r>
            <a:endParaRPr lang="en-US" sz="3600" dirty="0"/>
          </a:p>
        </p:txBody>
      </p:sp>
      <p:pic>
        <p:nvPicPr>
          <p:cNvPr id="16" name="bq-q2" descr="img/question.png">    </p:cNvPr>
          <p:cNvPicPr>
            <a:picLocks noChangeAspect="1"/>
          </p:cNvPicPr>
          <p:nvPr/>
        </p:nvPicPr>
        <p:blipFill>
          <a:blip r:embed="rId6"/>
          <a:stretch>
            <a:fillRect/>
          </a:stretch>
        </p:blipFill>
        <p:spPr>
          <a:xfrm>
            <a:off x="8092440" y="3931920"/>
            <a:ext cx="502920" cy="5029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Fur: soft and fluffy</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1 minute. Pass the fur swatch round fast while you talk. Point to each animal: "The cat has fur." Children repeat.</a:t>
            </a:r>
            <a:endParaRPr lang="en-US" sz="1200" dirty="0"/>
          </a:p>
        </p:txBody>
      </p:sp>
      <p:sp>
        <p:nvSpPr>
          <p:cNvPr id="5" name="cat-t0"/>
          <p:cNvSpPr/>
          <p:nvPr/>
        </p:nvSpPr>
        <p:spPr>
          <a:xfrm>
            <a:off x="457200" y="1188720"/>
            <a:ext cx="2651760" cy="3383280"/>
          </a:xfrm>
          <a:prstGeom prst="roundRect">
            <a:avLst>
              <a:gd name="adj" fmla="val 6897"/>
            </a:avLst>
          </a:prstGeom>
          <a:solidFill>
            <a:srgbClr val="F6E3CF"/>
          </a:solidFill>
          <a:ln w="12700">
            <a:solidFill>
              <a:srgbClr val="F6E3CF"/>
            </a:solidFill>
            <a:prstDash val="solid"/>
          </a:ln>
        </p:spPr>
      </p:sp>
      <p:pic>
        <p:nvPicPr>
          <p:cNvPr id="6" name="cat-tex0" descr="img/tex_fur.png">    </p:cNvPr>
          <p:cNvPicPr>
            <a:picLocks noChangeAspect="1"/>
          </p:cNvPicPr>
          <p:nvPr/>
        </p:nvPicPr>
        <p:blipFill>
          <a:blip r:embed="rId1"/>
          <a:stretch>
            <a:fillRect/>
          </a:stretch>
        </p:blipFill>
        <p:spPr>
          <a:xfrm>
            <a:off x="685800" y="1371600"/>
            <a:ext cx="2194560" cy="2194560"/>
          </a:xfrm>
          <a:prstGeom prst="rect">
            <a:avLst/>
          </a:prstGeom>
        </p:spPr>
      </p:pic>
      <p:sp>
        <p:nvSpPr>
          <p:cNvPr id="7" name="cat-feel0"/>
          <p:cNvSpPr txBox="1"/>
          <p:nvPr/>
        </p:nvSpPr>
        <p:spPr>
          <a:xfrm>
            <a:off x="457200" y="3703320"/>
            <a:ext cx="2651760" cy="731520"/>
          </a:xfrm>
          <a:prstGeom prst="rect">
            <a:avLst/>
          </a:prstGeom>
          <a:noFill/>
          <a:ln/>
        </p:spPr>
        <p:txBody>
          <a:bodyPr wrap="square" lIns="0" tIns="0" rIns="0" bIns="0" rtlCol="0" anchor="ctr"/>
          <a:lstStyle/>
          <a:p>
            <a:pPr algn="ctr" indent="0" marL="0">
              <a:buNone/>
            </a:pPr>
            <a:r>
              <a:rPr lang="en-US" sz="2200" b="1" dirty="0">
                <a:solidFill>
                  <a:schemeClr val="tx2"/>
                </a:solidFill>
              </a:rPr>
              <a:t>soft and fluffy</a:t>
            </a:r>
            <a:endParaRPr lang="en-US" sz="2200" dirty="0"/>
          </a:p>
        </p:txBody>
      </p:sp>
      <p:sp>
        <p:nvSpPr>
          <p:cNvPr id="8" name="cat-a0-0"/>
          <p:cNvSpPr/>
          <p:nvPr/>
        </p:nvSpPr>
        <p:spPr>
          <a:xfrm>
            <a:off x="3383280" y="1188720"/>
            <a:ext cx="1664208" cy="2286000"/>
          </a:xfrm>
          <a:prstGeom prst="roundRect">
            <a:avLst>
              <a:gd name="adj" fmla="val 10989"/>
            </a:avLst>
          </a:prstGeom>
          <a:solidFill>
            <a:srgbClr val="E3F1F8"/>
          </a:solidFill>
          <a:ln w="12700">
            <a:solidFill>
              <a:srgbClr val="E3F1F8"/>
            </a:solidFill>
            <a:prstDash val="solid"/>
          </a:ln>
        </p:spPr>
      </p:sp>
      <p:pic>
        <p:nvPicPr>
          <p:cNvPr id="9" name="cat-ap0-0" descr="img/cat.png">    </p:cNvPr>
          <p:cNvPicPr>
            <a:picLocks noChangeAspect="1"/>
          </p:cNvPicPr>
          <p:nvPr/>
        </p:nvPicPr>
        <p:blipFill>
          <a:blip r:embed="rId2"/>
          <a:stretch>
            <a:fillRect/>
          </a:stretch>
        </p:blipFill>
        <p:spPr>
          <a:xfrm>
            <a:off x="3529584" y="1280160"/>
            <a:ext cx="1371600" cy="1371600"/>
          </a:xfrm>
          <a:prstGeom prst="rect">
            <a:avLst/>
          </a:prstGeom>
        </p:spPr>
      </p:pic>
      <p:sp>
        <p:nvSpPr>
          <p:cNvPr id="10" name="cat-at0-0"/>
          <p:cNvSpPr txBox="1"/>
          <p:nvPr/>
        </p:nvSpPr>
        <p:spPr>
          <a:xfrm>
            <a:off x="3383280" y="2743200"/>
            <a:ext cx="1664208" cy="640080"/>
          </a:xfrm>
          <a:prstGeom prst="rect">
            <a:avLst/>
          </a:prstGeom>
          <a:noFill/>
          <a:ln/>
        </p:spPr>
        <p:txBody>
          <a:bodyPr wrap="square" lIns="0" tIns="0" rIns="0" bIns="0" rtlCol="0" anchor="ctr"/>
          <a:lstStyle/>
          <a:p>
            <a:pPr algn="ctr" indent="0" marL="0">
              <a:buNone/>
            </a:pPr>
            <a:r>
              <a:rPr lang="en-US" sz="2400" b="1" dirty="0">
                <a:solidFill>
                  <a:schemeClr val="tx2"/>
                </a:solidFill>
              </a:rPr>
              <a:t>cat</a:t>
            </a:r>
            <a:endParaRPr lang="en-US" sz="2400" dirty="0"/>
          </a:p>
        </p:txBody>
      </p:sp>
      <p:sp>
        <p:nvSpPr>
          <p:cNvPr id="11" name="cat-a0-1"/>
          <p:cNvSpPr/>
          <p:nvPr/>
        </p:nvSpPr>
        <p:spPr>
          <a:xfrm>
            <a:off x="5193792" y="1188720"/>
            <a:ext cx="1664208" cy="2286000"/>
          </a:xfrm>
          <a:prstGeom prst="roundRect">
            <a:avLst>
              <a:gd name="adj" fmla="val 10989"/>
            </a:avLst>
          </a:prstGeom>
          <a:solidFill>
            <a:srgbClr val="E3F1F8"/>
          </a:solidFill>
          <a:ln w="12700">
            <a:solidFill>
              <a:srgbClr val="E3F1F8"/>
            </a:solidFill>
            <a:prstDash val="solid"/>
          </a:ln>
        </p:spPr>
      </p:sp>
      <p:pic>
        <p:nvPicPr>
          <p:cNvPr id="12" name="cat-ap0-1" descr="img/rabbit.png">    </p:cNvPr>
          <p:cNvPicPr>
            <a:picLocks noChangeAspect="1"/>
          </p:cNvPicPr>
          <p:nvPr/>
        </p:nvPicPr>
        <p:blipFill>
          <a:blip r:embed="rId3"/>
          <a:stretch>
            <a:fillRect/>
          </a:stretch>
        </p:blipFill>
        <p:spPr>
          <a:xfrm>
            <a:off x="5340096" y="1280160"/>
            <a:ext cx="1371600" cy="1371600"/>
          </a:xfrm>
          <a:prstGeom prst="rect">
            <a:avLst/>
          </a:prstGeom>
        </p:spPr>
      </p:pic>
      <p:sp>
        <p:nvSpPr>
          <p:cNvPr id="13" name="cat-at0-1"/>
          <p:cNvSpPr txBox="1"/>
          <p:nvPr/>
        </p:nvSpPr>
        <p:spPr>
          <a:xfrm>
            <a:off x="5193792" y="2743200"/>
            <a:ext cx="1664208" cy="640080"/>
          </a:xfrm>
          <a:prstGeom prst="rect">
            <a:avLst/>
          </a:prstGeom>
          <a:noFill/>
          <a:ln/>
        </p:spPr>
        <p:txBody>
          <a:bodyPr wrap="square" lIns="0" tIns="0" rIns="0" bIns="0" rtlCol="0" anchor="ctr"/>
          <a:lstStyle/>
          <a:p>
            <a:pPr algn="ctr" indent="0" marL="0">
              <a:buNone/>
            </a:pPr>
            <a:r>
              <a:rPr lang="en-US" sz="2400" b="1" dirty="0">
                <a:solidFill>
                  <a:schemeClr val="tx2"/>
                </a:solidFill>
              </a:rPr>
              <a:t>rabbit</a:t>
            </a:r>
            <a:endParaRPr lang="en-US" sz="2400" dirty="0"/>
          </a:p>
        </p:txBody>
      </p:sp>
      <p:sp>
        <p:nvSpPr>
          <p:cNvPr id="14" name="cat-a0-2"/>
          <p:cNvSpPr/>
          <p:nvPr/>
        </p:nvSpPr>
        <p:spPr>
          <a:xfrm>
            <a:off x="7004304" y="1188720"/>
            <a:ext cx="1664208" cy="2286000"/>
          </a:xfrm>
          <a:prstGeom prst="roundRect">
            <a:avLst>
              <a:gd name="adj" fmla="val 10989"/>
            </a:avLst>
          </a:prstGeom>
          <a:solidFill>
            <a:srgbClr val="E3F1F8"/>
          </a:solidFill>
          <a:ln w="12700">
            <a:solidFill>
              <a:srgbClr val="E3F1F8"/>
            </a:solidFill>
            <a:prstDash val="solid"/>
          </a:ln>
        </p:spPr>
      </p:sp>
      <p:pic>
        <p:nvPicPr>
          <p:cNvPr id="15" name="cat-ap0-2" descr="img/lion.png">    </p:cNvPr>
          <p:cNvPicPr>
            <a:picLocks noChangeAspect="1"/>
          </p:cNvPicPr>
          <p:nvPr/>
        </p:nvPicPr>
        <p:blipFill>
          <a:blip r:embed="rId4"/>
          <a:stretch>
            <a:fillRect/>
          </a:stretch>
        </p:blipFill>
        <p:spPr>
          <a:xfrm>
            <a:off x="7150608" y="1280160"/>
            <a:ext cx="1371600" cy="1371600"/>
          </a:xfrm>
          <a:prstGeom prst="rect">
            <a:avLst/>
          </a:prstGeom>
        </p:spPr>
      </p:pic>
      <p:sp>
        <p:nvSpPr>
          <p:cNvPr id="16" name="cat-at0-2"/>
          <p:cNvSpPr txBox="1"/>
          <p:nvPr/>
        </p:nvSpPr>
        <p:spPr>
          <a:xfrm>
            <a:off x="7004304" y="2743200"/>
            <a:ext cx="1664208" cy="640080"/>
          </a:xfrm>
          <a:prstGeom prst="rect">
            <a:avLst/>
          </a:prstGeom>
          <a:noFill/>
          <a:ln/>
        </p:spPr>
        <p:txBody>
          <a:bodyPr wrap="square" lIns="0" tIns="0" rIns="0" bIns="0" rtlCol="0" anchor="ctr"/>
          <a:lstStyle/>
          <a:p>
            <a:pPr algn="ctr" indent="0" marL="0">
              <a:buNone/>
            </a:pPr>
            <a:r>
              <a:rPr lang="en-US" sz="2400" b="1" dirty="0">
                <a:solidFill>
                  <a:schemeClr val="tx2"/>
                </a:solidFill>
              </a:rPr>
              <a:t>lion</a:t>
            </a:r>
            <a:endParaRPr lang="en-US" sz="2400" dirty="0"/>
          </a:p>
        </p:txBody>
      </p:sp>
      <p:sp>
        <p:nvSpPr>
          <p:cNvPr id="17" name="cat-frame0"/>
          <p:cNvSpPr/>
          <p:nvPr/>
        </p:nvSpPr>
        <p:spPr>
          <a:xfrm>
            <a:off x="3383280" y="3657600"/>
            <a:ext cx="5285232" cy="868680"/>
          </a:xfrm>
          <a:prstGeom prst="roundRect">
            <a:avLst>
              <a:gd name="adj" fmla="val 21053"/>
            </a:avLst>
          </a:prstGeom>
          <a:solidFill>
            <a:srgbClr val="FFF4C2"/>
          </a:solidFill>
          <a:ln w="12700">
            <a:solidFill>
              <a:srgbClr val="FFF4C2"/>
            </a:solidFill>
            <a:prstDash val="solid"/>
          </a:ln>
        </p:spPr>
      </p:sp>
      <p:sp>
        <p:nvSpPr>
          <p:cNvPr id="18" name="cat-ft0"/>
          <p:cNvSpPr txBox="1"/>
          <p:nvPr/>
        </p:nvSpPr>
        <p:spPr>
          <a:xfrm>
            <a:off x="3566160" y="3657600"/>
            <a:ext cx="4937760" cy="868680"/>
          </a:xfrm>
          <a:prstGeom prst="rect">
            <a:avLst/>
          </a:prstGeom>
          <a:noFill/>
          <a:ln/>
        </p:spPr>
        <p:txBody>
          <a:bodyPr wrap="square" lIns="0" tIns="0" rIns="0" bIns="0" rtlCol="0" anchor="ctr"/>
          <a:lstStyle/>
          <a:p>
            <a:pPr indent="0" marL="0">
              <a:buNone/>
            </a:pPr>
            <a:r>
              <a:rPr lang="en-US" sz="3000" b="1" dirty="0">
                <a:solidFill>
                  <a:schemeClr val="tx2"/>
                </a:solidFill>
              </a:rPr>
              <a:t>The cat has fur.</a:t>
            </a:r>
            <a:endParaRPr lang="en-US" sz="3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Feathers: soft and light</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1 minute. Pass the feathers swatch round fast while you talk. Point to each animal: "The duck has feathers." Children repeat.</a:t>
            </a:r>
            <a:endParaRPr lang="en-US" sz="1200" dirty="0"/>
          </a:p>
        </p:txBody>
      </p:sp>
      <p:sp>
        <p:nvSpPr>
          <p:cNvPr id="5" name="cat-t1"/>
          <p:cNvSpPr/>
          <p:nvPr/>
        </p:nvSpPr>
        <p:spPr>
          <a:xfrm>
            <a:off x="457200" y="1188720"/>
            <a:ext cx="2651760" cy="3383280"/>
          </a:xfrm>
          <a:prstGeom prst="roundRect">
            <a:avLst>
              <a:gd name="adj" fmla="val 6897"/>
            </a:avLst>
          </a:prstGeom>
          <a:solidFill>
            <a:srgbClr val="DCEEF8"/>
          </a:solidFill>
          <a:ln w="12700">
            <a:solidFill>
              <a:srgbClr val="DCEEF8"/>
            </a:solidFill>
            <a:prstDash val="solid"/>
          </a:ln>
        </p:spPr>
      </p:sp>
      <p:pic>
        <p:nvPicPr>
          <p:cNvPr id="6" name="cat-tex1" descr="img/tex_feathers.png">    </p:cNvPr>
          <p:cNvPicPr>
            <a:picLocks noChangeAspect="1"/>
          </p:cNvPicPr>
          <p:nvPr/>
        </p:nvPicPr>
        <p:blipFill>
          <a:blip r:embed="rId1"/>
          <a:stretch>
            <a:fillRect/>
          </a:stretch>
        </p:blipFill>
        <p:spPr>
          <a:xfrm>
            <a:off x="685800" y="1371600"/>
            <a:ext cx="2194560" cy="2194560"/>
          </a:xfrm>
          <a:prstGeom prst="rect">
            <a:avLst/>
          </a:prstGeom>
        </p:spPr>
      </p:pic>
      <p:sp>
        <p:nvSpPr>
          <p:cNvPr id="7" name="cat-feel1"/>
          <p:cNvSpPr txBox="1"/>
          <p:nvPr/>
        </p:nvSpPr>
        <p:spPr>
          <a:xfrm>
            <a:off x="457200" y="3703320"/>
            <a:ext cx="2651760" cy="731520"/>
          </a:xfrm>
          <a:prstGeom prst="rect">
            <a:avLst/>
          </a:prstGeom>
          <a:noFill/>
          <a:ln/>
        </p:spPr>
        <p:txBody>
          <a:bodyPr wrap="square" lIns="0" tIns="0" rIns="0" bIns="0" rtlCol="0" anchor="ctr"/>
          <a:lstStyle/>
          <a:p>
            <a:pPr algn="ctr" indent="0" marL="0">
              <a:buNone/>
            </a:pPr>
            <a:r>
              <a:rPr lang="en-US" sz="2200" b="1" dirty="0">
                <a:solidFill>
                  <a:schemeClr val="tx2"/>
                </a:solidFill>
              </a:rPr>
              <a:t>soft and light</a:t>
            </a:r>
            <a:endParaRPr lang="en-US" sz="2200" dirty="0"/>
          </a:p>
        </p:txBody>
      </p:sp>
      <p:sp>
        <p:nvSpPr>
          <p:cNvPr id="8" name="cat-a1-0"/>
          <p:cNvSpPr/>
          <p:nvPr/>
        </p:nvSpPr>
        <p:spPr>
          <a:xfrm>
            <a:off x="3383280" y="1188720"/>
            <a:ext cx="1664208" cy="2286000"/>
          </a:xfrm>
          <a:prstGeom prst="roundRect">
            <a:avLst>
              <a:gd name="adj" fmla="val 10989"/>
            </a:avLst>
          </a:prstGeom>
          <a:solidFill>
            <a:srgbClr val="E3F1F8"/>
          </a:solidFill>
          <a:ln w="12700">
            <a:solidFill>
              <a:srgbClr val="E3F1F8"/>
            </a:solidFill>
            <a:prstDash val="solid"/>
          </a:ln>
        </p:spPr>
      </p:sp>
      <p:pic>
        <p:nvPicPr>
          <p:cNvPr id="9" name="cat-ap1-0" descr="img/duck.png">    </p:cNvPr>
          <p:cNvPicPr>
            <a:picLocks noChangeAspect="1"/>
          </p:cNvPicPr>
          <p:nvPr/>
        </p:nvPicPr>
        <p:blipFill>
          <a:blip r:embed="rId2"/>
          <a:stretch>
            <a:fillRect/>
          </a:stretch>
        </p:blipFill>
        <p:spPr>
          <a:xfrm>
            <a:off x="3529584" y="1280160"/>
            <a:ext cx="1371600" cy="1371600"/>
          </a:xfrm>
          <a:prstGeom prst="rect">
            <a:avLst/>
          </a:prstGeom>
        </p:spPr>
      </p:pic>
      <p:sp>
        <p:nvSpPr>
          <p:cNvPr id="10" name="cat-at1-0"/>
          <p:cNvSpPr txBox="1"/>
          <p:nvPr/>
        </p:nvSpPr>
        <p:spPr>
          <a:xfrm>
            <a:off x="3383280" y="2743200"/>
            <a:ext cx="1664208" cy="640080"/>
          </a:xfrm>
          <a:prstGeom prst="rect">
            <a:avLst/>
          </a:prstGeom>
          <a:noFill/>
          <a:ln/>
        </p:spPr>
        <p:txBody>
          <a:bodyPr wrap="square" lIns="0" tIns="0" rIns="0" bIns="0" rtlCol="0" anchor="ctr"/>
          <a:lstStyle/>
          <a:p>
            <a:pPr algn="ctr" indent="0" marL="0">
              <a:buNone/>
            </a:pPr>
            <a:r>
              <a:rPr lang="en-US" sz="2400" b="1" dirty="0">
                <a:solidFill>
                  <a:schemeClr val="tx2"/>
                </a:solidFill>
              </a:rPr>
              <a:t>duck</a:t>
            </a:r>
            <a:endParaRPr lang="en-US" sz="2400" dirty="0"/>
          </a:p>
        </p:txBody>
      </p:sp>
      <p:sp>
        <p:nvSpPr>
          <p:cNvPr id="11" name="cat-a1-1"/>
          <p:cNvSpPr/>
          <p:nvPr/>
        </p:nvSpPr>
        <p:spPr>
          <a:xfrm>
            <a:off x="5193792" y="1188720"/>
            <a:ext cx="1664208" cy="2286000"/>
          </a:xfrm>
          <a:prstGeom prst="roundRect">
            <a:avLst>
              <a:gd name="adj" fmla="val 10989"/>
            </a:avLst>
          </a:prstGeom>
          <a:solidFill>
            <a:srgbClr val="E3F1F8"/>
          </a:solidFill>
          <a:ln w="12700">
            <a:solidFill>
              <a:srgbClr val="E3F1F8"/>
            </a:solidFill>
            <a:prstDash val="solid"/>
          </a:ln>
        </p:spPr>
      </p:sp>
      <p:pic>
        <p:nvPicPr>
          <p:cNvPr id="12" name="cat-ap1-1" descr="img/owl.png">    </p:cNvPr>
          <p:cNvPicPr>
            <a:picLocks noChangeAspect="1"/>
          </p:cNvPicPr>
          <p:nvPr/>
        </p:nvPicPr>
        <p:blipFill>
          <a:blip r:embed="rId3"/>
          <a:stretch>
            <a:fillRect/>
          </a:stretch>
        </p:blipFill>
        <p:spPr>
          <a:xfrm>
            <a:off x="5340096" y="1280160"/>
            <a:ext cx="1371600" cy="1371600"/>
          </a:xfrm>
          <a:prstGeom prst="rect">
            <a:avLst/>
          </a:prstGeom>
        </p:spPr>
      </p:pic>
      <p:sp>
        <p:nvSpPr>
          <p:cNvPr id="13" name="cat-at1-1"/>
          <p:cNvSpPr txBox="1"/>
          <p:nvPr/>
        </p:nvSpPr>
        <p:spPr>
          <a:xfrm>
            <a:off x="5193792" y="2743200"/>
            <a:ext cx="1664208" cy="640080"/>
          </a:xfrm>
          <a:prstGeom prst="rect">
            <a:avLst/>
          </a:prstGeom>
          <a:noFill/>
          <a:ln/>
        </p:spPr>
        <p:txBody>
          <a:bodyPr wrap="square" lIns="0" tIns="0" rIns="0" bIns="0" rtlCol="0" anchor="ctr"/>
          <a:lstStyle/>
          <a:p>
            <a:pPr algn="ctr" indent="0" marL="0">
              <a:buNone/>
            </a:pPr>
            <a:r>
              <a:rPr lang="en-US" sz="2400" b="1" dirty="0">
                <a:solidFill>
                  <a:schemeClr val="tx2"/>
                </a:solidFill>
              </a:rPr>
              <a:t>owl</a:t>
            </a:r>
            <a:endParaRPr lang="en-US" sz="2400" dirty="0"/>
          </a:p>
        </p:txBody>
      </p:sp>
      <p:sp>
        <p:nvSpPr>
          <p:cNvPr id="14" name="cat-a1-2"/>
          <p:cNvSpPr/>
          <p:nvPr/>
        </p:nvSpPr>
        <p:spPr>
          <a:xfrm>
            <a:off x="7004304" y="1188720"/>
            <a:ext cx="1664208" cy="2286000"/>
          </a:xfrm>
          <a:prstGeom prst="roundRect">
            <a:avLst>
              <a:gd name="adj" fmla="val 10989"/>
            </a:avLst>
          </a:prstGeom>
          <a:solidFill>
            <a:srgbClr val="E3F1F8"/>
          </a:solidFill>
          <a:ln w="12700">
            <a:solidFill>
              <a:srgbClr val="E3F1F8"/>
            </a:solidFill>
            <a:prstDash val="solid"/>
          </a:ln>
        </p:spPr>
      </p:sp>
      <p:pic>
        <p:nvPicPr>
          <p:cNvPr id="15" name="cat-ap1-2" descr="img/parrot.png">    </p:cNvPr>
          <p:cNvPicPr>
            <a:picLocks noChangeAspect="1"/>
          </p:cNvPicPr>
          <p:nvPr/>
        </p:nvPicPr>
        <p:blipFill>
          <a:blip r:embed="rId4"/>
          <a:stretch>
            <a:fillRect/>
          </a:stretch>
        </p:blipFill>
        <p:spPr>
          <a:xfrm>
            <a:off x="7150608" y="1280160"/>
            <a:ext cx="1371600" cy="1371600"/>
          </a:xfrm>
          <a:prstGeom prst="rect">
            <a:avLst/>
          </a:prstGeom>
        </p:spPr>
      </p:pic>
      <p:sp>
        <p:nvSpPr>
          <p:cNvPr id="16" name="cat-at1-2"/>
          <p:cNvSpPr txBox="1"/>
          <p:nvPr/>
        </p:nvSpPr>
        <p:spPr>
          <a:xfrm>
            <a:off x="7004304" y="2743200"/>
            <a:ext cx="1664208" cy="640080"/>
          </a:xfrm>
          <a:prstGeom prst="rect">
            <a:avLst/>
          </a:prstGeom>
          <a:noFill/>
          <a:ln/>
        </p:spPr>
        <p:txBody>
          <a:bodyPr wrap="square" lIns="0" tIns="0" rIns="0" bIns="0" rtlCol="0" anchor="ctr"/>
          <a:lstStyle/>
          <a:p>
            <a:pPr algn="ctr" indent="0" marL="0">
              <a:buNone/>
            </a:pPr>
            <a:r>
              <a:rPr lang="en-US" sz="2400" b="1" dirty="0">
                <a:solidFill>
                  <a:schemeClr val="tx2"/>
                </a:solidFill>
              </a:rPr>
              <a:t>parrot</a:t>
            </a:r>
            <a:endParaRPr lang="en-US" sz="2400" dirty="0"/>
          </a:p>
        </p:txBody>
      </p:sp>
      <p:sp>
        <p:nvSpPr>
          <p:cNvPr id="17" name="cat-frame1"/>
          <p:cNvSpPr/>
          <p:nvPr/>
        </p:nvSpPr>
        <p:spPr>
          <a:xfrm>
            <a:off x="3383280" y="3657600"/>
            <a:ext cx="5285232" cy="868680"/>
          </a:xfrm>
          <a:prstGeom prst="roundRect">
            <a:avLst>
              <a:gd name="adj" fmla="val 21053"/>
            </a:avLst>
          </a:prstGeom>
          <a:solidFill>
            <a:srgbClr val="FFF4C2"/>
          </a:solidFill>
          <a:ln w="12700">
            <a:solidFill>
              <a:srgbClr val="FFF4C2"/>
            </a:solidFill>
            <a:prstDash val="solid"/>
          </a:ln>
        </p:spPr>
      </p:sp>
      <p:sp>
        <p:nvSpPr>
          <p:cNvPr id="18" name="cat-ft1"/>
          <p:cNvSpPr txBox="1"/>
          <p:nvPr/>
        </p:nvSpPr>
        <p:spPr>
          <a:xfrm>
            <a:off x="3566160" y="3657600"/>
            <a:ext cx="4937760" cy="868680"/>
          </a:xfrm>
          <a:prstGeom prst="rect">
            <a:avLst/>
          </a:prstGeom>
          <a:noFill/>
          <a:ln/>
        </p:spPr>
        <p:txBody>
          <a:bodyPr wrap="square" lIns="0" tIns="0" rIns="0" bIns="0" rtlCol="0" anchor="ctr"/>
          <a:lstStyle/>
          <a:p>
            <a:pPr indent="0" marL="0">
              <a:buNone/>
            </a:pPr>
            <a:r>
              <a:rPr lang="en-US" sz="3000" b="1" dirty="0">
                <a:solidFill>
                  <a:schemeClr val="tx2"/>
                </a:solidFill>
              </a:rPr>
              <a:t>The duck has feathers.</a:t>
            </a:r>
            <a:endParaRPr lang="en-US" sz="3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Scales: bumpy and hard</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1 minute. Pass the scales swatch round fast while you talk. Point to each animal: "The fish has scales." Children repeat.</a:t>
            </a:r>
            <a:endParaRPr lang="en-US" sz="1200" dirty="0"/>
          </a:p>
        </p:txBody>
      </p:sp>
      <p:sp>
        <p:nvSpPr>
          <p:cNvPr id="5" name="cat-t2"/>
          <p:cNvSpPr/>
          <p:nvPr/>
        </p:nvSpPr>
        <p:spPr>
          <a:xfrm>
            <a:off x="457200" y="1188720"/>
            <a:ext cx="2651760" cy="3383280"/>
          </a:xfrm>
          <a:prstGeom prst="roundRect">
            <a:avLst>
              <a:gd name="adj" fmla="val 6897"/>
            </a:avLst>
          </a:prstGeom>
          <a:solidFill>
            <a:srgbClr val="DDEFE0"/>
          </a:solidFill>
          <a:ln w="12700">
            <a:solidFill>
              <a:srgbClr val="DDEFE0"/>
            </a:solidFill>
            <a:prstDash val="solid"/>
          </a:ln>
        </p:spPr>
      </p:sp>
      <p:pic>
        <p:nvPicPr>
          <p:cNvPr id="6" name="cat-tex2" descr="img/tex_scales.png">    </p:cNvPr>
          <p:cNvPicPr>
            <a:picLocks noChangeAspect="1"/>
          </p:cNvPicPr>
          <p:nvPr/>
        </p:nvPicPr>
        <p:blipFill>
          <a:blip r:embed="rId1"/>
          <a:stretch>
            <a:fillRect/>
          </a:stretch>
        </p:blipFill>
        <p:spPr>
          <a:xfrm>
            <a:off x="685800" y="1371600"/>
            <a:ext cx="2194560" cy="2194560"/>
          </a:xfrm>
          <a:prstGeom prst="rect">
            <a:avLst/>
          </a:prstGeom>
        </p:spPr>
      </p:pic>
      <p:sp>
        <p:nvSpPr>
          <p:cNvPr id="7" name="cat-feel2"/>
          <p:cNvSpPr txBox="1"/>
          <p:nvPr/>
        </p:nvSpPr>
        <p:spPr>
          <a:xfrm>
            <a:off x="457200" y="3703320"/>
            <a:ext cx="2651760" cy="731520"/>
          </a:xfrm>
          <a:prstGeom prst="rect">
            <a:avLst/>
          </a:prstGeom>
          <a:noFill/>
          <a:ln/>
        </p:spPr>
        <p:txBody>
          <a:bodyPr wrap="square" lIns="0" tIns="0" rIns="0" bIns="0" rtlCol="0" anchor="ctr"/>
          <a:lstStyle/>
          <a:p>
            <a:pPr algn="ctr" indent="0" marL="0">
              <a:buNone/>
            </a:pPr>
            <a:r>
              <a:rPr lang="en-US" sz="2200" b="1" dirty="0">
                <a:solidFill>
                  <a:schemeClr val="tx2"/>
                </a:solidFill>
              </a:rPr>
              <a:t>bumpy and hard</a:t>
            </a:r>
            <a:endParaRPr lang="en-US" sz="2200" dirty="0"/>
          </a:p>
        </p:txBody>
      </p:sp>
      <p:sp>
        <p:nvSpPr>
          <p:cNvPr id="8" name="cat-a2-0"/>
          <p:cNvSpPr/>
          <p:nvPr/>
        </p:nvSpPr>
        <p:spPr>
          <a:xfrm>
            <a:off x="3383280" y="1188720"/>
            <a:ext cx="1664208" cy="2286000"/>
          </a:xfrm>
          <a:prstGeom prst="roundRect">
            <a:avLst>
              <a:gd name="adj" fmla="val 10989"/>
            </a:avLst>
          </a:prstGeom>
          <a:solidFill>
            <a:srgbClr val="E3F1F8"/>
          </a:solidFill>
          <a:ln w="12700">
            <a:solidFill>
              <a:srgbClr val="E3F1F8"/>
            </a:solidFill>
            <a:prstDash val="solid"/>
          </a:ln>
        </p:spPr>
      </p:sp>
      <p:pic>
        <p:nvPicPr>
          <p:cNvPr id="9" name="cat-ap2-0" descr="img/fish.png">    </p:cNvPr>
          <p:cNvPicPr>
            <a:picLocks noChangeAspect="1"/>
          </p:cNvPicPr>
          <p:nvPr/>
        </p:nvPicPr>
        <p:blipFill>
          <a:blip r:embed="rId2"/>
          <a:stretch>
            <a:fillRect/>
          </a:stretch>
        </p:blipFill>
        <p:spPr>
          <a:xfrm>
            <a:off x="3529584" y="1280160"/>
            <a:ext cx="1371600" cy="1371600"/>
          </a:xfrm>
          <a:prstGeom prst="rect">
            <a:avLst/>
          </a:prstGeom>
        </p:spPr>
      </p:pic>
      <p:sp>
        <p:nvSpPr>
          <p:cNvPr id="10" name="cat-at2-0"/>
          <p:cNvSpPr txBox="1"/>
          <p:nvPr/>
        </p:nvSpPr>
        <p:spPr>
          <a:xfrm>
            <a:off x="3383280" y="2743200"/>
            <a:ext cx="1664208" cy="640080"/>
          </a:xfrm>
          <a:prstGeom prst="rect">
            <a:avLst/>
          </a:prstGeom>
          <a:noFill/>
          <a:ln/>
        </p:spPr>
        <p:txBody>
          <a:bodyPr wrap="square" lIns="0" tIns="0" rIns="0" bIns="0" rtlCol="0" anchor="ctr"/>
          <a:lstStyle/>
          <a:p>
            <a:pPr algn="ctr" indent="0" marL="0">
              <a:buNone/>
            </a:pPr>
            <a:r>
              <a:rPr lang="en-US" sz="2400" b="1" dirty="0">
                <a:solidFill>
                  <a:schemeClr val="tx2"/>
                </a:solidFill>
              </a:rPr>
              <a:t>fish</a:t>
            </a:r>
            <a:endParaRPr lang="en-US" sz="2400" dirty="0"/>
          </a:p>
        </p:txBody>
      </p:sp>
      <p:sp>
        <p:nvSpPr>
          <p:cNvPr id="11" name="cat-a2-1"/>
          <p:cNvSpPr/>
          <p:nvPr/>
        </p:nvSpPr>
        <p:spPr>
          <a:xfrm>
            <a:off x="5193792" y="1188720"/>
            <a:ext cx="1664208" cy="2286000"/>
          </a:xfrm>
          <a:prstGeom prst="roundRect">
            <a:avLst>
              <a:gd name="adj" fmla="val 10989"/>
            </a:avLst>
          </a:prstGeom>
          <a:solidFill>
            <a:srgbClr val="E3F1F8"/>
          </a:solidFill>
          <a:ln w="12700">
            <a:solidFill>
              <a:srgbClr val="E3F1F8"/>
            </a:solidFill>
            <a:prstDash val="solid"/>
          </a:ln>
        </p:spPr>
      </p:sp>
      <p:pic>
        <p:nvPicPr>
          <p:cNvPr id="12" name="cat-ap2-1" descr="img/snake.png">    </p:cNvPr>
          <p:cNvPicPr>
            <a:picLocks noChangeAspect="1"/>
          </p:cNvPicPr>
          <p:nvPr/>
        </p:nvPicPr>
        <p:blipFill>
          <a:blip r:embed="rId3"/>
          <a:stretch>
            <a:fillRect/>
          </a:stretch>
        </p:blipFill>
        <p:spPr>
          <a:xfrm>
            <a:off x="5340096" y="1280160"/>
            <a:ext cx="1371600" cy="1371600"/>
          </a:xfrm>
          <a:prstGeom prst="rect">
            <a:avLst/>
          </a:prstGeom>
        </p:spPr>
      </p:pic>
      <p:sp>
        <p:nvSpPr>
          <p:cNvPr id="13" name="cat-at2-1"/>
          <p:cNvSpPr txBox="1"/>
          <p:nvPr/>
        </p:nvSpPr>
        <p:spPr>
          <a:xfrm>
            <a:off x="5193792" y="2743200"/>
            <a:ext cx="1664208" cy="640080"/>
          </a:xfrm>
          <a:prstGeom prst="rect">
            <a:avLst/>
          </a:prstGeom>
          <a:noFill/>
          <a:ln/>
        </p:spPr>
        <p:txBody>
          <a:bodyPr wrap="square" lIns="0" tIns="0" rIns="0" bIns="0" rtlCol="0" anchor="ctr"/>
          <a:lstStyle/>
          <a:p>
            <a:pPr algn="ctr" indent="0" marL="0">
              <a:buNone/>
            </a:pPr>
            <a:r>
              <a:rPr lang="en-US" sz="2400" b="1" dirty="0">
                <a:solidFill>
                  <a:schemeClr val="tx2"/>
                </a:solidFill>
              </a:rPr>
              <a:t>snake</a:t>
            </a:r>
            <a:endParaRPr lang="en-US" sz="2400" dirty="0"/>
          </a:p>
        </p:txBody>
      </p:sp>
      <p:sp>
        <p:nvSpPr>
          <p:cNvPr id="14" name="cat-a2-2"/>
          <p:cNvSpPr/>
          <p:nvPr/>
        </p:nvSpPr>
        <p:spPr>
          <a:xfrm>
            <a:off x="7004304" y="1188720"/>
            <a:ext cx="1664208" cy="2286000"/>
          </a:xfrm>
          <a:prstGeom prst="roundRect">
            <a:avLst>
              <a:gd name="adj" fmla="val 10989"/>
            </a:avLst>
          </a:prstGeom>
          <a:solidFill>
            <a:srgbClr val="E3F1F8"/>
          </a:solidFill>
          <a:ln w="12700">
            <a:solidFill>
              <a:srgbClr val="E3F1F8"/>
            </a:solidFill>
            <a:prstDash val="solid"/>
          </a:ln>
        </p:spPr>
      </p:sp>
      <p:pic>
        <p:nvPicPr>
          <p:cNvPr id="15" name="cat-ap2-2" descr="img/crocodile.png">    </p:cNvPr>
          <p:cNvPicPr>
            <a:picLocks noChangeAspect="1"/>
          </p:cNvPicPr>
          <p:nvPr/>
        </p:nvPicPr>
        <p:blipFill>
          <a:blip r:embed="rId4"/>
          <a:stretch>
            <a:fillRect/>
          </a:stretch>
        </p:blipFill>
        <p:spPr>
          <a:xfrm>
            <a:off x="7150608" y="1280160"/>
            <a:ext cx="1371600" cy="1371600"/>
          </a:xfrm>
          <a:prstGeom prst="rect">
            <a:avLst/>
          </a:prstGeom>
        </p:spPr>
      </p:pic>
      <p:sp>
        <p:nvSpPr>
          <p:cNvPr id="16" name="cat-at2-2"/>
          <p:cNvSpPr txBox="1"/>
          <p:nvPr/>
        </p:nvSpPr>
        <p:spPr>
          <a:xfrm>
            <a:off x="7004304" y="2743200"/>
            <a:ext cx="1664208" cy="640080"/>
          </a:xfrm>
          <a:prstGeom prst="rect">
            <a:avLst/>
          </a:prstGeom>
          <a:noFill/>
          <a:ln/>
        </p:spPr>
        <p:txBody>
          <a:bodyPr wrap="square" lIns="0" tIns="0" rIns="0" bIns="0" rtlCol="0" anchor="ctr"/>
          <a:lstStyle/>
          <a:p>
            <a:pPr algn="ctr" indent="0" marL="0">
              <a:buNone/>
            </a:pPr>
            <a:r>
              <a:rPr lang="en-US" sz="2400" b="1" dirty="0">
                <a:solidFill>
                  <a:schemeClr val="tx2"/>
                </a:solidFill>
              </a:rPr>
              <a:t>crocodile</a:t>
            </a:r>
            <a:endParaRPr lang="en-US" sz="2400" dirty="0"/>
          </a:p>
        </p:txBody>
      </p:sp>
      <p:sp>
        <p:nvSpPr>
          <p:cNvPr id="17" name="cat-frame2"/>
          <p:cNvSpPr/>
          <p:nvPr/>
        </p:nvSpPr>
        <p:spPr>
          <a:xfrm>
            <a:off x="3383280" y="3657600"/>
            <a:ext cx="5285232" cy="868680"/>
          </a:xfrm>
          <a:prstGeom prst="roundRect">
            <a:avLst>
              <a:gd name="adj" fmla="val 21053"/>
            </a:avLst>
          </a:prstGeom>
          <a:solidFill>
            <a:srgbClr val="FFF4C2"/>
          </a:solidFill>
          <a:ln w="12700">
            <a:solidFill>
              <a:srgbClr val="FFF4C2"/>
            </a:solidFill>
            <a:prstDash val="solid"/>
          </a:ln>
        </p:spPr>
      </p:sp>
      <p:sp>
        <p:nvSpPr>
          <p:cNvPr id="18" name="cat-ft2"/>
          <p:cNvSpPr txBox="1"/>
          <p:nvPr/>
        </p:nvSpPr>
        <p:spPr>
          <a:xfrm>
            <a:off x="3566160" y="3657600"/>
            <a:ext cx="4937760" cy="868680"/>
          </a:xfrm>
          <a:prstGeom prst="rect">
            <a:avLst/>
          </a:prstGeom>
          <a:noFill/>
          <a:ln/>
        </p:spPr>
        <p:txBody>
          <a:bodyPr wrap="square" lIns="0" tIns="0" rIns="0" bIns="0" rtlCol="0" anchor="ctr"/>
          <a:lstStyle/>
          <a:p>
            <a:pPr indent="0" marL="0">
              <a:buNone/>
            </a:pPr>
            <a:r>
              <a:rPr lang="en-US" sz="3000" b="1" dirty="0">
                <a:solidFill>
                  <a:schemeClr val="tx2"/>
                </a:solidFill>
              </a:rPr>
              <a:t>The fish has scales.</a:t>
            </a:r>
            <a:endParaRPr lang="en-US" sz="3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Let's sort!</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Model with one animal only. "Lion... fur, feathers or scales?" Feel the swatch, decide, stick. Say "The lion has fur."</a:t>
            </a:r>
            <a:endParaRPr lang="en-US" sz="1200" dirty="0"/>
          </a:p>
        </p:txBody>
      </p:sp>
      <p:sp>
        <p:nvSpPr>
          <p:cNvPr id="5" name="mat-col0"/>
          <p:cNvSpPr/>
          <p:nvPr/>
        </p:nvSpPr>
        <p:spPr>
          <a:xfrm>
            <a:off x="457200" y="1188720"/>
            <a:ext cx="2670048" cy="2103120"/>
          </a:xfrm>
          <a:prstGeom prst="roundRect">
            <a:avLst>
              <a:gd name="adj" fmla="val 5217"/>
            </a:avLst>
          </a:prstGeom>
          <a:solidFill>
            <a:srgbClr val="F6E3CF"/>
          </a:solidFill>
          <a:ln w="12700">
            <a:solidFill>
              <a:srgbClr val="F6E3CF"/>
            </a:solidFill>
            <a:prstDash val="solid"/>
          </a:ln>
        </p:spPr>
      </p:sp>
      <p:pic>
        <p:nvPicPr>
          <p:cNvPr id="6" name="mat-tex0" descr="img/tex_fur.png">    </p:cNvPr>
          <p:cNvPicPr>
            <a:picLocks noChangeAspect="1"/>
          </p:cNvPicPr>
          <p:nvPr/>
        </p:nvPicPr>
        <p:blipFill>
          <a:blip r:embed="rId1"/>
          <a:stretch>
            <a:fillRect/>
          </a:stretch>
        </p:blipFill>
        <p:spPr>
          <a:xfrm>
            <a:off x="566928" y="1280160"/>
            <a:ext cx="502920" cy="502920"/>
          </a:xfrm>
          <a:prstGeom prst="rect">
            <a:avLst/>
          </a:prstGeom>
        </p:spPr>
      </p:pic>
      <p:sp>
        <p:nvSpPr>
          <p:cNvPr id="7" name="mat-lab0"/>
          <p:cNvSpPr txBox="1"/>
          <p:nvPr/>
        </p:nvSpPr>
        <p:spPr>
          <a:xfrm>
            <a:off x="1115568" y="1280160"/>
            <a:ext cx="1920240" cy="502920"/>
          </a:xfrm>
          <a:prstGeom prst="rect">
            <a:avLst/>
          </a:prstGeom>
          <a:noFill/>
          <a:ln/>
        </p:spPr>
        <p:txBody>
          <a:bodyPr wrap="square" lIns="0" tIns="0" rIns="0" bIns="0" rtlCol="0" anchor="ctr"/>
          <a:lstStyle/>
          <a:p>
            <a:pPr indent="0" marL="0">
              <a:buNone/>
            </a:pPr>
            <a:r>
              <a:rPr lang="en-US" sz="2000" b="1" dirty="0">
                <a:solidFill>
                  <a:schemeClr val="tx2"/>
                </a:solidFill>
              </a:rPr>
              <a:t>fur</a:t>
            </a:r>
            <a:endParaRPr lang="en-US" sz="2000" dirty="0"/>
          </a:p>
        </p:txBody>
      </p:sp>
      <p:pic>
        <p:nvPicPr>
          <p:cNvPr id="8" name="mat-fur-lion" descr="img/lion.png">    </p:cNvPr>
          <p:cNvPicPr>
            <a:picLocks noChangeAspect="1"/>
          </p:cNvPicPr>
          <p:nvPr/>
        </p:nvPicPr>
        <p:blipFill>
          <a:blip r:embed="rId2"/>
          <a:stretch>
            <a:fillRect/>
          </a:stretch>
        </p:blipFill>
        <p:spPr>
          <a:xfrm>
            <a:off x="594360" y="1920240"/>
            <a:ext cx="1188720" cy="1188720"/>
          </a:xfrm>
          <a:prstGeom prst="rect">
            <a:avLst/>
          </a:prstGeom>
        </p:spPr>
      </p:pic>
      <p:sp>
        <p:nvSpPr>
          <p:cNvPr id="9" name="mat-col1"/>
          <p:cNvSpPr/>
          <p:nvPr/>
        </p:nvSpPr>
        <p:spPr>
          <a:xfrm>
            <a:off x="3200400" y="1188720"/>
            <a:ext cx="2670048" cy="2103120"/>
          </a:xfrm>
          <a:prstGeom prst="roundRect">
            <a:avLst>
              <a:gd name="adj" fmla="val 5217"/>
            </a:avLst>
          </a:prstGeom>
          <a:solidFill>
            <a:srgbClr val="DCEEF8"/>
          </a:solidFill>
          <a:ln w="12700">
            <a:solidFill>
              <a:srgbClr val="DCEEF8"/>
            </a:solidFill>
            <a:prstDash val="solid"/>
          </a:ln>
        </p:spPr>
      </p:sp>
      <p:pic>
        <p:nvPicPr>
          <p:cNvPr id="10" name="mat-tex1" descr="img/tex_feathers.png">    </p:cNvPr>
          <p:cNvPicPr>
            <a:picLocks noChangeAspect="1"/>
          </p:cNvPicPr>
          <p:nvPr/>
        </p:nvPicPr>
        <p:blipFill>
          <a:blip r:embed="rId3"/>
          <a:stretch>
            <a:fillRect/>
          </a:stretch>
        </p:blipFill>
        <p:spPr>
          <a:xfrm>
            <a:off x="3310128" y="1280160"/>
            <a:ext cx="502920" cy="502920"/>
          </a:xfrm>
          <a:prstGeom prst="rect">
            <a:avLst/>
          </a:prstGeom>
        </p:spPr>
      </p:pic>
      <p:sp>
        <p:nvSpPr>
          <p:cNvPr id="11" name="mat-lab1"/>
          <p:cNvSpPr txBox="1"/>
          <p:nvPr/>
        </p:nvSpPr>
        <p:spPr>
          <a:xfrm>
            <a:off x="3858768" y="1280160"/>
            <a:ext cx="1920240" cy="502920"/>
          </a:xfrm>
          <a:prstGeom prst="rect">
            <a:avLst/>
          </a:prstGeom>
          <a:noFill/>
          <a:ln/>
        </p:spPr>
        <p:txBody>
          <a:bodyPr wrap="square" lIns="0" tIns="0" rIns="0" bIns="0" rtlCol="0" anchor="ctr"/>
          <a:lstStyle/>
          <a:p>
            <a:pPr indent="0" marL="0">
              <a:buNone/>
            </a:pPr>
            <a:r>
              <a:rPr lang="en-US" sz="2000" b="1" dirty="0">
                <a:solidFill>
                  <a:schemeClr val="tx2"/>
                </a:solidFill>
              </a:rPr>
              <a:t>feathers</a:t>
            </a:r>
            <a:endParaRPr lang="en-US" sz="2000" dirty="0"/>
          </a:p>
        </p:txBody>
      </p:sp>
      <p:sp>
        <p:nvSpPr>
          <p:cNvPr id="12" name="mat-col2"/>
          <p:cNvSpPr/>
          <p:nvPr/>
        </p:nvSpPr>
        <p:spPr>
          <a:xfrm>
            <a:off x="5943600" y="1188720"/>
            <a:ext cx="2670048" cy="2103120"/>
          </a:xfrm>
          <a:prstGeom prst="roundRect">
            <a:avLst>
              <a:gd name="adj" fmla="val 5217"/>
            </a:avLst>
          </a:prstGeom>
          <a:solidFill>
            <a:srgbClr val="DDEFE0"/>
          </a:solidFill>
          <a:ln w="12700">
            <a:solidFill>
              <a:srgbClr val="DDEFE0"/>
            </a:solidFill>
            <a:prstDash val="solid"/>
          </a:ln>
        </p:spPr>
      </p:sp>
      <p:pic>
        <p:nvPicPr>
          <p:cNvPr id="13" name="mat-tex2" descr="img/tex_scales.png">    </p:cNvPr>
          <p:cNvPicPr>
            <a:picLocks noChangeAspect="1"/>
          </p:cNvPicPr>
          <p:nvPr/>
        </p:nvPicPr>
        <p:blipFill>
          <a:blip r:embed="rId4"/>
          <a:stretch>
            <a:fillRect/>
          </a:stretch>
        </p:blipFill>
        <p:spPr>
          <a:xfrm>
            <a:off x="6053328" y="1280160"/>
            <a:ext cx="502920" cy="502920"/>
          </a:xfrm>
          <a:prstGeom prst="rect">
            <a:avLst/>
          </a:prstGeom>
        </p:spPr>
      </p:pic>
      <p:sp>
        <p:nvSpPr>
          <p:cNvPr id="14" name="mat-lab2"/>
          <p:cNvSpPr txBox="1"/>
          <p:nvPr/>
        </p:nvSpPr>
        <p:spPr>
          <a:xfrm>
            <a:off x="6601968" y="1280160"/>
            <a:ext cx="1920240" cy="502920"/>
          </a:xfrm>
          <a:prstGeom prst="rect">
            <a:avLst/>
          </a:prstGeom>
          <a:noFill/>
          <a:ln/>
        </p:spPr>
        <p:txBody>
          <a:bodyPr wrap="square" lIns="0" tIns="0" rIns="0" bIns="0" rtlCol="0" anchor="ctr"/>
          <a:lstStyle/>
          <a:p>
            <a:pPr indent="0" marL="0">
              <a:buNone/>
            </a:pPr>
            <a:r>
              <a:rPr lang="en-US" sz="2000" b="1" dirty="0">
                <a:solidFill>
                  <a:schemeClr val="tx2"/>
                </a:solidFill>
              </a:rPr>
              <a:t>scales</a:t>
            </a:r>
            <a:endParaRPr lang="en-US" sz="2000" dirty="0"/>
          </a:p>
        </p:txBody>
      </p:sp>
      <p:sp>
        <p:nvSpPr>
          <p:cNvPr id="15" name="ms-f"/>
          <p:cNvSpPr/>
          <p:nvPr/>
        </p:nvSpPr>
        <p:spPr>
          <a:xfrm>
            <a:off x="457200" y="3474720"/>
            <a:ext cx="5669280" cy="1097280"/>
          </a:xfrm>
          <a:prstGeom prst="roundRect">
            <a:avLst>
              <a:gd name="adj" fmla="val 16667"/>
            </a:avLst>
          </a:prstGeom>
          <a:solidFill>
            <a:srgbClr val="E3F1F8"/>
          </a:solidFill>
          <a:ln w="12700">
            <a:solidFill>
              <a:srgbClr val="E3F1F8"/>
            </a:solidFill>
            <a:prstDash val="solid"/>
          </a:ln>
        </p:spPr>
      </p:sp>
      <p:sp>
        <p:nvSpPr>
          <p:cNvPr id="16" name="ms-ft"/>
          <p:cNvSpPr txBox="1"/>
          <p:nvPr/>
        </p:nvSpPr>
        <p:spPr>
          <a:xfrm>
            <a:off x="640080" y="3474720"/>
            <a:ext cx="5303520" cy="1097280"/>
          </a:xfrm>
          <a:prstGeom prst="rect">
            <a:avLst/>
          </a:prstGeom>
          <a:noFill/>
          <a:ln/>
        </p:spPr>
        <p:txBody>
          <a:bodyPr wrap="square" lIns="0" tIns="0" rIns="0" bIns="0" rtlCol="0" anchor="ctr"/>
          <a:lstStyle/>
          <a:p>
            <a:pPr algn="ctr" indent="0" marL="0">
              <a:buNone/>
            </a:pPr>
            <a:r>
              <a:rPr lang="en-US" sz="3600" b="1" dirty="0">
                <a:solidFill>
                  <a:schemeClr val="tx2"/>
                </a:solidFill>
              </a:rPr>
              <a:t>The lion has fur.</a:t>
            </a:r>
            <a:endParaRPr lang="en-US" sz="3600" dirty="0"/>
          </a:p>
        </p:txBody>
      </p:sp>
      <p:sp>
        <p:nvSpPr>
          <p:cNvPr id="17" name="ms-q"/>
          <p:cNvSpPr/>
          <p:nvPr/>
        </p:nvSpPr>
        <p:spPr>
          <a:xfrm>
            <a:off x="6309360" y="3474720"/>
            <a:ext cx="2377440" cy="1097280"/>
          </a:xfrm>
          <a:prstGeom prst="roundRect">
            <a:avLst>
              <a:gd name="adj" fmla="val 16667"/>
            </a:avLst>
          </a:prstGeom>
          <a:solidFill>
            <a:srgbClr val="FFF4C2"/>
          </a:solidFill>
          <a:ln w="12700">
            <a:solidFill>
              <a:srgbClr val="FFF4C2"/>
            </a:solidFill>
            <a:prstDash val="solid"/>
          </a:ln>
        </p:spPr>
      </p:sp>
      <p:pic>
        <p:nvPicPr>
          <p:cNvPr id="18" name="ms-duck" descr="img/duck.png">    </p:cNvPr>
          <p:cNvPicPr>
            <a:picLocks noChangeAspect="1"/>
          </p:cNvPicPr>
          <p:nvPr/>
        </p:nvPicPr>
        <p:blipFill>
          <a:blip r:embed="rId5"/>
          <a:stretch>
            <a:fillRect/>
          </a:stretch>
        </p:blipFill>
        <p:spPr>
          <a:xfrm>
            <a:off x="6446520" y="3566160"/>
            <a:ext cx="914400" cy="914400"/>
          </a:xfrm>
          <a:prstGeom prst="rect">
            <a:avLst/>
          </a:prstGeom>
        </p:spPr>
      </p:pic>
      <p:pic>
        <p:nvPicPr>
          <p:cNvPr id="19" name="ms-q2" descr="img/question.png">    </p:cNvPr>
          <p:cNvPicPr>
            <a:picLocks noChangeAspect="1"/>
          </p:cNvPicPr>
          <p:nvPr/>
        </p:nvPicPr>
        <p:blipFill>
          <a:blip r:embed="rId6"/>
          <a:stretch>
            <a:fillRect/>
          </a:stretch>
        </p:blipFill>
        <p:spPr>
          <a:xfrm>
            <a:off x="7589520" y="3703320"/>
            <a:ext cx="640080" cy="6400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Team time: look, feel, talk, stick</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Show the four steps with actions. Then send groups to their trays. Start a 7-minute timer on your phone. Click to the next slide and leave it up.</a:t>
            </a:r>
            <a:endParaRPr lang="en-US" sz="1200" dirty="0"/>
          </a:p>
        </p:txBody>
      </p:sp>
      <p:sp>
        <p:nvSpPr>
          <p:cNvPr id="5" name="tt-t0"/>
          <p:cNvSpPr/>
          <p:nvPr/>
        </p:nvSpPr>
        <p:spPr>
          <a:xfrm>
            <a:off x="457200" y="1234440"/>
            <a:ext cx="1938528" cy="2743200"/>
          </a:xfrm>
          <a:prstGeom prst="roundRect">
            <a:avLst>
              <a:gd name="adj" fmla="val 9434"/>
            </a:avLst>
          </a:prstGeom>
          <a:solidFill>
            <a:srgbClr val="E3F1F8"/>
          </a:solidFill>
          <a:ln w="12700">
            <a:solidFill>
              <a:srgbClr val="E3F1F8"/>
            </a:solidFill>
            <a:prstDash val="solid"/>
          </a:ln>
        </p:spPr>
      </p:sp>
      <p:pic>
        <p:nvPicPr>
          <p:cNvPr id="6" name="tt-i0" descr="img/eyes.png">    </p:cNvPr>
          <p:cNvPicPr>
            <a:picLocks noChangeAspect="1"/>
          </p:cNvPicPr>
          <p:nvPr/>
        </p:nvPicPr>
        <p:blipFill>
          <a:blip r:embed="rId1"/>
          <a:stretch>
            <a:fillRect/>
          </a:stretch>
        </p:blipFill>
        <p:spPr>
          <a:xfrm>
            <a:off x="877824" y="1371600"/>
            <a:ext cx="1097280" cy="1097280"/>
          </a:xfrm>
          <a:prstGeom prst="rect">
            <a:avLst/>
          </a:prstGeom>
        </p:spPr>
      </p:pic>
      <p:sp>
        <p:nvSpPr>
          <p:cNvPr id="7" name="tt-x0"/>
          <p:cNvSpPr txBox="1"/>
          <p:nvPr/>
        </p:nvSpPr>
        <p:spPr>
          <a:xfrm>
            <a:off x="548640" y="2560320"/>
            <a:ext cx="1755648" cy="1325880"/>
          </a:xfrm>
          <a:prstGeom prst="rect">
            <a:avLst/>
          </a:prstGeom>
          <a:noFill/>
          <a:ln/>
        </p:spPr>
        <p:txBody>
          <a:bodyPr wrap="square" lIns="0" tIns="0" rIns="0" bIns="0" rtlCol="0" anchor="t"/>
          <a:lstStyle/>
          <a:p>
            <a:pPr algn="ctr" indent="0" marL="0">
              <a:buNone/>
            </a:pPr>
            <a:r>
              <a:rPr lang="en-US" sz="2600" b="1" dirty="0">
                <a:solidFill>
                  <a:schemeClr val="tx2"/>
                </a:solidFill>
              </a:rPr>
              <a:t>1. Look</a:t>
            </a:r>
            <a:endParaRPr lang="en-US" sz="2600" dirty="0"/>
          </a:p>
          <a:p>
            <a:pPr algn="ctr" indent="0" marL="0">
              <a:buNone/>
            </a:pPr>
            <a:r>
              <a:rPr lang="en-US" sz="1500" dirty="0">
                <a:solidFill>
                  <a:schemeClr val="accent5"/>
                </a:solidFill>
              </a:rPr>
              <a:t>at the animal</a:t>
            </a:r>
            <a:endParaRPr lang="en-US" sz="2600" dirty="0"/>
          </a:p>
        </p:txBody>
      </p:sp>
      <p:sp>
        <p:nvSpPr>
          <p:cNvPr id="8" name="tt-t1"/>
          <p:cNvSpPr/>
          <p:nvPr/>
        </p:nvSpPr>
        <p:spPr>
          <a:xfrm>
            <a:off x="2542032" y="1234440"/>
            <a:ext cx="1938528" cy="2743200"/>
          </a:xfrm>
          <a:prstGeom prst="roundRect">
            <a:avLst>
              <a:gd name="adj" fmla="val 9434"/>
            </a:avLst>
          </a:prstGeom>
          <a:solidFill>
            <a:srgbClr val="E3F1F8"/>
          </a:solidFill>
          <a:ln w="12700">
            <a:solidFill>
              <a:srgbClr val="E3F1F8"/>
            </a:solidFill>
            <a:prstDash val="solid"/>
          </a:ln>
        </p:spPr>
      </p:sp>
      <p:pic>
        <p:nvPicPr>
          <p:cNvPr id="9" name="tt-i1" descr="img/hand.png">    </p:cNvPr>
          <p:cNvPicPr>
            <a:picLocks noChangeAspect="1"/>
          </p:cNvPicPr>
          <p:nvPr/>
        </p:nvPicPr>
        <p:blipFill>
          <a:blip r:embed="rId2"/>
          <a:stretch>
            <a:fillRect/>
          </a:stretch>
        </p:blipFill>
        <p:spPr>
          <a:xfrm>
            <a:off x="2962656" y="1371600"/>
            <a:ext cx="1097280" cy="1097280"/>
          </a:xfrm>
          <a:prstGeom prst="rect">
            <a:avLst/>
          </a:prstGeom>
        </p:spPr>
      </p:pic>
      <p:sp>
        <p:nvSpPr>
          <p:cNvPr id="10" name="tt-x1"/>
          <p:cNvSpPr txBox="1"/>
          <p:nvPr/>
        </p:nvSpPr>
        <p:spPr>
          <a:xfrm>
            <a:off x="2633472" y="2560320"/>
            <a:ext cx="1755648" cy="1325880"/>
          </a:xfrm>
          <a:prstGeom prst="rect">
            <a:avLst/>
          </a:prstGeom>
          <a:noFill/>
          <a:ln/>
        </p:spPr>
        <p:txBody>
          <a:bodyPr wrap="square" lIns="0" tIns="0" rIns="0" bIns="0" rtlCol="0" anchor="t"/>
          <a:lstStyle/>
          <a:p>
            <a:pPr algn="ctr" indent="0" marL="0">
              <a:buNone/>
            </a:pPr>
            <a:r>
              <a:rPr lang="en-US" sz="2600" b="1" dirty="0">
                <a:solidFill>
                  <a:schemeClr val="tx2"/>
                </a:solidFill>
              </a:rPr>
              <a:t>2. Feel</a:t>
            </a:r>
            <a:endParaRPr lang="en-US" sz="2600" dirty="0"/>
          </a:p>
          <a:p>
            <a:pPr algn="ctr" indent="0" marL="0">
              <a:buNone/>
            </a:pPr>
            <a:r>
              <a:rPr lang="en-US" sz="1500" dirty="0">
                <a:solidFill>
                  <a:schemeClr val="accent5"/>
                </a:solidFill>
              </a:rPr>
              <a:t>the swatches</a:t>
            </a:r>
            <a:endParaRPr lang="en-US" sz="2600" dirty="0"/>
          </a:p>
        </p:txBody>
      </p:sp>
      <p:sp>
        <p:nvSpPr>
          <p:cNvPr id="11" name="tt-t2"/>
          <p:cNvSpPr/>
          <p:nvPr/>
        </p:nvSpPr>
        <p:spPr>
          <a:xfrm>
            <a:off x="4626864" y="1234440"/>
            <a:ext cx="1938528" cy="2743200"/>
          </a:xfrm>
          <a:prstGeom prst="roundRect">
            <a:avLst>
              <a:gd name="adj" fmla="val 9434"/>
            </a:avLst>
          </a:prstGeom>
          <a:solidFill>
            <a:srgbClr val="FFF4C2"/>
          </a:solidFill>
          <a:ln w="12700">
            <a:solidFill>
              <a:srgbClr val="FFF4C2"/>
            </a:solidFill>
            <a:prstDash val="solid"/>
          </a:ln>
        </p:spPr>
      </p:sp>
      <p:pic>
        <p:nvPicPr>
          <p:cNvPr id="12" name="tt-i2" descr="img/talk.png">    </p:cNvPr>
          <p:cNvPicPr>
            <a:picLocks noChangeAspect="1"/>
          </p:cNvPicPr>
          <p:nvPr/>
        </p:nvPicPr>
        <p:blipFill>
          <a:blip r:embed="rId3"/>
          <a:stretch>
            <a:fillRect/>
          </a:stretch>
        </p:blipFill>
        <p:spPr>
          <a:xfrm>
            <a:off x="5047488" y="1371600"/>
            <a:ext cx="1097280" cy="1097280"/>
          </a:xfrm>
          <a:prstGeom prst="rect">
            <a:avLst/>
          </a:prstGeom>
        </p:spPr>
      </p:pic>
      <p:sp>
        <p:nvSpPr>
          <p:cNvPr id="13" name="tt-x2"/>
          <p:cNvSpPr txBox="1"/>
          <p:nvPr/>
        </p:nvSpPr>
        <p:spPr>
          <a:xfrm>
            <a:off x="4718304" y="2560320"/>
            <a:ext cx="1755648" cy="1325880"/>
          </a:xfrm>
          <a:prstGeom prst="rect">
            <a:avLst/>
          </a:prstGeom>
          <a:noFill/>
          <a:ln/>
        </p:spPr>
        <p:txBody>
          <a:bodyPr wrap="square" lIns="0" tIns="0" rIns="0" bIns="0" rtlCol="0" anchor="t"/>
          <a:lstStyle/>
          <a:p>
            <a:pPr algn="ctr" indent="0" marL="0">
              <a:buNone/>
            </a:pPr>
            <a:r>
              <a:rPr lang="en-US" sz="2600" b="1" dirty="0">
                <a:solidFill>
                  <a:schemeClr val="tx2"/>
                </a:solidFill>
              </a:rPr>
              <a:t>3. Talk</a:t>
            </a:r>
            <a:endParaRPr lang="en-US" sz="2600" dirty="0"/>
          </a:p>
          <a:p>
            <a:pPr algn="ctr" indent="0" marL="0">
              <a:buNone/>
            </a:pPr>
            <a:r>
              <a:rPr lang="en-US" sz="1500" dirty="0">
                <a:solidFill>
                  <a:schemeClr val="accent5"/>
                </a:solidFill>
              </a:rPr>
              <a:t>"The duck has feathers."</a:t>
            </a:r>
            <a:endParaRPr lang="en-US" sz="2600" dirty="0"/>
          </a:p>
        </p:txBody>
      </p:sp>
      <p:sp>
        <p:nvSpPr>
          <p:cNvPr id="14" name="tt-t3"/>
          <p:cNvSpPr/>
          <p:nvPr/>
        </p:nvSpPr>
        <p:spPr>
          <a:xfrm>
            <a:off x="6711696" y="1234440"/>
            <a:ext cx="1938528" cy="2743200"/>
          </a:xfrm>
          <a:prstGeom prst="roundRect">
            <a:avLst>
              <a:gd name="adj" fmla="val 9434"/>
            </a:avLst>
          </a:prstGeom>
          <a:solidFill>
            <a:srgbClr val="E3F1F8"/>
          </a:solidFill>
          <a:ln w="12700">
            <a:solidFill>
              <a:srgbClr val="E3F1F8"/>
            </a:solidFill>
            <a:prstDash val="solid"/>
          </a:ln>
        </p:spPr>
      </p:sp>
      <p:pic>
        <p:nvPicPr>
          <p:cNvPr id="15" name="tt-i3" descr="img/glue.png">    </p:cNvPr>
          <p:cNvPicPr>
            <a:picLocks noChangeAspect="1"/>
          </p:cNvPicPr>
          <p:nvPr/>
        </p:nvPicPr>
        <p:blipFill>
          <a:blip r:embed="rId4"/>
          <a:stretch>
            <a:fillRect/>
          </a:stretch>
        </p:blipFill>
        <p:spPr>
          <a:xfrm>
            <a:off x="7132320" y="1371600"/>
            <a:ext cx="1097280" cy="1097280"/>
          </a:xfrm>
          <a:prstGeom prst="rect">
            <a:avLst/>
          </a:prstGeom>
        </p:spPr>
      </p:pic>
      <p:sp>
        <p:nvSpPr>
          <p:cNvPr id="16" name="tt-x3"/>
          <p:cNvSpPr txBox="1"/>
          <p:nvPr/>
        </p:nvSpPr>
        <p:spPr>
          <a:xfrm>
            <a:off x="6803136" y="2560320"/>
            <a:ext cx="1755648" cy="1325880"/>
          </a:xfrm>
          <a:prstGeom prst="rect">
            <a:avLst/>
          </a:prstGeom>
          <a:noFill/>
          <a:ln/>
        </p:spPr>
        <p:txBody>
          <a:bodyPr wrap="square" lIns="0" tIns="0" rIns="0" bIns="0" rtlCol="0" anchor="t"/>
          <a:lstStyle/>
          <a:p>
            <a:pPr algn="ctr" indent="0" marL="0">
              <a:buNone/>
            </a:pPr>
            <a:r>
              <a:rPr lang="en-US" sz="2600" b="1" dirty="0">
                <a:solidFill>
                  <a:schemeClr val="tx2"/>
                </a:solidFill>
              </a:rPr>
              <a:t>4. Stick</a:t>
            </a:r>
            <a:endParaRPr lang="en-US" sz="2600" dirty="0"/>
          </a:p>
          <a:p>
            <a:pPr algn="ctr" indent="0" marL="0">
              <a:buNone/>
            </a:pPr>
            <a:r>
              <a:rPr lang="en-US" sz="1500" dirty="0">
                <a:solidFill>
                  <a:schemeClr val="accent5"/>
                </a:solidFill>
              </a:rPr>
              <a:t>it on the mat</a:t>
            </a:r>
            <a:endParaRPr lang="en-US" sz="2600" dirty="0"/>
          </a:p>
        </p:txBody>
      </p:sp>
      <p:pic>
        <p:nvPicPr>
          <p:cNvPr id="17" name="tt-timer" descr="img/timer.png">    </p:cNvPr>
          <p:cNvPicPr>
            <a:picLocks noChangeAspect="1"/>
          </p:cNvPicPr>
          <p:nvPr/>
        </p:nvPicPr>
        <p:blipFill>
          <a:blip r:embed="rId5"/>
          <a:stretch>
            <a:fillRect/>
          </a:stretch>
        </p:blipFill>
        <p:spPr>
          <a:xfrm>
            <a:off x="548640" y="4069080"/>
            <a:ext cx="548640" cy="548640"/>
          </a:xfrm>
          <a:prstGeom prst="rect">
            <a:avLst/>
          </a:prstGeom>
        </p:spPr>
      </p:pic>
      <p:sp>
        <p:nvSpPr>
          <p:cNvPr id="18" name="tt-line"/>
          <p:cNvSpPr txBox="1"/>
          <p:nvPr/>
        </p:nvSpPr>
        <p:spPr>
          <a:xfrm>
            <a:off x="1188720" y="4069080"/>
            <a:ext cx="7498080" cy="548640"/>
          </a:xfrm>
          <a:prstGeom prst="rect">
            <a:avLst/>
          </a:prstGeom>
          <a:noFill/>
          <a:ln/>
        </p:spPr>
        <p:txBody>
          <a:bodyPr wrap="square" lIns="0" tIns="0" rIns="0" bIns="0" rtlCol="0" anchor="ctr"/>
          <a:lstStyle/>
          <a:p>
            <a:pPr indent="0" marL="0">
              <a:buNone/>
            </a:pPr>
            <a:r>
              <a:rPr lang="en-US" sz="2200" b="1" dirty="0">
                <a:solidFill>
                  <a:schemeClr val="tx2"/>
                </a:solidFill>
              </a:rPr>
              <a:t>7 minutes. Everyone sticks, everyone talks.</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Your turn: fur, feathers or scales?</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Leave this up during team time. Circulate: "Why?" "How does it feel?" Give a 1-minute warning, then "Hands on heads, eyes on me."</a:t>
            </a:r>
            <a:endParaRPr lang="en-US" sz="1200" dirty="0"/>
          </a:p>
        </p:txBody>
      </p:sp>
      <p:pic>
        <p:nvPicPr>
          <p:cNvPr id="5" name="work-cat" descr="img/cat.png">    </p:cNvPr>
          <p:cNvPicPr>
            <a:picLocks noChangeAspect="1"/>
          </p:cNvPicPr>
          <p:nvPr/>
        </p:nvPicPr>
        <p:blipFill>
          <a:blip r:embed="rId1"/>
          <a:stretch>
            <a:fillRect/>
          </a:stretch>
        </p:blipFill>
        <p:spPr>
          <a:xfrm>
            <a:off x="502920" y="1143000"/>
            <a:ext cx="777240" cy="777240"/>
          </a:xfrm>
          <a:prstGeom prst="rect">
            <a:avLst/>
          </a:prstGeom>
        </p:spPr>
      </p:pic>
      <p:pic>
        <p:nvPicPr>
          <p:cNvPr id="6" name="work-rabbit" descr="img/rabbit.png">    </p:cNvPr>
          <p:cNvPicPr>
            <a:picLocks noChangeAspect="1"/>
          </p:cNvPicPr>
          <p:nvPr/>
        </p:nvPicPr>
        <p:blipFill>
          <a:blip r:embed="rId2"/>
          <a:stretch>
            <a:fillRect/>
          </a:stretch>
        </p:blipFill>
        <p:spPr>
          <a:xfrm>
            <a:off x="1417320" y="1143000"/>
            <a:ext cx="777240" cy="777240"/>
          </a:xfrm>
          <a:prstGeom prst="rect">
            <a:avLst/>
          </a:prstGeom>
        </p:spPr>
      </p:pic>
      <p:pic>
        <p:nvPicPr>
          <p:cNvPr id="7" name="work-lion" descr="img/lion.png">    </p:cNvPr>
          <p:cNvPicPr>
            <a:picLocks noChangeAspect="1"/>
          </p:cNvPicPr>
          <p:nvPr/>
        </p:nvPicPr>
        <p:blipFill>
          <a:blip r:embed="rId3"/>
          <a:stretch>
            <a:fillRect/>
          </a:stretch>
        </p:blipFill>
        <p:spPr>
          <a:xfrm>
            <a:off x="2331720" y="1143000"/>
            <a:ext cx="777240" cy="777240"/>
          </a:xfrm>
          <a:prstGeom prst="rect">
            <a:avLst/>
          </a:prstGeom>
        </p:spPr>
      </p:pic>
      <p:pic>
        <p:nvPicPr>
          <p:cNvPr id="8" name="work-duck" descr="img/duck.png">    </p:cNvPr>
          <p:cNvPicPr>
            <a:picLocks noChangeAspect="1"/>
          </p:cNvPicPr>
          <p:nvPr/>
        </p:nvPicPr>
        <p:blipFill>
          <a:blip r:embed="rId4"/>
          <a:stretch>
            <a:fillRect/>
          </a:stretch>
        </p:blipFill>
        <p:spPr>
          <a:xfrm>
            <a:off x="3246120" y="1143000"/>
            <a:ext cx="777240" cy="777240"/>
          </a:xfrm>
          <a:prstGeom prst="rect">
            <a:avLst/>
          </a:prstGeom>
        </p:spPr>
      </p:pic>
      <p:pic>
        <p:nvPicPr>
          <p:cNvPr id="9" name="work-owl" descr="img/owl.png">    </p:cNvPr>
          <p:cNvPicPr>
            <a:picLocks noChangeAspect="1"/>
          </p:cNvPicPr>
          <p:nvPr/>
        </p:nvPicPr>
        <p:blipFill>
          <a:blip r:embed="rId5"/>
          <a:stretch>
            <a:fillRect/>
          </a:stretch>
        </p:blipFill>
        <p:spPr>
          <a:xfrm>
            <a:off x="4160520" y="1143000"/>
            <a:ext cx="777240" cy="777240"/>
          </a:xfrm>
          <a:prstGeom prst="rect">
            <a:avLst/>
          </a:prstGeom>
        </p:spPr>
      </p:pic>
      <p:pic>
        <p:nvPicPr>
          <p:cNvPr id="10" name="work-parrot" descr="img/parrot.png">    </p:cNvPr>
          <p:cNvPicPr>
            <a:picLocks noChangeAspect="1"/>
          </p:cNvPicPr>
          <p:nvPr/>
        </p:nvPicPr>
        <p:blipFill>
          <a:blip r:embed="rId6"/>
          <a:stretch>
            <a:fillRect/>
          </a:stretch>
        </p:blipFill>
        <p:spPr>
          <a:xfrm>
            <a:off x="5074920" y="1143000"/>
            <a:ext cx="777240" cy="777240"/>
          </a:xfrm>
          <a:prstGeom prst="rect">
            <a:avLst/>
          </a:prstGeom>
        </p:spPr>
      </p:pic>
      <p:pic>
        <p:nvPicPr>
          <p:cNvPr id="11" name="work-fish" descr="img/fish.png">    </p:cNvPr>
          <p:cNvPicPr>
            <a:picLocks noChangeAspect="1"/>
          </p:cNvPicPr>
          <p:nvPr/>
        </p:nvPicPr>
        <p:blipFill>
          <a:blip r:embed="rId7"/>
          <a:stretch>
            <a:fillRect/>
          </a:stretch>
        </p:blipFill>
        <p:spPr>
          <a:xfrm>
            <a:off x="5989320" y="1143000"/>
            <a:ext cx="777240" cy="777240"/>
          </a:xfrm>
          <a:prstGeom prst="rect">
            <a:avLst/>
          </a:prstGeom>
        </p:spPr>
      </p:pic>
      <p:pic>
        <p:nvPicPr>
          <p:cNvPr id="12" name="work-snake" descr="img/snake.png">    </p:cNvPr>
          <p:cNvPicPr>
            <a:picLocks noChangeAspect="1"/>
          </p:cNvPicPr>
          <p:nvPr/>
        </p:nvPicPr>
        <p:blipFill>
          <a:blip r:embed="rId8"/>
          <a:stretch>
            <a:fillRect/>
          </a:stretch>
        </p:blipFill>
        <p:spPr>
          <a:xfrm>
            <a:off x="6903720" y="1143000"/>
            <a:ext cx="777240" cy="777240"/>
          </a:xfrm>
          <a:prstGeom prst="rect">
            <a:avLst/>
          </a:prstGeom>
        </p:spPr>
      </p:pic>
      <p:pic>
        <p:nvPicPr>
          <p:cNvPr id="13" name="work-crocodile" descr="img/crocodile.png">    </p:cNvPr>
          <p:cNvPicPr>
            <a:picLocks noChangeAspect="1"/>
          </p:cNvPicPr>
          <p:nvPr/>
        </p:nvPicPr>
        <p:blipFill>
          <a:blip r:embed="rId9"/>
          <a:stretch>
            <a:fillRect/>
          </a:stretch>
        </p:blipFill>
        <p:spPr>
          <a:xfrm>
            <a:off x="7818120" y="1143000"/>
            <a:ext cx="777240" cy="777240"/>
          </a:xfrm>
          <a:prstGeom prst="rect">
            <a:avLst/>
          </a:prstGeom>
        </p:spPr>
      </p:pic>
      <p:sp>
        <p:nvSpPr>
          <p:cNvPr id="14" name="mat-col0"/>
          <p:cNvSpPr/>
          <p:nvPr/>
        </p:nvSpPr>
        <p:spPr>
          <a:xfrm>
            <a:off x="457200" y="2057400"/>
            <a:ext cx="2670048" cy="1417320"/>
          </a:xfrm>
          <a:prstGeom prst="roundRect">
            <a:avLst>
              <a:gd name="adj" fmla="val 7742"/>
            </a:avLst>
          </a:prstGeom>
          <a:solidFill>
            <a:srgbClr val="F6E3CF"/>
          </a:solidFill>
          <a:ln w="12700">
            <a:solidFill>
              <a:srgbClr val="F6E3CF"/>
            </a:solidFill>
            <a:prstDash val="solid"/>
          </a:ln>
        </p:spPr>
      </p:sp>
      <p:pic>
        <p:nvPicPr>
          <p:cNvPr id="15" name="mat-tex0" descr="img/tex_fur.png">    </p:cNvPr>
          <p:cNvPicPr>
            <a:picLocks noChangeAspect="1"/>
          </p:cNvPicPr>
          <p:nvPr/>
        </p:nvPicPr>
        <p:blipFill>
          <a:blip r:embed="rId10"/>
          <a:stretch>
            <a:fillRect/>
          </a:stretch>
        </p:blipFill>
        <p:spPr>
          <a:xfrm>
            <a:off x="566928" y="2148840"/>
            <a:ext cx="502920" cy="502920"/>
          </a:xfrm>
          <a:prstGeom prst="rect">
            <a:avLst/>
          </a:prstGeom>
        </p:spPr>
      </p:pic>
      <p:sp>
        <p:nvSpPr>
          <p:cNvPr id="16" name="mat-lab0"/>
          <p:cNvSpPr txBox="1"/>
          <p:nvPr/>
        </p:nvSpPr>
        <p:spPr>
          <a:xfrm>
            <a:off x="1115568" y="2148840"/>
            <a:ext cx="1920240" cy="502920"/>
          </a:xfrm>
          <a:prstGeom prst="rect">
            <a:avLst/>
          </a:prstGeom>
          <a:noFill/>
          <a:ln/>
        </p:spPr>
        <p:txBody>
          <a:bodyPr wrap="square" lIns="0" tIns="0" rIns="0" bIns="0" rtlCol="0" anchor="ctr"/>
          <a:lstStyle/>
          <a:p>
            <a:pPr indent="0" marL="0">
              <a:buNone/>
            </a:pPr>
            <a:r>
              <a:rPr lang="en-US" sz="1800" b="1" dirty="0">
                <a:solidFill>
                  <a:schemeClr val="tx2"/>
                </a:solidFill>
              </a:rPr>
              <a:t>fur</a:t>
            </a:r>
            <a:endParaRPr lang="en-US" sz="1800" dirty="0"/>
          </a:p>
        </p:txBody>
      </p:sp>
      <p:sp>
        <p:nvSpPr>
          <p:cNvPr id="17" name="mat-col1"/>
          <p:cNvSpPr/>
          <p:nvPr/>
        </p:nvSpPr>
        <p:spPr>
          <a:xfrm>
            <a:off x="3200400" y="2057400"/>
            <a:ext cx="2670048" cy="1417320"/>
          </a:xfrm>
          <a:prstGeom prst="roundRect">
            <a:avLst>
              <a:gd name="adj" fmla="val 7742"/>
            </a:avLst>
          </a:prstGeom>
          <a:solidFill>
            <a:srgbClr val="DCEEF8"/>
          </a:solidFill>
          <a:ln w="12700">
            <a:solidFill>
              <a:srgbClr val="DCEEF8"/>
            </a:solidFill>
            <a:prstDash val="solid"/>
          </a:ln>
        </p:spPr>
      </p:sp>
      <p:pic>
        <p:nvPicPr>
          <p:cNvPr id="18" name="mat-tex1" descr="img/tex_feathers.png">    </p:cNvPr>
          <p:cNvPicPr>
            <a:picLocks noChangeAspect="1"/>
          </p:cNvPicPr>
          <p:nvPr/>
        </p:nvPicPr>
        <p:blipFill>
          <a:blip r:embed="rId11"/>
          <a:stretch>
            <a:fillRect/>
          </a:stretch>
        </p:blipFill>
        <p:spPr>
          <a:xfrm>
            <a:off x="3310128" y="2148840"/>
            <a:ext cx="502920" cy="502920"/>
          </a:xfrm>
          <a:prstGeom prst="rect">
            <a:avLst/>
          </a:prstGeom>
        </p:spPr>
      </p:pic>
      <p:sp>
        <p:nvSpPr>
          <p:cNvPr id="19" name="mat-lab1"/>
          <p:cNvSpPr txBox="1"/>
          <p:nvPr/>
        </p:nvSpPr>
        <p:spPr>
          <a:xfrm>
            <a:off x="3858768" y="2148840"/>
            <a:ext cx="1920240" cy="502920"/>
          </a:xfrm>
          <a:prstGeom prst="rect">
            <a:avLst/>
          </a:prstGeom>
          <a:noFill/>
          <a:ln/>
        </p:spPr>
        <p:txBody>
          <a:bodyPr wrap="square" lIns="0" tIns="0" rIns="0" bIns="0" rtlCol="0" anchor="ctr"/>
          <a:lstStyle/>
          <a:p>
            <a:pPr indent="0" marL="0">
              <a:buNone/>
            </a:pPr>
            <a:r>
              <a:rPr lang="en-US" sz="1800" b="1" dirty="0">
                <a:solidFill>
                  <a:schemeClr val="tx2"/>
                </a:solidFill>
              </a:rPr>
              <a:t>feathers</a:t>
            </a:r>
            <a:endParaRPr lang="en-US" sz="1800" dirty="0"/>
          </a:p>
        </p:txBody>
      </p:sp>
      <p:sp>
        <p:nvSpPr>
          <p:cNvPr id="20" name="mat-col2"/>
          <p:cNvSpPr/>
          <p:nvPr/>
        </p:nvSpPr>
        <p:spPr>
          <a:xfrm>
            <a:off x="5943600" y="2057400"/>
            <a:ext cx="2670048" cy="1417320"/>
          </a:xfrm>
          <a:prstGeom prst="roundRect">
            <a:avLst>
              <a:gd name="adj" fmla="val 7742"/>
            </a:avLst>
          </a:prstGeom>
          <a:solidFill>
            <a:srgbClr val="DDEFE0"/>
          </a:solidFill>
          <a:ln w="12700">
            <a:solidFill>
              <a:srgbClr val="DDEFE0"/>
            </a:solidFill>
            <a:prstDash val="solid"/>
          </a:ln>
        </p:spPr>
      </p:sp>
      <p:pic>
        <p:nvPicPr>
          <p:cNvPr id="21" name="mat-tex2" descr="img/tex_scales.png">    </p:cNvPr>
          <p:cNvPicPr>
            <a:picLocks noChangeAspect="1"/>
          </p:cNvPicPr>
          <p:nvPr/>
        </p:nvPicPr>
        <p:blipFill>
          <a:blip r:embed="rId12"/>
          <a:stretch>
            <a:fillRect/>
          </a:stretch>
        </p:blipFill>
        <p:spPr>
          <a:xfrm>
            <a:off x="6053328" y="2148840"/>
            <a:ext cx="502920" cy="502920"/>
          </a:xfrm>
          <a:prstGeom prst="rect">
            <a:avLst/>
          </a:prstGeom>
        </p:spPr>
      </p:pic>
      <p:sp>
        <p:nvSpPr>
          <p:cNvPr id="22" name="mat-lab2"/>
          <p:cNvSpPr txBox="1"/>
          <p:nvPr/>
        </p:nvSpPr>
        <p:spPr>
          <a:xfrm>
            <a:off x="6601968" y="2148840"/>
            <a:ext cx="1920240" cy="502920"/>
          </a:xfrm>
          <a:prstGeom prst="rect">
            <a:avLst/>
          </a:prstGeom>
          <a:noFill/>
          <a:ln/>
        </p:spPr>
        <p:txBody>
          <a:bodyPr wrap="square" lIns="0" tIns="0" rIns="0" bIns="0" rtlCol="0" anchor="ctr"/>
          <a:lstStyle/>
          <a:p>
            <a:pPr indent="0" marL="0">
              <a:buNone/>
            </a:pPr>
            <a:r>
              <a:rPr lang="en-US" sz="1800" b="1" dirty="0">
                <a:solidFill>
                  <a:schemeClr val="tx2"/>
                </a:solidFill>
              </a:rPr>
              <a:t>scales</a:t>
            </a:r>
            <a:endParaRPr lang="en-US" sz="1800" dirty="0"/>
          </a:p>
        </p:txBody>
      </p:sp>
      <p:sp>
        <p:nvSpPr>
          <p:cNvPr id="23" name="work-f"/>
          <p:cNvSpPr/>
          <p:nvPr/>
        </p:nvSpPr>
        <p:spPr>
          <a:xfrm>
            <a:off x="457200" y="3611880"/>
            <a:ext cx="8229600" cy="960120"/>
          </a:xfrm>
          <a:prstGeom prst="roundRect">
            <a:avLst>
              <a:gd name="adj" fmla="val 19048"/>
            </a:avLst>
          </a:prstGeom>
          <a:solidFill>
            <a:srgbClr val="FFF4C2"/>
          </a:solidFill>
          <a:ln w="12700">
            <a:solidFill>
              <a:srgbClr val="FFF4C2"/>
            </a:solidFill>
            <a:prstDash val="solid"/>
          </a:ln>
        </p:spPr>
      </p:sp>
      <p:sp>
        <p:nvSpPr>
          <p:cNvPr id="24" name="work-ft"/>
          <p:cNvSpPr txBox="1"/>
          <p:nvPr/>
        </p:nvSpPr>
        <p:spPr>
          <a:xfrm>
            <a:off x="640080" y="3611880"/>
            <a:ext cx="7863840" cy="960120"/>
          </a:xfrm>
          <a:prstGeom prst="rect">
            <a:avLst/>
          </a:prstGeom>
          <a:noFill/>
          <a:ln/>
        </p:spPr>
        <p:txBody>
          <a:bodyPr wrap="square" lIns="0" tIns="0" rIns="0" bIns="0" rtlCol="0" anchor="ctr"/>
          <a:lstStyle/>
          <a:p>
            <a:pPr algn="ctr" indent="0" marL="0">
              <a:buNone/>
            </a:pPr>
            <a:r>
              <a:rPr lang="en-US" sz="3200" b="1" dirty="0">
                <a:solidFill>
                  <a:schemeClr val="tx2"/>
                </a:solidFill>
              </a:rPr>
              <a:t>The ____ has ____.   It is ____.</a:t>
            </a:r>
            <a:endParaRPr lang="en-US" sz="3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Show time!</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4 minutes. Each group holds up its mat. Every child says one sentence (Lower KG: one word + point). Parents clap after each group.</a:t>
            </a:r>
            <a:endParaRPr lang="en-US" sz="1200" dirty="0"/>
          </a:p>
        </p:txBody>
      </p:sp>
      <p:pic>
        <p:nvPicPr>
          <p:cNvPr id="5" name="show-people" descr="img/people.png">    </p:cNvPr>
          <p:cNvPicPr>
            <a:picLocks noChangeAspect="1"/>
          </p:cNvPicPr>
          <p:nvPr/>
        </p:nvPicPr>
        <p:blipFill>
          <a:blip r:embed="rId1"/>
          <a:stretch>
            <a:fillRect/>
          </a:stretch>
        </p:blipFill>
        <p:spPr>
          <a:xfrm>
            <a:off x="548640" y="1188720"/>
            <a:ext cx="2377440" cy="2377440"/>
          </a:xfrm>
          <a:prstGeom prst="rect">
            <a:avLst/>
          </a:prstGeom>
        </p:spPr>
      </p:pic>
      <p:sp>
        <p:nvSpPr>
          <p:cNvPr id="6" name="show-f1"/>
          <p:cNvSpPr/>
          <p:nvPr/>
        </p:nvSpPr>
        <p:spPr>
          <a:xfrm>
            <a:off x="3200400" y="1280160"/>
            <a:ext cx="5486400" cy="1051560"/>
          </a:xfrm>
          <a:prstGeom prst="roundRect">
            <a:avLst>
              <a:gd name="adj" fmla="val 17391"/>
            </a:avLst>
          </a:prstGeom>
          <a:solidFill>
            <a:srgbClr val="FFF4C2"/>
          </a:solidFill>
          <a:ln w="12700">
            <a:solidFill>
              <a:srgbClr val="FFF4C2"/>
            </a:solidFill>
            <a:prstDash val="solid"/>
          </a:ln>
        </p:spPr>
      </p:sp>
      <p:sp>
        <p:nvSpPr>
          <p:cNvPr id="7" name="show-t1"/>
          <p:cNvSpPr txBox="1"/>
          <p:nvPr/>
        </p:nvSpPr>
        <p:spPr>
          <a:xfrm>
            <a:off x="3383280" y="1280160"/>
            <a:ext cx="5120640" cy="1051560"/>
          </a:xfrm>
          <a:prstGeom prst="rect">
            <a:avLst/>
          </a:prstGeom>
          <a:noFill/>
          <a:ln/>
        </p:spPr>
        <p:txBody>
          <a:bodyPr wrap="square" lIns="0" tIns="0" rIns="0" bIns="0" rtlCol="0" anchor="ctr"/>
          <a:lstStyle/>
          <a:p>
            <a:pPr indent="0" marL="0">
              <a:buNone/>
            </a:pPr>
            <a:r>
              <a:rPr lang="en-US" sz="3600" b="1" dirty="0">
                <a:solidFill>
                  <a:schemeClr val="tx2"/>
                </a:solidFill>
              </a:rPr>
              <a:t>The ____ has ____.</a:t>
            </a:r>
            <a:endParaRPr lang="en-US" sz="3600" dirty="0"/>
          </a:p>
        </p:txBody>
      </p:sp>
      <p:sp>
        <p:nvSpPr>
          <p:cNvPr id="8" name="show-f2"/>
          <p:cNvSpPr/>
          <p:nvPr/>
        </p:nvSpPr>
        <p:spPr>
          <a:xfrm>
            <a:off x="3200400" y="2514600"/>
            <a:ext cx="5486400" cy="1051560"/>
          </a:xfrm>
          <a:prstGeom prst="roundRect">
            <a:avLst>
              <a:gd name="adj" fmla="val 17391"/>
            </a:avLst>
          </a:prstGeom>
          <a:solidFill>
            <a:srgbClr val="E3F1F8"/>
          </a:solidFill>
          <a:ln w="12700">
            <a:solidFill>
              <a:srgbClr val="E3F1F8"/>
            </a:solidFill>
            <a:prstDash val="solid"/>
          </a:ln>
        </p:spPr>
      </p:sp>
      <p:sp>
        <p:nvSpPr>
          <p:cNvPr id="9" name="show-t2"/>
          <p:cNvSpPr txBox="1"/>
          <p:nvPr/>
        </p:nvSpPr>
        <p:spPr>
          <a:xfrm>
            <a:off x="3383280" y="2514600"/>
            <a:ext cx="5120640" cy="1051560"/>
          </a:xfrm>
          <a:prstGeom prst="rect">
            <a:avLst/>
          </a:prstGeom>
          <a:noFill/>
          <a:ln/>
        </p:spPr>
        <p:txBody>
          <a:bodyPr wrap="square" lIns="0" tIns="0" rIns="0" bIns="0" rtlCol="0" anchor="ctr"/>
          <a:lstStyle/>
          <a:p>
            <a:pPr indent="0" marL="0">
              <a:buNone/>
            </a:pPr>
            <a:r>
              <a:rPr lang="en-US" sz="3000" b="1" dirty="0">
                <a:solidFill>
                  <a:schemeClr val="tx2"/>
                </a:solidFill>
              </a:rPr>
              <a:t>It is soft / smooth / bumpy.</a:t>
            </a:r>
            <a:endParaRPr lang="en-US" sz="3000" dirty="0"/>
          </a:p>
        </p:txBody>
      </p:sp>
      <p:pic>
        <p:nvPicPr>
          <p:cNvPr id="10" name="show-ear" descr="img/ear.png">    </p:cNvPr>
          <p:cNvPicPr>
            <a:picLocks noChangeAspect="1"/>
          </p:cNvPicPr>
          <p:nvPr/>
        </p:nvPicPr>
        <p:blipFill>
          <a:blip r:embed="rId2"/>
          <a:stretch>
            <a:fillRect/>
          </a:stretch>
        </p:blipFill>
        <p:spPr>
          <a:xfrm>
            <a:off x="548640" y="3703320"/>
            <a:ext cx="731520" cy="731520"/>
          </a:xfrm>
          <a:prstGeom prst="rect">
            <a:avLst/>
          </a:prstGeom>
        </p:spPr>
      </p:pic>
      <p:sp>
        <p:nvSpPr>
          <p:cNvPr id="11" name="show-l"/>
          <p:cNvSpPr txBox="1"/>
          <p:nvPr/>
        </p:nvSpPr>
        <p:spPr>
          <a:xfrm>
            <a:off x="1417320" y="3703320"/>
            <a:ext cx="7315200" cy="731520"/>
          </a:xfrm>
          <a:prstGeom prst="rect">
            <a:avLst/>
          </a:prstGeom>
          <a:noFill/>
          <a:ln/>
        </p:spPr>
        <p:txBody>
          <a:bodyPr wrap="square" lIns="0" tIns="0" rIns="0" bIns="0" rtlCol="0" anchor="ctr"/>
          <a:lstStyle/>
          <a:p>
            <a:pPr indent="0" marL="0">
              <a:buNone/>
            </a:pPr>
            <a:r>
              <a:rPr lang="en-US" sz="2400" b="1" dirty="0">
                <a:solidFill>
                  <a:schemeClr val="accent5"/>
                </a:solidFill>
              </a:rPr>
              <a:t>Scientists listen.</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Did we all agree?</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Compare with the groups' mats. Any disagreement is a win: ask "Why?" and feel the swatch together. Thumbs up when it matches.</a:t>
            </a:r>
            <a:endParaRPr lang="en-US" sz="1200" dirty="0"/>
          </a:p>
        </p:txBody>
      </p:sp>
      <p:sp>
        <p:nvSpPr>
          <p:cNvPr id="5" name="mat-col0"/>
          <p:cNvSpPr/>
          <p:nvPr/>
        </p:nvSpPr>
        <p:spPr>
          <a:xfrm>
            <a:off x="457200" y="1188720"/>
            <a:ext cx="2670048" cy="2377440"/>
          </a:xfrm>
          <a:prstGeom prst="roundRect">
            <a:avLst>
              <a:gd name="adj" fmla="val 4615"/>
            </a:avLst>
          </a:prstGeom>
          <a:solidFill>
            <a:srgbClr val="F6E3CF"/>
          </a:solidFill>
          <a:ln w="12700">
            <a:solidFill>
              <a:srgbClr val="F6E3CF"/>
            </a:solidFill>
            <a:prstDash val="solid"/>
          </a:ln>
        </p:spPr>
      </p:sp>
      <p:pic>
        <p:nvPicPr>
          <p:cNvPr id="6" name="mat-tex0" descr="img/tex_fur.png">    </p:cNvPr>
          <p:cNvPicPr>
            <a:picLocks noChangeAspect="1"/>
          </p:cNvPicPr>
          <p:nvPr/>
        </p:nvPicPr>
        <p:blipFill>
          <a:blip r:embed="rId1"/>
          <a:stretch>
            <a:fillRect/>
          </a:stretch>
        </p:blipFill>
        <p:spPr>
          <a:xfrm>
            <a:off x="566928" y="1280160"/>
            <a:ext cx="502920" cy="502920"/>
          </a:xfrm>
          <a:prstGeom prst="rect">
            <a:avLst/>
          </a:prstGeom>
        </p:spPr>
      </p:pic>
      <p:sp>
        <p:nvSpPr>
          <p:cNvPr id="7" name="mat-lab0"/>
          <p:cNvSpPr txBox="1"/>
          <p:nvPr/>
        </p:nvSpPr>
        <p:spPr>
          <a:xfrm>
            <a:off x="1115568" y="1280160"/>
            <a:ext cx="1920240" cy="502920"/>
          </a:xfrm>
          <a:prstGeom prst="rect">
            <a:avLst/>
          </a:prstGeom>
          <a:noFill/>
          <a:ln/>
        </p:spPr>
        <p:txBody>
          <a:bodyPr wrap="square" lIns="0" tIns="0" rIns="0" bIns="0" rtlCol="0" anchor="ctr"/>
          <a:lstStyle/>
          <a:p>
            <a:pPr indent="0" marL="0">
              <a:buNone/>
            </a:pPr>
            <a:r>
              <a:rPr lang="en-US" sz="2000" b="1" dirty="0">
                <a:solidFill>
                  <a:schemeClr val="tx2"/>
                </a:solidFill>
              </a:rPr>
              <a:t>fur</a:t>
            </a:r>
            <a:endParaRPr lang="en-US" sz="2000" dirty="0"/>
          </a:p>
        </p:txBody>
      </p:sp>
      <p:pic>
        <p:nvPicPr>
          <p:cNvPr id="8" name="mat-fur-cat" descr="img/cat.png">    </p:cNvPr>
          <p:cNvPicPr>
            <a:picLocks noChangeAspect="1"/>
          </p:cNvPicPr>
          <p:nvPr/>
        </p:nvPicPr>
        <p:blipFill>
          <a:blip r:embed="rId2"/>
          <a:stretch>
            <a:fillRect/>
          </a:stretch>
        </p:blipFill>
        <p:spPr>
          <a:xfrm>
            <a:off x="594360" y="1920240"/>
            <a:ext cx="719328" cy="719328"/>
          </a:xfrm>
          <a:prstGeom prst="rect">
            <a:avLst/>
          </a:prstGeom>
        </p:spPr>
      </p:pic>
      <p:pic>
        <p:nvPicPr>
          <p:cNvPr id="9" name="mat-fur-rabbit" descr="img/rabbit.png">    </p:cNvPr>
          <p:cNvPicPr>
            <a:picLocks noChangeAspect="1"/>
          </p:cNvPicPr>
          <p:nvPr/>
        </p:nvPicPr>
        <p:blipFill>
          <a:blip r:embed="rId3"/>
          <a:stretch>
            <a:fillRect/>
          </a:stretch>
        </p:blipFill>
        <p:spPr>
          <a:xfrm>
            <a:off x="1386840" y="1920240"/>
            <a:ext cx="719328" cy="719328"/>
          </a:xfrm>
          <a:prstGeom prst="rect">
            <a:avLst/>
          </a:prstGeom>
        </p:spPr>
      </p:pic>
      <p:pic>
        <p:nvPicPr>
          <p:cNvPr id="10" name="mat-fur-lion" descr="img/lion.png">    </p:cNvPr>
          <p:cNvPicPr>
            <a:picLocks noChangeAspect="1"/>
          </p:cNvPicPr>
          <p:nvPr/>
        </p:nvPicPr>
        <p:blipFill>
          <a:blip r:embed="rId4"/>
          <a:stretch>
            <a:fillRect/>
          </a:stretch>
        </p:blipFill>
        <p:spPr>
          <a:xfrm>
            <a:off x="2179320" y="1920240"/>
            <a:ext cx="719328" cy="719328"/>
          </a:xfrm>
          <a:prstGeom prst="rect">
            <a:avLst/>
          </a:prstGeom>
        </p:spPr>
      </p:pic>
      <p:sp>
        <p:nvSpPr>
          <p:cNvPr id="11" name="mat-col1"/>
          <p:cNvSpPr/>
          <p:nvPr/>
        </p:nvSpPr>
        <p:spPr>
          <a:xfrm>
            <a:off x="3200400" y="1188720"/>
            <a:ext cx="2670048" cy="2377440"/>
          </a:xfrm>
          <a:prstGeom prst="roundRect">
            <a:avLst>
              <a:gd name="adj" fmla="val 4615"/>
            </a:avLst>
          </a:prstGeom>
          <a:solidFill>
            <a:srgbClr val="DCEEF8"/>
          </a:solidFill>
          <a:ln w="12700">
            <a:solidFill>
              <a:srgbClr val="DCEEF8"/>
            </a:solidFill>
            <a:prstDash val="solid"/>
          </a:ln>
        </p:spPr>
      </p:sp>
      <p:pic>
        <p:nvPicPr>
          <p:cNvPr id="12" name="mat-tex1" descr="img/tex_feathers.png">    </p:cNvPr>
          <p:cNvPicPr>
            <a:picLocks noChangeAspect="1"/>
          </p:cNvPicPr>
          <p:nvPr/>
        </p:nvPicPr>
        <p:blipFill>
          <a:blip r:embed="rId5"/>
          <a:stretch>
            <a:fillRect/>
          </a:stretch>
        </p:blipFill>
        <p:spPr>
          <a:xfrm>
            <a:off x="3310128" y="1280160"/>
            <a:ext cx="502920" cy="502920"/>
          </a:xfrm>
          <a:prstGeom prst="rect">
            <a:avLst/>
          </a:prstGeom>
        </p:spPr>
      </p:pic>
      <p:sp>
        <p:nvSpPr>
          <p:cNvPr id="13" name="mat-lab1"/>
          <p:cNvSpPr txBox="1"/>
          <p:nvPr/>
        </p:nvSpPr>
        <p:spPr>
          <a:xfrm>
            <a:off x="3858768" y="1280160"/>
            <a:ext cx="1920240" cy="502920"/>
          </a:xfrm>
          <a:prstGeom prst="rect">
            <a:avLst/>
          </a:prstGeom>
          <a:noFill/>
          <a:ln/>
        </p:spPr>
        <p:txBody>
          <a:bodyPr wrap="square" lIns="0" tIns="0" rIns="0" bIns="0" rtlCol="0" anchor="ctr"/>
          <a:lstStyle/>
          <a:p>
            <a:pPr indent="0" marL="0">
              <a:buNone/>
            </a:pPr>
            <a:r>
              <a:rPr lang="en-US" sz="2000" b="1" dirty="0">
                <a:solidFill>
                  <a:schemeClr val="tx2"/>
                </a:solidFill>
              </a:rPr>
              <a:t>feathers</a:t>
            </a:r>
            <a:endParaRPr lang="en-US" sz="2000" dirty="0"/>
          </a:p>
        </p:txBody>
      </p:sp>
      <p:pic>
        <p:nvPicPr>
          <p:cNvPr id="14" name="mat-feathers-duck" descr="img/duck.png">    </p:cNvPr>
          <p:cNvPicPr>
            <a:picLocks noChangeAspect="1"/>
          </p:cNvPicPr>
          <p:nvPr/>
        </p:nvPicPr>
        <p:blipFill>
          <a:blip r:embed="rId6"/>
          <a:stretch>
            <a:fillRect/>
          </a:stretch>
        </p:blipFill>
        <p:spPr>
          <a:xfrm>
            <a:off x="3337560" y="1920240"/>
            <a:ext cx="719328" cy="719328"/>
          </a:xfrm>
          <a:prstGeom prst="rect">
            <a:avLst/>
          </a:prstGeom>
        </p:spPr>
      </p:pic>
      <p:pic>
        <p:nvPicPr>
          <p:cNvPr id="15" name="mat-feathers-owl" descr="img/owl.png">    </p:cNvPr>
          <p:cNvPicPr>
            <a:picLocks noChangeAspect="1"/>
          </p:cNvPicPr>
          <p:nvPr/>
        </p:nvPicPr>
        <p:blipFill>
          <a:blip r:embed="rId7"/>
          <a:stretch>
            <a:fillRect/>
          </a:stretch>
        </p:blipFill>
        <p:spPr>
          <a:xfrm>
            <a:off x="4130040" y="1920240"/>
            <a:ext cx="719328" cy="719328"/>
          </a:xfrm>
          <a:prstGeom prst="rect">
            <a:avLst/>
          </a:prstGeom>
        </p:spPr>
      </p:pic>
      <p:pic>
        <p:nvPicPr>
          <p:cNvPr id="16" name="mat-feathers-parrot" descr="img/parrot.png">    </p:cNvPr>
          <p:cNvPicPr>
            <a:picLocks noChangeAspect="1"/>
          </p:cNvPicPr>
          <p:nvPr/>
        </p:nvPicPr>
        <p:blipFill>
          <a:blip r:embed="rId8"/>
          <a:stretch>
            <a:fillRect/>
          </a:stretch>
        </p:blipFill>
        <p:spPr>
          <a:xfrm>
            <a:off x="4922520" y="1920240"/>
            <a:ext cx="719328" cy="719328"/>
          </a:xfrm>
          <a:prstGeom prst="rect">
            <a:avLst/>
          </a:prstGeom>
        </p:spPr>
      </p:pic>
      <p:sp>
        <p:nvSpPr>
          <p:cNvPr id="17" name="mat-col2"/>
          <p:cNvSpPr/>
          <p:nvPr/>
        </p:nvSpPr>
        <p:spPr>
          <a:xfrm>
            <a:off x="5943600" y="1188720"/>
            <a:ext cx="2670048" cy="2377440"/>
          </a:xfrm>
          <a:prstGeom prst="roundRect">
            <a:avLst>
              <a:gd name="adj" fmla="val 4615"/>
            </a:avLst>
          </a:prstGeom>
          <a:solidFill>
            <a:srgbClr val="DDEFE0"/>
          </a:solidFill>
          <a:ln w="12700">
            <a:solidFill>
              <a:srgbClr val="DDEFE0"/>
            </a:solidFill>
            <a:prstDash val="solid"/>
          </a:ln>
        </p:spPr>
      </p:sp>
      <p:pic>
        <p:nvPicPr>
          <p:cNvPr id="18" name="mat-tex2" descr="img/tex_scales.png">    </p:cNvPr>
          <p:cNvPicPr>
            <a:picLocks noChangeAspect="1"/>
          </p:cNvPicPr>
          <p:nvPr/>
        </p:nvPicPr>
        <p:blipFill>
          <a:blip r:embed="rId9"/>
          <a:stretch>
            <a:fillRect/>
          </a:stretch>
        </p:blipFill>
        <p:spPr>
          <a:xfrm>
            <a:off x="6053328" y="1280160"/>
            <a:ext cx="502920" cy="502920"/>
          </a:xfrm>
          <a:prstGeom prst="rect">
            <a:avLst/>
          </a:prstGeom>
        </p:spPr>
      </p:pic>
      <p:sp>
        <p:nvSpPr>
          <p:cNvPr id="19" name="mat-lab2"/>
          <p:cNvSpPr txBox="1"/>
          <p:nvPr/>
        </p:nvSpPr>
        <p:spPr>
          <a:xfrm>
            <a:off x="6601968" y="1280160"/>
            <a:ext cx="1920240" cy="502920"/>
          </a:xfrm>
          <a:prstGeom prst="rect">
            <a:avLst/>
          </a:prstGeom>
          <a:noFill/>
          <a:ln/>
        </p:spPr>
        <p:txBody>
          <a:bodyPr wrap="square" lIns="0" tIns="0" rIns="0" bIns="0" rtlCol="0" anchor="ctr"/>
          <a:lstStyle/>
          <a:p>
            <a:pPr indent="0" marL="0">
              <a:buNone/>
            </a:pPr>
            <a:r>
              <a:rPr lang="en-US" sz="2000" b="1" dirty="0">
                <a:solidFill>
                  <a:schemeClr val="tx2"/>
                </a:solidFill>
              </a:rPr>
              <a:t>scales</a:t>
            </a:r>
            <a:endParaRPr lang="en-US" sz="2000" dirty="0"/>
          </a:p>
        </p:txBody>
      </p:sp>
      <p:pic>
        <p:nvPicPr>
          <p:cNvPr id="20" name="mat-scales-fish" descr="img/fish.png">    </p:cNvPr>
          <p:cNvPicPr>
            <a:picLocks noChangeAspect="1"/>
          </p:cNvPicPr>
          <p:nvPr/>
        </p:nvPicPr>
        <p:blipFill>
          <a:blip r:embed="rId10"/>
          <a:stretch>
            <a:fillRect/>
          </a:stretch>
        </p:blipFill>
        <p:spPr>
          <a:xfrm>
            <a:off x="6080760" y="1920240"/>
            <a:ext cx="719328" cy="719328"/>
          </a:xfrm>
          <a:prstGeom prst="rect">
            <a:avLst/>
          </a:prstGeom>
        </p:spPr>
      </p:pic>
      <p:pic>
        <p:nvPicPr>
          <p:cNvPr id="21" name="mat-scales-snake" descr="img/snake.png">    </p:cNvPr>
          <p:cNvPicPr>
            <a:picLocks noChangeAspect="1"/>
          </p:cNvPicPr>
          <p:nvPr/>
        </p:nvPicPr>
        <p:blipFill>
          <a:blip r:embed="rId11"/>
          <a:stretch>
            <a:fillRect/>
          </a:stretch>
        </p:blipFill>
        <p:spPr>
          <a:xfrm>
            <a:off x="6873240" y="1920240"/>
            <a:ext cx="719328" cy="719328"/>
          </a:xfrm>
          <a:prstGeom prst="rect">
            <a:avLst/>
          </a:prstGeom>
        </p:spPr>
      </p:pic>
      <p:pic>
        <p:nvPicPr>
          <p:cNvPr id="22" name="mat-scales-crocodile" descr="img/crocodile.png">    </p:cNvPr>
          <p:cNvPicPr>
            <a:picLocks noChangeAspect="1"/>
          </p:cNvPicPr>
          <p:nvPr/>
        </p:nvPicPr>
        <p:blipFill>
          <a:blip r:embed="rId12"/>
          <a:stretch>
            <a:fillRect/>
          </a:stretch>
        </p:blipFill>
        <p:spPr>
          <a:xfrm>
            <a:off x="7665720" y="1920240"/>
            <a:ext cx="719328" cy="719328"/>
          </a:xfrm>
          <a:prstGeom prst="rect">
            <a:avLst/>
          </a:prstGeom>
        </p:spPr>
      </p:pic>
      <p:pic>
        <p:nvPicPr>
          <p:cNvPr id="23" name="agree-tick" descr="img/tick.png">    </p:cNvPr>
          <p:cNvPicPr>
            <a:picLocks noChangeAspect="1"/>
          </p:cNvPicPr>
          <p:nvPr/>
        </p:nvPicPr>
        <p:blipFill>
          <a:blip r:embed="rId13"/>
          <a:stretch>
            <a:fillRect/>
          </a:stretch>
        </p:blipFill>
        <p:spPr>
          <a:xfrm>
            <a:off x="548640" y="3749040"/>
            <a:ext cx="685800" cy="685800"/>
          </a:xfrm>
          <a:prstGeom prst="rect">
            <a:avLst/>
          </a:prstGeom>
        </p:spPr>
      </p:pic>
      <p:sp>
        <p:nvSpPr>
          <p:cNvPr id="24" name="agree-t"/>
          <p:cNvSpPr txBox="1"/>
          <p:nvPr/>
        </p:nvSpPr>
        <p:spPr>
          <a:xfrm>
            <a:off x="1371600" y="3749040"/>
            <a:ext cx="7315200" cy="685800"/>
          </a:xfrm>
          <a:prstGeom prst="rect">
            <a:avLst/>
          </a:prstGeom>
          <a:noFill/>
          <a:ln/>
        </p:spPr>
        <p:txBody>
          <a:bodyPr wrap="square" lIns="0" tIns="0" rIns="0" bIns="0" rtlCol="0" anchor="ctr"/>
          <a:lstStyle/>
          <a:p>
            <a:pPr indent="0" marL="0">
              <a:buNone/>
            </a:pPr>
            <a:r>
              <a:rPr lang="en-US" sz="2600" b="1" dirty="0">
                <a:solidFill>
                  <a:schemeClr val="tx2"/>
                </a:solidFill>
              </a:rPr>
              <a:t>Thumbs up if your mat says the same!</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What about these?</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2 minutes, whole group. Point to each new animal: children point to the fur / feathers / scales column and say the word. Ask "Why?"</a:t>
            </a:r>
            <a:endParaRPr lang="en-US" sz="1200" dirty="0"/>
          </a:p>
        </p:txBody>
      </p:sp>
      <p:sp>
        <p:nvSpPr>
          <p:cNvPr id="5" name="th-t0"/>
          <p:cNvSpPr/>
          <p:nvPr/>
        </p:nvSpPr>
        <p:spPr>
          <a:xfrm>
            <a:off x="457200" y="1188720"/>
            <a:ext cx="1938528" cy="2011680"/>
          </a:xfrm>
          <a:prstGeom prst="roundRect">
            <a:avLst>
              <a:gd name="adj" fmla="val 9434"/>
            </a:avLst>
          </a:prstGeom>
          <a:solidFill>
            <a:srgbClr val="E3F1F8"/>
          </a:solidFill>
          <a:ln w="12700">
            <a:solidFill>
              <a:srgbClr val="E3F1F8"/>
            </a:solidFill>
            <a:prstDash val="solid"/>
          </a:ln>
        </p:spPr>
      </p:sp>
      <p:pic>
        <p:nvPicPr>
          <p:cNvPr id="6" name="th-p0" descr="img/dog.png">    </p:cNvPr>
          <p:cNvPicPr>
            <a:picLocks noChangeAspect="1"/>
          </p:cNvPicPr>
          <p:nvPr/>
        </p:nvPicPr>
        <p:blipFill>
          <a:blip r:embed="rId1"/>
          <a:stretch>
            <a:fillRect/>
          </a:stretch>
        </p:blipFill>
        <p:spPr>
          <a:xfrm>
            <a:off x="786384" y="1280160"/>
            <a:ext cx="1280160" cy="1280160"/>
          </a:xfrm>
          <a:prstGeom prst="rect">
            <a:avLst/>
          </a:prstGeom>
        </p:spPr>
      </p:pic>
      <p:sp>
        <p:nvSpPr>
          <p:cNvPr id="7" name="th-x0"/>
          <p:cNvSpPr txBox="1"/>
          <p:nvPr/>
        </p:nvSpPr>
        <p:spPr>
          <a:xfrm>
            <a:off x="457200" y="2606040"/>
            <a:ext cx="1938528" cy="502920"/>
          </a:xfrm>
          <a:prstGeom prst="rect">
            <a:avLst/>
          </a:prstGeom>
          <a:noFill/>
          <a:ln/>
        </p:spPr>
        <p:txBody>
          <a:bodyPr wrap="square" lIns="0" tIns="0" rIns="0" bIns="0" rtlCol="0" anchor="ctr"/>
          <a:lstStyle/>
          <a:p>
            <a:pPr algn="ctr" indent="0" marL="0">
              <a:buNone/>
            </a:pPr>
            <a:r>
              <a:rPr lang="en-US" sz="2400" b="1" dirty="0">
                <a:solidFill>
                  <a:schemeClr val="tx2"/>
                </a:solidFill>
              </a:rPr>
              <a:t>dog</a:t>
            </a:r>
            <a:endParaRPr lang="en-US" sz="2400" dirty="0"/>
          </a:p>
        </p:txBody>
      </p:sp>
      <p:sp>
        <p:nvSpPr>
          <p:cNvPr id="8" name="th-t1"/>
          <p:cNvSpPr/>
          <p:nvPr/>
        </p:nvSpPr>
        <p:spPr>
          <a:xfrm>
            <a:off x="2542032" y="1188720"/>
            <a:ext cx="1938528" cy="2011680"/>
          </a:xfrm>
          <a:prstGeom prst="roundRect">
            <a:avLst>
              <a:gd name="adj" fmla="val 9434"/>
            </a:avLst>
          </a:prstGeom>
          <a:solidFill>
            <a:srgbClr val="E3F1F8"/>
          </a:solidFill>
          <a:ln w="12700">
            <a:solidFill>
              <a:srgbClr val="E3F1F8"/>
            </a:solidFill>
            <a:prstDash val="solid"/>
          </a:ln>
        </p:spPr>
      </p:sp>
      <p:pic>
        <p:nvPicPr>
          <p:cNvPr id="9" name="th-p1" descr="img/chicken.png">    </p:cNvPr>
          <p:cNvPicPr>
            <a:picLocks noChangeAspect="1"/>
          </p:cNvPicPr>
          <p:nvPr/>
        </p:nvPicPr>
        <p:blipFill>
          <a:blip r:embed="rId2"/>
          <a:stretch>
            <a:fillRect/>
          </a:stretch>
        </p:blipFill>
        <p:spPr>
          <a:xfrm>
            <a:off x="2871216" y="1280160"/>
            <a:ext cx="1280160" cy="1280160"/>
          </a:xfrm>
          <a:prstGeom prst="rect">
            <a:avLst/>
          </a:prstGeom>
        </p:spPr>
      </p:pic>
      <p:sp>
        <p:nvSpPr>
          <p:cNvPr id="10" name="th-x1"/>
          <p:cNvSpPr txBox="1"/>
          <p:nvPr/>
        </p:nvSpPr>
        <p:spPr>
          <a:xfrm>
            <a:off x="2542032" y="2606040"/>
            <a:ext cx="1938528" cy="502920"/>
          </a:xfrm>
          <a:prstGeom prst="rect">
            <a:avLst/>
          </a:prstGeom>
          <a:noFill/>
          <a:ln/>
        </p:spPr>
        <p:txBody>
          <a:bodyPr wrap="square" lIns="0" tIns="0" rIns="0" bIns="0" rtlCol="0" anchor="ctr"/>
          <a:lstStyle/>
          <a:p>
            <a:pPr algn="ctr" indent="0" marL="0">
              <a:buNone/>
            </a:pPr>
            <a:r>
              <a:rPr lang="en-US" sz="2400" b="1" dirty="0">
                <a:solidFill>
                  <a:schemeClr val="tx2"/>
                </a:solidFill>
              </a:rPr>
              <a:t>chicken</a:t>
            </a:r>
            <a:endParaRPr lang="en-US" sz="2400" dirty="0"/>
          </a:p>
        </p:txBody>
      </p:sp>
      <p:sp>
        <p:nvSpPr>
          <p:cNvPr id="11" name="th-t2"/>
          <p:cNvSpPr/>
          <p:nvPr/>
        </p:nvSpPr>
        <p:spPr>
          <a:xfrm>
            <a:off x="4626864" y="1188720"/>
            <a:ext cx="1938528" cy="2011680"/>
          </a:xfrm>
          <a:prstGeom prst="roundRect">
            <a:avLst>
              <a:gd name="adj" fmla="val 9434"/>
            </a:avLst>
          </a:prstGeom>
          <a:solidFill>
            <a:srgbClr val="E3F1F8"/>
          </a:solidFill>
          <a:ln w="12700">
            <a:solidFill>
              <a:srgbClr val="E3F1F8"/>
            </a:solidFill>
            <a:prstDash val="solid"/>
          </a:ln>
        </p:spPr>
      </p:sp>
      <p:pic>
        <p:nvPicPr>
          <p:cNvPr id="12" name="th-p2" descr="img/lizard.png">    </p:cNvPr>
          <p:cNvPicPr>
            <a:picLocks noChangeAspect="1"/>
          </p:cNvPicPr>
          <p:nvPr/>
        </p:nvPicPr>
        <p:blipFill>
          <a:blip r:embed="rId3"/>
          <a:stretch>
            <a:fillRect/>
          </a:stretch>
        </p:blipFill>
        <p:spPr>
          <a:xfrm>
            <a:off x="4956048" y="1280160"/>
            <a:ext cx="1280160" cy="1280160"/>
          </a:xfrm>
          <a:prstGeom prst="rect">
            <a:avLst/>
          </a:prstGeom>
        </p:spPr>
      </p:pic>
      <p:sp>
        <p:nvSpPr>
          <p:cNvPr id="13" name="th-x2"/>
          <p:cNvSpPr txBox="1"/>
          <p:nvPr/>
        </p:nvSpPr>
        <p:spPr>
          <a:xfrm>
            <a:off x="4626864" y="2606040"/>
            <a:ext cx="1938528" cy="502920"/>
          </a:xfrm>
          <a:prstGeom prst="rect">
            <a:avLst/>
          </a:prstGeom>
          <a:noFill/>
          <a:ln/>
        </p:spPr>
        <p:txBody>
          <a:bodyPr wrap="square" lIns="0" tIns="0" rIns="0" bIns="0" rtlCol="0" anchor="ctr"/>
          <a:lstStyle/>
          <a:p>
            <a:pPr algn="ctr" indent="0" marL="0">
              <a:buNone/>
            </a:pPr>
            <a:r>
              <a:rPr lang="en-US" sz="2400" b="1" dirty="0">
                <a:solidFill>
                  <a:schemeClr val="tx2"/>
                </a:solidFill>
              </a:rPr>
              <a:t>lizard</a:t>
            </a:r>
            <a:endParaRPr lang="en-US" sz="2400" dirty="0"/>
          </a:p>
        </p:txBody>
      </p:sp>
      <p:sp>
        <p:nvSpPr>
          <p:cNvPr id="14" name="th-t3"/>
          <p:cNvSpPr/>
          <p:nvPr/>
        </p:nvSpPr>
        <p:spPr>
          <a:xfrm>
            <a:off x="6711696" y="1188720"/>
            <a:ext cx="1938528" cy="2011680"/>
          </a:xfrm>
          <a:prstGeom prst="roundRect">
            <a:avLst>
              <a:gd name="adj" fmla="val 9434"/>
            </a:avLst>
          </a:prstGeom>
          <a:solidFill>
            <a:srgbClr val="E3F1F8"/>
          </a:solidFill>
          <a:ln w="12700">
            <a:solidFill>
              <a:srgbClr val="E3F1F8"/>
            </a:solidFill>
            <a:prstDash val="solid"/>
          </a:ln>
        </p:spPr>
      </p:sp>
      <p:pic>
        <p:nvPicPr>
          <p:cNvPr id="15" name="th-p3" descr="img/sheep.png">    </p:cNvPr>
          <p:cNvPicPr>
            <a:picLocks noChangeAspect="1"/>
          </p:cNvPicPr>
          <p:nvPr/>
        </p:nvPicPr>
        <p:blipFill>
          <a:blip r:embed="rId4"/>
          <a:stretch>
            <a:fillRect/>
          </a:stretch>
        </p:blipFill>
        <p:spPr>
          <a:xfrm>
            <a:off x="7040880" y="1280160"/>
            <a:ext cx="1280160" cy="1280160"/>
          </a:xfrm>
          <a:prstGeom prst="rect">
            <a:avLst/>
          </a:prstGeom>
        </p:spPr>
      </p:pic>
      <p:sp>
        <p:nvSpPr>
          <p:cNvPr id="16" name="th-x3"/>
          <p:cNvSpPr txBox="1"/>
          <p:nvPr/>
        </p:nvSpPr>
        <p:spPr>
          <a:xfrm>
            <a:off x="6711696" y="2606040"/>
            <a:ext cx="1938528" cy="502920"/>
          </a:xfrm>
          <a:prstGeom prst="rect">
            <a:avLst/>
          </a:prstGeom>
          <a:noFill/>
          <a:ln/>
        </p:spPr>
        <p:txBody>
          <a:bodyPr wrap="square" lIns="0" tIns="0" rIns="0" bIns="0" rtlCol="0" anchor="ctr"/>
          <a:lstStyle/>
          <a:p>
            <a:pPr algn="ctr" indent="0" marL="0">
              <a:buNone/>
            </a:pPr>
            <a:r>
              <a:rPr lang="en-US" sz="2400" b="1" dirty="0">
                <a:solidFill>
                  <a:schemeClr val="tx2"/>
                </a:solidFill>
              </a:rPr>
              <a:t>sheep</a:t>
            </a:r>
            <a:endParaRPr lang="en-US" sz="2400" dirty="0"/>
          </a:p>
        </p:txBody>
      </p:sp>
      <p:sp>
        <p:nvSpPr>
          <p:cNvPr id="17" name="th-c0"/>
          <p:cNvSpPr/>
          <p:nvPr/>
        </p:nvSpPr>
        <p:spPr>
          <a:xfrm>
            <a:off x="457200" y="3429000"/>
            <a:ext cx="2651760" cy="1097280"/>
          </a:xfrm>
          <a:prstGeom prst="roundRect">
            <a:avLst>
              <a:gd name="adj" fmla="val 16667"/>
            </a:avLst>
          </a:prstGeom>
          <a:solidFill>
            <a:srgbClr val="F6E3CF"/>
          </a:solidFill>
          <a:ln w="12700">
            <a:solidFill>
              <a:srgbClr val="F6E3CF"/>
            </a:solidFill>
            <a:prstDash val="solid"/>
          </a:ln>
        </p:spPr>
      </p:sp>
      <p:pic>
        <p:nvPicPr>
          <p:cNvPr id="18" name="th-ct0" descr="img/tex_fur.png">    </p:cNvPr>
          <p:cNvPicPr>
            <a:picLocks noChangeAspect="1"/>
          </p:cNvPicPr>
          <p:nvPr/>
        </p:nvPicPr>
        <p:blipFill>
          <a:blip r:embed="rId5"/>
          <a:stretch>
            <a:fillRect/>
          </a:stretch>
        </p:blipFill>
        <p:spPr>
          <a:xfrm>
            <a:off x="640080" y="3566160"/>
            <a:ext cx="822960" cy="822960"/>
          </a:xfrm>
          <a:prstGeom prst="rect">
            <a:avLst/>
          </a:prstGeom>
        </p:spPr>
      </p:pic>
      <p:sp>
        <p:nvSpPr>
          <p:cNvPr id="19" name="th-cw0"/>
          <p:cNvSpPr txBox="1"/>
          <p:nvPr/>
        </p:nvSpPr>
        <p:spPr>
          <a:xfrm>
            <a:off x="1554480" y="3429000"/>
            <a:ext cx="1463040" cy="1097280"/>
          </a:xfrm>
          <a:prstGeom prst="rect">
            <a:avLst/>
          </a:prstGeom>
          <a:noFill/>
          <a:ln/>
        </p:spPr>
        <p:txBody>
          <a:bodyPr wrap="square" lIns="0" tIns="0" rIns="0" bIns="0" rtlCol="0" anchor="ctr"/>
          <a:lstStyle/>
          <a:p>
            <a:pPr indent="0" marL="0">
              <a:buNone/>
            </a:pPr>
            <a:r>
              <a:rPr lang="en-US" sz="2800" b="1" dirty="0">
                <a:solidFill>
                  <a:schemeClr val="tx2"/>
                </a:solidFill>
              </a:rPr>
              <a:t>fur</a:t>
            </a:r>
            <a:endParaRPr lang="en-US" sz="2800" dirty="0"/>
          </a:p>
        </p:txBody>
      </p:sp>
      <p:sp>
        <p:nvSpPr>
          <p:cNvPr id="20" name="th-c1"/>
          <p:cNvSpPr/>
          <p:nvPr/>
        </p:nvSpPr>
        <p:spPr>
          <a:xfrm>
            <a:off x="3246120" y="3429000"/>
            <a:ext cx="2651760" cy="1097280"/>
          </a:xfrm>
          <a:prstGeom prst="roundRect">
            <a:avLst>
              <a:gd name="adj" fmla="val 16667"/>
            </a:avLst>
          </a:prstGeom>
          <a:solidFill>
            <a:srgbClr val="DCEEF8"/>
          </a:solidFill>
          <a:ln w="12700">
            <a:solidFill>
              <a:srgbClr val="DCEEF8"/>
            </a:solidFill>
            <a:prstDash val="solid"/>
          </a:ln>
        </p:spPr>
      </p:sp>
      <p:pic>
        <p:nvPicPr>
          <p:cNvPr id="21" name="th-ct1" descr="img/tex_feathers.png">    </p:cNvPr>
          <p:cNvPicPr>
            <a:picLocks noChangeAspect="1"/>
          </p:cNvPicPr>
          <p:nvPr/>
        </p:nvPicPr>
        <p:blipFill>
          <a:blip r:embed="rId6"/>
          <a:stretch>
            <a:fillRect/>
          </a:stretch>
        </p:blipFill>
        <p:spPr>
          <a:xfrm>
            <a:off x="3429000" y="3566160"/>
            <a:ext cx="822960" cy="822960"/>
          </a:xfrm>
          <a:prstGeom prst="rect">
            <a:avLst/>
          </a:prstGeom>
        </p:spPr>
      </p:pic>
      <p:sp>
        <p:nvSpPr>
          <p:cNvPr id="22" name="th-cw1"/>
          <p:cNvSpPr txBox="1"/>
          <p:nvPr/>
        </p:nvSpPr>
        <p:spPr>
          <a:xfrm>
            <a:off x="4343400" y="3429000"/>
            <a:ext cx="1463040" cy="1097280"/>
          </a:xfrm>
          <a:prstGeom prst="rect">
            <a:avLst/>
          </a:prstGeom>
          <a:noFill/>
          <a:ln/>
        </p:spPr>
        <p:txBody>
          <a:bodyPr wrap="square" lIns="0" tIns="0" rIns="0" bIns="0" rtlCol="0" anchor="ctr"/>
          <a:lstStyle/>
          <a:p>
            <a:pPr indent="0" marL="0">
              <a:buNone/>
            </a:pPr>
            <a:r>
              <a:rPr lang="en-US" sz="2800" b="1" dirty="0">
                <a:solidFill>
                  <a:schemeClr val="tx2"/>
                </a:solidFill>
              </a:rPr>
              <a:t>feathers</a:t>
            </a:r>
            <a:endParaRPr lang="en-US" sz="2800" dirty="0"/>
          </a:p>
        </p:txBody>
      </p:sp>
      <p:sp>
        <p:nvSpPr>
          <p:cNvPr id="23" name="th-c2"/>
          <p:cNvSpPr/>
          <p:nvPr/>
        </p:nvSpPr>
        <p:spPr>
          <a:xfrm>
            <a:off x="6035040" y="3429000"/>
            <a:ext cx="2651760" cy="1097280"/>
          </a:xfrm>
          <a:prstGeom prst="roundRect">
            <a:avLst>
              <a:gd name="adj" fmla="val 16667"/>
            </a:avLst>
          </a:prstGeom>
          <a:solidFill>
            <a:srgbClr val="DDEFE0"/>
          </a:solidFill>
          <a:ln w="12700">
            <a:solidFill>
              <a:srgbClr val="DDEFE0"/>
            </a:solidFill>
            <a:prstDash val="solid"/>
          </a:ln>
        </p:spPr>
      </p:sp>
      <p:pic>
        <p:nvPicPr>
          <p:cNvPr id="24" name="th-ct2" descr="img/tex_scales.png">    </p:cNvPr>
          <p:cNvPicPr>
            <a:picLocks noChangeAspect="1"/>
          </p:cNvPicPr>
          <p:nvPr/>
        </p:nvPicPr>
        <p:blipFill>
          <a:blip r:embed="rId7"/>
          <a:stretch>
            <a:fillRect/>
          </a:stretch>
        </p:blipFill>
        <p:spPr>
          <a:xfrm>
            <a:off x="6217920" y="3566160"/>
            <a:ext cx="822960" cy="822960"/>
          </a:xfrm>
          <a:prstGeom prst="rect">
            <a:avLst/>
          </a:prstGeom>
        </p:spPr>
      </p:pic>
      <p:sp>
        <p:nvSpPr>
          <p:cNvPr id="25" name="th-cw2"/>
          <p:cNvSpPr txBox="1"/>
          <p:nvPr/>
        </p:nvSpPr>
        <p:spPr>
          <a:xfrm>
            <a:off x="7132320" y="3429000"/>
            <a:ext cx="1463040" cy="1097280"/>
          </a:xfrm>
          <a:prstGeom prst="rect">
            <a:avLst/>
          </a:prstGeom>
          <a:noFill/>
          <a:ln/>
        </p:spPr>
        <p:txBody>
          <a:bodyPr wrap="square" lIns="0" tIns="0" rIns="0" bIns="0" rtlCol="0" anchor="ctr"/>
          <a:lstStyle/>
          <a:p>
            <a:pPr indent="0" marL="0">
              <a:buNone/>
            </a:pPr>
            <a:r>
              <a:rPr lang="en-US" sz="2800" b="1" dirty="0">
                <a:solidFill>
                  <a:schemeClr val="tx2"/>
                </a:solidFill>
              </a:rPr>
              <a:t>scales</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You are animal scientists!</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2 minutes. Badge for every child. Take-home sheet to every parent: a sorting hunt at home. Then Goodbye.</a:t>
            </a:r>
            <a:endParaRPr lang="en-US" sz="1200" dirty="0"/>
          </a:p>
        </p:txBody>
      </p:sp>
      <p:pic>
        <p:nvPicPr>
          <p:cNvPr id="5" name="fin-star" descr="img/star.png">    </p:cNvPr>
          <p:cNvPicPr>
            <a:picLocks noChangeAspect="1"/>
          </p:cNvPicPr>
          <p:nvPr/>
        </p:nvPicPr>
        <p:blipFill>
          <a:blip r:embed="rId1"/>
          <a:stretch>
            <a:fillRect/>
          </a:stretch>
        </p:blipFill>
        <p:spPr>
          <a:xfrm>
            <a:off x="548640" y="1188720"/>
            <a:ext cx="2194560" cy="2194560"/>
          </a:xfrm>
          <a:prstGeom prst="rect">
            <a:avLst/>
          </a:prstGeom>
        </p:spPr>
      </p:pic>
      <p:sp>
        <p:nvSpPr>
          <p:cNvPr id="6" name="fin-t0"/>
          <p:cNvSpPr/>
          <p:nvPr/>
        </p:nvSpPr>
        <p:spPr>
          <a:xfrm>
            <a:off x="3108960" y="1280160"/>
            <a:ext cx="5577840" cy="1371600"/>
          </a:xfrm>
          <a:prstGeom prst="roundRect">
            <a:avLst>
              <a:gd name="adj" fmla="val 13333"/>
            </a:avLst>
          </a:prstGeom>
          <a:solidFill>
            <a:srgbClr val="FFF4C2"/>
          </a:solidFill>
          <a:ln w="12700">
            <a:solidFill>
              <a:srgbClr val="FFF4C2"/>
            </a:solidFill>
            <a:prstDash val="solid"/>
          </a:ln>
        </p:spPr>
      </p:sp>
      <p:pic>
        <p:nvPicPr>
          <p:cNvPr id="7" name="fin-i0" descr="img/home.png">    </p:cNvPr>
          <p:cNvPicPr>
            <a:picLocks noChangeAspect="1"/>
          </p:cNvPicPr>
          <p:nvPr/>
        </p:nvPicPr>
        <p:blipFill>
          <a:blip r:embed="rId2"/>
          <a:stretch>
            <a:fillRect/>
          </a:stretch>
        </p:blipFill>
        <p:spPr>
          <a:xfrm>
            <a:off x="3291840" y="1463040"/>
            <a:ext cx="1005840" cy="1005840"/>
          </a:xfrm>
          <a:prstGeom prst="rect">
            <a:avLst/>
          </a:prstGeom>
        </p:spPr>
      </p:pic>
      <p:sp>
        <p:nvSpPr>
          <p:cNvPr id="8" name="fin-x0"/>
          <p:cNvSpPr txBox="1"/>
          <p:nvPr/>
        </p:nvSpPr>
        <p:spPr>
          <a:xfrm>
            <a:off x="4480560" y="1280160"/>
            <a:ext cx="4114800" cy="1371600"/>
          </a:xfrm>
          <a:prstGeom prst="rect">
            <a:avLst/>
          </a:prstGeom>
          <a:noFill/>
          <a:ln/>
        </p:spPr>
        <p:txBody>
          <a:bodyPr wrap="square" lIns="0" tIns="0" rIns="0" bIns="0" rtlCol="0" anchor="ctr"/>
          <a:lstStyle/>
          <a:p>
            <a:pPr indent="0" marL="0">
              <a:buNone/>
            </a:pPr>
            <a:r>
              <a:rPr lang="en-US" sz="2200" b="1" dirty="0">
                <a:solidFill>
                  <a:schemeClr val="tx2"/>
                </a:solidFill>
              </a:rPr>
              <a:t>At home tonight: find something soft, smooth and bumpy.</a:t>
            </a:r>
            <a:endParaRPr lang="en-US" sz="2200" dirty="0"/>
          </a:p>
        </p:txBody>
      </p:sp>
      <p:sp>
        <p:nvSpPr>
          <p:cNvPr id="9" name="fin-t1"/>
          <p:cNvSpPr/>
          <p:nvPr/>
        </p:nvSpPr>
        <p:spPr>
          <a:xfrm>
            <a:off x="3108960" y="2880360"/>
            <a:ext cx="5577840" cy="1371600"/>
          </a:xfrm>
          <a:prstGeom prst="roundRect">
            <a:avLst>
              <a:gd name="adj" fmla="val 13333"/>
            </a:avLst>
          </a:prstGeom>
          <a:solidFill>
            <a:srgbClr val="E3F1F8"/>
          </a:solidFill>
          <a:ln w="12700">
            <a:solidFill>
              <a:srgbClr val="E3F1F8"/>
            </a:solidFill>
            <a:prstDash val="solid"/>
          </a:ln>
        </p:spPr>
      </p:sp>
      <p:pic>
        <p:nvPicPr>
          <p:cNvPr id="10" name="fin-i1" descr="img/camera.png">    </p:cNvPr>
          <p:cNvPicPr>
            <a:picLocks noChangeAspect="1"/>
          </p:cNvPicPr>
          <p:nvPr/>
        </p:nvPicPr>
        <p:blipFill>
          <a:blip r:embed="rId3"/>
          <a:stretch>
            <a:fillRect/>
          </a:stretch>
        </p:blipFill>
        <p:spPr>
          <a:xfrm>
            <a:off x="3291840" y="3063240"/>
            <a:ext cx="1005840" cy="1005840"/>
          </a:xfrm>
          <a:prstGeom prst="rect">
            <a:avLst/>
          </a:prstGeom>
        </p:spPr>
      </p:pic>
      <p:sp>
        <p:nvSpPr>
          <p:cNvPr id="11" name="fin-x1"/>
          <p:cNvSpPr txBox="1"/>
          <p:nvPr/>
        </p:nvSpPr>
        <p:spPr>
          <a:xfrm>
            <a:off x="4480560" y="2880360"/>
            <a:ext cx="4114800" cy="1371600"/>
          </a:xfrm>
          <a:prstGeom prst="rect">
            <a:avLst/>
          </a:prstGeom>
          <a:noFill/>
          <a:ln/>
        </p:spPr>
        <p:txBody>
          <a:bodyPr wrap="square" lIns="0" tIns="0" rIns="0" bIns="0" rtlCol="0" anchor="ctr"/>
          <a:lstStyle/>
          <a:p>
            <a:pPr indent="0" marL="0">
              <a:buNone/>
            </a:pPr>
            <a:r>
              <a:rPr lang="en-US" sz="2200" b="1" dirty="0">
                <a:solidFill>
                  <a:schemeClr val="tx2"/>
                </a:solidFill>
              </a:rPr>
              <a:t>Ask: "Fur, feathers or scales?" about a pet or a toy.</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4000" b="1" dirty="0">
                <a:solidFill>
                  <a:schemeClr val="tx2"/>
                </a:solidFill>
              </a:rPr>
              <a:t>Goodbye, scientists!</a:t>
            </a:r>
            <a:endParaRPr lang="en-US" sz="4000" dirty="0"/>
          </a:p>
        </p:txBody>
      </p:sp>
      <p:sp>
        <p:nvSpPr>
          <p:cNvPr id="3" name="Text 0"/>
          <p:cNvSpPr/>
          <p:nvPr>
            <p:ph idx="101" type="body" hasCustomPrompt="1"/>
          </p:nvPr>
        </p:nvSpPr>
        <p:spPr>
          <a:xfrm>
            <a:off x="457200" y="4727448"/>
            <a:ext cx="8229600" cy="320040"/>
          </a:xfrm>
          <a:prstGeom prst="rect">
            <a:avLst/>
          </a:prstGeom>
          <a:noFill/>
          <a:ln/>
        </p:spPr>
        <p:txBody>
          <a:bodyPr wrap="square" lIns="0" tIns="0" rIns="0" bIns="0" rtlCol="0" anchor="ctr"/>
          <a:lstStyle/>
          <a:p>
            <a:pPr algn="l" indent="0" marL="0">
              <a:buNone/>
            </a:pPr>
            <a:r>
              <a:rPr lang="en-US" sz="1200" i="1" dirty="0">
                <a:solidFill>
                  <a:schemeClr val="accent5"/>
                </a:solidFill>
              </a:rPr>
              <a:t>Teacher: Chant each line twice with the action. Then click to the parents slide and leave it on screen.</a:t>
            </a:r>
            <a:endParaRPr lang="en-US" sz="1200" dirty="0"/>
          </a:p>
        </p:txBody>
      </p:sp>
      <p:sp>
        <p:nvSpPr>
          <p:cNvPr id="5" name="bye-t0"/>
          <p:cNvSpPr/>
          <p:nvPr/>
        </p:nvSpPr>
        <p:spPr>
          <a:xfrm>
            <a:off x="457200" y="1234440"/>
            <a:ext cx="4023360" cy="1463040"/>
          </a:xfrm>
          <a:prstGeom prst="roundRect">
            <a:avLst>
              <a:gd name="adj" fmla="val 12500"/>
            </a:avLst>
          </a:prstGeom>
          <a:solidFill>
            <a:srgbClr val="E3F1F8"/>
          </a:solidFill>
          <a:ln w="12700">
            <a:solidFill>
              <a:srgbClr val="E3F1F8"/>
            </a:solidFill>
            <a:prstDash val="solid"/>
          </a:ln>
        </p:spPr>
      </p:sp>
      <p:pic>
        <p:nvPicPr>
          <p:cNvPr id="6" name="bye-i0" descr="img/wave.png">    </p:cNvPr>
          <p:cNvPicPr>
            <a:picLocks noChangeAspect="1"/>
          </p:cNvPicPr>
          <p:nvPr/>
        </p:nvPicPr>
        <p:blipFill>
          <a:blip r:embed="rId1"/>
          <a:stretch>
            <a:fillRect/>
          </a:stretch>
        </p:blipFill>
        <p:spPr>
          <a:xfrm>
            <a:off x="640080" y="1371600"/>
            <a:ext cx="1188720" cy="1188720"/>
          </a:xfrm>
          <a:prstGeom prst="rect">
            <a:avLst/>
          </a:prstGeom>
        </p:spPr>
      </p:pic>
      <p:sp>
        <p:nvSpPr>
          <p:cNvPr id="7" name="bye-x0"/>
          <p:cNvSpPr txBox="1"/>
          <p:nvPr/>
        </p:nvSpPr>
        <p:spPr>
          <a:xfrm>
            <a:off x="1920240" y="1371600"/>
            <a:ext cx="2514600" cy="1188720"/>
          </a:xfrm>
          <a:prstGeom prst="rect">
            <a:avLst/>
          </a:prstGeom>
          <a:noFill/>
          <a:ln/>
        </p:spPr>
        <p:txBody>
          <a:bodyPr wrap="square" lIns="0" tIns="0" rIns="0" bIns="0" rtlCol="0" anchor="ctr"/>
          <a:lstStyle/>
          <a:p>
            <a:pPr indent="0" marL="0">
              <a:buNone/>
            </a:pPr>
            <a:r>
              <a:rPr lang="en-US" sz="2200" b="1" dirty="0">
                <a:solidFill>
                  <a:schemeClr val="tx2"/>
                </a:solidFill>
              </a:rPr>
              <a:t>Goodbye, goodbye!</a:t>
            </a:r>
            <a:endParaRPr lang="en-US" sz="2200" dirty="0"/>
          </a:p>
          <a:p>
            <a:pPr indent="0" marL="0">
              <a:buNone/>
            </a:pPr>
            <a:r>
              <a:rPr lang="en-US" sz="2200" dirty="0">
                <a:solidFill>
                  <a:schemeClr val="tx2"/>
                </a:solidFill>
              </a:rPr>
              <a:t>Wave your hand</a:t>
            </a:r>
            <a:endParaRPr lang="en-US" sz="2200" dirty="0"/>
          </a:p>
        </p:txBody>
      </p:sp>
      <p:sp>
        <p:nvSpPr>
          <p:cNvPr id="8" name="bye-t1"/>
          <p:cNvSpPr/>
          <p:nvPr/>
        </p:nvSpPr>
        <p:spPr>
          <a:xfrm>
            <a:off x="4663440" y="1234440"/>
            <a:ext cx="4023360" cy="1463040"/>
          </a:xfrm>
          <a:prstGeom prst="roundRect">
            <a:avLst>
              <a:gd name="adj" fmla="val 12500"/>
            </a:avLst>
          </a:prstGeom>
          <a:solidFill>
            <a:srgbClr val="E3F1F8"/>
          </a:solidFill>
          <a:ln w="12700">
            <a:solidFill>
              <a:srgbClr val="E3F1F8"/>
            </a:solidFill>
            <a:prstDash val="solid"/>
          </a:ln>
        </p:spPr>
      </p:sp>
      <p:pic>
        <p:nvPicPr>
          <p:cNvPr id="9" name="bye-i1" descr="img/clap.png">    </p:cNvPr>
          <p:cNvPicPr>
            <a:picLocks noChangeAspect="1"/>
          </p:cNvPicPr>
          <p:nvPr/>
        </p:nvPicPr>
        <p:blipFill>
          <a:blip r:embed="rId2"/>
          <a:stretch>
            <a:fillRect/>
          </a:stretch>
        </p:blipFill>
        <p:spPr>
          <a:xfrm>
            <a:off x="4846320" y="1371600"/>
            <a:ext cx="1188720" cy="1188720"/>
          </a:xfrm>
          <a:prstGeom prst="rect">
            <a:avLst/>
          </a:prstGeom>
        </p:spPr>
      </p:pic>
      <p:sp>
        <p:nvSpPr>
          <p:cNvPr id="10" name="bye-x1"/>
          <p:cNvSpPr txBox="1"/>
          <p:nvPr/>
        </p:nvSpPr>
        <p:spPr>
          <a:xfrm>
            <a:off x="6126480" y="1371600"/>
            <a:ext cx="2514600" cy="1188720"/>
          </a:xfrm>
          <a:prstGeom prst="rect">
            <a:avLst/>
          </a:prstGeom>
          <a:noFill/>
          <a:ln/>
        </p:spPr>
        <p:txBody>
          <a:bodyPr wrap="square" lIns="0" tIns="0" rIns="0" bIns="0" rtlCol="0" anchor="ctr"/>
          <a:lstStyle/>
          <a:p>
            <a:pPr indent="0" marL="0">
              <a:buNone/>
            </a:pPr>
            <a:r>
              <a:rPr lang="en-US" sz="2200" b="1" dirty="0">
                <a:solidFill>
                  <a:schemeClr val="tx2"/>
                </a:solidFill>
              </a:rPr>
              <a:t>Goodbye, goodbye!</a:t>
            </a:r>
            <a:endParaRPr lang="en-US" sz="2200" dirty="0"/>
          </a:p>
          <a:p>
            <a:pPr indent="0" marL="0">
              <a:buNone/>
            </a:pPr>
            <a:r>
              <a:rPr lang="en-US" sz="2200" dirty="0">
                <a:solidFill>
                  <a:schemeClr val="tx2"/>
                </a:solidFill>
              </a:rPr>
              <a:t>Clap your hands</a:t>
            </a:r>
            <a:endParaRPr lang="en-US" sz="2200" dirty="0"/>
          </a:p>
        </p:txBody>
      </p:sp>
      <p:sp>
        <p:nvSpPr>
          <p:cNvPr id="11" name="bye-t2"/>
          <p:cNvSpPr/>
          <p:nvPr/>
        </p:nvSpPr>
        <p:spPr>
          <a:xfrm>
            <a:off x="457200" y="2926080"/>
            <a:ext cx="4023360" cy="1463040"/>
          </a:xfrm>
          <a:prstGeom prst="roundRect">
            <a:avLst>
              <a:gd name="adj" fmla="val 12500"/>
            </a:avLst>
          </a:prstGeom>
          <a:solidFill>
            <a:srgbClr val="FFF4C2"/>
          </a:solidFill>
          <a:ln w="12700">
            <a:solidFill>
              <a:srgbClr val="FFF4C2"/>
            </a:solidFill>
            <a:prstDash val="solid"/>
          </a:ln>
        </p:spPr>
      </p:sp>
      <p:pic>
        <p:nvPicPr>
          <p:cNvPr id="12" name="bye-i2" descr="img/star.png">    </p:cNvPr>
          <p:cNvPicPr>
            <a:picLocks noChangeAspect="1"/>
          </p:cNvPicPr>
          <p:nvPr/>
        </p:nvPicPr>
        <p:blipFill>
          <a:blip r:embed="rId3"/>
          <a:stretch>
            <a:fillRect/>
          </a:stretch>
        </p:blipFill>
        <p:spPr>
          <a:xfrm>
            <a:off x="640080" y="3063240"/>
            <a:ext cx="1188720" cy="1188720"/>
          </a:xfrm>
          <a:prstGeom prst="rect">
            <a:avLst/>
          </a:prstGeom>
        </p:spPr>
      </p:pic>
      <p:sp>
        <p:nvSpPr>
          <p:cNvPr id="13" name="bye-x2"/>
          <p:cNvSpPr txBox="1"/>
          <p:nvPr/>
        </p:nvSpPr>
        <p:spPr>
          <a:xfrm>
            <a:off x="1920240" y="3063240"/>
            <a:ext cx="2514600" cy="1188720"/>
          </a:xfrm>
          <a:prstGeom prst="rect">
            <a:avLst/>
          </a:prstGeom>
          <a:noFill/>
          <a:ln/>
        </p:spPr>
        <p:txBody>
          <a:bodyPr wrap="square" lIns="0" tIns="0" rIns="0" bIns="0" rtlCol="0" anchor="ctr"/>
          <a:lstStyle/>
          <a:p>
            <a:pPr indent="0" marL="0">
              <a:buNone/>
            </a:pPr>
            <a:r>
              <a:rPr lang="en-US" sz="2200" b="1" dirty="0">
                <a:solidFill>
                  <a:schemeClr val="tx2"/>
                </a:solidFill>
              </a:rPr>
              <a:t>Goodbye, goodbye!</a:t>
            </a:r>
            <a:endParaRPr lang="en-US" sz="2200" dirty="0"/>
          </a:p>
          <a:p>
            <a:pPr indent="0" marL="0">
              <a:buNone/>
            </a:pPr>
            <a:r>
              <a:rPr lang="en-US" sz="2200" dirty="0">
                <a:solidFill>
                  <a:schemeClr val="tx2"/>
                </a:solidFill>
              </a:rPr>
              <a:t>You're a star!</a:t>
            </a:r>
            <a:endParaRPr lang="en-US" sz="2200" dirty="0"/>
          </a:p>
        </p:txBody>
      </p:sp>
      <p:sp>
        <p:nvSpPr>
          <p:cNvPr id="14" name="bye-t3"/>
          <p:cNvSpPr/>
          <p:nvPr/>
        </p:nvSpPr>
        <p:spPr>
          <a:xfrm>
            <a:off x="4663440" y="2926080"/>
            <a:ext cx="4023360" cy="1463040"/>
          </a:xfrm>
          <a:prstGeom prst="roundRect">
            <a:avLst>
              <a:gd name="adj" fmla="val 12500"/>
            </a:avLst>
          </a:prstGeom>
          <a:solidFill>
            <a:srgbClr val="E3F1F8"/>
          </a:solidFill>
          <a:ln w="12700">
            <a:solidFill>
              <a:srgbClr val="E3F1F8"/>
            </a:solidFill>
            <a:prstDash val="solid"/>
          </a:ln>
        </p:spPr>
      </p:sp>
      <p:pic>
        <p:nvPicPr>
          <p:cNvPr id="15" name="bye-i3" descr="img/hands.png">    </p:cNvPr>
          <p:cNvPicPr>
            <a:picLocks noChangeAspect="1"/>
          </p:cNvPicPr>
          <p:nvPr/>
        </p:nvPicPr>
        <p:blipFill>
          <a:blip r:embed="rId4"/>
          <a:stretch>
            <a:fillRect/>
          </a:stretch>
        </p:blipFill>
        <p:spPr>
          <a:xfrm>
            <a:off x="4846320" y="3063240"/>
            <a:ext cx="1188720" cy="1188720"/>
          </a:xfrm>
          <a:prstGeom prst="rect">
            <a:avLst/>
          </a:prstGeom>
        </p:spPr>
      </p:pic>
      <p:sp>
        <p:nvSpPr>
          <p:cNvPr id="16" name="bye-x3"/>
          <p:cNvSpPr txBox="1"/>
          <p:nvPr/>
        </p:nvSpPr>
        <p:spPr>
          <a:xfrm>
            <a:off x="6126480" y="3063240"/>
            <a:ext cx="2514600" cy="1188720"/>
          </a:xfrm>
          <a:prstGeom prst="rect">
            <a:avLst/>
          </a:prstGeom>
          <a:noFill/>
          <a:ln/>
        </p:spPr>
        <p:txBody>
          <a:bodyPr wrap="square" lIns="0" tIns="0" rIns="0" bIns="0" rtlCol="0" anchor="ctr"/>
          <a:lstStyle/>
          <a:p>
            <a:pPr indent="0" marL="0">
              <a:buNone/>
            </a:pPr>
            <a:r>
              <a:rPr lang="en-US" sz="2200" b="1" dirty="0">
                <a:solidFill>
                  <a:schemeClr val="tx2"/>
                </a:solidFill>
              </a:rPr>
              <a:t>Goodbye, goodbye!</a:t>
            </a:r>
            <a:endParaRPr lang="en-US" sz="2200" dirty="0"/>
          </a:p>
          <a:p>
            <a:pPr indent="0" marL="0">
              <a:buNone/>
            </a:pPr>
            <a:r>
              <a:rPr lang="en-US" sz="2200" dirty="0">
                <a:solidFill>
                  <a:schemeClr val="tx2"/>
                </a:solidFill>
              </a:rPr>
              <a:t>See you soon!</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57200" y="365760"/>
            <a:ext cx="8229600" cy="914400"/>
          </a:xfrm>
          <a:prstGeom prst="rect">
            <a:avLst/>
          </a:prstGeom>
          <a:noFill/>
          <a:ln/>
        </p:spPr>
        <p:txBody>
          <a:bodyPr wrap="square" lIns="0" tIns="0" rIns="0" bIns="0" rtlCol="0" anchor="ctr"/>
          <a:lstStyle/>
          <a:p>
            <a:pPr algn="ctr" indent="0" marL="0">
              <a:buNone/>
            </a:pPr>
            <a:r>
              <a:rPr lang="en-US" sz="4400" b="1" dirty="0">
                <a:solidFill>
                  <a:schemeClr val="bg1"/>
                </a:solidFill>
              </a:rPr>
              <a:t>What you saw today</a:t>
            </a:r>
            <a:endParaRPr lang="en-US" sz="4400" dirty="0"/>
          </a:p>
        </p:txBody>
      </p:sp>
      <p:sp>
        <p:nvSpPr>
          <p:cNvPr id="3" name="Text 0"/>
          <p:cNvSpPr/>
          <p:nvPr>
            <p:ph idx="102" type="body" hasCustomPrompt="1"/>
          </p:nvPr>
        </p:nvSpPr>
        <p:spPr>
          <a:xfrm>
            <a:off x="457200" y="1280160"/>
            <a:ext cx="8229600" cy="548640"/>
          </a:xfrm>
          <a:prstGeom prst="rect">
            <a:avLst/>
          </a:prstGeom>
          <a:noFill/>
          <a:ln/>
        </p:spPr>
        <p:txBody>
          <a:bodyPr wrap="square" lIns="0" tIns="0" rIns="0" bIns="0" rtlCol="0"/>
          <a:lstStyle/>
          <a:p>
            <a:pPr algn="ctr" indent="0" marL="0">
              <a:buNone/>
            </a:pPr>
            <a:r>
              <a:rPr lang="en-US" sz="2200" dirty="0">
                <a:solidFill>
                  <a:schemeClr val="accent1"/>
                </a:solidFill>
              </a:rPr>
              <a:t>今天您看到的：国际部一年级的课堂是这样学习的</a:t>
            </a:r>
            <a:endParaRPr lang="en-US" sz="2200" dirty="0"/>
          </a:p>
        </p:txBody>
      </p:sp>
      <p:sp>
        <p:nvSpPr>
          <p:cNvPr id="4" name="par-t0"/>
          <p:cNvSpPr/>
          <p:nvPr/>
        </p:nvSpPr>
        <p:spPr>
          <a:xfrm>
            <a:off x="457200" y="1965960"/>
            <a:ext cx="1280160" cy="1645920"/>
          </a:xfrm>
          <a:prstGeom prst="roundRect">
            <a:avLst>
              <a:gd name="adj" fmla="val 10714"/>
            </a:avLst>
          </a:prstGeom>
          <a:solidFill>
            <a:srgbClr val="FFFFFF"/>
          </a:solidFill>
          <a:ln w="12700">
            <a:solidFill>
              <a:srgbClr val="FFFFFF"/>
            </a:solidFill>
            <a:prstDash val="solid"/>
          </a:ln>
        </p:spPr>
      </p:sp>
      <p:pic>
        <p:nvPicPr>
          <p:cNvPr id="5" name="par-i0" descr="img/question.png">    </p:cNvPr>
          <p:cNvPicPr>
            <a:picLocks noChangeAspect="1"/>
          </p:cNvPicPr>
          <p:nvPr/>
        </p:nvPicPr>
        <p:blipFill>
          <a:blip r:embed="rId1"/>
          <a:stretch>
            <a:fillRect/>
          </a:stretch>
        </p:blipFill>
        <p:spPr>
          <a:xfrm>
            <a:off x="731520" y="2057400"/>
            <a:ext cx="731520" cy="731520"/>
          </a:xfrm>
          <a:prstGeom prst="rect">
            <a:avLst/>
          </a:prstGeom>
        </p:spPr>
      </p:pic>
      <p:sp>
        <p:nvSpPr>
          <p:cNvPr id="6" name="par-x0"/>
          <p:cNvSpPr txBox="1"/>
          <p:nvPr/>
        </p:nvSpPr>
        <p:spPr>
          <a:xfrm>
            <a:off x="457200" y="2834640"/>
            <a:ext cx="1280160" cy="731520"/>
          </a:xfrm>
          <a:prstGeom prst="rect">
            <a:avLst/>
          </a:prstGeom>
          <a:noFill/>
          <a:ln/>
        </p:spPr>
        <p:txBody>
          <a:bodyPr wrap="square" lIns="0" tIns="0" rIns="0" bIns="0" rtlCol="0" anchor="t"/>
          <a:lstStyle/>
          <a:p>
            <a:pPr algn="ctr" indent="0" marL="0">
              <a:buNone/>
            </a:pPr>
            <a:r>
              <a:rPr lang="en-US" sz="1800" b="1" dirty="0">
                <a:solidFill>
                  <a:schemeClr val="tx2"/>
                </a:solidFill>
              </a:rPr>
              <a:t>Ask</a:t>
            </a:r>
            <a:endParaRPr lang="en-US" sz="1800" dirty="0"/>
          </a:p>
          <a:p>
            <a:pPr algn="ctr" indent="0" marL="0">
              <a:buNone/>
            </a:pPr>
            <a:r>
              <a:rPr lang="en-US" sz="1400" dirty="0">
                <a:solidFill>
                  <a:schemeClr val="accent5"/>
                </a:solidFill>
              </a:rPr>
              <a:t>提问</a:t>
            </a:r>
            <a:endParaRPr lang="en-US" sz="1800" dirty="0"/>
          </a:p>
        </p:txBody>
      </p:sp>
      <p:sp>
        <p:nvSpPr>
          <p:cNvPr id="7" name="par-t1"/>
          <p:cNvSpPr/>
          <p:nvPr/>
        </p:nvSpPr>
        <p:spPr>
          <a:xfrm>
            <a:off x="1847088" y="1965960"/>
            <a:ext cx="1280160" cy="1645920"/>
          </a:xfrm>
          <a:prstGeom prst="roundRect">
            <a:avLst>
              <a:gd name="adj" fmla="val 10714"/>
            </a:avLst>
          </a:prstGeom>
          <a:solidFill>
            <a:srgbClr val="FFFFFF"/>
          </a:solidFill>
          <a:ln w="12700">
            <a:solidFill>
              <a:srgbClr val="FFFFFF"/>
            </a:solidFill>
            <a:prstDash val="solid"/>
          </a:ln>
        </p:spPr>
      </p:sp>
      <p:pic>
        <p:nvPicPr>
          <p:cNvPr id="8" name="par-i1" descr="img/hand.png">    </p:cNvPr>
          <p:cNvPicPr>
            <a:picLocks noChangeAspect="1"/>
          </p:cNvPicPr>
          <p:nvPr/>
        </p:nvPicPr>
        <p:blipFill>
          <a:blip r:embed="rId2"/>
          <a:stretch>
            <a:fillRect/>
          </a:stretch>
        </p:blipFill>
        <p:spPr>
          <a:xfrm>
            <a:off x="2121408" y="2057400"/>
            <a:ext cx="731520" cy="731520"/>
          </a:xfrm>
          <a:prstGeom prst="rect">
            <a:avLst/>
          </a:prstGeom>
        </p:spPr>
      </p:pic>
      <p:sp>
        <p:nvSpPr>
          <p:cNvPr id="9" name="par-x1"/>
          <p:cNvSpPr txBox="1"/>
          <p:nvPr/>
        </p:nvSpPr>
        <p:spPr>
          <a:xfrm>
            <a:off x="1847088" y="2834640"/>
            <a:ext cx="1280160" cy="731520"/>
          </a:xfrm>
          <a:prstGeom prst="rect">
            <a:avLst/>
          </a:prstGeom>
          <a:noFill/>
          <a:ln/>
        </p:spPr>
        <p:txBody>
          <a:bodyPr wrap="square" lIns="0" tIns="0" rIns="0" bIns="0" rtlCol="0" anchor="t"/>
          <a:lstStyle/>
          <a:p>
            <a:pPr algn="ctr" indent="0" marL="0">
              <a:buNone/>
            </a:pPr>
            <a:r>
              <a:rPr lang="en-US" sz="1800" b="1" dirty="0">
                <a:solidFill>
                  <a:schemeClr val="tx2"/>
                </a:solidFill>
              </a:rPr>
              <a:t>Explore</a:t>
            </a:r>
            <a:endParaRPr lang="en-US" sz="1800" dirty="0"/>
          </a:p>
          <a:p>
            <a:pPr algn="ctr" indent="0" marL="0">
              <a:buNone/>
            </a:pPr>
            <a:r>
              <a:rPr lang="en-US" sz="1400" dirty="0">
                <a:solidFill>
                  <a:schemeClr val="accent5"/>
                </a:solidFill>
              </a:rPr>
              <a:t>探索</a:t>
            </a:r>
            <a:endParaRPr lang="en-US" sz="1800" dirty="0"/>
          </a:p>
        </p:txBody>
      </p:sp>
      <p:sp>
        <p:nvSpPr>
          <p:cNvPr id="10" name="par-t2"/>
          <p:cNvSpPr/>
          <p:nvPr/>
        </p:nvSpPr>
        <p:spPr>
          <a:xfrm>
            <a:off x="3236976" y="1965960"/>
            <a:ext cx="1280160" cy="1645920"/>
          </a:xfrm>
          <a:prstGeom prst="roundRect">
            <a:avLst>
              <a:gd name="adj" fmla="val 10714"/>
            </a:avLst>
          </a:prstGeom>
          <a:solidFill>
            <a:srgbClr val="FFFFFF"/>
          </a:solidFill>
          <a:ln w="12700">
            <a:solidFill>
              <a:srgbClr val="FFFFFF"/>
            </a:solidFill>
            <a:prstDash val="solid"/>
          </a:ln>
        </p:spPr>
      </p:sp>
      <p:pic>
        <p:nvPicPr>
          <p:cNvPr id="11" name="par-i2" descr="img/people.png">    </p:cNvPr>
          <p:cNvPicPr>
            <a:picLocks noChangeAspect="1"/>
          </p:cNvPicPr>
          <p:nvPr/>
        </p:nvPicPr>
        <p:blipFill>
          <a:blip r:embed="rId3"/>
          <a:stretch>
            <a:fillRect/>
          </a:stretch>
        </p:blipFill>
        <p:spPr>
          <a:xfrm>
            <a:off x="3511296" y="2057400"/>
            <a:ext cx="731520" cy="731520"/>
          </a:xfrm>
          <a:prstGeom prst="rect">
            <a:avLst/>
          </a:prstGeom>
        </p:spPr>
      </p:pic>
      <p:sp>
        <p:nvSpPr>
          <p:cNvPr id="12" name="par-x2"/>
          <p:cNvSpPr txBox="1"/>
          <p:nvPr/>
        </p:nvSpPr>
        <p:spPr>
          <a:xfrm>
            <a:off x="3236976" y="2834640"/>
            <a:ext cx="1280160" cy="731520"/>
          </a:xfrm>
          <a:prstGeom prst="rect">
            <a:avLst/>
          </a:prstGeom>
          <a:noFill/>
          <a:ln/>
        </p:spPr>
        <p:txBody>
          <a:bodyPr wrap="square" lIns="0" tIns="0" rIns="0" bIns="0" rtlCol="0" anchor="t"/>
          <a:lstStyle/>
          <a:p>
            <a:pPr algn="ctr" indent="0" marL="0">
              <a:buNone/>
            </a:pPr>
            <a:r>
              <a:rPr lang="en-US" sz="1800" b="1" dirty="0">
                <a:solidFill>
                  <a:schemeClr val="tx2"/>
                </a:solidFill>
              </a:rPr>
              <a:t>Team</a:t>
            </a:r>
            <a:endParaRPr lang="en-US" sz="1800" dirty="0"/>
          </a:p>
          <a:p>
            <a:pPr algn="ctr" indent="0" marL="0">
              <a:buNone/>
            </a:pPr>
            <a:r>
              <a:rPr lang="en-US" sz="1400" dirty="0">
                <a:solidFill>
                  <a:schemeClr val="accent5"/>
                </a:solidFill>
              </a:rPr>
              <a:t>合作</a:t>
            </a:r>
            <a:endParaRPr lang="en-US" sz="1800" dirty="0"/>
          </a:p>
        </p:txBody>
      </p:sp>
      <p:sp>
        <p:nvSpPr>
          <p:cNvPr id="13" name="par-t3"/>
          <p:cNvSpPr/>
          <p:nvPr/>
        </p:nvSpPr>
        <p:spPr>
          <a:xfrm>
            <a:off x="4626864" y="1965960"/>
            <a:ext cx="1280160" cy="1645920"/>
          </a:xfrm>
          <a:prstGeom prst="roundRect">
            <a:avLst>
              <a:gd name="adj" fmla="val 10714"/>
            </a:avLst>
          </a:prstGeom>
          <a:solidFill>
            <a:srgbClr val="FFFFFF"/>
          </a:solidFill>
          <a:ln w="12700">
            <a:solidFill>
              <a:srgbClr val="FFFFFF"/>
            </a:solidFill>
            <a:prstDash val="solid"/>
          </a:ln>
        </p:spPr>
      </p:sp>
      <p:pic>
        <p:nvPicPr>
          <p:cNvPr id="14" name="par-i3" descr="img/glue.png">    </p:cNvPr>
          <p:cNvPicPr>
            <a:picLocks noChangeAspect="1"/>
          </p:cNvPicPr>
          <p:nvPr/>
        </p:nvPicPr>
        <p:blipFill>
          <a:blip r:embed="rId4"/>
          <a:stretch>
            <a:fillRect/>
          </a:stretch>
        </p:blipFill>
        <p:spPr>
          <a:xfrm>
            <a:off x="4901184" y="2057400"/>
            <a:ext cx="731520" cy="731520"/>
          </a:xfrm>
          <a:prstGeom prst="rect">
            <a:avLst/>
          </a:prstGeom>
        </p:spPr>
      </p:pic>
      <p:sp>
        <p:nvSpPr>
          <p:cNvPr id="15" name="par-x3"/>
          <p:cNvSpPr txBox="1"/>
          <p:nvPr/>
        </p:nvSpPr>
        <p:spPr>
          <a:xfrm>
            <a:off x="4626864" y="2834640"/>
            <a:ext cx="1280160" cy="731520"/>
          </a:xfrm>
          <a:prstGeom prst="rect">
            <a:avLst/>
          </a:prstGeom>
          <a:noFill/>
          <a:ln/>
        </p:spPr>
        <p:txBody>
          <a:bodyPr wrap="square" lIns="0" tIns="0" rIns="0" bIns="0" rtlCol="0" anchor="t"/>
          <a:lstStyle/>
          <a:p>
            <a:pPr algn="ctr" indent="0" marL="0">
              <a:buNone/>
            </a:pPr>
            <a:r>
              <a:rPr lang="en-US" sz="1800" b="1" dirty="0">
                <a:solidFill>
                  <a:schemeClr val="tx2"/>
                </a:solidFill>
              </a:rPr>
              <a:t>Make</a:t>
            </a:r>
            <a:endParaRPr lang="en-US" sz="1800" dirty="0"/>
          </a:p>
          <a:p>
            <a:pPr algn="ctr" indent="0" marL="0">
              <a:buNone/>
            </a:pPr>
            <a:r>
              <a:rPr lang="en-US" sz="1400" dirty="0">
                <a:solidFill>
                  <a:schemeClr val="accent5"/>
                </a:solidFill>
              </a:rPr>
              <a:t>创作</a:t>
            </a:r>
            <a:endParaRPr lang="en-US" sz="1800" dirty="0"/>
          </a:p>
        </p:txBody>
      </p:sp>
      <p:sp>
        <p:nvSpPr>
          <p:cNvPr id="16" name="par-t4"/>
          <p:cNvSpPr/>
          <p:nvPr/>
        </p:nvSpPr>
        <p:spPr>
          <a:xfrm>
            <a:off x="6016752" y="1965960"/>
            <a:ext cx="1280160" cy="1645920"/>
          </a:xfrm>
          <a:prstGeom prst="roundRect">
            <a:avLst>
              <a:gd name="adj" fmla="val 10714"/>
            </a:avLst>
          </a:prstGeom>
          <a:solidFill>
            <a:srgbClr val="FFFFFF"/>
          </a:solidFill>
          <a:ln w="12700">
            <a:solidFill>
              <a:srgbClr val="FFFFFF"/>
            </a:solidFill>
            <a:prstDash val="solid"/>
          </a:ln>
        </p:spPr>
      </p:sp>
      <p:pic>
        <p:nvPicPr>
          <p:cNvPr id="17" name="par-i4" descr="img/talk.png">    </p:cNvPr>
          <p:cNvPicPr>
            <a:picLocks noChangeAspect="1"/>
          </p:cNvPicPr>
          <p:nvPr/>
        </p:nvPicPr>
        <p:blipFill>
          <a:blip r:embed="rId5"/>
          <a:stretch>
            <a:fillRect/>
          </a:stretch>
        </p:blipFill>
        <p:spPr>
          <a:xfrm>
            <a:off x="6291072" y="2057400"/>
            <a:ext cx="731520" cy="731520"/>
          </a:xfrm>
          <a:prstGeom prst="rect">
            <a:avLst/>
          </a:prstGeom>
        </p:spPr>
      </p:pic>
      <p:sp>
        <p:nvSpPr>
          <p:cNvPr id="18" name="par-x4"/>
          <p:cNvSpPr txBox="1"/>
          <p:nvPr/>
        </p:nvSpPr>
        <p:spPr>
          <a:xfrm>
            <a:off x="6016752" y="2834640"/>
            <a:ext cx="1280160" cy="731520"/>
          </a:xfrm>
          <a:prstGeom prst="rect">
            <a:avLst/>
          </a:prstGeom>
          <a:noFill/>
          <a:ln/>
        </p:spPr>
        <p:txBody>
          <a:bodyPr wrap="square" lIns="0" tIns="0" rIns="0" bIns="0" rtlCol="0" anchor="t"/>
          <a:lstStyle/>
          <a:p>
            <a:pPr algn="ctr" indent="0" marL="0">
              <a:buNone/>
            </a:pPr>
            <a:r>
              <a:rPr lang="en-US" sz="1800" b="1" dirty="0">
                <a:solidFill>
                  <a:schemeClr val="tx2"/>
                </a:solidFill>
              </a:rPr>
              <a:t>Share</a:t>
            </a:r>
            <a:endParaRPr lang="en-US" sz="1800" dirty="0"/>
          </a:p>
          <a:p>
            <a:pPr algn="ctr" indent="0" marL="0">
              <a:buNone/>
            </a:pPr>
            <a:r>
              <a:rPr lang="en-US" sz="1400" dirty="0">
                <a:solidFill>
                  <a:schemeClr val="accent5"/>
                </a:solidFill>
              </a:rPr>
              <a:t>分享</a:t>
            </a:r>
            <a:endParaRPr lang="en-US" sz="1800" dirty="0"/>
          </a:p>
        </p:txBody>
      </p:sp>
      <p:sp>
        <p:nvSpPr>
          <p:cNvPr id="19" name="par-t5"/>
          <p:cNvSpPr/>
          <p:nvPr/>
        </p:nvSpPr>
        <p:spPr>
          <a:xfrm>
            <a:off x="7406640" y="1965960"/>
            <a:ext cx="1280160" cy="1645920"/>
          </a:xfrm>
          <a:prstGeom prst="roundRect">
            <a:avLst>
              <a:gd name="adj" fmla="val 10714"/>
            </a:avLst>
          </a:prstGeom>
          <a:solidFill>
            <a:srgbClr val="FFFFFF"/>
          </a:solidFill>
          <a:ln w="12700">
            <a:solidFill>
              <a:srgbClr val="FFFFFF"/>
            </a:solidFill>
            <a:prstDash val="solid"/>
          </a:ln>
        </p:spPr>
      </p:sp>
      <p:pic>
        <p:nvPicPr>
          <p:cNvPr id="20" name="par-i5" descr="img/think.png">    </p:cNvPr>
          <p:cNvPicPr>
            <a:picLocks noChangeAspect="1"/>
          </p:cNvPicPr>
          <p:nvPr/>
        </p:nvPicPr>
        <p:blipFill>
          <a:blip r:embed="rId6"/>
          <a:stretch>
            <a:fillRect/>
          </a:stretch>
        </p:blipFill>
        <p:spPr>
          <a:xfrm>
            <a:off x="7680960" y="2057400"/>
            <a:ext cx="731520" cy="731520"/>
          </a:xfrm>
          <a:prstGeom prst="rect">
            <a:avLst/>
          </a:prstGeom>
        </p:spPr>
      </p:pic>
      <p:sp>
        <p:nvSpPr>
          <p:cNvPr id="21" name="par-x5"/>
          <p:cNvSpPr txBox="1"/>
          <p:nvPr/>
        </p:nvSpPr>
        <p:spPr>
          <a:xfrm>
            <a:off x="7406640" y="2834640"/>
            <a:ext cx="1280160" cy="731520"/>
          </a:xfrm>
          <a:prstGeom prst="rect">
            <a:avLst/>
          </a:prstGeom>
          <a:noFill/>
          <a:ln/>
        </p:spPr>
        <p:txBody>
          <a:bodyPr wrap="square" lIns="0" tIns="0" rIns="0" bIns="0" rtlCol="0" anchor="t"/>
          <a:lstStyle/>
          <a:p>
            <a:pPr algn="ctr" indent="0" marL="0">
              <a:buNone/>
            </a:pPr>
            <a:r>
              <a:rPr lang="en-US" sz="1800" b="1" dirty="0">
                <a:solidFill>
                  <a:schemeClr val="tx2"/>
                </a:solidFill>
              </a:rPr>
              <a:t>Think</a:t>
            </a:r>
            <a:endParaRPr lang="en-US" sz="1800" dirty="0"/>
          </a:p>
          <a:p>
            <a:pPr algn="ctr" indent="0" marL="0">
              <a:buNone/>
            </a:pPr>
            <a:r>
              <a:rPr lang="en-US" sz="1400" dirty="0">
                <a:solidFill>
                  <a:schemeClr val="accent5"/>
                </a:solidFill>
              </a:rPr>
              <a:t>思考</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57200" y="365760"/>
            <a:ext cx="8229600" cy="914400"/>
          </a:xfrm>
          <a:prstGeom prst="rect">
            <a:avLst/>
          </a:prstGeom>
          <a:noFill/>
          <a:ln/>
        </p:spPr>
        <p:txBody>
          <a:bodyPr wrap="square" lIns="0" tIns="0" rIns="0" bIns="0" rtlCol="0" anchor="ctr"/>
          <a:lstStyle/>
          <a:p>
            <a:pPr algn="ctr" indent="0" marL="0">
              <a:buNone/>
            </a:pPr>
            <a:r>
              <a:rPr lang="en-US" sz="4400" b="1" dirty="0">
                <a:solidFill>
                  <a:schemeClr val="bg1"/>
                </a:solidFill>
              </a:rPr>
              <a:t>Thank you for visiting!</a:t>
            </a:r>
            <a:endParaRPr lang="en-US" sz="4400" dirty="0"/>
          </a:p>
        </p:txBody>
      </p:sp>
      <p:sp>
        <p:nvSpPr>
          <p:cNvPr id="3" name="Text 0"/>
          <p:cNvSpPr/>
          <p:nvPr>
            <p:ph idx="102" type="body" hasCustomPrompt="1"/>
          </p:nvPr>
        </p:nvSpPr>
        <p:spPr>
          <a:xfrm>
            <a:off x="457200" y="1280160"/>
            <a:ext cx="8229600" cy="548640"/>
          </a:xfrm>
          <a:prstGeom prst="rect">
            <a:avLst/>
          </a:prstGeom>
          <a:noFill/>
          <a:ln/>
        </p:spPr>
        <p:txBody>
          <a:bodyPr wrap="square" lIns="0" tIns="0" rIns="0" bIns="0" rtlCol="0"/>
          <a:lstStyle/>
          <a:p>
            <a:pPr algn="ctr" indent="0" marL="0">
              <a:buNone/>
            </a:pPr>
            <a:r>
              <a:rPr lang="en-US" sz="2200" dirty="0">
                <a:solidFill>
                  <a:schemeClr val="accent1"/>
                </a:solidFill>
              </a:rPr>
              <a:t>谢谢您的到来  |  See you soon</a:t>
            </a:r>
            <a:endParaRPr lang="en-US" sz="2200" dirty="0"/>
          </a:p>
        </p:txBody>
      </p:sp>
      <p:pic>
        <p:nvPicPr>
          <p:cNvPr id="4" name="ty-cat" descr="img/cat.png">    </p:cNvPr>
          <p:cNvPicPr>
            <a:picLocks noChangeAspect="1"/>
          </p:cNvPicPr>
          <p:nvPr/>
        </p:nvPicPr>
        <p:blipFill>
          <a:blip r:embed="rId1"/>
          <a:stretch>
            <a:fillRect/>
          </a:stretch>
        </p:blipFill>
        <p:spPr>
          <a:xfrm>
            <a:off x="685800" y="2194560"/>
            <a:ext cx="777240" cy="777240"/>
          </a:xfrm>
          <a:prstGeom prst="rect">
            <a:avLst/>
          </a:prstGeom>
        </p:spPr>
      </p:pic>
      <p:pic>
        <p:nvPicPr>
          <p:cNvPr id="5" name="ty-rabbit" descr="img/rabbit.png">    </p:cNvPr>
          <p:cNvPicPr>
            <a:picLocks noChangeAspect="1"/>
          </p:cNvPicPr>
          <p:nvPr/>
        </p:nvPicPr>
        <p:blipFill>
          <a:blip r:embed="rId2"/>
          <a:stretch>
            <a:fillRect/>
          </a:stretch>
        </p:blipFill>
        <p:spPr>
          <a:xfrm>
            <a:off x="1572768" y="2194560"/>
            <a:ext cx="777240" cy="777240"/>
          </a:xfrm>
          <a:prstGeom prst="rect">
            <a:avLst/>
          </a:prstGeom>
        </p:spPr>
      </p:pic>
      <p:pic>
        <p:nvPicPr>
          <p:cNvPr id="6" name="ty-lion" descr="img/lion.png">    </p:cNvPr>
          <p:cNvPicPr>
            <a:picLocks noChangeAspect="1"/>
          </p:cNvPicPr>
          <p:nvPr/>
        </p:nvPicPr>
        <p:blipFill>
          <a:blip r:embed="rId3"/>
          <a:stretch>
            <a:fillRect/>
          </a:stretch>
        </p:blipFill>
        <p:spPr>
          <a:xfrm>
            <a:off x="2459736" y="2194560"/>
            <a:ext cx="777240" cy="777240"/>
          </a:xfrm>
          <a:prstGeom prst="rect">
            <a:avLst/>
          </a:prstGeom>
        </p:spPr>
      </p:pic>
      <p:pic>
        <p:nvPicPr>
          <p:cNvPr id="7" name="ty-duck" descr="img/duck.png">    </p:cNvPr>
          <p:cNvPicPr>
            <a:picLocks noChangeAspect="1"/>
          </p:cNvPicPr>
          <p:nvPr/>
        </p:nvPicPr>
        <p:blipFill>
          <a:blip r:embed="rId4"/>
          <a:stretch>
            <a:fillRect/>
          </a:stretch>
        </p:blipFill>
        <p:spPr>
          <a:xfrm>
            <a:off x="3346704" y="2194560"/>
            <a:ext cx="777240" cy="777240"/>
          </a:xfrm>
          <a:prstGeom prst="rect">
            <a:avLst/>
          </a:prstGeom>
        </p:spPr>
      </p:pic>
      <p:pic>
        <p:nvPicPr>
          <p:cNvPr id="8" name="ty-owl" descr="img/owl.png">    </p:cNvPr>
          <p:cNvPicPr>
            <a:picLocks noChangeAspect="1"/>
          </p:cNvPicPr>
          <p:nvPr/>
        </p:nvPicPr>
        <p:blipFill>
          <a:blip r:embed="rId5"/>
          <a:stretch>
            <a:fillRect/>
          </a:stretch>
        </p:blipFill>
        <p:spPr>
          <a:xfrm>
            <a:off x="4233672" y="2194560"/>
            <a:ext cx="777240" cy="777240"/>
          </a:xfrm>
          <a:prstGeom prst="rect">
            <a:avLst/>
          </a:prstGeom>
        </p:spPr>
      </p:pic>
      <p:pic>
        <p:nvPicPr>
          <p:cNvPr id="9" name="ty-parrot" descr="img/parrot.png">    </p:cNvPr>
          <p:cNvPicPr>
            <a:picLocks noChangeAspect="1"/>
          </p:cNvPicPr>
          <p:nvPr/>
        </p:nvPicPr>
        <p:blipFill>
          <a:blip r:embed="rId6"/>
          <a:stretch>
            <a:fillRect/>
          </a:stretch>
        </p:blipFill>
        <p:spPr>
          <a:xfrm>
            <a:off x="5120640" y="2194560"/>
            <a:ext cx="777240" cy="777240"/>
          </a:xfrm>
          <a:prstGeom prst="rect">
            <a:avLst/>
          </a:prstGeom>
        </p:spPr>
      </p:pic>
      <p:pic>
        <p:nvPicPr>
          <p:cNvPr id="10" name="ty-fish" descr="img/fish.png">    </p:cNvPr>
          <p:cNvPicPr>
            <a:picLocks noChangeAspect="1"/>
          </p:cNvPicPr>
          <p:nvPr/>
        </p:nvPicPr>
        <p:blipFill>
          <a:blip r:embed="rId7"/>
          <a:stretch>
            <a:fillRect/>
          </a:stretch>
        </p:blipFill>
        <p:spPr>
          <a:xfrm>
            <a:off x="6007608" y="2194560"/>
            <a:ext cx="777240" cy="777240"/>
          </a:xfrm>
          <a:prstGeom prst="rect">
            <a:avLst/>
          </a:prstGeom>
        </p:spPr>
      </p:pic>
      <p:pic>
        <p:nvPicPr>
          <p:cNvPr id="11" name="ty-snake" descr="img/snake.png">    </p:cNvPr>
          <p:cNvPicPr>
            <a:picLocks noChangeAspect="1"/>
          </p:cNvPicPr>
          <p:nvPr/>
        </p:nvPicPr>
        <p:blipFill>
          <a:blip r:embed="rId8"/>
          <a:stretch>
            <a:fillRect/>
          </a:stretch>
        </p:blipFill>
        <p:spPr>
          <a:xfrm>
            <a:off x="6894576" y="2194560"/>
            <a:ext cx="777240" cy="777240"/>
          </a:xfrm>
          <a:prstGeom prst="rect">
            <a:avLst/>
          </a:prstGeom>
        </p:spPr>
      </p:pic>
      <p:pic>
        <p:nvPicPr>
          <p:cNvPr id="12" name="ty-crocodile" descr="img/crocodile.png">    </p:cNvPr>
          <p:cNvPicPr>
            <a:picLocks noChangeAspect="1"/>
          </p:cNvPicPr>
          <p:nvPr/>
        </p:nvPicPr>
        <p:blipFill>
          <a:blip r:embed="rId9"/>
          <a:stretch>
            <a:fillRect/>
          </a:stretch>
        </p:blipFill>
        <p:spPr>
          <a:xfrm>
            <a:off x="7781544" y="2194560"/>
            <a:ext cx="777240" cy="777240"/>
          </a:xfrm>
          <a:prstGeom prst="rect">
            <a:avLst/>
          </a:prstGeom>
        </p:spPr>
      </p:pic>
    </p:spTree>
  </p:cSld>
  <p:clrMapOvr>
    <a:masterClrMapping/>
  </p:clrMapOvr>
</p:sld>
</file>

<file path=ppt/theme/theme1.xml><?xml version="1.0" encoding="utf-8"?>
<a:theme xmlns:a="http://schemas.openxmlformats.org/drawingml/2006/main" name="HIK SVS Open Day PBL">
  <a:themeElements>
    <a:clrScheme name="HIK SVS Open Day PBL">
      <a:dk1>
        <a:srgbClr val="141B26"/>
      </a:dk1>
      <a:lt1>
        <a:srgbClr val="FFFFFF"/>
      </a:lt1>
      <a:dk2>
        <a:srgbClr val="0F2A5F"/>
      </a:dk2>
      <a:lt2>
        <a:srgbClr val="EEF1F5"/>
      </a:lt2>
      <a:accent1>
        <a:srgbClr val="F2CE3E"/>
      </a:accent1>
      <a:accent2>
        <a:srgbClr val="2E8B57"/>
      </a:accent2>
      <a:accent3>
        <a:srgbClr val="FFF4C2"/>
      </a:accent3>
      <a:accent4>
        <a:srgbClr val="E3F1F8"/>
      </a:accent4>
      <a:accent5>
        <a:srgbClr val="5B6574"/>
      </a:accent5>
      <a:accent6>
        <a:srgbClr val="E8F5EC"/>
      </a:accent6>
      <a:hlink>
        <a:srgbClr val="1E7DB0"/>
      </a:hlink>
      <a:folHlink>
        <a:srgbClr val="7B3A8E"/>
      </a:folHlink>
    </a:clrScheme>
    <a:fontScheme name="HIK SVS Open Day PB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Fur, Feathers or Scales? Open Day Year 1 taster lesson</dc:title>
  <dc:subject>PptxGenJS Presentation</dc:subject>
  <dc:creator>HIK | SVS</dc:creator>
  <cp:lastModifiedBy>HIK | SVS</cp:lastModifiedBy>
  <cp:revision>1</cp:revision>
  <dcterms:created xsi:type="dcterms:W3CDTF">2026-10-13T03:18:44Z</dcterms:created>
  <dcterms:modified xsi:type="dcterms:W3CDTF">2026-10-13T03:18:44Z</dcterms:modified>
</cp:coreProperties>
</file>